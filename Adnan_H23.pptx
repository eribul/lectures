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1"/>
  </p:sldMasterIdLst>
  <p:notesMasterIdLst>
    <p:notesMasterId r:id="rId157"/>
  </p:notesMasterIdLst>
  <p:handoutMasterIdLst>
    <p:handoutMasterId r:id="rId158"/>
  </p:handoutMasterIdLst>
  <p:sldIdLst>
    <p:sldId id="594" r:id="rId2"/>
    <p:sldId id="595" r:id="rId3"/>
    <p:sldId id="596" r:id="rId4"/>
    <p:sldId id="597" r:id="rId5"/>
    <p:sldId id="761" r:id="rId6"/>
    <p:sldId id="763" r:id="rId7"/>
    <p:sldId id="598" r:id="rId8"/>
    <p:sldId id="599" r:id="rId9"/>
    <p:sldId id="600" r:id="rId10"/>
    <p:sldId id="601" r:id="rId11"/>
    <p:sldId id="783" r:id="rId12"/>
    <p:sldId id="786" r:id="rId13"/>
    <p:sldId id="787" r:id="rId14"/>
    <p:sldId id="606" r:id="rId15"/>
    <p:sldId id="607" r:id="rId16"/>
    <p:sldId id="608" r:id="rId17"/>
    <p:sldId id="609" r:id="rId18"/>
    <p:sldId id="610" r:id="rId19"/>
    <p:sldId id="611" r:id="rId20"/>
    <p:sldId id="612" r:id="rId21"/>
    <p:sldId id="613" r:id="rId22"/>
    <p:sldId id="614" r:id="rId23"/>
    <p:sldId id="615" r:id="rId24"/>
    <p:sldId id="616" r:id="rId25"/>
    <p:sldId id="617" r:id="rId26"/>
    <p:sldId id="764" r:id="rId27"/>
    <p:sldId id="618" r:id="rId28"/>
    <p:sldId id="619" r:id="rId29"/>
    <p:sldId id="620" r:id="rId30"/>
    <p:sldId id="621" r:id="rId31"/>
    <p:sldId id="622" r:id="rId32"/>
    <p:sldId id="623" r:id="rId33"/>
    <p:sldId id="624" r:id="rId34"/>
    <p:sldId id="625" r:id="rId35"/>
    <p:sldId id="626" r:id="rId36"/>
    <p:sldId id="627" r:id="rId37"/>
    <p:sldId id="628" r:id="rId38"/>
    <p:sldId id="629" r:id="rId39"/>
    <p:sldId id="630" r:id="rId40"/>
    <p:sldId id="631" r:id="rId41"/>
    <p:sldId id="632" r:id="rId42"/>
    <p:sldId id="633" r:id="rId43"/>
    <p:sldId id="634" r:id="rId44"/>
    <p:sldId id="635" r:id="rId45"/>
    <p:sldId id="636" r:id="rId46"/>
    <p:sldId id="637" r:id="rId47"/>
    <p:sldId id="638" r:id="rId48"/>
    <p:sldId id="639" r:id="rId49"/>
    <p:sldId id="754" r:id="rId50"/>
    <p:sldId id="640" r:id="rId51"/>
    <p:sldId id="641" r:id="rId52"/>
    <p:sldId id="782" r:id="rId53"/>
    <p:sldId id="643" r:id="rId54"/>
    <p:sldId id="644" r:id="rId55"/>
    <p:sldId id="645" r:id="rId56"/>
    <p:sldId id="646" r:id="rId57"/>
    <p:sldId id="779" r:id="rId58"/>
    <p:sldId id="647" r:id="rId59"/>
    <p:sldId id="780" r:id="rId60"/>
    <p:sldId id="648" r:id="rId61"/>
    <p:sldId id="649" r:id="rId62"/>
    <p:sldId id="650" r:id="rId63"/>
    <p:sldId id="651" r:id="rId64"/>
    <p:sldId id="652" r:id="rId65"/>
    <p:sldId id="653" r:id="rId66"/>
    <p:sldId id="654" r:id="rId67"/>
    <p:sldId id="655" r:id="rId68"/>
    <p:sldId id="656" r:id="rId69"/>
    <p:sldId id="657" r:id="rId70"/>
    <p:sldId id="658" r:id="rId71"/>
    <p:sldId id="659" r:id="rId72"/>
    <p:sldId id="660" r:id="rId73"/>
    <p:sldId id="661" r:id="rId74"/>
    <p:sldId id="662" r:id="rId75"/>
    <p:sldId id="663" r:id="rId76"/>
    <p:sldId id="664" r:id="rId77"/>
    <p:sldId id="665" r:id="rId78"/>
    <p:sldId id="666" r:id="rId79"/>
    <p:sldId id="667" r:id="rId80"/>
    <p:sldId id="668" r:id="rId81"/>
    <p:sldId id="669" r:id="rId82"/>
    <p:sldId id="670" r:id="rId83"/>
    <p:sldId id="671" r:id="rId84"/>
    <p:sldId id="672" r:id="rId85"/>
    <p:sldId id="673" r:id="rId86"/>
    <p:sldId id="674" r:id="rId87"/>
    <p:sldId id="675" r:id="rId88"/>
    <p:sldId id="676" r:id="rId89"/>
    <p:sldId id="677" r:id="rId90"/>
    <p:sldId id="678" r:id="rId91"/>
    <p:sldId id="679" r:id="rId92"/>
    <p:sldId id="680" r:id="rId93"/>
    <p:sldId id="681" r:id="rId94"/>
    <p:sldId id="752" r:id="rId95"/>
    <p:sldId id="682" r:id="rId96"/>
    <p:sldId id="683" r:id="rId97"/>
    <p:sldId id="684" r:id="rId98"/>
    <p:sldId id="687" r:id="rId99"/>
    <p:sldId id="688" r:id="rId100"/>
    <p:sldId id="690" r:id="rId101"/>
    <p:sldId id="772" r:id="rId102"/>
    <p:sldId id="778" r:id="rId103"/>
    <p:sldId id="693" r:id="rId104"/>
    <p:sldId id="757" r:id="rId105"/>
    <p:sldId id="775" r:id="rId106"/>
    <p:sldId id="691" r:id="rId107"/>
    <p:sldId id="755" r:id="rId108"/>
    <p:sldId id="781" r:id="rId109"/>
    <p:sldId id="696" r:id="rId110"/>
    <p:sldId id="698" r:id="rId111"/>
    <p:sldId id="699" r:id="rId112"/>
    <p:sldId id="700" r:id="rId113"/>
    <p:sldId id="697" r:id="rId114"/>
    <p:sldId id="701" r:id="rId115"/>
    <p:sldId id="702" r:id="rId116"/>
    <p:sldId id="703" r:id="rId117"/>
    <p:sldId id="704" r:id="rId118"/>
    <p:sldId id="705" r:id="rId119"/>
    <p:sldId id="706" r:id="rId120"/>
    <p:sldId id="707" r:id="rId121"/>
    <p:sldId id="708" r:id="rId122"/>
    <p:sldId id="709" r:id="rId123"/>
    <p:sldId id="710" r:id="rId124"/>
    <p:sldId id="711" r:id="rId125"/>
    <p:sldId id="712" r:id="rId126"/>
    <p:sldId id="713" r:id="rId127"/>
    <p:sldId id="714" r:id="rId128"/>
    <p:sldId id="715" r:id="rId129"/>
    <p:sldId id="716" r:id="rId130"/>
    <p:sldId id="717" r:id="rId131"/>
    <p:sldId id="718" r:id="rId132"/>
    <p:sldId id="719" r:id="rId133"/>
    <p:sldId id="720" r:id="rId134"/>
    <p:sldId id="721" r:id="rId135"/>
    <p:sldId id="722" r:id="rId136"/>
    <p:sldId id="723" r:id="rId137"/>
    <p:sldId id="724" r:id="rId138"/>
    <p:sldId id="725" r:id="rId139"/>
    <p:sldId id="726" r:id="rId140"/>
    <p:sldId id="727" r:id="rId141"/>
    <p:sldId id="747" r:id="rId142"/>
    <p:sldId id="749" r:id="rId143"/>
    <p:sldId id="750" r:id="rId144"/>
    <p:sldId id="751" r:id="rId145"/>
    <p:sldId id="735" r:id="rId146"/>
    <p:sldId id="736" r:id="rId147"/>
    <p:sldId id="737" r:id="rId148"/>
    <p:sldId id="738" r:id="rId149"/>
    <p:sldId id="739" r:id="rId150"/>
    <p:sldId id="740" r:id="rId151"/>
    <p:sldId id="741" r:id="rId152"/>
    <p:sldId id="742" r:id="rId153"/>
    <p:sldId id="743" r:id="rId154"/>
    <p:sldId id="744" r:id="rId155"/>
    <p:sldId id="745" r:id="rId156"/>
  </p:sldIdLst>
  <p:sldSz cx="9144000" cy="5143500" type="screen16x9"/>
  <p:notesSz cx="7315200" cy="9601200"/>
  <p:defaultTextStyle>
    <a:defPPr>
      <a:defRPr lang="sv-SE"/>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7356F"/>
    <a:srgbClr val="F4F4F3"/>
    <a:srgbClr val="F9F9F9"/>
    <a:srgbClr val="0E417D"/>
    <a:srgbClr val="46464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C20F36-7C8E-47B2-A4CE-76D25A0BE77A}" v="363" dt="2023-08-18T16:56:07.7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24" autoAdjust="0"/>
    <p:restoredTop sz="82068" autoAdjust="0"/>
  </p:normalViewPr>
  <p:slideViewPr>
    <p:cSldViewPr snapToObjects="1">
      <p:cViewPr varScale="1">
        <p:scale>
          <a:sx n="174" d="100"/>
          <a:sy n="174" d="100"/>
        </p:scale>
        <p:origin x="1080" y="176"/>
      </p:cViewPr>
      <p:guideLst>
        <p:guide orient="horz" pos="2164"/>
        <p:guide pos="2880"/>
        <p:guide orient="horz" pos="1620"/>
      </p:guideLst>
    </p:cSldViewPr>
  </p:slideViewPr>
  <p:outlineViewPr>
    <p:cViewPr>
      <p:scale>
        <a:sx n="33" d="100"/>
        <a:sy n="33" d="100"/>
      </p:scale>
      <p:origin x="0" y="0"/>
    </p:cViewPr>
  </p:outlineViewPr>
  <p:notesTextViewPr>
    <p:cViewPr>
      <p:scale>
        <a:sx n="3" d="2"/>
        <a:sy n="3" d="2"/>
      </p:scale>
      <p:origin x="0" y="0"/>
    </p:cViewPr>
  </p:notesTextViewPr>
  <p:sorterViewPr>
    <p:cViewPr>
      <p:scale>
        <a:sx n="36" d="100"/>
        <a:sy n="36" d="100"/>
      </p:scale>
      <p:origin x="0" y="0"/>
    </p:cViewPr>
  </p:sorterViewPr>
  <p:notesViewPr>
    <p:cSldViewPr snapToObjects="1">
      <p:cViewPr varScale="1">
        <p:scale>
          <a:sx n="108" d="100"/>
          <a:sy n="108" d="100"/>
        </p:scale>
        <p:origin x="5148" y="114"/>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microsoft.com/office/2015/10/relationships/revisionInfo" Target="revisionInfo.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2"/>
            <a:ext cx="3169920" cy="480060"/>
          </a:xfrm>
          <a:prstGeom prst="rect">
            <a:avLst/>
          </a:prstGeom>
        </p:spPr>
        <p:txBody>
          <a:bodyPr vert="horz" lIns="99048" tIns="49524" rIns="99048" bIns="49524" rtlCol="0"/>
          <a:lstStyle>
            <a:lvl1pPr algn="l">
              <a:defRPr sz="1300"/>
            </a:lvl1pPr>
          </a:lstStyle>
          <a:p>
            <a:endParaRPr lang="sv-SE"/>
          </a:p>
        </p:txBody>
      </p:sp>
      <p:sp>
        <p:nvSpPr>
          <p:cNvPr id="3" name="Platshållare för datum 2"/>
          <p:cNvSpPr>
            <a:spLocks noGrp="1"/>
          </p:cNvSpPr>
          <p:nvPr>
            <p:ph type="dt" sz="quarter" idx="1"/>
          </p:nvPr>
        </p:nvSpPr>
        <p:spPr>
          <a:xfrm>
            <a:off x="4143588" y="2"/>
            <a:ext cx="3169920" cy="480060"/>
          </a:xfrm>
          <a:prstGeom prst="rect">
            <a:avLst/>
          </a:prstGeom>
        </p:spPr>
        <p:txBody>
          <a:bodyPr vert="horz" lIns="99048" tIns="49524" rIns="99048" bIns="49524" rtlCol="0"/>
          <a:lstStyle>
            <a:lvl1pPr algn="r">
              <a:defRPr sz="1300"/>
            </a:lvl1pPr>
          </a:lstStyle>
          <a:p>
            <a:endParaRPr lang="sv-SE"/>
          </a:p>
        </p:txBody>
      </p:sp>
      <p:sp>
        <p:nvSpPr>
          <p:cNvPr id="4" name="Platshållare för sidfot 3"/>
          <p:cNvSpPr>
            <a:spLocks noGrp="1"/>
          </p:cNvSpPr>
          <p:nvPr>
            <p:ph type="ftr" sz="quarter" idx="2"/>
          </p:nvPr>
        </p:nvSpPr>
        <p:spPr>
          <a:xfrm>
            <a:off x="0" y="9119474"/>
            <a:ext cx="3169920" cy="480060"/>
          </a:xfrm>
          <a:prstGeom prst="rect">
            <a:avLst/>
          </a:prstGeom>
        </p:spPr>
        <p:txBody>
          <a:bodyPr vert="horz" lIns="99048" tIns="49524" rIns="99048" bIns="49524" rtlCol="0" anchor="b"/>
          <a:lstStyle>
            <a:lvl1pPr algn="l">
              <a:defRPr sz="1300"/>
            </a:lvl1pPr>
          </a:lstStyle>
          <a:p>
            <a:endParaRPr lang="sv-SE"/>
          </a:p>
        </p:txBody>
      </p:sp>
      <p:sp>
        <p:nvSpPr>
          <p:cNvPr id="5" name="Platshållare för bildnummer 4"/>
          <p:cNvSpPr>
            <a:spLocks noGrp="1"/>
          </p:cNvSpPr>
          <p:nvPr>
            <p:ph type="sldNum" sz="quarter" idx="3"/>
          </p:nvPr>
        </p:nvSpPr>
        <p:spPr>
          <a:xfrm>
            <a:off x="4143588" y="9119474"/>
            <a:ext cx="3169920" cy="480060"/>
          </a:xfrm>
          <a:prstGeom prst="rect">
            <a:avLst/>
          </a:prstGeom>
        </p:spPr>
        <p:txBody>
          <a:bodyPr vert="horz" lIns="99048" tIns="49524" rIns="99048" bIns="49524" rtlCol="0" anchor="b"/>
          <a:lstStyle>
            <a:lvl1pPr algn="r">
              <a:defRPr sz="1300"/>
            </a:lvl1pPr>
          </a:lstStyle>
          <a:p>
            <a:fld id="{E4EA4B55-9A99-4440-BFDC-0CE552D77BA9}" type="slidenum">
              <a:rPr lang="sv-SE" smtClean="0"/>
              <a:t>‹#›</a:t>
            </a:fld>
            <a:endParaRPr lang="sv-SE"/>
          </a:p>
        </p:txBody>
      </p:sp>
    </p:spTree>
    <p:extLst>
      <p:ext uri="{BB962C8B-B14F-4D97-AF65-F5344CB8AC3E}">
        <p14:creationId xmlns:p14="http://schemas.microsoft.com/office/powerpoint/2010/main" val="4019639474"/>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2"/>
            <a:ext cx="3169920" cy="480060"/>
          </a:xfrm>
          <a:prstGeom prst="rect">
            <a:avLst/>
          </a:prstGeom>
        </p:spPr>
        <p:txBody>
          <a:bodyPr vert="horz" wrap="square" lIns="99048" tIns="49524" rIns="99048" bIns="49524" numCol="1" anchor="t" anchorCtr="0" compatLnSpc="1">
            <a:prstTxWarp prst="textNoShape">
              <a:avLst/>
            </a:prstTxWarp>
          </a:bodyPr>
          <a:lstStyle>
            <a:lvl1pPr>
              <a:defRPr sz="1300">
                <a:latin typeface="Calibri" charset="0"/>
              </a:defRPr>
            </a:lvl1pPr>
          </a:lstStyle>
          <a:p>
            <a:pPr>
              <a:defRPr/>
            </a:pPr>
            <a:endParaRPr lang="sv-SE"/>
          </a:p>
        </p:txBody>
      </p:sp>
      <p:sp>
        <p:nvSpPr>
          <p:cNvPr id="3" name="Platshållare för datum 2"/>
          <p:cNvSpPr>
            <a:spLocks noGrp="1"/>
          </p:cNvSpPr>
          <p:nvPr>
            <p:ph type="dt" idx="1"/>
          </p:nvPr>
        </p:nvSpPr>
        <p:spPr>
          <a:xfrm>
            <a:off x="4143588" y="2"/>
            <a:ext cx="3169920" cy="480060"/>
          </a:xfrm>
          <a:prstGeom prst="rect">
            <a:avLst/>
          </a:prstGeom>
        </p:spPr>
        <p:txBody>
          <a:bodyPr vert="horz" wrap="square" lIns="99048" tIns="49524" rIns="99048" bIns="49524" numCol="1" anchor="t" anchorCtr="0" compatLnSpc="1">
            <a:prstTxWarp prst="textNoShape">
              <a:avLst/>
            </a:prstTxWarp>
          </a:bodyPr>
          <a:lstStyle>
            <a:lvl1pPr algn="r">
              <a:defRPr sz="1300">
                <a:latin typeface="Calibri" charset="0"/>
              </a:defRPr>
            </a:lvl1pPr>
          </a:lstStyle>
          <a:p>
            <a:pPr>
              <a:defRPr/>
            </a:pPr>
            <a:endParaRPr lang="sv-SE"/>
          </a:p>
        </p:txBody>
      </p:sp>
      <p:sp>
        <p:nvSpPr>
          <p:cNvPr id="4" name="Platshållare för bildobjekt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wrap="square" lIns="99048" tIns="49524" rIns="99048" bIns="49524" numCol="1" anchor="ctr" anchorCtr="0" compatLnSpc="1">
            <a:prstTxWarp prst="textNoShape">
              <a:avLst/>
            </a:prstTxWarp>
          </a:bodyPr>
          <a:lstStyle/>
          <a:p>
            <a:pPr lvl="0"/>
            <a:endParaRPr lang="sv-SE" noProof="0"/>
          </a:p>
        </p:txBody>
      </p:sp>
      <p:sp>
        <p:nvSpPr>
          <p:cNvPr id="5" name="Platshållare för anteckningar 4"/>
          <p:cNvSpPr>
            <a:spLocks noGrp="1"/>
          </p:cNvSpPr>
          <p:nvPr>
            <p:ph type="body" sz="quarter" idx="3"/>
          </p:nvPr>
        </p:nvSpPr>
        <p:spPr>
          <a:xfrm>
            <a:off x="731521" y="4560570"/>
            <a:ext cx="5852160" cy="4320540"/>
          </a:xfrm>
          <a:prstGeom prst="rect">
            <a:avLst/>
          </a:prstGeom>
        </p:spPr>
        <p:txBody>
          <a:bodyPr vert="horz" wrap="square" lIns="99048" tIns="49524" rIns="99048" bIns="49524" numCol="1" anchor="t" anchorCtr="0" compatLnSpc="1">
            <a:prstTxWarp prst="textNoShape">
              <a:avLst/>
            </a:prstTxWarp>
            <a:normAutofit/>
          </a:bodyPr>
          <a:lstStyle/>
          <a:p>
            <a:pPr lvl="0"/>
            <a:r>
              <a:rPr lang="sv-SE" noProof="0"/>
              <a:t>Klicka här för att ändra format på bakgrundstexten</a:t>
            </a:r>
          </a:p>
          <a:p>
            <a:pPr lvl="1"/>
            <a:r>
              <a:rPr lang="sv-SE" noProof="0"/>
              <a:t>Nivå två</a:t>
            </a:r>
          </a:p>
          <a:p>
            <a:pPr lvl="2"/>
            <a:r>
              <a:rPr lang="sv-SE" noProof="0"/>
              <a:t>Nivå tre</a:t>
            </a:r>
          </a:p>
          <a:p>
            <a:pPr lvl="3"/>
            <a:r>
              <a:rPr lang="sv-SE" noProof="0"/>
              <a:t>Nivå fyra</a:t>
            </a:r>
          </a:p>
          <a:p>
            <a:pPr lvl="4"/>
            <a:r>
              <a:rPr lang="sv-SE" noProof="0"/>
              <a:t>Nivå fem</a:t>
            </a:r>
          </a:p>
        </p:txBody>
      </p:sp>
      <p:sp>
        <p:nvSpPr>
          <p:cNvPr id="6" name="Platshållare för sidfot 5"/>
          <p:cNvSpPr>
            <a:spLocks noGrp="1"/>
          </p:cNvSpPr>
          <p:nvPr>
            <p:ph type="ftr" sz="quarter" idx="4"/>
          </p:nvPr>
        </p:nvSpPr>
        <p:spPr>
          <a:xfrm>
            <a:off x="0" y="9119474"/>
            <a:ext cx="3169920" cy="480060"/>
          </a:xfrm>
          <a:prstGeom prst="rect">
            <a:avLst/>
          </a:prstGeom>
        </p:spPr>
        <p:txBody>
          <a:bodyPr vert="horz" wrap="square" lIns="99048" tIns="49524" rIns="99048" bIns="49524" numCol="1" anchor="b" anchorCtr="0" compatLnSpc="1">
            <a:prstTxWarp prst="textNoShape">
              <a:avLst/>
            </a:prstTxWarp>
          </a:bodyPr>
          <a:lstStyle>
            <a:lvl1pPr>
              <a:defRPr sz="1300">
                <a:latin typeface="Calibri" charset="0"/>
              </a:defRPr>
            </a:lvl1pPr>
          </a:lstStyle>
          <a:p>
            <a:pPr>
              <a:defRPr/>
            </a:pPr>
            <a:endParaRPr lang="sv-SE"/>
          </a:p>
        </p:txBody>
      </p:sp>
      <p:sp>
        <p:nvSpPr>
          <p:cNvPr id="7" name="Platshållare för bildnummer 6"/>
          <p:cNvSpPr>
            <a:spLocks noGrp="1"/>
          </p:cNvSpPr>
          <p:nvPr>
            <p:ph type="sldNum" sz="quarter" idx="5"/>
          </p:nvPr>
        </p:nvSpPr>
        <p:spPr>
          <a:xfrm>
            <a:off x="4143588" y="9119474"/>
            <a:ext cx="3169920" cy="480060"/>
          </a:xfrm>
          <a:prstGeom prst="rect">
            <a:avLst/>
          </a:prstGeom>
        </p:spPr>
        <p:txBody>
          <a:bodyPr vert="horz" wrap="square" lIns="99048" tIns="49524" rIns="99048" bIns="49524" numCol="1" anchor="b" anchorCtr="0" compatLnSpc="1">
            <a:prstTxWarp prst="textNoShape">
              <a:avLst/>
            </a:prstTxWarp>
          </a:bodyPr>
          <a:lstStyle>
            <a:lvl1pPr algn="r">
              <a:defRPr sz="1300">
                <a:latin typeface="Calibri" charset="0"/>
              </a:defRPr>
            </a:lvl1pPr>
          </a:lstStyle>
          <a:p>
            <a:pPr>
              <a:defRPr/>
            </a:pPr>
            <a:fld id="{B7A5680B-5CFF-5C46-8A8E-F880F761868B}" type="slidenum">
              <a:rPr lang="sv-SE"/>
              <a:pPr>
                <a:defRPr/>
              </a:pPr>
              <a:t>‹#›</a:t>
            </a:fld>
            <a:endParaRPr lang="sv-SE"/>
          </a:p>
        </p:txBody>
      </p:sp>
    </p:spTree>
    <p:extLst>
      <p:ext uri="{BB962C8B-B14F-4D97-AF65-F5344CB8AC3E}">
        <p14:creationId xmlns:p14="http://schemas.microsoft.com/office/powerpoint/2010/main" val="5069630"/>
      </p:ext>
    </p:extLst>
  </p:cSld>
  <p:clrMap bg1="lt1" tx1="dk1" bg2="lt2" tx2="dk2" accent1="accent1" accent2="accent2" accent3="accent3" accent4="accent4" accent5="accent5" accent6="accent6" hlink="hlink" folHlink="folHlink"/>
  <p:hf hdr="0" ftr="0"/>
  <p:notesStyle>
    <a:lvl1pPr algn="l" defTabSz="457200" rtl="0" eaLnBrk="0" fontAlgn="base" hangingPunct="0">
      <a:spcBef>
        <a:spcPct val="30000"/>
      </a:spcBef>
      <a:spcAft>
        <a:spcPct val="0"/>
      </a:spcAft>
      <a:defRPr sz="1200" kern="1200">
        <a:solidFill>
          <a:schemeClr val="tx1"/>
        </a:solidFill>
        <a:latin typeface="+mn-lt"/>
        <a:ea typeface="ＭＳ Ｐゴシック" pitchFamily="-65" charset="-128"/>
        <a:cs typeface="ＭＳ Ｐゴシック" pitchFamily="-65"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65"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65"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65"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nyaspubs.onlinelibrary.wiley.com/action/doSearch?ContribAuthorStored=Snedecor%2C+George+W" TargetMode="External"/><Relationship Id="rId2" Type="http://schemas.openxmlformats.org/officeDocument/2006/relationships/slide" Target="../slides/slide29.xml"/><Relationship Id="rId1" Type="http://schemas.openxmlformats.org/officeDocument/2006/relationships/notesMaster" Target="../notesMasters/notesMaster1.xml"/><Relationship Id="rId4" Type="http://schemas.openxmlformats.org/officeDocument/2006/relationships/hyperlink" Target="https://doi.org/10.1111/j.1749-6632.1950.tb53972.x" TargetMode="Externa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en.wikipedia.org/wiki/Sampling_error" TargetMode="External"/><Relationship Id="rId2" Type="http://schemas.openxmlformats.org/officeDocument/2006/relationships/slide" Target="../slides/slide60.xml"/><Relationship Id="rId1" Type="http://schemas.openxmlformats.org/officeDocument/2006/relationships/notesMaster" Target="../notesMasters/notesMaster1.xml"/><Relationship Id="rId5" Type="http://schemas.openxmlformats.org/officeDocument/2006/relationships/hyperlink" Target="https://en.wikipedia.org/wiki/Statistical_population" TargetMode="External"/><Relationship Id="rId4" Type="http://schemas.openxmlformats.org/officeDocument/2006/relationships/hyperlink" Target="https://en.wikipedia.org/wiki/Statistical_survey" TargetMode="Externa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3" Type="http://schemas.openxmlformats.org/officeDocument/2006/relationships/hyperlink" Target="https://ebookcentral-proquest-com.ezproxy.ub.gu.se/lib/gu/detail.action?docID=973179" TargetMode="External"/><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a:lnSpc>
                <a:spcPct val="200000"/>
              </a:lnSpc>
            </a:pPr>
            <a:r>
              <a:rPr lang="en-GB" dirty="0"/>
              <a:t>The lectures are not standalone or self-sufficient. </a:t>
            </a:r>
          </a:p>
          <a:p>
            <a:pPr>
              <a:lnSpc>
                <a:spcPct val="200000"/>
              </a:lnSpc>
            </a:pPr>
            <a:r>
              <a:rPr lang="en-GB" dirty="0"/>
              <a:t>Based on earlier experience, I would say it will not be enough  to attend the lectures, you must go through lecture slides &amp; recommended literature.</a:t>
            </a:r>
          </a:p>
          <a:p>
            <a:pPr>
              <a:lnSpc>
                <a:spcPct val="200000"/>
              </a:lnSpc>
            </a:pPr>
            <a:r>
              <a:rPr lang="en-GB" dirty="0"/>
              <a:t>You will also need hands on practice, try to solve the exercises in the book, and go to computer sessions</a:t>
            </a:r>
          </a:p>
        </p:txBody>
      </p:sp>
      <p:sp>
        <p:nvSpPr>
          <p:cNvPr id="4" name="Platshållare för bildnummer 3"/>
          <p:cNvSpPr>
            <a:spLocks noGrp="1"/>
          </p:cNvSpPr>
          <p:nvPr>
            <p:ph type="sldNum" sz="quarter" idx="10"/>
          </p:nvPr>
        </p:nvSpPr>
        <p:spPr/>
        <p:txBody>
          <a:bodyPr/>
          <a:lstStyle/>
          <a:p>
            <a:pPr>
              <a:defRPr/>
            </a:pPr>
            <a:fld id="{B7A5680B-5CFF-5C46-8A8E-F880F761868B}" type="slidenum">
              <a:rPr lang="sv-SE" smtClean="0"/>
              <a:pPr>
                <a:defRPr/>
              </a:pPr>
              <a:t>1</a:t>
            </a:fld>
            <a:endParaRPr lang="sv-SE" dirty="0"/>
          </a:p>
        </p:txBody>
      </p:sp>
      <p:sp>
        <p:nvSpPr>
          <p:cNvPr id="6" name="Date Placeholder 5"/>
          <p:cNvSpPr>
            <a:spLocks noGrp="1"/>
          </p:cNvSpPr>
          <p:nvPr>
            <p:ph type="dt" idx="11"/>
          </p:nvPr>
        </p:nvSpPr>
        <p:spPr/>
        <p:txBody>
          <a:bodyPr/>
          <a:lstStyle/>
          <a:p>
            <a:pPr>
              <a:defRPr/>
            </a:pPr>
            <a:endParaRPr lang="sv-SE" dirty="0"/>
          </a:p>
        </p:txBody>
      </p:sp>
    </p:spTree>
    <p:extLst>
      <p:ext uri="{BB962C8B-B14F-4D97-AF65-F5344CB8AC3E}">
        <p14:creationId xmlns:p14="http://schemas.microsoft.com/office/powerpoint/2010/main" val="3597284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GB" dirty="0"/>
              <a:t>This is how the statistics part of the course is organized, we will have 3 introductory ……</a:t>
            </a:r>
          </a:p>
          <a:p>
            <a:endParaRPr lang="en-GB" dirty="0"/>
          </a:p>
          <a:p>
            <a:r>
              <a:rPr lang="en-GB" dirty="0"/>
              <a:t>During the three sessions, my focus will be introducing basic statistics, concepts &amp; principle behind some commonly used statistical analysis methods in medical research. Medical research can be clinical research, laboratory research or epidemiological studies.</a:t>
            </a:r>
          </a:p>
          <a:p>
            <a:endParaRPr lang="en-GB" dirty="0"/>
          </a:p>
          <a:p>
            <a:r>
              <a:rPr lang="en-GB" dirty="0"/>
              <a:t>The most important thing during the lectures, will be the basic principles in medical statistics and some guidance</a:t>
            </a:r>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2</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397616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sz="2000" dirty="0">
                <a:latin typeface="Times New Roman" panose="02020603050405020304" pitchFamily="18" charset="0"/>
                <a:cs typeface="Times New Roman" panose="02020603050405020304" pitchFamily="18" charset="0"/>
              </a:rPr>
              <a:t>Search the books (3 &amp; ) in GU-Library and navigate further to read online </a:t>
            </a:r>
            <a:endParaRPr lang="en-US" sz="2000" dirty="0"/>
          </a:p>
          <a:p>
            <a:endParaRPr lang="en-US" dirty="0"/>
          </a:p>
          <a:p>
            <a:r>
              <a:rPr lang="en-US" dirty="0"/>
              <a:t>In Swedish = </a:t>
            </a:r>
            <a:r>
              <a:rPr lang="sv-SE" b="1" dirty="0">
                <a:latin typeface="Verdana" panose="020B0604030504040204" pitchFamily="34" charset="0"/>
                <a:ea typeface="Verdana" panose="020B0604030504040204" pitchFamily="34" charset="0"/>
                <a:cs typeface="Times New Roman" panose="02020603050405020304" pitchFamily="18" charset="0"/>
              </a:rPr>
              <a:t>PRAKTISK STATISTIK FÖR MEDICIN OCH HÄLSA” by  Jonas Björk  </a:t>
            </a:r>
            <a:r>
              <a:rPr lang="sv-SE" b="0" dirty="0">
                <a:latin typeface="Verdana" panose="020B0604030504040204" pitchFamily="34" charset="0"/>
                <a:ea typeface="Verdana" panose="020B0604030504040204" pitchFamily="34" charset="0"/>
                <a:cs typeface="Times New Roman" panose="02020603050405020304" pitchFamily="18" charset="0"/>
              </a:rPr>
              <a:t>A </a:t>
            </a:r>
            <a:r>
              <a:rPr lang="sv-SE" b="0" dirty="0" err="1">
                <a:latin typeface="Verdana" panose="020B0604030504040204" pitchFamily="34" charset="0"/>
                <a:ea typeface="Verdana" panose="020B0604030504040204" pitchFamily="34" charset="0"/>
                <a:cs typeface="Times New Roman" panose="02020603050405020304" pitchFamily="18" charset="0"/>
              </a:rPr>
              <a:t>good</a:t>
            </a:r>
            <a:r>
              <a:rPr lang="sv-SE" b="0" dirty="0">
                <a:latin typeface="Verdana" panose="020B0604030504040204" pitchFamily="34" charset="0"/>
                <a:ea typeface="Verdana" panose="020B0604030504040204" pitchFamily="34" charset="0"/>
                <a:cs typeface="Times New Roman" panose="02020603050405020304" pitchFamily="18" charset="0"/>
              </a:rPr>
              <a:t> </a:t>
            </a:r>
            <a:r>
              <a:rPr lang="sv-SE" b="0" dirty="0" err="1">
                <a:latin typeface="Verdana" panose="020B0604030504040204" pitchFamily="34" charset="0"/>
                <a:ea typeface="Verdana" panose="020B0604030504040204" pitchFamily="34" charset="0"/>
                <a:cs typeface="Times New Roman" panose="02020603050405020304" pitchFamily="18" charset="0"/>
              </a:rPr>
              <a:t>introduction</a:t>
            </a:r>
            <a:r>
              <a:rPr lang="sv-SE" b="0" dirty="0">
                <a:latin typeface="Verdana" panose="020B0604030504040204" pitchFamily="34" charset="0"/>
                <a:ea typeface="Verdana" panose="020B0604030504040204" pitchFamily="34" charset="0"/>
                <a:cs typeface="Times New Roman" panose="02020603050405020304" pitchFamily="18" charset="0"/>
              </a:rPr>
              <a:t> to </a:t>
            </a:r>
            <a:r>
              <a:rPr lang="sv-SE" b="0" dirty="0" err="1">
                <a:latin typeface="Verdana" panose="020B0604030504040204" pitchFamily="34" charset="0"/>
                <a:ea typeface="Verdana" panose="020B0604030504040204" pitchFamily="34" charset="0"/>
                <a:cs typeface="Times New Roman" panose="02020603050405020304" pitchFamily="18" charset="0"/>
              </a:rPr>
              <a:t>basic</a:t>
            </a:r>
            <a:r>
              <a:rPr lang="sv-SE" b="0" dirty="0">
                <a:latin typeface="Verdana" panose="020B0604030504040204" pitchFamily="34" charset="0"/>
                <a:ea typeface="Verdana" panose="020B0604030504040204" pitchFamily="34" charset="0"/>
                <a:cs typeface="Times New Roman" panose="02020603050405020304" pitchFamily="18" charset="0"/>
              </a:rPr>
              <a:t> </a:t>
            </a:r>
            <a:r>
              <a:rPr lang="sv-SE" b="0" dirty="0" err="1">
                <a:latin typeface="Verdana" panose="020B0604030504040204" pitchFamily="34" charset="0"/>
                <a:ea typeface="Verdana" panose="020B0604030504040204" pitchFamily="34" charset="0"/>
                <a:cs typeface="Times New Roman" panose="02020603050405020304" pitchFamily="18" charset="0"/>
              </a:rPr>
              <a:t>statistics</a:t>
            </a:r>
            <a:endParaRPr lang="sv-SE" b="1" dirty="0">
              <a:latin typeface="Verdana" panose="020B0604030504040204" pitchFamily="34" charset="0"/>
              <a:ea typeface="Verdana" panose="020B0604030504040204" pitchFamily="34" charset="0"/>
              <a:cs typeface="Times New Roman" panose="02020603050405020304" pitchFamily="18" charset="0"/>
            </a:endParaRPr>
          </a:p>
          <a:p>
            <a:endParaRPr lang="sv-SE" b="1" dirty="0">
              <a:latin typeface="Verdana" panose="020B0604030504040204" pitchFamily="34" charset="0"/>
              <a:ea typeface="Verdana" panose="020B0604030504040204" pitchFamily="34" charset="0"/>
              <a:cs typeface="Times New Roman" panose="02020603050405020304" pitchFamily="18" charset="0"/>
            </a:endParaRPr>
          </a:p>
          <a:p>
            <a:pPr marL="0" marR="0" lvl="2" indent="0" algn="l" defTabSz="457200" rtl="0" eaLnBrk="0" fontAlgn="base" latinLnBrk="0" hangingPunct="0">
              <a:lnSpc>
                <a:spcPct val="100000"/>
              </a:lnSpc>
              <a:spcBef>
                <a:spcPct val="30000"/>
              </a:spcBef>
              <a:spcAft>
                <a:spcPct val="0"/>
              </a:spcAft>
              <a:buClrTx/>
              <a:buSzTx/>
              <a:buFontTx/>
              <a:buNone/>
              <a:tabLst/>
              <a:defRPr/>
            </a:pPr>
            <a:r>
              <a:rPr lang="en-US" dirty="0" err="1">
                <a:latin typeface="Times New Roman" panose="02020603050405020304" pitchFamily="18" charset="0"/>
                <a:cs typeface="Times New Roman" panose="02020603050405020304" pitchFamily="18" charset="0"/>
              </a:rPr>
              <a:t>Vittinghoff</a:t>
            </a:r>
            <a:r>
              <a:rPr lang="en-US" dirty="0">
                <a:latin typeface="Times New Roman" panose="02020603050405020304" pitchFamily="18" charset="0"/>
                <a:cs typeface="Times New Roman" panose="02020603050405020304" pitchFamily="18" charset="0"/>
              </a:rPr>
              <a:t>. E.. Glidden. D.. </a:t>
            </a:r>
            <a:r>
              <a:rPr lang="en-US" dirty="0" err="1">
                <a:latin typeface="Times New Roman" panose="02020603050405020304" pitchFamily="18" charset="0"/>
                <a:cs typeface="Times New Roman" panose="02020603050405020304" pitchFamily="18" charset="0"/>
              </a:rPr>
              <a:t>Shiboski</a:t>
            </a:r>
            <a:r>
              <a:rPr lang="en-US" dirty="0">
                <a:latin typeface="Times New Roman" panose="02020603050405020304" pitchFamily="18" charset="0"/>
                <a:cs typeface="Times New Roman" panose="02020603050405020304" pitchFamily="18" charset="0"/>
              </a:rPr>
              <a:t>. S.. &amp; McCulloch. C. (2012) is </a:t>
            </a:r>
            <a:r>
              <a:rPr lang="en-US" b="0"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gentle &amp; detail</a:t>
            </a:r>
            <a:r>
              <a:rPr lang="en-US" b="0" dirty="0">
                <a:latin typeface="Times New Roman" panose="02020603050405020304" pitchFamily="18" charset="0"/>
                <a:cs typeface="Times New Roman" panose="02020603050405020304" pitchFamily="18" charset="0"/>
              </a:rPr>
              <a:t> introduction to Regression analysis with STATA</a:t>
            </a:r>
          </a:p>
          <a:p>
            <a:pPr marL="0" lvl="2"/>
            <a:r>
              <a:rPr lang="en-US" dirty="0">
                <a:latin typeface="Times New Roman" panose="02020603050405020304" pitchFamily="18" charset="0"/>
                <a:cs typeface="Times New Roman" panose="02020603050405020304" pitchFamily="18" charset="0"/>
              </a:rPr>
              <a:t>Regression Methods in Biostatistics (Statistics for 	Biology and Health). Boston. MA: Springer US. </a:t>
            </a:r>
          </a:p>
          <a:p>
            <a:endParaRPr lang="sv-SE" b="1" dirty="0">
              <a:latin typeface="Verdana" panose="020B0604030504040204" pitchFamily="34" charset="0"/>
              <a:ea typeface="Verdana" panose="020B0604030504040204" pitchFamily="34" charset="0"/>
              <a:cs typeface="Times New Roman" panose="02020603050405020304" pitchFamily="18" charset="0"/>
            </a:endParaRPr>
          </a:p>
          <a:p>
            <a:endParaRPr lang="sv-SE" b="1" dirty="0">
              <a:latin typeface="Verdana" panose="020B0604030504040204" pitchFamily="34" charset="0"/>
              <a:ea typeface="Verdana" panose="020B0604030504040204" pitchFamily="34" charset="0"/>
              <a:cs typeface="Times New Roman" panose="02020603050405020304" pitchFamily="18" charset="0"/>
            </a:endParaRPr>
          </a:p>
          <a:p>
            <a:pPr defTabSz="473705">
              <a:defRPr/>
            </a:pPr>
            <a:endParaRPr lang="sv-SE" b="1" dirty="0">
              <a:latin typeface="Verdana" panose="020B0604030504040204" pitchFamily="34" charset="0"/>
              <a:ea typeface="Verdana" panose="020B0604030504040204" pitchFamily="34" charset="0"/>
              <a:cs typeface="Times New Roman" panose="02020603050405020304" pitchFamily="18" charset="0"/>
            </a:endParaRPr>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3</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924420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sv-SE" dirty="0" err="1"/>
              <a:t>Let’s</a:t>
            </a:r>
            <a:r>
              <a:rPr lang="sv-SE" dirty="0"/>
              <a:t> look at an </a:t>
            </a:r>
            <a:r>
              <a:rPr lang="sv-SE" dirty="0" err="1"/>
              <a:t>example</a:t>
            </a:r>
            <a:r>
              <a:rPr lang="sv-SE" dirty="0"/>
              <a:t> from </a:t>
            </a:r>
            <a:r>
              <a:rPr lang="en-US" dirty="0"/>
              <a:t>Cardiovascular disease </a:t>
            </a:r>
            <a:r>
              <a:rPr lang="sv-SE" dirty="0" err="1"/>
              <a:t>epidemiology</a:t>
            </a:r>
            <a:endParaRPr lang="sv-SE" dirty="0"/>
          </a:p>
          <a:p>
            <a:endParaRPr lang="sv-SE" dirty="0"/>
          </a:p>
          <a:p>
            <a:r>
              <a:rPr lang="en-US" sz="1200" kern="1200" dirty="0">
                <a:solidFill>
                  <a:schemeClr val="tx1"/>
                </a:solidFill>
                <a:effectLst/>
                <a:latin typeface="+mn-lt"/>
                <a:ea typeface="ＭＳ Ｐゴシック" pitchFamily="-65" charset="-128"/>
                <a:cs typeface="ＭＳ Ｐゴシック" pitchFamily="-65" charset="-128"/>
              </a:rPr>
              <a:t>A sample between 25-74 years old was analyzed. The participants were classified </a:t>
            </a:r>
            <a:endParaRPr lang="sv-SE" sz="1200" kern="1200" dirty="0">
              <a:solidFill>
                <a:schemeClr val="tx1"/>
              </a:solidFill>
              <a:effectLst/>
              <a:latin typeface="+mn-lt"/>
              <a:ea typeface="ＭＳ Ｐゴシック" pitchFamily="-65" charset="-128"/>
              <a:cs typeface="ＭＳ Ｐゴシック" pitchFamily="-65" charset="-128"/>
            </a:endParaRPr>
          </a:p>
          <a:p>
            <a:pPr marL="228600" lvl="0" indent="-228600">
              <a:buFont typeface="+mj-lt"/>
              <a:buAutoNum type="arabicPeriod"/>
            </a:pPr>
            <a:r>
              <a:rPr lang="en-US" sz="1200" kern="1200" dirty="0">
                <a:solidFill>
                  <a:schemeClr val="tx1"/>
                </a:solidFill>
                <a:effectLst/>
                <a:latin typeface="+mn-lt"/>
                <a:ea typeface="ＭＳ Ｐゴシック" pitchFamily="-65" charset="-128"/>
                <a:cs typeface="ＭＳ Ｐゴシック" pitchFamily="-65" charset="-128"/>
              </a:rPr>
              <a:t>Rural 		= community with less than 10,000 inhabitants</a:t>
            </a:r>
            <a:endParaRPr lang="sv-SE" sz="1200" kern="1200" dirty="0">
              <a:solidFill>
                <a:schemeClr val="tx1"/>
              </a:solidFill>
              <a:effectLst/>
              <a:latin typeface="+mn-lt"/>
              <a:ea typeface="ＭＳ Ｐゴシック" pitchFamily="-65" charset="-128"/>
              <a:cs typeface="ＭＳ Ｐゴシック" pitchFamily="-65" charset="-128"/>
            </a:endParaRPr>
          </a:p>
          <a:p>
            <a:pPr marL="228600" lvl="0" indent="-228600">
              <a:buFont typeface="+mj-lt"/>
              <a:buAutoNum type="arabicPeriod"/>
            </a:pPr>
            <a:r>
              <a:rPr lang="en-US" sz="1200" kern="1200" dirty="0">
                <a:solidFill>
                  <a:schemeClr val="tx1"/>
                </a:solidFill>
                <a:effectLst/>
                <a:latin typeface="+mn-lt"/>
                <a:ea typeface="ＭＳ Ｐゴシック" pitchFamily="-65" charset="-128"/>
                <a:cs typeface="ＭＳ Ｐゴシック" pitchFamily="-65" charset="-128"/>
              </a:rPr>
              <a:t>Town/intermediate= community with more than 10,000 inhabitants &amp; less than 50000</a:t>
            </a:r>
            <a:endParaRPr lang="sv-SE" sz="1200" kern="1200" dirty="0">
              <a:solidFill>
                <a:schemeClr val="tx1"/>
              </a:solidFill>
              <a:effectLst/>
              <a:latin typeface="+mn-lt"/>
              <a:ea typeface="ＭＳ Ｐゴシック" pitchFamily="-65" charset="-128"/>
              <a:cs typeface="ＭＳ Ｐゴシック" pitchFamily="-65" charset="-128"/>
            </a:endParaRPr>
          </a:p>
          <a:p>
            <a:pPr marL="228600" lvl="0" indent="-228600">
              <a:buFont typeface="+mj-lt"/>
              <a:buAutoNum type="arabicPeriod"/>
            </a:pPr>
            <a:r>
              <a:rPr lang="en-US" sz="1200" kern="1200" dirty="0">
                <a:solidFill>
                  <a:schemeClr val="tx1"/>
                </a:solidFill>
                <a:effectLst/>
                <a:latin typeface="+mn-lt"/>
                <a:ea typeface="ＭＳ Ｐゴシック" pitchFamily="-65" charset="-128"/>
                <a:cs typeface="ＭＳ Ｐゴシック" pitchFamily="-65" charset="-128"/>
              </a:rPr>
              <a:t>Urban/City living 	= in a larger community, &gt;50,000 inhabitants </a:t>
            </a:r>
            <a:endParaRPr lang="sv-SE" sz="1200" kern="1200" dirty="0">
              <a:solidFill>
                <a:schemeClr val="tx1"/>
              </a:solidFill>
              <a:effectLst/>
              <a:latin typeface="+mn-lt"/>
              <a:ea typeface="ＭＳ Ｐゴシック" pitchFamily="-65" charset="-128"/>
              <a:cs typeface="ＭＳ Ｐゴシック" pitchFamily="-65" charset="-128"/>
            </a:endParaRPr>
          </a:p>
          <a:p>
            <a:pPr marL="0" indent="0">
              <a:buFont typeface="+mj-lt"/>
              <a:buNone/>
            </a:pPr>
            <a:endParaRPr lang="sv-SE" dirty="0"/>
          </a:p>
          <a:p>
            <a:pPr marL="0" indent="0">
              <a:buFont typeface="+mj-lt"/>
              <a:buNone/>
            </a:pPr>
            <a:r>
              <a:rPr lang="sv-SE" dirty="0"/>
              <a:t>The focus </a:t>
            </a:r>
            <a:r>
              <a:rPr lang="sv-SE" dirty="0" err="1"/>
              <a:t>was</a:t>
            </a:r>
            <a:r>
              <a:rPr lang="sv-SE" dirty="0"/>
              <a:t> on the </a:t>
            </a:r>
            <a:r>
              <a:rPr lang="sv-SE" dirty="0" err="1"/>
              <a:t>difference</a:t>
            </a:r>
            <a:r>
              <a:rPr lang="sv-SE" dirty="0"/>
              <a:t> </a:t>
            </a:r>
            <a:r>
              <a:rPr lang="sv-SE" dirty="0" err="1"/>
              <a:t>between</a:t>
            </a:r>
            <a:r>
              <a:rPr lang="sv-SE" dirty="0"/>
              <a:t> </a:t>
            </a:r>
            <a:r>
              <a:rPr lang="sv-SE" b="1" dirty="0"/>
              <a:t>Rural</a:t>
            </a:r>
            <a:r>
              <a:rPr lang="sv-SE" dirty="0"/>
              <a:t> and </a:t>
            </a:r>
            <a:r>
              <a:rPr lang="sv-SE" b="1" dirty="0"/>
              <a:t>Urban</a:t>
            </a:r>
            <a:r>
              <a:rPr lang="sv-SE" dirty="0"/>
              <a:t> areas and the </a:t>
            </a:r>
            <a:r>
              <a:rPr lang="sv-SE" b="1" dirty="0" err="1"/>
              <a:t>incidence</a:t>
            </a:r>
            <a:r>
              <a:rPr lang="sv-SE" dirty="0"/>
              <a:t> </a:t>
            </a:r>
            <a:r>
              <a:rPr lang="sv-SE" dirty="0" err="1"/>
              <a:t>of</a:t>
            </a:r>
            <a:r>
              <a:rPr lang="sv-SE" dirty="0"/>
              <a:t> CVD </a:t>
            </a:r>
            <a:r>
              <a:rPr lang="sv-SE" dirty="0" err="1"/>
              <a:t>was</a:t>
            </a:r>
            <a:r>
              <a:rPr lang="sv-SE" dirty="0"/>
              <a:t>  </a:t>
            </a:r>
          </a:p>
          <a:p>
            <a:pPr marL="228600" indent="-228600">
              <a:buFont typeface="+mj-lt"/>
              <a:buAutoNum type="arabicPeriod"/>
            </a:pPr>
            <a:r>
              <a:rPr lang="sv-SE" dirty="0"/>
              <a:t>Rural = 91 </a:t>
            </a:r>
            <a:r>
              <a:rPr lang="sv-SE" dirty="0" err="1"/>
              <a:t>out</a:t>
            </a:r>
            <a:r>
              <a:rPr lang="sv-SE" dirty="0"/>
              <a:t> </a:t>
            </a:r>
            <a:r>
              <a:rPr lang="sv-SE" dirty="0" err="1"/>
              <a:t>of</a:t>
            </a:r>
            <a:r>
              <a:rPr lang="sv-SE" dirty="0"/>
              <a:t> 4920 </a:t>
            </a:r>
            <a:r>
              <a:rPr lang="sv-SE" dirty="0" err="1"/>
              <a:t>individuals</a:t>
            </a:r>
            <a:r>
              <a:rPr lang="sv-SE" dirty="0"/>
              <a:t> </a:t>
            </a:r>
          </a:p>
          <a:p>
            <a:pPr marL="228600" indent="-228600">
              <a:buFont typeface="+mj-lt"/>
              <a:buAutoNum type="arabicPeriod"/>
            </a:pPr>
            <a:r>
              <a:rPr lang="sv-SE" dirty="0"/>
              <a:t>Urban = 64 </a:t>
            </a:r>
            <a:r>
              <a:rPr lang="sv-SE" dirty="0" err="1"/>
              <a:t>out</a:t>
            </a:r>
            <a:r>
              <a:rPr lang="sv-SE" dirty="0"/>
              <a:t> </a:t>
            </a:r>
            <a:r>
              <a:rPr lang="sv-SE" dirty="0" err="1"/>
              <a:t>of</a:t>
            </a:r>
            <a:r>
              <a:rPr lang="sv-SE" dirty="0"/>
              <a:t> 4965 </a:t>
            </a:r>
            <a:r>
              <a:rPr lang="sv-SE" dirty="0" err="1"/>
              <a:t>individuals</a:t>
            </a:r>
            <a:r>
              <a:rPr lang="sv-SE" dirty="0"/>
              <a:t> </a:t>
            </a:r>
          </a:p>
          <a:p>
            <a:pPr marL="228600" indent="-228600">
              <a:buFont typeface="+mj-lt"/>
              <a:buAutoNum type="arabicPeriod"/>
            </a:pPr>
            <a:endParaRPr lang="sv-SE" dirty="0"/>
          </a:p>
          <a:p>
            <a:pPr marL="0" indent="0">
              <a:buFont typeface="+mj-lt"/>
              <a:buNone/>
            </a:pPr>
            <a:r>
              <a:rPr lang="sv-SE" dirty="0" err="1"/>
              <a:t>How</a:t>
            </a:r>
            <a:r>
              <a:rPr lang="sv-SE" dirty="0"/>
              <a:t> do </a:t>
            </a:r>
            <a:r>
              <a:rPr lang="sv-SE" dirty="0" err="1"/>
              <a:t>you</a:t>
            </a:r>
            <a:r>
              <a:rPr lang="sv-SE" dirty="0"/>
              <a:t> interpret </a:t>
            </a:r>
            <a:r>
              <a:rPr lang="sv-SE" dirty="0" err="1"/>
              <a:t>these</a:t>
            </a:r>
            <a:r>
              <a:rPr lang="sv-SE" dirty="0"/>
              <a:t> </a:t>
            </a:r>
            <a:r>
              <a:rPr lang="sv-SE" dirty="0" err="1"/>
              <a:t>results</a:t>
            </a:r>
            <a:r>
              <a:rPr lang="sv-SE" dirty="0"/>
              <a:t> ? Do </a:t>
            </a:r>
            <a:r>
              <a:rPr lang="sv-SE" dirty="0" err="1"/>
              <a:t>you</a:t>
            </a:r>
            <a:r>
              <a:rPr lang="sv-SE" dirty="0"/>
              <a:t> </a:t>
            </a:r>
            <a:r>
              <a:rPr lang="sv-SE" dirty="0" err="1"/>
              <a:t>think</a:t>
            </a:r>
            <a:r>
              <a:rPr lang="sv-SE" dirty="0"/>
              <a:t> </a:t>
            </a:r>
            <a:r>
              <a:rPr lang="sv-SE" dirty="0" err="1"/>
              <a:t>there</a:t>
            </a:r>
            <a:r>
              <a:rPr lang="sv-SE" dirty="0"/>
              <a:t> is an association </a:t>
            </a:r>
            <a:r>
              <a:rPr lang="sv-SE" dirty="0" err="1"/>
              <a:t>between</a:t>
            </a:r>
            <a:r>
              <a:rPr lang="sv-SE" dirty="0"/>
              <a:t> </a:t>
            </a:r>
            <a:r>
              <a:rPr lang="sv-SE" dirty="0" err="1"/>
              <a:t>living</a:t>
            </a:r>
            <a:r>
              <a:rPr lang="sv-SE" dirty="0"/>
              <a:t> &amp;  </a:t>
            </a:r>
            <a:r>
              <a:rPr lang="sv-SE" dirty="0" err="1"/>
              <a:t>incidence</a:t>
            </a:r>
            <a:r>
              <a:rPr lang="sv-SE" dirty="0"/>
              <a:t> </a:t>
            </a:r>
            <a:r>
              <a:rPr lang="sv-SE" dirty="0" err="1"/>
              <a:t>of</a:t>
            </a:r>
            <a:r>
              <a:rPr lang="sv-SE" dirty="0"/>
              <a:t> CVD? </a:t>
            </a:r>
          </a:p>
          <a:p>
            <a:pPr marL="0" indent="0">
              <a:buFont typeface="+mj-lt"/>
              <a:buNone/>
            </a:pPr>
            <a:endParaRPr lang="sv-SE" dirty="0"/>
          </a:p>
          <a:p>
            <a:pPr marL="228600" indent="-228600">
              <a:buFont typeface="+mj-lt"/>
              <a:buAutoNum type="arabicPeriod"/>
            </a:pPr>
            <a:r>
              <a:rPr lang="sv-SE" dirty="0"/>
              <a:t>If </a:t>
            </a:r>
            <a:r>
              <a:rPr lang="sv-SE" dirty="0" err="1"/>
              <a:t>we</a:t>
            </a:r>
            <a:r>
              <a:rPr lang="sv-SE" dirty="0"/>
              <a:t> </a:t>
            </a:r>
            <a:r>
              <a:rPr lang="sv-SE" dirty="0" err="1"/>
              <a:t>had</a:t>
            </a:r>
            <a:r>
              <a:rPr lang="sv-SE" dirty="0"/>
              <a:t> 80 vs 75 </a:t>
            </a:r>
            <a:r>
              <a:rPr lang="sv-SE" dirty="0" err="1"/>
              <a:t>incidence</a:t>
            </a:r>
            <a:r>
              <a:rPr lang="sv-SE" dirty="0"/>
              <a:t> in Rural &amp; Urban </a:t>
            </a:r>
            <a:r>
              <a:rPr lang="sv-SE" dirty="0" err="1"/>
              <a:t>living</a:t>
            </a:r>
            <a:r>
              <a:rPr lang="sv-SE" dirty="0"/>
              <a:t>, </a:t>
            </a:r>
            <a:r>
              <a:rPr lang="sv-SE" dirty="0" err="1"/>
              <a:t>respectively</a:t>
            </a:r>
            <a:r>
              <a:rPr lang="sv-SE" dirty="0"/>
              <a:t>. </a:t>
            </a:r>
            <a:r>
              <a:rPr lang="sv-SE" dirty="0" err="1"/>
              <a:t>We</a:t>
            </a:r>
            <a:r>
              <a:rPr lang="sv-SE" dirty="0"/>
              <a:t> </a:t>
            </a:r>
            <a:r>
              <a:rPr lang="sv-SE" dirty="0" err="1"/>
              <a:t>would</a:t>
            </a:r>
            <a:r>
              <a:rPr lang="sv-SE" dirty="0"/>
              <a:t> </a:t>
            </a:r>
            <a:r>
              <a:rPr lang="sv-SE" dirty="0" err="1"/>
              <a:t>have</a:t>
            </a:r>
            <a:r>
              <a:rPr lang="sv-SE" dirty="0"/>
              <a:t> </a:t>
            </a:r>
            <a:r>
              <a:rPr lang="sv-SE" dirty="0" err="1"/>
              <a:t>thought</a:t>
            </a:r>
            <a:r>
              <a:rPr lang="sv-SE" dirty="0"/>
              <a:t> </a:t>
            </a:r>
            <a:r>
              <a:rPr lang="sv-SE" dirty="0" err="1"/>
              <a:t>that</a:t>
            </a:r>
            <a:r>
              <a:rPr lang="sv-SE" dirty="0"/>
              <a:t> </a:t>
            </a:r>
            <a:r>
              <a:rPr lang="sv-SE" dirty="0" err="1"/>
              <a:t>there</a:t>
            </a:r>
            <a:r>
              <a:rPr lang="sv-SE" dirty="0"/>
              <a:t> is no-association, and </a:t>
            </a:r>
            <a:r>
              <a:rPr lang="sv-SE" dirty="0" err="1"/>
              <a:t>this</a:t>
            </a:r>
            <a:r>
              <a:rPr lang="sv-SE" dirty="0"/>
              <a:t> small </a:t>
            </a:r>
            <a:r>
              <a:rPr lang="sv-SE" dirty="0" err="1"/>
              <a:t>difference</a:t>
            </a:r>
            <a:r>
              <a:rPr lang="sv-SE" dirty="0"/>
              <a:t> is </a:t>
            </a:r>
            <a:r>
              <a:rPr lang="sv-SE" dirty="0" err="1"/>
              <a:t>due</a:t>
            </a:r>
            <a:r>
              <a:rPr lang="sv-SE" dirty="0"/>
              <a:t> to </a:t>
            </a:r>
            <a:r>
              <a:rPr lang="sv-SE" dirty="0" err="1"/>
              <a:t>chance</a:t>
            </a:r>
            <a:endParaRPr lang="sv-SE" dirty="0"/>
          </a:p>
          <a:p>
            <a:pPr marL="228600" marR="0" lvl="0" indent="-228600" algn="l" defTabSz="457200" rtl="0" eaLnBrk="0" fontAlgn="base" latinLnBrk="0" hangingPunct="0">
              <a:lnSpc>
                <a:spcPct val="100000"/>
              </a:lnSpc>
              <a:spcBef>
                <a:spcPct val="30000"/>
              </a:spcBef>
              <a:spcAft>
                <a:spcPct val="0"/>
              </a:spcAft>
              <a:buClrTx/>
              <a:buSzTx/>
              <a:buFont typeface="+mj-lt"/>
              <a:buAutoNum type="arabicPeriod"/>
              <a:tabLst/>
              <a:defRPr/>
            </a:pPr>
            <a:r>
              <a:rPr lang="sv-SE" dirty="0"/>
              <a:t>Or </a:t>
            </a:r>
            <a:r>
              <a:rPr lang="sv-SE" dirty="0" err="1"/>
              <a:t>if</a:t>
            </a:r>
            <a:r>
              <a:rPr lang="sv-SE" dirty="0"/>
              <a:t> </a:t>
            </a:r>
            <a:r>
              <a:rPr lang="sv-SE" dirty="0" err="1"/>
              <a:t>we</a:t>
            </a:r>
            <a:r>
              <a:rPr lang="sv-SE" dirty="0"/>
              <a:t> </a:t>
            </a:r>
            <a:r>
              <a:rPr lang="sv-SE" dirty="0" err="1"/>
              <a:t>had</a:t>
            </a:r>
            <a:r>
              <a:rPr lang="sv-SE" dirty="0"/>
              <a:t> 145 vs 10 </a:t>
            </a:r>
            <a:r>
              <a:rPr lang="sv-SE" dirty="0" err="1"/>
              <a:t>incidence</a:t>
            </a:r>
            <a:r>
              <a:rPr lang="sv-SE" dirty="0"/>
              <a:t> in Rural &amp; Urban </a:t>
            </a:r>
            <a:r>
              <a:rPr lang="sv-SE" dirty="0" err="1"/>
              <a:t>living</a:t>
            </a:r>
            <a:r>
              <a:rPr lang="sv-SE" dirty="0"/>
              <a:t>, </a:t>
            </a:r>
            <a:r>
              <a:rPr lang="sv-SE" dirty="0" err="1"/>
              <a:t>respectively</a:t>
            </a:r>
            <a:r>
              <a:rPr lang="sv-SE" dirty="0"/>
              <a:t>. </a:t>
            </a:r>
            <a:r>
              <a:rPr lang="sv-SE" dirty="0" err="1"/>
              <a:t>With</a:t>
            </a:r>
            <a:r>
              <a:rPr lang="sv-SE" dirty="0"/>
              <a:t> </a:t>
            </a:r>
            <a:r>
              <a:rPr lang="sv-SE" dirty="0" err="1"/>
              <a:t>such</a:t>
            </a:r>
            <a:r>
              <a:rPr lang="sv-SE" dirty="0"/>
              <a:t> </a:t>
            </a:r>
            <a:r>
              <a:rPr lang="sv-SE" dirty="0" err="1"/>
              <a:t>large</a:t>
            </a:r>
            <a:r>
              <a:rPr lang="sv-SE" dirty="0"/>
              <a:t> </a:t>
            </a:r>
            <a:r>
              <a:rPr lang="sv-SE" dirty="0" err="1"/>
              <a:t>difference</a:t>
            </a:r>
            <a:r>
              <a:rPr lang="sv-SE" dirty="0"/>
              <a:t> </a:t>
            </a:r>
            <a:r>
              <a:rPr lang="sv-SE" dirty="0" err="1"/>
              <a:t>we</a:t>
            </a:r>
            <a:r>
              <a:rPr lang="sv-SE" dirty="0"/>
              <a:t> </a:t>
            </a:r>
            <a:r>
              <a:rPr lang="sv-SE" dirty="0" err="1"/>
              <a:t>would</a:t>
            </a:r>
            <a:r>
              <a:rPr lang="sv-SE" dirty="0"/>
              <a:t> </a:t>
            </a:r>
            <a:r>
              <a:rPr lang="sv-SE" dirty="0" err="1"/>
              <a:t>have</a:t>
            </a:r>
            <a:r>
              <a:rPr lang="sv-SE" dirty="0"/>
              <a:t> </a:t>
            </a:r>
            <a:r>
              <a:rPr lang="sv-SE" dirty="0" err="1"/>
              <a:t>thought</a:t>
            </a:r>
            <a:r>
              <a:rPr lang="sv-SE" dirty="0"/>
              <a:t> </a:t>
            </a:r>
            <a:r>
              <a:rPr lang="sv-SE" dirty="0" err="1"/>
              <a:t>that</a:t>
            </a:r>
            <a:r>
              <a:rPr lang="sv-SE" dirty="0"/>
              <a:t> </a:t>
            </a:r>
            <a:r>
              <a:rPr lang="sv-SE" dirty="0" err="1"/>
              <a:t>there</a:t>
            </a:r>
            <a:r>
              <a:rPr lang="sv-SE" dirty="0"/>
              <a:t> </a:t>
            </a:r>
            <a:r>
              <a:rPr lang="sv-SE" dirty="0" err="1"/>
              <a:t>exists</a:t>
            </a:r>
            <a:r>
              <a:rPr lang="sv-SE" dirty="0"/>
              <a:t> an association. </a:t>
            </a:r>
          </a:p>
          <a:p>
            <a:pPr marL="228600" marR="0" lvl="0" indent="-228600" algn="l" defTabSz="457200" rtl="0" eaLnBrk="0" fontAlgn="base" latinLnBrk="0" hangingPunct="0">
              <a:lnSpc>
                <a:spcPct val="100000"/>
              </a:lnSpc>
              <a:spcBef>
                <a:spcPct val="30000"/>
              </a:spcBef>
              <a:spcAft>
                <a:spcPct val="0"/>
              </a:spcAft>
              <a:buClrTx/>
              <a:buSzTx/>
              <a:buFont typeface="+mj-lt"/>
              <a:buAutoNum type="arabicPeriod"/>
              <a:tabLst/>
              <a:defRPr/>
            </a:pPr>
            <a:endParaRPr lang="sv-SE" dirty="0"/>
          </a:p>
          <a:p>
            <a:pPr marL="228600" marR="0" lvl="0" indent="-228600" algn="l" defTabSz="457200" rtl="0" eaLnBrk="0" fontAlgn="base" latinLnBrk="0" hangingPunct="0">
              <a:lnSpc>
                <a:spcPct val="100000"/>
              </a:lnSpc>
              <a:spcBef>
                <a:spcPct val="30000"/>
              </a:spcBef>
              <a:spcAft>
                <a:spcPct val="0"/>
              </a:spcAft>
              <a:buClrTx/>
              <a:buSzTx/>
              <a:buFont typeface="+mj-lt"/>
              <a:buAutoNum type="arabicPeriod"/>
              <a:tabLst/>
              <a:defRPr/>
            </a:pPr>
            <a:endParaRPr lang="sv-SE" dirty="0"/>
          </a:p>
          <a:p>
            <a:pPr marL="228600" marR="0" lvl="0" indent="-228600" algn="l" defTabSz="457200" rtl="0" eaLnBrk="0" fontAlgn="base" latinLnBrk="0" hangingPunct="0">
              <a:lnSpc>
                <a:spcPct val="100000"/>
              </a:lnSpc>
              <a:spcBef>
                <a:spcPct val="30000"/>
              </a:spcBef>
              <a:spcAft>
                <a:spcPct val="0"/>
              </a:spcAft>
              <a:buClrTx/>
              <a:buSzTx/>
              <a:buFont typeface="+mj-lt"/>
              <a:buAutoNum type="arabicPeriod"/>
              <a:tabLst/>
              <a:defRPr/>
            </a:pPr>
            <a:r>
              <a:rPr lang="sv-SE" dirty="0" err="1"/>
              <a:t>But</a:t>
            </a:r>
            <a:r>
              <a:rPr lang="sv-SE" dirty="0"/>
              <a:t> </a:t>
            </a:r>
            <a:r>
              <a:rPr lang="sv-SE" dirty="0" err="1"/>
              <a:t>with</a:t>
            </a:r>
            <a:r>
              <a:rPr lang="sv-SE" dirty="0"/>
              <a:t> the given situation </a:t>
            </a:r>
            <a:r>
              <a:rPr lang="sv-SE" dirty="0" err="1"/>
              <a:t>we</a:t>
            </a:r>
            <a:r>
              <a:rPr lang="sv-SE" dirty="0"/>
              <a:t> </a:t>
            </a:r>
            <a:r>
              <a:rPr lang="sv-SE" dirty="0" err="1"/>
              <a:t>cannot</a:t>
            </a:r>
            <a:r>
              <a:rPr lang="sv-SE" dirty="0"/>
              <a:t> </a:t>
            </a:r>
            <a:r>
              <a:rPr lang="sv-SE" dirty="0" err="1"/>
              <a:t>decide</a:t>
            </a:r>
            <a:r>
              <a:rPr lang="sv-SE" dirty="0"/>
              <a:t> </a:t>
            </a:r>
            <a:r>
              <a:rPr lang="sv-SE" dirty="0" err="1"/>
              <a:t>using</a:t>
            </a:r>
            <a:r>
              <a:rPr lang="sv-SE" dirty="0"/>
              <a:t> </a:t>
            </a:r>
            <a:r>
              <a:rPr lang="sv-SE" dirty="0" err="1"/>
              <a:t>our</a:t>
            </a:r>
            <a:r>
              <a:rPr lang="sv-SE" dirty="0"/>
              <a:t> simple intuition </a:t>
            </a:r>
            <a:r>
              <a:rPr lang="sv-SE" dirty="0" err="1"/>
              <a:t>we</a:t>
            </a:r>
            <a:r>
              <a:rPr lang="sv-SE" dirty="0"/>
              <a:t> </a:t>
            </a:r>
            <a:r>
              <a:rPr lang="sv-SE" dirty="0" err="1"/>
              <a:t>have</a:t>
            </a:r>
            <a:r>
              <a:rPr lang="sv-SE" dirty="0"/>
              <a:t> to </a:t>
            </a:r>
            <a:r>
              <a:rPr lang="sv-SE" dirty="0" err="1"/>
              <a:t>use</a:t>
            </a:r>
            <a:r>
              <a:rPr lang="sv-SE" dirty="0"/>
              <a:t> </a:t>
            </a:r>
            <a:r>
              <a:rPr lang="sv-SE" dirty="0" err="1"/>
              <a:t>statistical</a:t>
            </a:r>
            <a:r>
              <a:rPr lang="sv-SE" dirty="0"/>
              <a:t> </a:t>
            </a:r>
            <a:r>
              <a:rPr lang="sv-SE" dirty="0" err="1"/>
              <a:t>theory</a:t>
            </a:r>
            <a:r>
              <a:rPr lang="sv-SE" dirty="0"/>
              <a:t> to </a:t>
            </a:r>
            <a:r>
              <a:rPr lang="sv-SE" dirty="0" err="1"/>
              <a:t>answer</a:t>
            </a:r>
            <a:r>
              <a:rPr lang="sv-SE" dirty="0"/>
              <a:t> </a:t>
            </a:r>
            <a:r>
              <a:rPr lang="sv-SE" dirty="0" err="1"/>
              <a:t>our</a:t>
            </a:r>
            <a:r>
              <a:rPr lang="sv-SE" dirty="0"/>
              <a:t> research </a:t>
            </a:r>
            <a:r>
              <a:rPr lang="sv-SE" dirty="0" err="1"/>
              <a:t>question</a:t>
            </a:r>
            <a:r>
              <a:rPr lang="sv-SE" dirty="0"/>
              <a:t>.</a:t>
            </a:r>
          </a:p>
          <a:p>
            <a:pPr marL="0" indent="0">
              <a:buFont typeface="+mj-lt"/>
              <a:buNone/>
            </a:pPr>
            <a:endParaRPr lang="sv-SE" dirty="0"/>
          </a:p>
        </p:txBody>
      </p:sp>
      <p:sp>
        <p:nvSpPr>
          <p:cNvPr id="4" name="Slide Number Placeholder 3"/>
          <p:cNvSpPr>
            <a:spLocks noGrp="1"/>
          </p:cNvSpPr>
          <p:nvPr>
            <p:ph type="sldNum" sz="quarter" idx="5"/>
          </p:nvPr>
        </p:nvSpPr>
        <p:spPr/>
        <p:txBody>
          <a:bodyPr/>
          <a:lstStyle/>
          <a:p>
            <a:fld id="{CECB7405-4276-4FEB-8EA2-369570AA649A}" type="slidenum">
              <a:rPr lang="sv-SE" smtClean="0"/>
              <a:pPr/>
              <a:t>4</a:t>
            </a:fld>
            <a:endParaRPr lang="sv-SE"/>
          </a:p>
        </p:txBody>
      </p:sp>
      <p:sp>
        <p:nvSpPr>
          <p:cNvPr id="6" name="Date Placeholder 5"/>
          <p:cNvSpPr>
            <a:spLocks noGrp="1"/>
          </p:cNvSpPr>
          <p:nvPr>
            <p:ph type="dt" idx="10"/>
          </p:nvPr>
        </p:nvSpPr>
        <p:spPr/>
        <p:txBody>
          <a:bodyPr/>
          <a:lstStyle/>
          <a:p>
            <a:pPr>
              <a:defRPr/>
            </a:pPr>
            <a:endParaRPr lang="sv-SE"/>
          </a:p>
        </p:txBody>
      </p:sp>
    </p:spTree>
    <p:extLst>
      <p:ext uri="{BB962C8B-B14F-4D97-AF65-F5344CB8AC3E}">
        <p14:creationId xmlns:p14="http://schemas.microsoft.com/office/powerpoint/2010/main" val="2122338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mj-lt"/>
              <a:buNone/>
            </a:pPr>
            <a:r>
              <a:rPr lang="sv-SE" dirty="0"/>
              <a:t>Is 0.5% </a:t>
            </a:r>
            <a:r>
              <a:rPr lang="sv-SE" dirty="0" err="1"/>
              <a:t>Clinically</a:t>
            </a:r>
            <a:r>
              <a:rPr lang="sv-SE" dirty="0"/>
              <a:t> relevant?</a:t>
            </a:r>
          </a:p>
          <a:p>
            <a:pPr marL="0" indent="0">
              <a:buFont typeface="+mj-lt"/>
              <a:buNone/>
            </a:pPr>
            <a:endParaRPr lang="sv-SE" dirty="0"/>
          </a:p>
          <a:p>
            <a:r>
              <a:rPr lang="en-US" sz="1200" kern="1200" dirty="0">
                <a:solidFill>
                  <a:schemeClr val="tx1"/>
                </a:solidFill>
                <a:effectLst/>
                <a:latin typeface="+mn-lt"/>
                <a:ea typeface="ＭＳ Ｐゴシック" pitchFamily="-65" charset="-128"/>
                <a:cs typeface="ＭＳ Ｐゴシック" pitchFamily="-65" charset="-128"/>
              </a:rPr>
              <a:t>A sample between 25-74 years old was analyzed. The participants were classified </a:t>
            </a:r>
            <a:endParaRPr lang="sv-SE" sz="1200" kern="1200" dirty="0">
              <a:solidFill>
                <a:schemeClr val="tx1"/>
              </a:solidFill>
              <a:effectLst/>
              <a:latin typeface="+mn-lt"/>
              <a:ea typeface="ＭＳ Ｐゴシック" pitchFamily="-65" charset="-128"/>
              <a:cs typeface="ＭＳ Ｐゴシック" pitchFamily="-65" charset="-128"/>
            </a:endParaRPr>
          </a:p>
          <a:p>
            <a:pPr marL="228600" lvl="0" indent="-228600">
              <a:buFont typeface="+mj-lt"/>
              <a:buAutoNum type="arabicPeriod"/>
            </a:pPr>
            <a:r>
              <a:rPr lang="en-US" sz="1200" kern="1200" dirty="0">
                <a:solidFill>
                  <a:schemeClr val="tx1"/>
                </a:solidFill>
                <a:effectLst/>
                <a:latin typeface="+mn-lt"/>
                <a:ea typeface="ＭＳ Ｐゴシック" pitchFamily="-65" charset="-128"/>
                <a:cs typeface="ＭＳ Ｐゴシック" pitchFamily="-65" charset="-128"/>
              </a:rPr>
              <a:t>Rural 		= community with less than 10,000 inhabitants</a:t>
            </a:r>
          </a:p>
          <a:p>
            <a:pPr marL="228600" lvl="0" indent="-228600">
              <a:buFont typeface="+mj-lt"/>
              <a:buAutoNum type="arabicPeriod"/>
            </a:pPr>
            <a:endParaRPr lang="sv-SE" sz="1200" kern="1200" dirty="0">
              <a:solidFill>
                <a:schemeClr val="tx1"/>
              </a:solidFill>
              <a:effectLst/>
              <a:latin typeface="+mn-lt"/>
              <a:ea typeface="ＭＳ Ｐゴシック" pitchFamily="-65" charset="-128"/>
              <a:cs typeface="ＭＳ Ｐゴシック" pitchFamily="-65" charset="-128"/>
            </a:endParaRPr>
          </a:p>
          <a:p>
            <a:pPr marL="228600" lvl="0" indent="-228600">
              <a:buFont typeface="+mj-lt"/>
              <a:buAutoNum type="arabicPeriod"/>
            </a:pPr>
            <a:r>
              <a:rPr lang="en-US" sz="1200" kern="1200" dirty="0">
                <a:solidFill>
                  <a:schemeClr val="tx1"/>
                </a:solidFill>
                <a:effectLst/>
                <a:latin typeface="+mn-lt"/>
                <a:ea typeface="ＭＳ Ｐゴシック" pitchFamily="-65" charset="-128"/>
                <a:cs typeface="ＭＳ Ｐゴシック" pitchFamily="-65" charset="-128"/>
              </a:rPr>
              <a:t>Urban/City living 	= in a larger community, &gt;50,000 inhabitants </a:t>
            </a:r>
            <a:endParaRPr lang="sv-SE" sz="1200" kern="1200" dirty="0">
              <a:solidFill>
                <a:schemeClr val="tx1"/>
              </a:solidFill>
              <a:effectLst/>
              <a:latin typeface="+mn-lt"/>
              <a:ea typeface="ＭＳ Ｐゴシック" pitchFamily="-65" charset="-128"/>
              <a:cs typeface="ＭＳ Ｐゴシック" pitchFamily="-65" charset="-128"/>
            </a:endParaRPr>
          </a:p>
          <a:p>
            <a:pPr marL="0" indent="0">
              <a:buFont typeface="+mj-lt"/>
              <a:buNone/>
            </a:pPr>
            <a:endParaRPr lang="sv-SE" dirty="0"/>
          </a:p>
          <a:p>
            <a:pPr marL="0" indent="0">
              <a:buFont typeface="+mj-lt"/>
              <a:buNone/>
            </a:pPr>
            <a:endParaRPr lang="sv-SE" dirty="0"/>
          </a:p>
        </p:txBody>
      </p:sp>
      <p:sp>
        <p:nvSpPr>
          <p:cNvPr id="4" name="Slide Number Placeholder 3"/>
          <p:cNvSpPr>
            <a:spLocks noGrp="1"/>
          </p:cNvSpPr>
          <p:nvPr>
            <p:ph type="sldNum" sz="quarter" idx="5"/>
          </p:nvPr>
        </p:nvSpPr>
        <p:spPr/>
        <p:txBody>
          <a:bodyPr/>
          <a:lstStyle/>
          <a:p>
            <a:fld id="{CECB7405-4276-4FEB-8EA2-369570AA649A}" type="slidenum">
              <a:rPr lang="sv-SE" smtClean="0"/>
              <a:pPr/>
              <a:t>5</a:t>
            </a:fld>
            <a:endParaRPr lang="sv-SE"/>
          </a:p>
        </p:txBody>
      </p:sp>
      <p:sp>
        <p:nvSpPr>
          <p:cNvPr id="6" name="Date Placeholder 5"/>
          <p:cNvSpPr>
            <a:spLocks noGrp="1"/>
          </p:cNvSpPr>
          <p:nvPr>
            <p:ph type="dt" idx="10"/>
          </p:nvPr>
        </p:nvSpPr>
        <p:spPr/>
        <p:txBody>
          <a:bodyPr/>
          <a:lstStyle/>
          <a:p>
            <a:pPr>
              <a:defRPr/>
            </a:pPr>
            <a:endParaRPr lang="sv-SE"/>
          </a:p>
        </p:txBody>
      </p:sp>
    </p:spTree>
    <p:extLst>
      <p:ext uri="{BB962C8B-B14F-4D97-AF65-F5344CB8AC3E}">
        <p14:creationId xmlns:p14="http://schemas.microsoft.com/office/powerpoint/2010/main" val="2439766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457200" rtl="0" eaLnBrk="0" fontAlgn="base" latinLnBrk="0" hangingPunct="0">
              <a:lnSpc>
                <a:spcPct val="100000"/>
              </a:lnSpc>
              <a:spcBef>
                <a:spcPct val="30000"/>
              </a:spcBef>
              <a:spcAft>
                <a:spcPct val="0"/>
              </a:spcAft>
              <a:buClrTx/>
              <a:buSzTx/>
              <a:buFont typeface="+mj-lt"/>
              <a:buNone/>
              <a:tabLst/>
              <a:defRPr/>
            </a:pPr>
            <a:r>
              <a:rPr lang="en-US" sz="1200" dirty="0">
                <a:solidFill>
                  <a:schemeClr val="bg1">
                    <a:lumMod val="85000"/>
                  </a:schemeClr>
                </a:solidFill>
                <a:ea typeface="Verdana" panose="020B0604030504040204" pitchFamily="34" charset="0"/>
              </a:rPr>
              <a:t>8705 excess cases (</a:t>
            </a:r>
            <a:r>
              <a:rPr lang="en-US" sz="1200" dirty="0">
                <a:solidFill>
                  <a:schemeClr val="bg1">
                    <a:lumMod val="85000"/>
                  </a:schemeClr>
                </a:solidFill>
                <a:latin typeface="+mn-lt"/>
                <a:ea typeface="Verdana" panose="020B0604030504040204" pitchFamily="34" charset="0"/>
              </a:rPr>
              <a:t>452756 – 36572)</a:t>
            </a:r>
          </a:p>
          <a:p>
            <a:pPr marL="0" marR="0" lvl="0" indent="0" algn="l" defTabSz="457200" rtl="0" eaLnBrk="0" fontAlgn="base" latinLnBrk="0" hangingPunct="0">
              <a:lnSpc>
                <a:spcPct val="100000"/>
              </a:lnSpc>
              <a:spcBef>
                <a:spcPct val="30000"/>
              </a:spcBef>
              <a:spcAft>
                <a:spcPct val="0"/>
              </a:spcAft>
              <a:buClrTx/>
              <a:buSzTx/>
              <a:buFont typeface="+mj-lt"/>
              <a:buNone/>
              <a:tabLst/>
              <a:defRPr/>
            </a:pPr>
            <a:endParaRPr lang="en-US" sz="1200" dirty="0">
              <a:solidFill>
                <a:schemeClr val="bg1">
                  <a:lumMod val="85000"/>
                </a:schemeClr>
              </a:solidFill>
              <a:latin typeface="+mn-lt"/>
              <a:ea typeface="Verdana" panose="020B0604030504040204" pitchFamily="34" charset="0"/>
            </a:endParaRPr>
          </a:p>
          <a:p>
            <a:pPr marL="0" marR="0" lvl="0" indent="0" algn="l" defTabSz="457200" rtl="0" eaLnBrk="0" fontAlgn="base" latinLnBrk="0" hangingPunct="0">
              <a:lnSpc>
                <a:spcPct val="100000"/>
              </a:lnSpc>
              <a:spcBef>
                <a:spcPct val="30000"/>
              </a:spcBef>
              <a:spcAft>
                <a:spcPct val="0"/>
              </a:spcAft>
              <a:buClrTx/>
              <a:buSzTx/>
              <a:buFont typeface="+mj-lt"/>
              <a:buNone/>
              <a:tabLst/>
              <a:defRPr/>
            </a:pPr>
            <a:endParaRPr lang="en-US" sz="1200" dirty="0">
              <a:solidFill>
                <a:schemeClr val="bg1">
                  <a:lumMod val="85000"/>
                </a:schemeClr>
              </a:solidFill>
              <a:latin typeface="+mn-lt"/>
              <a:ea typeface="Verdana" panose="020B0604030504040204" pitchFamily="34" charset="0"/>
            </a:endParaRPr>
          </a:p>
          <a:p>
            <a:pPr marL="0" marR="0" lvl="0" indent="0" algn="l" defTabSz="457200" rtl="0" eaLnBrk="0" fontAlgn="base" latinLnBrk="0" hangingPunct="0">
              <a:lnSpc>
                <a:spcPct val="100000"/>
              </a:lnSpc>
              <a:spcBef>
                <a:spcPct val="30000"/>
              </a:spcBef>
              <a:spcAft>
                <a:spcPct val="0"/>
              </a:spcAft>
              <a:buClrTx/>
              <a:buSzTx/>
              <a:buFont typeface="+mj-lt"/>
              <a:buNone/>
              <a:tabLst/>
              <a:defRPr/>
            </a:pPr>
            <a:r>
              <a:rPr lang="en-US" sz="1800" b="1" i="0" u="none" strike="noStrike" dirty="0">
                <a:solidFill>
                  <a:srgbClr val="FFFFFF"/>
                </a:solidFill>
                <a:effectLst/>
                <a:latin typeface="Calibri" panose="020F0502020204030204" pitchFamily="34" charset="0"/>
              </a:rPr>
              <a:t>Rural vs Urban areas</a:t>
            </a:r>
            <a:r>
              <a:rPr lang="en-US" sz="1600" dirty="0"/>
              <a:t> </a:t>
            </a:r>
            <a:r>
              <a:rPr lang="en-US" sz="1800" b="1" i="0" u="none" strike="noStrike" dirty="0">
                <a:solidFill>
                  <a:srgbClr val="000000"/>
                </a:solidFill>
                <a:effectLst/>
                <a:latin typeface="Calibri" panose="020F0502020204030204" pitchFamily="34" charset="0"/>
              </a:rPr>
              <a:t>Scenario-2 (Whole Sweden sample)</a:t>
            </a:r>
            <a:r>
              <a:rPr lang="en-US" sz="1600" dirty="0"/>
              <a:t> </a:t>
            </a:r>
            <a:r>
              <a:rPr lang="en-US" sz="1800" b="0" i="0" u="none" strike="noStrike" dirty="0">
                <a:solidFill>
                  <a:srgbClr val="000000"/>
                </a:solidFill>
                <a:effectLst/>
                <a:latin typeface="Calibri" panose="020F0502020204030204" pitchFamily="34" charset="0"/>
              </a:rPr>
              <a:t> </a:t>
            </a:r>
            <a:r>
              <a:rPr lang="en-US" sz="1600" dirty="0"/>
              <a:t> </a:t>
            </a:r>
            <a:r>
              <a:rPr lang="en-US" sz="1800" b="0" i="0" u="none" strike="noStrike" dirty="0">
                <a:solidFill>
                  <a:srgbClr val="000000"/>
                </a:solidFill>
                <a:effectLst/>
                <a:latin typeface="Calibri" panose="020F0502020204030204" pitchFamily="34" charset="0"/>
              </a:rPr>
              <a:t> </a:t>
            </a:r>
            <a:r>
              <a:rPr lang="en-US" sz="1600" dirty="0"/>
              <a:t> </a:t>
            </a:r>
          </a:p>
          <a:p>
            <a:pPr marL="0" marR="0" lvl="0" indent="0" algn="l" defTabSz="457200" rtl="0" eaLnBrk="0" fontAlgn="base" latinLnBrk="0" hangingPunct="0">
              <a:lnSpc>
                <a:spcPct val="100000"/>
              </a:lnSpc>
              <a:spcBef>
                <a:spcPct val="30000"/>
              </a:spcBef>
              <a:spcAft>
                <a:spcPct val="0"/>
              </a:spcAft>
              <a:buClrTx/>
              <a:buSzTx/>
              <a:buFont typeface="+mj-lt"/>
              <a:buNone/>
              <a:tabLst/>
              <a:defRPr/>
            </a:pPr>
            <a:r>
              <a:rPr lang="en-US" sz="1800" b="1" i="0" u="none" strike="noStrike" dirty="0">
                <a:solidFill>
                  <a:srgbClr val="000000"/>
                </a:solidFill>
                <a:effectLst/>
                <a:latin typeface="Calibri" panose="020F0502020204030204" pitchFamily="34" charset="0"/>
              </a:rPr>
              <a:t>                        Yes</a:t>
            </a:r>
            <a:r>
              <a:rPr lang="en-US" sz="1600" dirty="0"/>
              <a:t>                        </a:t>
            </a:r>
            <a:r>
              <a:rPr lang="en-US" sz="1800" b="0" i="0" u="none" strike="noStrike" dirty="0">
                <a:solidFill>
                  <a:srgbClr val="000000"/>
                </a:solidFill>
                <a:effectLst/>
                <a:latin typeface="Calibri" panose="020F0502020204030204" pitchFamily="34" charset="0"/>
              </a:rPr>
              <a:t>sum</a:t>
            </a:r>
            <a:r>
              <a:rPr lang="en-US" sz="1600" dirty="0"/>
              <a:t> </a:t>
            </a:r>
          </a:p>
          <a:p>
            <a:pPr marL="0" marR="0" lvl="0" indent="0" algn="l" defTabSz="457200" rtl="0" eaLnBrk="0" fontAlgn="base" latinLnBrk="0" hangingPunct="0">
              <a:lnSpc>
                <a:spcPct val="100000"/>
              </a:lnSpc>
              <a:spcBef>
                <a:spcPct val="30000"/>
              </a:spcBef>
              <a:spcAft>
                <a:spcPct val="0"/>
              </a:spcAft>
              <a:buClrTx/>
              <a:buSzTx/>
              <a:buFont typeface="+mj-lt"/>
              <a:buNone/>
              <a:tabLst/>
              <a:defRPr/>
            </a:pPr>
            <a:r>
              <a:rPr lang="en-US" sz="1800" b="1" i="0" u="none" strike="noStrike" dirty="0">
                <a:solidFill>
                  <a:srgbClr val="000000"/>
                </a:solidFill>
                <a:effectLst/>
                <a:latin typeface="Calibri" panose="020F0502020204030204" pitchFamily="34" charset="0"/>
              </a:rPr>
              <a:t>Rural    =</a:t>
            </a:r>
            <a:r>
              <a:rPr lang="en-US" sz="1600" dirty="0"/>
              <a:t>  </a:t>
            </a:r>
            <a:r>
              <a:rPr lang="en-US" sz="1800" b="0" i="0" u="none" strike="noStrike" dirty="0">
                <a:solidFill>
                  <a:srgbClr val="000000"/>
                </a:solidFill>
                <a:effectLst/>
                <a:latin typeface="Calibri" panose="020F0502020204030204" pitchFamily="34" charset="0"/>
              </a:rPr>
              <a:t>1,8%</a:t>
            </a:r>
            <a:r>
              <a:rPr lang="en-US" sz="1600" dirty="0"/>
              <a:t> </a:t>
            </a:r>
            <a:r>
              <a:rPr lang="en-US" sz="1800" b="1" i="0" u="none" strike="noStrike" dirty="0">
                <a:solidFill>
                  <a:srgbClr val="000000"/>
                </a:solidFill>
                <a:effectLst/>
                <a:latin typeface="Calibri" panose="020F0502020204030204" pitchFamily="34" charset="0"/>
              </a:rPr>
              <a:t>45 276</a:t>
            </a:r>
            <a:r>
              <a:rPr lang="en-US" sz="1600" dirty="0"/>
              <a:t>     </a:t>
            </a:r>
            <a:r>
              <a:rPr lang="en-US" sz="1800" b="0" i="0" u="none" strike="noStrike" dirty="0">
                <a:solidFill>
                  <a:srgbClr val="000000"/>
                </a:solidFill>
                <a:effectLst/>
                <a:latin typeface="Calibri" panose="020F0502020204030204" pitchFamily="34" charset="0"/>
              </a:rPr>
              <a:t>2 447 909</a:t>
            </a:r>
            <a:r>
              <a:rPr lang="en-US" sz="1600" dirty="0"/>
              <a:t> </a:t>
            </a:r>
            <a:r>
              <a:rPr lang="en-US" sz="1800" b="0" i="0" u="none" strike="noStrike" dirty="0">
                <a:solidFill>
                  <a:srgbClr val="000000"/>
                </a:solidFill>
                <a:effectLst/>
                <a:latin typeface="Calibri" panose="020F0502020204030204" pitchFamily="34" charset="0"/>
              </a:rPr>
              <a:t> </a:t>
            </a:r>
            <a:r>
              <a:rPr lang="en-US" sz="1600" dirty="0"/>
              <a:t> </a:t>
            </a:r>
            <a:r>
              <a:rPr lang="en-US" sz="1800" b="0" i="0" u="none" strike="noStrike" dirty="0">
                <a:solidFill>
                  <a:srgbClr val="A6A6A6"/>
                </a:solidFill>
                <a:effectLst/>
                <a:latin typeface="Calibri" panose="020F0502020204030204" pitchFamily="34" charset="0"/>
              </a:rPr>
              <a:t>expected</a:t>
            </a:r>
            <a:r>
              <a:rPr lang="en-US" sz="1600" dirty="0"/>
              <a:t> </a:t>
            </a:r>
            <a:r>
              <a:rPr lang="en-US" sz="1800" b="0" i="0" u="none" strike="noStrike" dirty="0">
                <a:solidFill>
                  <a:srgbClr val="A6A6A6"/>
                </a:solidFill>
                <a:effectLst/>
                <a:latin typeface="Calibri" panose="020F0502020204030204" pitchFamily="34" charset="0"/>
              </a:rPr>
              <a:t>36 572 (1.5%)</a:t>
            </a:r>
            <a:endParaRPr lang="en-US" sz="1600" dirty="0"/>
          </a:p>
          <a:p>
            <a:pPr marL="0" marR="0" lvl="0" indent="0" algn="l" defTabSz="457200" rtl="0" eaLnBrk="0" fontAlgn="base" latinLnBrk="0" hangingPunct="0">
              <a:lnSpc>
                <a:spcPct val="100000"/>
              </a:lnSpc>
              <a:spcBef>
                <a:spcPct val="30000"/>
              </a:spcBef>
              <a:spcAft>
                <a:spcPct val="0"/>
              </a:spcAft>
              <a:buClrTx/>
              <a:buSzTx/>
              <a:buFont typeface="+mj-lt"/>
              <a:buNone/>
              <a:tabLst/>
              <a:defRPr/>
            </a:pPr>
            <a:r>
              <a:rPr lang="en-US" sz="1800" b="1" i="0" u="none" strike="noStrike" dirty="0">
                <a:solidFill>
                  <a:srgbClr val="000000"/>
                </a:solidFill>
                <a:effectLst/>
                <a:latin typeface="Calibri" panose="020F0502020204030204" pitchFamily="34" charset="0"/>
              </a:rPr>
              <a:t>Urban  =</a:t>
            </a:r>
            <a:r>
              <a:rPr lang="en-US" sz="1600" dirty="0"/>
              <a:t>  </a:t>
            </a:r>
            <a:r>
              <a:rPr lang="en-US" sz="1800" b="0" i="0" u="none" strike="noStrike" dirty="0">
                <a:solidFill>
                  <a:srgbClr val="000000"/>
                </a:solidFill>
                <a:effectLst/>
                <a:latin typeface="Calibri" panose="020F0502020204030204" pitchFamily="34" charset="0"/>
              </a:rPr>
              <a:t>1,3%</a:t>
            </a:r>
            <a:r>
              <a:rPr lang="en-US" sz="1600" dirty="0"/>
              <a:t> </a:t>
            </a:r>
            <a:r>
              <a:rPr lang="en-US" sz="1800" b="1" i="0" u="none" strike="noStrike" dirty="0">
                <a:solidFill>
                  <a:srgbClr val="000000"/>
                </a:solidFill>
                <a:effectLst/>
                <a:latin typeface="Calibri" panose="020F0502020204030204" pitchFamily="34" charset="0"/>
              </a:rPr>
              <a:t>54 744</a:t>
            </a:r>
            <a:r>
              <a:rPr lang="en-US" sz="1600" dirty="0"/>
              <a:t>     </a:t>
            </a:r>
            <a:r>
              <a:rPr lang="en-US" sz="1800" b="0" i="0" u="none" strike="noStrike" dirty="0">
                <a:solidFill>
                  <a:srgbClr val="000000"/>
                </a:solidFill>
                <a:effectLst/>
                <a:latin typeface="Calibri" panose="020F0502020204030204" pitchFamily="34" charset="0"/>
              </a:rPr>
              <a:t>4 246  925</a:t>
            </a:r>
            <a:r>
              <a:rPr lang="en-US" sz="1600" dirty="0"/>
              <a:t> </a:t>
            </a:r>
            <a:r>
              <a:rPr lang="en-US" sz="1800" b="0" i="0" u="none" strike="noStrike" dirty="0">
                <a:solidFill>
                  <a:srgbClr val="000000"/>
                </a:solidFill>
                <a:effectLst/>
                <a:latin typeface="Calibri" panose="020F0502020204030204" pitchFamily="34" charset="0"/>
              </a:rPr>
              <a:t> </a:t>
            </a:r>
            <a:r>
              <a:rPr lang="en-US" sz="1600" dirty="0"/>
              <a:t> </a:t>
            </a:r>
            <a:r>
              <a:rPr lang="en-US" sz="1800" b="0" i="0" u="none" strike="noStrike" dirty="0">
                <a:solidFill>
                  <a:srgbClr val="A6A6A6"/>
                </a:solidFill>
                <a:effectLst/>
                <a:latin typeface="Calibri" panose="020F0502020204030204" pitchFamily="34" charset="0"/>
              </a:rPr>
              <a:t>expected</a:t>
            </a:r>
            <a:r>
              <a:rPr lang="en-US" sz="1600" dirty="0"/>
              <a:t> </a:t>
            </a:r>
            <a:r>
              <a:rPr lang="en-US" sz="1800" b="0" i="0" u="none" strike="noStrike" dirty="0">
                <a:solidFill>
                  <a:srgbClr val="A6A6A6"/>
                </a:solidFill>
                <a:effectLst/>
                <a:latin typeface="Calibri" panose="020F0502020204030204" pitchFamily="34" charset="0"/>
              </a:rPr>
              <a:t>63 449</a:t>
            </a:r>
            <a:r>
              <a:rPr lang="en-US" sz="1600" dirty="0"/>
              <a:t> (1.5%)</a:t>
            </a:r>
          </a:p>
          <a:p>
            <a:pPr marL="0" marR="0" lvl="0" indent="0" algn="l" defTabSz="457200" rtl="0" eaLnBrk="0" fontAlgn="base" latinLnBrk="0" hangingPunct="0">
              <a:lnSpc>
                <a:spcPct val="100000"/>
              </a:lnSpc>
              <a:spcBef>
                <a:spcPct val="30000"/>
              </a:spcBef>
              <a:spcAft>
                <a:spcPct val="0"/>
              </a:spcAft>
              <a:buClrTx/>
              <a:buSzTx/>
              <a:buFont typeface="+mj-lt"/>
              <a:buNone/>
              <a:tabLst/>
              <a:defRPr/>
            </a:pPr>
            <a:r>
              <a:rPr lang="en-US" sz="1600" dirty="0"/>
              <a:t>-------------------------------------------------------------</a:t>
            </a:r>
          </a:p>
          <a:p>
            <a:pPr marL="0" marR="0" lvl="0" indent="0" algn="l" defTabSz="457200" rtl="0" eaLnBrk="0" fontAlgn="base" latinLnBrk="0" hangingPunct="0">
              <a:lnSpc>
                <a:spcPct val="100000"/>
              </a:lnSpc>
              <a:spcBef>
                <a:spcPct val="30000"/>
              </a:spcBef>
              <a:spcAft>
                <a:spcPct val="0"/>
              </a:spcAft>
              <a:buClrTx/>
              <a:buSzTx/>
              <a:buFont typeface="+mj-lt"/>
              <a:buNone/>
              <a:tabLst/>
              <a:defRPr/>
            </a:pPr>
            <a:r>
              <a:rPr lang="en-US" sz="1800" b="0" i="0" u="none" strike="noStrike" dirty="0">
                <a:solidFill>
                  <a:srgbClr val="000000"/>
                </a:solidFill>
                <a:effectLst/>
                <a:latin typeface="Calibri" panose="020F0502020204030204" pitchFamily="34" charset="0"/>
              </a:rPr>
              <a:t> </a:t>
            </a:r>
            <a:r>
              <a:rPr lang="en-US" sz="1600" dirty="0"/>
              <a:t> </a:t>
            </a:r>
            <a:r>
              <a:rPr lang="en-US" sz="1800" b="0" i="0" u="none" strike="noStrike" dirty="0">
                <a:solidFill>
                  <a:srgbClr val="000000"/>
                </a:solidFill>
                <a:effectLst/>
                <a:latin typeface="Calibri" panose="020F0502020204030204" pitchFamily="34" charset="0"/>
              </a:rPr>
              <a:t> </a:t>
            </a:r>
            <a:r>
              <a:rPr lang="en-US" sz="1600" dirty="0"/>
              <a:t> </a:t>
            </a:r>
            <a:r>
              <a:rPr lang="en-US" sz="1800" b="0" i="0" u="none" strike="noStrike" dirty="0">
                <a:solidFill>
                  <a:srgbClr val="000000"/>
                </a:solidFill>
                <a:effectLst/>
                <a:latin typeface="Calibri" panose="020F0502020204030204" pitchFamily="34" charset="0"/>
              </a:rPr>
              <a:t> </a:t>
            </a:r>
            <a:r>
              <a:rPr lang="en-US" sz="1600" dirty="0"/>
              <a:t>                    </a:t>
            </a:r>
            <a:r>
              <a:rPr lang="en-US" sz="1800" b="0" i="0" u="none" strike="noStrike" dirty="0">
                <a:solidFill>
                  <a:srgbClr val="000000"/>
                </a:solidFill>
                <a:effectLst/>
                <a:latin typeface="Calibri" panose="020F0502020204030204" pitchFamily="34" charset="0"/>
              </a:rPr>
              <a:t>100 020(1.5%)</a:t>
            </a:r>
            <a:r>
              <a:rPr lang="en-US" sz="1600" dirty="0"/>
              <a:t>     </a:t>
            </a:r>
            <a:r>
              <a:rPr lang="en-US" sz="1800" b="0" i="0" u="none" strike="noStrike" dirty="0">
                <a:solidFill>
                  <a:srgbClr val="000000"/>
                </a:solidFill>
                <a:effectLst/>
                <a:latin typeface="Calibri" panose="020F0502020204030204" pitchFamily="34" charset="0"/>
              </a:rPr>
              <a:t>6 694 834</a:t>
            </a:r>
            <a:r>
              <a:rPr lang="en-US" sz="1600" dirty="0"/>
              <a:t> </a:t>
            </a:r>
            <a:r>
              <a:rPr lang="en-US" sz="1800" b="0" i="0" u="none" strike="noStrike" dirty="0">
                <a:solidFill>
                  <a:srgbClr val="000000"/>
                </a:solidFill>
                <a:effectLst/>
                <a:latin typeface="Calibri" panose="020F0502020204030204" pitchFamily="34" charset="0"/>
              </a:rPr>
              <a:t> </a:t>
            </a:r>
            <a:r>
              <a:rPr lang="en-US" sz="1600" dirty="0"/>
              <a:t> </a:t>
            </a:r>
          </a:p>
          <a:p>
            <a:pPr marL="0" marR="0" lvl="0" indent="0" algn="l" defTabSz="457200" rtl="0" eaLnBrk="0" fontAlgn="base" latinLnBrk="0" hangingPunct="0">
              <a:lnSpc>
                <a:spcPct val="100000"/>
              </a:lnSpc>
              <a:spcBef>
                <a:spcPct val="30000"/>
              </a:spcBef>
              <a:spcAft>
                <a:spcPct val="0"/>
              </a:spcAft>
              <a:buClrTx/>
              <a:buSzTx/>
              <a:buFont typeface="+mj-lt"/>
              <a:buNone/>
              <a:tabLst/>
              <a:defRPr/>
            </a:pPr>
            <a:endParaRPr lang="en-US" sz="1600" b="1" i="1" u="none" strike="noStrike" dirty="0">
              <a:solidFill>
                <a:srgbClr val="000000"/>
              </a:solidFill>
              <a:effectLst/>
              <a:latin typeface="Calibri" panose="020F0502020204030204" pitchFamily="34" charset="0"/>
            </a:endParaRPr>
          </a:p>
          <a:p>
            <a:pPr marL="0" marR="0" lvl="0" indent="0" algn="l" defTabSz="457200" rtl="0" eaLnBrk="0" fontAlgn="base" latinLnBrk="0" hangingPunct="0">
              <a:lnSpc>
                <a:spcPct val="100000"/>
              </a:lnSpc>
              <a:spcBef>
                <a:spcPct val="30000"/>
              </a:spcBef>
              <a:spcAft>
                <a:spcPct val="0"/>
              </a:spcAft>
              <a:buClrTx/>
              <a:buSzTx/>
              <a:buFont typeface="+mj-lt"/>
              <a:buNone/>
              <a:tabLst/>
              <a:defRPr/>
            </a:pPr>
            <a:r>
              <a:rPr lang="en-US" sz="1800" b="1" i="1" u="none" strike="noStrike" dirty="0">
                <a:solidFill>
                  <a:srgbClr val="000000"/>
                </a:solidFill>
                <a:effectLst/>
                <a:latin typeface="Calibri" panose="020F0502020204030204" pitchFamily="34" charset="0"/>
              </a:rPr>
              <a:t>Uncorrected </a:t>
            </a:r>
            <a:r>
              <a:rPr lang="en-US" sz="1800" b="1" i="0" u="none" strike="noStrike" dirty="0">
                <a:solidFill>
                  <a:srgbClr val="000000"/>
                </a:solidFill>
                <a:effectLst/>
                <a:latin typeface="Calibri" panose="020F0502020204030204" pitchFamily="34" charset="0"/>
              </a:rPr>
              <a:t>Chi-Sq</a:t>
            </a:r>
            <a:r>
              <a:rPr lang="en-US" sz="1600" dirty="0"/>
              <a:t> </a:t>
            </a:r>
            <a:r>
              <a:rPr lang="en-US" sz="1800" b="0" i="0" u="none" strike="noStrike" dirty="0">
                <a:solidFill>
                  <a:srgbClr val="000000"/>
                </a:solidFill>
                <a:effectLst/>
                <a:latin typeface="Calibri" panose="020F0502020204030204" pitchFamily="34" charset="0"/>
              </a:rPr>
              <a:t>3315,73</a:t>
            </a:r>
            <a:r>
              <a:rPr lang="en-US" sz="1600" dirty="0"/>
              <a:t> </a:t>
            </a:r>
          </a:p>
          <a:p>
            <a:pPr marL="0" marR="0" lvl="0" indent="0" algn="l" defTabSz="457200" rtl="0" eaLnBrk="0" fontAlgn="base" latinLnBrk="0" hangingPunct="0">
              <a:lnSpc>
                <a:spcPct val="100000"/>
              </a:lnSpc>
              <a:spcBef>
                <a:spcPct val="30000"/>
              </a:spcBef>
              <a:spcAft>
                <a:spcPct val="0"/>
              </a:spcAft>
              <a:buClrTx/>
              <a:buSzTx/>
              <a:buFont typeface="+mj-lt"/>
              <a:buNone/>
              <a:tabLst/>
              <a:defRPr/>
            </a:pPr>
            <a:r>
              <a:rPr lang="en-US" sz="1600" b="1" i="0" u="none" strike="noStrike" dirty="0">
                <a:solidFill>
                  <a:srgbClr val="000000"/>
                </a:solidFill>
                <a:effectLst/>
                <a:latin typeface="Calibri" panose="020F0502020204030204" pitchFamily="34" charset="0"/>
              </a:rPr>
              <a:t>                    </a:t>
            </a:r>
            <a:r>
              <a:rPr lang="en-US" sz="1800" b="1" i="0" u="none" strike="noStrike" dirty="0">
                <a:solidFill>
                  <a:srgbClr val="000000"/>
                </a:solidFill>
                <a:effectLst/>
                <a:latin typeface="Calibri" panose="020F0502020204030204" pitchFamily="34" charset="0"/>
              </a:rPr>
              <a:t>P-value</a:t>
            </a:r>
            <a:r>
              <a:rPr lang="en-US" sz="1600" dirty="0"/>
              <a:t> </a:t>
            </a:r>
            <a:r>
              <a:rPr lang="en-US" sz="1800" b="0" i="0" u="none" strike="noStrike" dirty="0">
                <a:solidFill>
                  <a:srgbClr val="000000"/>
                </a:solidFill>
                <a:effectLst/>
                <a:latin typeface="Calibri" panose="020F0502020204030204" pitchFamily="34" charset="0"/>
              </a:rPr>
              <a:t>0,00000</a:t>
            </a:r>
            <a:r>
              <a:rPr lang="en-US" sz="1600" dirty="0"/>
              <a:t> </a:t>
            </a:r>
            <a:r>
              <a:rPr lang="en-US" sz="1800" b="0" i="0" u="none" strike="noStrike" dirty="0">
                <a:solidFill>
                  <a:srgbClr val="000000"/>
                </a:solidFill>
                <a:effectLst/>
                <a:latin typeface="Calibri" panose="020F0502020204030204" pitchFamily="34" charset="0"/>
              </a:rPr>
              <a:t> </a:t>
            </a:r>
            <a:r>
              <a:rPr lang="en-US" sz="1600" dirty="0"/>
              <a:t> </a:t>
            </a:r>
            <a:r>
              <a:rPr lang="en-US" sz="1800" b="0" i="0" u="none" strike="noStrike" dirty="0">
                <a:solidFill>
                  <a:srgbClr val="000000"/>
                </a:solidFill>
                <a:effectLst/>
                <a:latin typeface="Calibri" panose="020F0502020204030204" pitchFamily="34" charset="0"/>
              </a:rPr>
              <a:t> </a:t>
            </a:r>
            <a:r>
              <a:rPr lang="en-US" sz="1600" dirty="0"/>
              <a:t> </a:t>
            </a:r>
            <a:r>
              <a:rPr lang="en-US" sz="1800" b="0" i="0" u="none" strike="noStrike" dirty="0">
                <a:solidFill>
                  <a:srgbClr val="000000"/>
                </a:solidFill>
                <a:effectLst/>
                <a:latin typeface="Calibri" panose="020F0502020204030204" pitchFamily="34" charset="0"/>
              </a:rPr>
              <a:t> </a:t>
            </a:r>
            <a:r>
              <a:rPr lang="en-US" sz="1600" dirty="0"/>
              <a:t> </a:t>
            </a:r>
            <a:endParaRPr lang="en-US" sz="1100" dirty="0">
              <a:solidFill>
                <a:schemeClr val="bg1">
                  <a:lumMod val="85000"/>
                </a:schemeClr>
              </a:solidFill>
              <a:latin typeface="+mn-lt"/>
              <a:ea typeface="Verdana" panose="020B0604030504040204" pitchFamily="34" charset="0"/>
            </a:endParaRPr>
          </a:p>
          <a:p>
            <a:pPr marL="0" indent="0">
              <a:buFont typeface="+mj-lt"/>
              <a:buNone/>
            </a:pPr>
            <a:endParaRPr lang="sv-SE" dirty="0"/>
          </a:p>
          <a:p>
            <a:pPr marL="0" indent="0">
              <a:buFont typeface="+mj-lt"/>
              <a:buNone/>
            </a:pPr>
            <a:endParaRPr lang="sv-SE" dirty="0"/>
          </a:p>
        </p:txBody>
      </p:sp>
      <p:sp>
        <p:nvSpPr>
          <p:cNvPr id="4" name="Slide Number Placeholder 3"/>
          <p:cNvSpPr>
            <a:spLocks noGrp="1"/>
          </p:cNvSpPr>
          <p:nvPr>
            <p:ph type="sldNum" sz="quarter" idx="5"/>
          </p:nvPr>
        </p:nvSpPr>
        <p:spPr/>
        <p:txBody>
          <a:bodyPr/>
          <a:lstStyle/>
          <a:p>
            <a:fld id="{CECB7405-4276-4FEB-8EA2-369570AA649A}" type="slidenum">
              <a:rPr lang="sv-SE" smtClean="0"/>
              <a:pPr/>
              <a:t>6</a:t>
            </a:fld>
            <a:endParaRPr lang="sv-SE"/>
          </a:p>
        </p:txBody>
      </p:sp>
      <p:sp>
        <p:nvSpPr>
          <p:cNvPr id="6" name="Date Placeholder 5"/>
          <p:cNvSpPr>
            <a:spLocks noGrp="1"/>
          </p:cNvSpPr>
          <p:nvPr>
            <p:ph type="dt" idx="10"/>
          </p:nvPr>
        </p:nvSpPr>
        <p:spPr/>
        <p:txBody>
          <a:bodyPr/>
          <a:lstStyle/>
          <a:p>
            <a:pPr>
              <a:defRPr/>
            </a:pPr>
            <a:endParaRPr lang="sv-SE"/>
          </a:p>
        </p:txBody>
      </p:sp>
    </p:spTree>
    <p:extLst>
      <p:ext uri="{BB962C8B-B14F-4D97-AF65-F5344CB8AC3E}">
        <p14:creationId xmlns:p14="http://schemas.microsoft.com/office/powerpoint/2010/main" val="1242046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research projects, we generally follow the following steps</a:t>
            </a:r>
          </a:p>
          <a:p>
            <a:endParaRPr lang="en-US" dirty="0"/>
          </a:p>
          <a:p>
            <a:r>
              <a:rPr lang="en-US" dirty="0"/>
              <a:t> Planning</a:t>
            </a:r>
            <a:r>
              <a:rPr lang="en-US" dirty="0">
                <a:sym typeface="Wingdings" panose="05000000000000000000" pitchFamily="2" charset="2"/>
              </a:rPr>
              <a:t> Design (sampling, sample size calculation)  Data collection  Analysis  Results  Interpretation  Presentation</a:t>
            </a:r>
          </a:p>
          <a:p>
            <a:endParaRPr lang="en-US" dirty="0">
              <a:sym typeface="Wingdings" panose="05000000000000000000" pitchFamily="2" charset="2"/>
            </a:endParaRPr>
          </a:p>
          <a:p>
            <a:r>
              <a:rPr lang="en-US" dirty="0">
                <a:sym typeface="Wingdings" panose="05000000000000000000" pitchFamily="2" charset="2"/>
              </a:rPr>
              <a:t>Statistical knowledge &amp; thinking contribute already in planning and designing phase of research projects</a:t>
            </a:r>
          </a:p>
          <a:p>
            <a:endParaRPr lang="en-US" dirty="0">
              <a:sym typeface="Wingdings" panose="05000000000000000000" pitchFamily="2" charset="2"/>
            </a:endParaRPr>
          </a:p>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dirty="0"/>
              <a:t>Statistics is very helpful already from the very beginning of research work, in deciding study designs, sample size calculations</a:t>
            </a:r>
          </a:p>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7</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978377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300" dirty="0"/>
          </a:p>
          <a:p>
            <a:r>
              <a:rPr lang="en-US" sz="1300" dirty="0"/>
              <a:t>All the bold letter are statistical terms, </a:t>
            </a:r>
          </a:p>
          <a:p>
            <a:r>
              <a:rPr lang="en-US" sz="1300" dirty="0"/>
              <a:t>Statistics is useful and necessary in situations when we expect a variation in result. What does it mean to have “To have a variation in the results” ?</a:t>
            </a:r>
          </a:p>
          <a:p>
            <a:endParaRPr lang="en-US" sz="1300" dirty="0"/>
          </a:p>
          <a:p>
            <a:pPr defTabSz="473705">
              <a:defRPr/>
            </a:pPr>
            <a:r>
              <a:rPr lang="en-US" sz="1300" dirty="0"/>
              <a:t>Knowledge in Statistics also helps us to critically analyze results from other researchers' projects.</a:t>
            </a:r>
          </a:p>
          <a:p>
            <a:endParaRPr lang="en-US" sz="1300" dirty="0"/>
          </a:p>
          <a:p>
            <a:r>
              <a:rPr lang="en-US" sz="1300" dirty="0"/>
              <a:t>Sample surveys are used to infer about a large population by analyzing data from a smaller part of the population. </a:t>
            </a:r>
          </a:p>
          <a:p>
            <a:r>
              <a:rPr lang="en-US" sz="1300" dirty="0"/>
              <a:t>Using samples causes some degree of statistical uncertainty! Maybe results we observe may be due to chance.</a:t>
            </a:r>
          </a:p>
          <a:p>
            <a:endParaRPr lang="en-US" sz="1300" dirty="0"/>
          </a:p>
          <a:p>
            <a:r>
              <a:rPr lang="en-US" sz="1300" dirty="0"/>
              <a:t>What we observe in a sample (the mean height, the improvement of a condition due to a treatment) does not automatically reflect what happens in the general population, unless the sample is well chosen (in which case is called representative of the population).</a:t>
            </a:r>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8</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66020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population parameters often are denoted by Greek-letter, while Latin-letters often are used for sample statistics.</a:t>
            </a:r>
            <a:r>
              <a:rPr lang="en-US" baseline="0" dirty="0"/>
              <a:t> </a:t>
            </a:r>
          </a:p>
          <a:p>
            <a:endParaRPr lang="en-US" baseline="0" dirty="0"/>
          </a:p>
          <a:p>
            <a:pPr defTabSz="477870"/>
            <a:r>
              <a:rPr lang="en-US" dirty="0"/>
              <a:t>A common aim of statistical analysis is to produce information or deduce about some chosen population</a:t>
            </a:r>
            <a:r>
              <a:rPr lang="en-US" baseline="0" dirty="0"/>
              <a:t> based on sample based characteristics</a:t>
            </a:r>
          </a:p>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9</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945772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dirty="0" err="1"/>
              <a:t>Let’s</a:t>
            </a:r>
            <a:r>
              <a:rPr lang="sv-SE" dirty="0"/>
              <a:t> </a:t>
            </a:r>
            <a:r>
              <a:rPr lang="sv-SE" dirty="0" err="1"/>
              <a:t>discuss</a:t>
            </a:r>
            <a:r>
              <a:rPr lang="sv-SE" dirty="0"/>
              <a:t> </a:t>
            </a:r>
            <a:r>
              <a:rPr lang="sv-SE" dirty="0" err="1"/>
              <a:t>some</a:t>
            </a:r>
            <a:r>
              <a:rPr lang="sv-SE" dirty="0"/>
              <a:t> </a:t>
            </a:r>
            <a:r>
              <a:rPr lang="sv-SE" dirty="0" err="1"/>
              <a:t>important</a:t>
            </a:r>
            <a:r>
              <a:rPr lang="sv-SE" dirty="0"/>
              <a:t> </a:t>
            </a:r>
            <a:r>
              <a:rPr lang="sv-SE" dirty="0" err="1"/>
              <a:t>statistical</a:t>
            </a:r>
            <a:r>
              <a:rPr lang="sv-SE" dirty="0"/>
              <a:t> </a:t>
            </a:r>
            <a:r>
              <a:rPr lang="sv-SE" dirty="0" err="1"/>
              <a:t>terminolgy</a:t>
            </a:r>
            <a:r>
              <a:rPr lang="sv-SE" dirty="0"/>
              <a:t> (</a:t>
            </a:r>
            <a:r>
              <a:rPr lang="sv-SE" dirty="0" err="1"/>
              <a:t>definations</a:t>
            </a:r>
            <a:r>
              <a:rPr lang="sv-SE" dirty="0"/>
              <a:t>)</a:t>
            </a:r>
            <a:r>
              <a:rPr lang="sv-SE" baseline="0" dirty="0"/>
              <a:t> and </a:t>
            </a:r>
            <a:r>
              <a:rPr lang="sv-SE" baseline="0" dirty="0" err="1"/>
              <a:t>see</a:t>
            </a:r>
            <a:r>
              <a:rPr lang="sv-SE" baseline="0" dirty="0"/>
              <a:t> </a:t>
            </a:r>
            <a:r>
              <a:rPr lang="sv-SE" baseline="0" dirty="0" err="1"/>
              <a:t>what</a:t>
            </a:r>
            <a:r>
              <a:rPr lang="sv-SE" baseline="0" dirty="0"/>
              <a:t> </a:t>
            </a:r>
            <a:r>
              <a:rPr lang="sv-SE" baseline="0" dirty="0" err="1"/>
              <a:t>can</a:t>
            </a:r>
            <a:r>
              <a:rPr lang="sv-SE" baseline="0" dirty="0"/>
              <a:t> go </a:t>
            </a:r>
            <a:r>
              <a:rPr lang="sv-SE" baseline="0" dirty="0" err="1"/>
              <a:t>wrong</a:t>
            </a:r>
            <a:r>
              <a:rPr lang="sv-SE" baseline="0" dirty="0"/>
              <a:t> in sampling</a:t>
            </a:r>
            <a:endParaRPr lang="sv-SE" dirty="0"/>
          </a:p>
          <a:p>
            <a:endParaRPr lang="en-US" dirty="0"/>
          </a:p>
          <a:p>
            <a:r>
              <a:rPr lang="en-US" b="1" dirty="0"/>
              <a:t>Population</a:t>
            </a:r>
            <a:r>
              <a:rPr lang="en-US" dirty="0"/>
              <a:t> is a set of similar units of interest for some</a:t>
            </a:r>
            <a:r>
              <a:rPr lang="en-US" baseline="0" dirty="0"/>
              <a:t> research </a:t>
            </a:r>
            <a:r>
              <a:rPr lang="en-US" dirty="0"/>
              <a:t>question or result of an experiment. </a:t>
            </a:r>
          </a:p>
          <a:p>
            <a:r>
              <a:rPr lang="en-US" dirty="0"/>
              <a:t>In statistical inference, a statistical </a:t>
            </a:r>
            <a:r>
              <a:rPr lang="en-US" b="1" dirty="0"/>
              <a:t>sample</a:t>
            </a:r>
            <a:r>
              <a:rPr lang="en-US" dirty="0"/>
              <a:t> is chosen to </a:t>
            </a:r>
            <a:r>
              <a:rPr lang="en-US" b="1" dirty="0"/>
              <a:t>represent</a:t>
            </a:r>
            <a:r>
              <a:rPr lang="en-US" dirty="0"/>
              <a:t> the population in a statistical analysis. Statistical inference helps us to estimate the population parameters using the appropriate sample statistics. </a:t>
            </a:r>
          </a:p>
          <a:p>
            <a:endParaRPr lang="en-US" dirty="0"/>
          </a:p>
          <a:p>
            <a:r>
              <a:rPr lang="en-US" b="1" dirty="0"/>
              <a:t>Sampling</a:t>
            </a:r>
            <a:r>
              <a:rPr lang="en-US" dirty="0"/>
              <a:t> is the selection of a sample from the population to estimate characteristics of the whole population. </a:t>
            </a:r>
            <a:br>
              <a:rPr lang="en-US" dirty="0"/>
            </a:br>
            <a:r>
              <a:rPr lang="en-US" dirty="0"/>
              <a:t>We pick sampling</a:t>
            </a:r>
            <a:r>
              <a:rPr lang="en-US" baseline="0" dirty="0"/>
              <a:t> unit (observations) from a sampling frame, which may or may not have under- or over coverage.</a:t>
            </a:r>
          </a:p>
          <a:p>
            <a:endParaRPr lang="en-US" baseline="0" dirty="0"/>
          </a:p>
          <a:p>
            <a:r>
              <a:rPr lang="en-US" baseline="0" dirty="0"/>
              <a:t>Which can be due to Times lags between the moment the sample frame was created and it was actually used; failure to include new births /immigration in the frame; failure to remove deaths/emigration</a:t>
            </a:r>
          </a:p>
          <a:p>
            <a:r>
              <a:rPr lang="en-US" baseline="0" dirty="0"/>
              <a:t>Under coverage = not including all units from our statistical population</a:t>
            </a:r>
          </a:p>
          <a:p>
            <a:pPr defTabSz="457146"/>
            <a:r>
              <a:rPr lang="en-US" baseline="0" dirty="0"/>
              <a:t>Over coverage means that our sampling frame consists of elements which do not belong to our target population</a:t>
            </a:r>
          </a:p>
          <a:p>
            <a:pPr defTabSz="457146"/>
            <a:endParaRPr lang="en-US" baseline="0" dirty="0"/>
          </a:p>
          <a:p>
            <a:endParaRPr lang="sv-SE" dirty="0"/>
          </a:p>
        </p:txBody>
      </p:sp>
      <p:sp>
        <p:nvSpPr>
          <p:cNvPr id="4" name="Platshållare för bildnummer 3"/>
          <p:cNvSpPr>
            <a:spLocks noGrp="1"/>
          </p:cNvSpPr>
          <p:nvPr>
            <p:ph type="sldNum" sz="quarter" idx="10"/>
          </p:nvPr>
        </p:nvSpPr>
        <p:spPr/>
        <p:txBody>
          <a:bodyPr/>
          <a:lstStyle/>
          <a:p>
            <a:pPr defTabSz="914290">
              <a:defRPr/>
            </a:pPr>
            <a:fld id="{0981EFFE-65A3-4043-A1AC-7D23ED7C2C5A}" type="slidenum">
              <a:rPr lang="sv-SE">
                <a:solidFill>
                  <a:prstClr val="black"/>
                </a:solidFill>
                <a:latin typeface="Tahoma" pitchFamily="34" charset="0"/>
                <a:ea typeface="+mn-ea"/>
              </a:rPr>
              <a:pPr defTabSz="914290">
                <a:defRPr/>
              </a:pPr>
              <a:t>10</a:t>
            </a:fld>
            <a:endParaRPr lang="sv-SE">
              <a:solidFill>
                <a:prstClr val="black"/>
              </a:solidFill>
              <a:latin typeface="Tahoma" pitchFamily="34" charset="0"/>
              <a:ea typeface="+mn-ea"/>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869110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We are interested in a</a:t>
            </a:r>
            <a:r>
              <a:rPr lang="en-US" baseline="0" dirty="0"/>
              <a:t> “population”, satisfying some conditions/characteristics.</a:t>
            </a:r>
          </a:p>
          <a:p>
            <a:endParaRPr lang="en-US" baseline="0" dirty="0"/>
          </a:p>
          <a:p>
            <a:r>
              <a:rPr lang="en-US" baseline="0" dirty="0"/>
              <a:t>For example, patients diagnosed with some condition, Blue colored workers, Students enrolled in medical programs in Sweden</a:t>
            </a:r>
          </a:p>
          <a:p>
            <a:endParaRPr lang="en-US" baseline="0" dirty="0"/>
          </a:p>
          <a:p>
            <a:r>
              <a:rPr lang="en-US" baseline="0" dirty="0"/>
              <a:t>Here we have </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11</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655026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We are interested in a</a:t>
            </a:r>
            <a:r>
              <a:rPr lang="en-US" baseline="0" dirty="0"/>
              <a:t> “population”, satisfying some conditions/characteristics.</a:t>
            </a:r>
          </a:p>
          <a:p>
            <a:endParaRPr lang="en-US" baseline="0" dirty="0"/>
          </a:p>
          <a:p>
            <a:r>
              <a:rPr lang="en-US" baseline="0" dirty="0"/>
              <a:t>For example, patients diagnosed with some condition, Blue colored workers, Students enrolled in medical programs in Sweden</a:t>
            </a:r>
          </a:p>
          <a:p>
            <a:endParaRPr lang="en-US" baseline="0" dirty="0"/>
          </a:p>
          <a:p>
            <a:r>
              <a:rPr lang="en-US" baseline="0" dirty="0"/>
              <a:t>Here </a:t>
            </a:r>
            <a:r>
              <a:rPr lang="en-US" baseline="0"/>
              <a:t>we have </a:t>
            </a:r>
            <a:endParaRPr lang="en-US" baseline="0"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12</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245159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We are interested in a</a:t>
            </a:r>
            <a:r>
              <a:rPr lang="en-US" baseline="0" dirty="0"/>
              <a:t> “population”, satisfying some conditions/characteristics.</a:t>
            </a:r>
          </a:p>
          <a:p>
            <a:endParaRPr lang="en-US" baseline="0" dirty="0"/>
          </a:p>
          <a:p>
            <a:r>
              <a:rPr lang="en-US" baseline="0" dirty="0"/>
              <a:t>For example, patients diagnosed with some condition, Blue colored workers, Students enrolled in medical programs in Sweden</a:t>
            </a:r>
          </a:p>
          <a:p>
            <a:endParaRPr lang="en-US" baseline="0" dirty="0"/>
          </a:p>
          <a:p>
            <a:r>
              <a:rPr lang="en-US" baseline="0" dirty="0"/>
              <a:t>Here </a:t>
            </a:r>
            <a:r>
              <a:rPr lang="en-US" baseline="0"/>
              <a:t>we have </a:t>
            </a:r>
            <a:endParaRPr lang="en-US" baseline="0"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13</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2079774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fontScale="25000" lnSpcReduction="20000"/>
          </a:bodyPr>
          <a:lstStyle/>
          <a:p>
            <a:pPr>
              <a:lnSpc>
                <a:spcPct val="120000"/>
              </a:lnSpc>
              <a:spcBef>
                <a:spcPts val="1200"/>
              </a:spcBef>
              <a:spcAft>
                <a:spcPts val="600"/>
              </a:spcAft>
            </a:pPr>
            <a:r>
              <a:rPr lang="en-US" sz="2000" dirty="0"/>
              <a:t> A </a:t>
            </a:r>
            <a:r>
              <a:rPr lang="en-US" sz="2400" b="1" dirty="0"/>
              <a:t>random sample </a:t>
            </a:r>
            <a:r>
              <a:rPr lang="en-US" sz="2000" dirty="0"/>
              <a:t>is fundamental for statistical inference. </a:t>
            </a:r>
          </a:p>
          <a:p>
            <a:pPr>
              <a:lnSpc>
                <a:spcPct val="120000"/>
              </a:lnSpc>
              <a:spcBef>
                <a:spcPts val="1200"/>
              </a:spcBef>
              <a:spcAft>
                <a:spcPts val="600"/>
              </a:spcAft>
            </a:pPr>
            <a:r>
              <a:rPr lang="en-US" sz="2000" dirty="0">
                <a:solidFill>
                  <a:srgbClr val="002060"/>
                </a:solidFill>
              </a:rPr>
              <a:t> </a:t>
            </a:r>
            <a:r>
              <a:rPr lang="en-US" sz="2000" dirty="0"/>
              <a:t>A </a:t>
            </a:r>
            <a:r>
              <a:rPr lang="en-US" sz="2000" b="1" dirty="0">
                <a:solidFill>
                  <a:srgbClr val="002060"/>
                </a:solidFill>
              </a:rPr>
              <a:t>gold standard </a:t>
            </a:r>
            <a:r>
              <a:rPr lang="en-US" sz="2000" dirty="0"/>
              <a:t>when drawing a sample is to be: - </a:t>
            </a:r>
          </a:p>
          <a:p>
            <a:pPr>
              <a:lnSpc>
                <a:spcPct val="120000"/>
              </a:lnSpc>
              <a:spcBef>
                <a:spcPts val="1200"/>
              </a:spcBef>
              <a:spcAft>
                <a:spcPts val="600"/>
              </a:spcAft>
            </a:pPr>
            <a:r>
              <a:rPr lang="en-US" sz="2000" b="1" dirty="0"/>
              <a:t>Unbiased</a:t>
            </a:r>
            <a:r>
              <a:rPr lang="en-US" sz="2000" dirty="0"/>
              <a:t>: Every subject in the population has an equal opportunity of being selected in the sample. – </a:t>
            </a:r>
          </a:p>
          <a:p>
            <a:pPr>
              <a:lnSpc>
                <a:spcPct val="120000"/>
              </a:lnSpc>
              <a:spcBef>
                <a:spcPts val="1200"/>
              </a:spcBef>
              <a:spcAft>
                <a:spcPts val="600"/>
              </a:spcAft>
            </a:pPr>
            <a:r>
              <a:rPr lang="en-US" sz="2000" b="1" dirty="0"/>
              <a:t>Independent: </a:t>
            </a:r>
            <a:r>
              <a:rPr lang="en-US" sz="2000" dirty="0"/>
              <a:t>choosing a subject is totally independent of the other subjects that are in the sample.  </a:t>
            </a:r>
            <a:r>
              <a:rPr lang="en-US" sz="2000" dirty="0">
                <a:solidFill>
                  <a:schemeClr val="tx2"/>
                </a:solidFill>
              </a:rPr>
              <a:t>Counter-example: </a:t>
            </a:r>
            <a:r>
              <a:rPr lang="en-US" sz="2000" dirty="0"/>
              <a:t>You select people in your sample and for those that are married you include also their spouse. </a:t>
            </a:r>
          </a:p>
          <a:p>
            <a:pPr>
              <a:lnSpc>
                <a:spcPct val="120000"/>
              </a:lnSpc>
              <a:spcBef>
                <a:spcPts val="1200"/>
              </a:spcBef>
              <a:spcAft>
                <a:spcPts val="600"/>
              </a:spcAft>
            </a:pPr>
            <a:r>
              <a:rPr lang="en-US" sz="2000" dirty="0"/>
              <a:t>Then every 2 people in a couple are </a:t>
            </a:r>
            <a:r>
              <a:rPr lang="en-US" sz="2000" b="1" dirty="0"/>
              <a:t>dependent. </a:t>
            </a:r>
            <a:r>
              <a:rPr lang="en-US" sz="2000" dirty="0"/>
              <a:t> </a:t>
            </a:r>
          </a:p>
          <a:p>
            <a:pPr marL="0" lvl="1">
              <a:lnSpc>
                <a:spcPct val="120000"/>
              </a:lnSpc>
              <a:spcBef>
                <a:spcPts val="1800"/>
              </a:spcBef>
            </a:pPr>
            <a:endParaRPr lang="en-US" sz="2000" dirty="0"/>
          </a:p>
          <a:p>
            <a:pPr marL="0" lvl="1">
              <a:lnSpc>
                <a:spcPct val="120000"/>
              </a:lnSpc>
              <a:spcBef>
                <a:spcPts val="1800"/>
              </a:spcBef>
            </a:pPr>
            <a:r>
              <a:rPr lang="en-US" sz="2000" dirty="0"/>
              <a:t>In a </a:t>
            </a:r>
            <a:r>
              <a:rPr lang="en-US" sz="2000" b="1" dirty="0"/>
              <a:t>simple random sample </a:t>
            </a:r>
            <a:r>
              <a:rPr lang="en-US" sz="2000" dirty="0"/>
              <a:t>(</a:t>
            </a:r>
            <a:r>
              <a:rPr lang="en-US" sz="2000" b="1" dirty="0"/>
              <a:t>SRS</a:t>
            </a:r>
            <a:r>
              <a:rPr lang="en-US" sz="2000" dirty="0"/>
              <a:t>) has </a:t>
            </a:r>
            <a:r>
              <a:rPr lang="en-US" sz="2000" u="sng" dirty="0"/>
              <a:t>every </a:t>
            </a:r>
            <a:r>
              <a:rPr lang="en-US" sz="2000" i="1" u="sng" dirty="0"/>
              <a:t>subject</a:t>
            </a:r>
            <a:r>
              <a:rPr lang="en-US" sz="2000" u="sng" dirty="0"/>
              <a:t> </a:t>
            </a:r>
            <a:r>
              <a:rPr lang="en-US" sz="2000" dirty="0"/>
              <a:t>in the population has an </a:t>
            </a:r>
            <a:r>
              <a:rPr lang="en-US" sz="2000" u="sng" dirty="0"/>
              <a:t>equal opportunity of being selected </a:t>
            </a:r>
            <a:r>
              <a:rPr lang="en-US" sz="2000" dirty="0"/>
              <a:t>to the sample. </a:t>
            </a:r>
            <a:r>
              <a:rPr lang="sv-SE" sz="2000" dirty="0"/>
              <a:t>A ”Gold </a:t>
            </a:r>
            <a:r>
              <a:rPr lang="sv-SE" sz="2000"/>
              <a:t>standard”. </a:t>
            </a:r>
            <a:r>
              <a:rPr lang="en-US" sz="2000" baseline="0" noProof="0"/>
              <a:t>SRS </a:t>
            </a:r>
            <a:r>
              <a:rPr lang="en-US" sz="2000" baseline="0" noProof="0" dirty="0"/>
              <a:t>is </a:t>
            </a:r>
            <a:r>
              <a:rPr lang="en-US" sz="2000" baseline="0" noProof="0" dirty="0" err="1"/>
              <a:t>Obundet</a:t>
            </a:r>
            <a:r>
              <a:rPr lang="en-US" sz="2000" baseline="0" noProof="0" dirty="0"/>
              <a:t> </a:t>
            </a:r>
            <a:r>
              <a:rPr lang="en-US" sz="2000" baseline="0" noProof="0" dirty="0" err="1"/>
              <a:t>Slumpmässigt</a:t>
            </a:r>
            <a:r>
              <a:rPr lang="en-US" sz="2000" baseline="0" noProof="0" dirty="0"/>
              <a:t> </a:t>
            </a:r>
            <a:r>
              <a:rPr lang="en-US" sz="2000" baseline="0" noProof="0" dirty="0" err="1"/>
              <a:t>Urval</a:t>
            </a:r>
            <a:r>
              <a:rPr lang="en-US" sz="2000" baseline="0" noProof="0" dirty="0"/>
              <a:t> (OSU) in Swedish.</a:t>
            </a:r>
          </a:p>
          <a:p>
            <a:pPr defTabSz="457146">
              <a:defRPr/>
            </a:pPr>
            <a:endParaRPr lang="en-US" sz="2000" baseline="0" noProof="0" dirty="0"/>
          </a:p>
          <a:p>
            <a:pPr defTabSz="457146">
              <a:defRPr/>
            </a:pPr>
            <a:r>
              <a:rPr lang="en-US" sz="2000" b="1" baseline="0" noProof="0" dirty="0"/>
              <a:t>Systematic sampling </a:t>
            </a:r>
            <a:r>
              <a:rPr lang="en-US" sz="2000" b="0" baseline="0" noProof="0" dirty="0"/>
              <a:t>is to choose elements from a sampling </a:t>
            </a:r>
            <a:r>
              <a:rPr lang="en-US" sz="2000" b="0" baseline="0" noProof="0" dirty="0" err="1"/>
              <a:t>fram</a:t>
            </a:r>
            <a:r>
              <a:rPr lang="en-US" sz="2000" b="0" baseline="0" noProof="0" dirty="0"/>
              <a:t> in a systematic way. E.G. every third students, every 1oth person in the patient/population registry.</a:t>
            </a:r>
          </a:p>
          <a:p>
            <a:pPr defTabSz="457146">
              <a:defRPr/>
            </a:pPr>
            <a:endParaRPr lang="en-US" sz="2000" b="0" baseline="0" noProof="0" dirty="0"/>
          </a:p>
          <a:p>
            <a:pPr defTabSz="457146">
              <a:defRPr/>
            </a:pPr>
            <a:r>
              <a:rPr lang="en-US" sz="2000" baseline="0" noProof="0" dirty="0"/>
              <a:t>In </a:t>
            </a:r>
            <a:r>
              <a:rPr lang="en-US" sz="2000" b="1" baseline="0" noProof="0" dirty="0"/>
              <a:t>stratified sampling </a:t>
            </a:r>
            <a:r>
              <a:rPr lang="en-US" sz="2000" baseline="0" noProof="0" dirty="0"/>
              <a:t>is the population divided into non-overlapping subpopulations called strata and a number of subjects are then randomly selected from each strata. E.g. All girls’ names in an urn, and all boys’ name in another urn, and then a SRS from each urn. </a:t>
            </a:r>
          </a:p>
          <a:p>
            <a:pPr defTabSz="457146">
              <a:defRPr/>
            </a:pPr>
            <a:endParaRPr lang="en-US" sz="2000" baseline="0" noProof="0" dirty="0"/>
          </a:p>
          <a:p>
            <a:pPr marL="0" lvl="1">
              <a:lnSpc>
                <a:spcPct val="120000"/>
              </a:lnSpc>
              <a:spcBef>
                <a:spcPts val="1800"/>
              </a:spcBef>
            </a:pPr>
            <a:r>
              <a:rPr lang="en-US" sz="2000" b="1" dirty="0"/>
              <a:t>Cluster sampling,</a:t>
            </a:r>
            <a:r>
              <a:rPr lang="en-US" sz="2000" b="0" dirty="0"/>
              <a:t>  th</a:t>
            </a:r>
            <a:r>
              <a:rPr lang="en-US" sz="2000" dirty="0"/>
              <a:t>e population is divided into already formed subgroups </a:t>
            </a:r>
            <a:r>
              <a:rPr lang="en-US" sz="2000" b="1" dirty="0"/>
              <a:t>(clusters), </a:t>
            </a:r>
            <a:r>
              <a:rPr lang="en-US" sz="2000" b="0" dirty="0"/>
              <a:t>a  sample of such clusters is drawn. A</a:t>
            </a:r>
            <a:r>
              <a:rPr lang="en-US" sz="2000" dirty="0"/>
              <a:t>nd either the whole </a:t>
            </a:r>
            <a:r>
              <a:rPr lang="en-US" sz="2000" b="1" dirty="0"/>
              <a:t>clusters</a:t>
            </a:r>
            <a:r>
              <a:rPr lang="en-US" sz="2000" dirty="0"/>
              <a:t> or a SRS from each </a:t>
            </a:r>
            <a:r>
              <a:rPr lang="en-US" sz="2000" b="1" dirty="0"/>
              <a:t>clusters</a:t>
            </a:r>
            <a:r>
              <a:rPr lang="en-US" sz="2000" dirty="0"/>
              <a:t> is selected.</a:t>
            </a:r>
            <a:r>
              <a:rPr lang="en-US" sz="2000" dirty="0">
                <a:solidFill>
                  <a:schemeClr val="accent3">
                    <a:lumMod val="50000"/>
                  </a:schemeClr>
                </a:solidFill>
              </a:rPr>
              <a:t> Cluster sampling is normally used when it is more practical to select a group of individuals instead of single individuals. This could be the case if you would like to select school children in all of the country and you need to meet them in person. 1000 children selected individually will be scattered throughout the country, but selecting 40 school classes each with 25 children would simplify your data collection.</a:t>
            </a:r>
          </a:p>
          <a:p>
            <a:pPr marL="0" lvl="1">
              <a:lnSpc>
                <a:spcPct val="120000"/>
              </a:lnSpc>
              <a:spcBef>
                <a:spcPts val="1800"/>
              </a:spcBef>
            </a:pPr>
            <a:endParaRPr lang="en-US" sz="2000" dirty="0">
              <a:solidFill>
                <a:schemeClr val="accent3">
                  <a:lumMod val="50000"/>
                </a:schemeClr>
              </a:solidFill>
            </a:endParaRPr>
          </a:p>
          <a:p>
            <a:pPr marL="0" marR="0" lvl="0" indent="0" algn="l" defTabSz="457146" rtl="0" eaLnBrk="0" fontAlgn="base" latinLnBrk="0" hangingPunct="0">
              <a:lnSpc>
                <a:spcPct val="100000"/>
              </a:lnSpc>
              <a:spcBef>
                <a:spcPct val="30000"/>
              </a:spcBef>
              <a:spcAft>
                <a:spcPct val="0"/>
              </a:spcAft>
              <a:buClrTx/>
              <a:buSzTx/>
              <a:buFontTx/>
              <a:buNone/>
              <a:tabLst/>
              <a:defRPr/>
            </a:pPr>
            <a:r>
              <a:rPr lang="en-US" sz="2000" b="1" dirty="0">
                <a:latin typeface="Times New Roman" panose="02020603050405020304" pitchFamily="18" charset="0"/>
                <a:cs typeface="Times New Roman" panose="02020603050405020304" pitchFamily="18" charset="0"/>
              </a:rPr>
              <a:t>Voluntary Sampling:</a:t>
            </a:r>
            <a:r>
              <a:rPr lang="en-US" sz="2000" dirty="0">
                <a:latin typeface="Times New Roman" panose="02020603050405020304" pitchFamily="18" charset="0"/>
                <a:cs typeface="Times New Roman" panose="02020603050405020304" pitchFamily="18" charset="0"/>
              </a:rPr>
              <a:t> </a:t>
            </a:r>
            <a:r>
              <a:rPr lang="en-US" sz="2000" dirty="0"/>
              <a:t>Volunteers choose to complete a survey. Who are they? Are they representative of our population</a:t>
            </a:r>
          </a:p>
          <a:p>
            <a:pPr defTabSz="457146"/>
            <a:r>
              <a:rPr lang="en-US" sz="2000" b="1" dirty="0">
                <a:latin typeface="Times New Roman" panose="02020603050405020304" pitchFamily="18" charset="0"/>
                <a:cs typeface="Times New Roman" panose="02020603050405020304" pitchFamily="18" charset="0"/>
              </a:rPr>
              <a:t>Convenience sampling </a:t>
            </a:r>
            <a:r>
              <a:rPr lang="en-US" sz="2000" dirty="0">
                <a:latin typeface="Times New Roman" panose="02020603050405020304" pitchFamily="18" charset="0"/>
                <a:cs typeface="Times New Roman" panose="02020603050405020304" pitchFamily="18" charset="0"/>
              </a:rPr>
              <a:t>: the sample being drawn from that part of the population that is close to hand.</a:t>
            </a:r>
          </a:p>
          <a:p>
            <a:pPr defTabSz="457146"/>
            <a:endParaRPr lang="en-US" sz="2000" b="1" dirty="0">
              <a:latin typeface="Times New Roman" panose="02020603050405020304" pitchFamily="18" charset="0"/>
              <a:cs typeface="Times New Roman" panose="02020603050405020304" pitchFamily="18" charset="0"/>
            </a:endParaRPr>
          </a:p>
          <a:p>
            <a:endParaRPr lang="en-US" sz="2000" b="0"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14</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5509234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r>
              <a:rPr lang="en-US" b="0" dirty="0"/>
              <a:t> </a:t>
            </a:r>
            <a:r>
              <a:rPr lang="en-US" dirty="0"/>
              <a:t>Breakoff = </a:t>
            </a:r>
            <a:r>
              <a:rPr lang="en-US" b="0" dirty="0"/>
              <a:t>start the survey but fail to complete it, resulting in survey breakoff</a:t>
            </a:r>
          </a:p>
          <a:p>
            <a:endParaRPr lang="en-US" b="0" dirty="0"/>
          </a:p>
          <a:p>
            <a:pPr defTabSz="457146"/>
            <a:r>
              <a:rPr lang="en-US" dirty="0"/>
              <a:t>Unit Nonresponse =</a:t>
            </a:r>
            <a:r>
              <a:rPr lang="en-US" b="0" dirty="0"/>
              <a:t> A respondent may not start the survey(not participate in clinical examination), resulting in unit nonresponse</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15</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643000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defTabSz="473705">
              <a:defRPr/>
            </a:pPr>
            <a:r>
              <a:rPr lang="en-US" sz="1600" b="1" dirty="0"/>
              <a:t>all</a:t>
            </a:r>
            <a:r>
              <a:rPr lang="en-US" sz="1600" dirty="0"/>
              <a:t> students = students from Engineering, Humanities, Law, Natural </a:t>
            </a:r>
            <a:r>
              <a:rPr lang="en-US" sz="1600" dirty="0" err="1"/>
              <a:t>sceinces</a:t>
            </a:r>
            <a:r>
              <a:rPr lang="en-US" sz="1600" dirty="0"/>
              <a:t> etc.</a:t>
            </a:r>
          </a:p>
          <a:p>
            <a:endParaRPr lang="en-US" sz="1600"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16</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069863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defTabSz="477870"/>
            <a:r>
              <a:rPr lang="en-US" dirty="0"/>
              <a:t>numeric summary  = calculated from the data</a:t>
            </a:r>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17</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1789276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Any measureable characteristic is variable</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18</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7995932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Quantitative data</a:t>
            </a:r>
            <a:r>
              <a:rPr lang="en-US" dirty="0"/>
              <a:t>: is based on data that can be </a:t>
            </a:r>
            <a:r>
              <a:rPr lang="en-US" b="1" dirty="0"/>
              <a:t>measured</a:t>
            </a:r>
            <a:r>
              <a:rPr lang="en-US" dirty="0"/>
              <a:t>. </a:t>
            </a:r>
          </a:p>
          <a:p>
            <a:r>
              <a:rPr lang="en-US" b="1" dirty="0"/>
              <a:t>E.g.</a:t>
            </a:r>
            <a:r>
              <a:rPr lang="en-US" dirty="0"/>
              <a:t> blood pressure measurements. number of pregnancies. body weight</a:t>
            </a:r>
          </a:p>
          <a:p>
            <a:endParaRPr lang="en-US" b="1" dirty="0"/>
          </a:p>
          <a:p>
            <a:r>
              <a:rPr lang="en-US" b="1" dirty="0"/>
              <a:t>   Continuous</a:t>
            </a:r>
            <a:r>
              <a:rPr lang="en-US" dirty="0"/>
              <a:t>: possible values are infinite (</a:t>
            </a:r>
            <a:r>
              <a:rPr lang="en-US" dirty="0" err="1"/>
              <a:t>Sv</a:t>
            </a:r>
            <a:r>
              <a:rPr lang="en-US" dirty="0"/>
              <a:t>: </a:t>
            </a:r>
            <a:r>
              <a:rPr lang="en-US" dirty="0" err="1"/>
              <a:t>obegränsat</a:t>
            </a:r>
            <a:r>
              <a:rPr lang="en-US" dirty="0"/>
              <a:t>) </a:t>
            </a:r>
          </a:p>
          <a:p>
            <a:pPr defTabSz="947182">
              <a:defRPr/>
            </a:pPr>
            <a:r>
              <a:rPr lang="en-US" b="1" dirty="0"/>
              <a:t>   Discrete</a:t>
            </a:r>
            <a:r>
              <a:rPr lang="en-US" dirty="0"/>
              <a:t>: there is a finite number of possible values (one can calculate the number of possible values) – For example: number of pregnancies</a:t>
            </a:r>
          </a:p>
          <a:p>
            <a:endParaRPr lang="en-US" dirty="0"/>
          </a:p>
          <a:p>
            <a:r>
              <a:rPr lang="en-US" b="1" dirty="0"/>
              <a:t>Qualitative/Categorical data </a:t>
            </a:r>
            <a:r>
              <a:rPr lang="en-US" dirty="0"/>
              <a:t>is based on data that can be described. </a:t>
            </a:r>
          </a:p>
          <a:p>
            <a:r>
              <a:rPr lang="en-US" b="1" dirty="0"/>
              <a:t>E.g.</a:t>
            </a:r>
            <a:r>
              <a:rPr lang="en-US" dirty="0"/>
              <a:t> quality of sleep (bad/acceptable/very good). smoking status (yes/ no)   </a:t>
            </a:r>
          </a:p>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19</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9355507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Qualitative/Categorical data </a:t>
            </a:r>
            <a:r>
              <a:rPr lang="en-US" dirty="0"/>
              <a:t>is based on data that can be described. And are on</a:t>
            </a:r>
          </a:p>
          <a:p>
            <a:r>
              <a:rPr lang="en-US" dirty="0"/>
              <a:t>Nominal scale: </a:t>
            </a:r>
            <a:r>
              <a:rPr lang="en-US" u="sng" dirty="0"/>
              <a:t>No particular order</a:t>
            </a:r>
          </a:p>
          <a:p>
            <a:r>
              <a:rPr lang="en-US" dirty="0"/>
              <a:t>Ordinal scale:  </a:t>
            </a:r>
            <a:r>
              <a:rPr lang="en-US" u="sng" dirty="0"/>
              <a:t>Has a natural order</a:t>
            </a:r>
          </a:p>
          <a:p>
            <a:endParaRPr lang="en-US" dirty="0"/>
          </a:p>
          <a:p>
            <a:r>
              <a:rPr lang="en-US" b="1" dirty="0"/>
              <a:t>Quantitative data</a:t>
            </a:r>
            <a:r>
              <a:rPr lang="en-US" dirty="0"/>
              <a:t>: is based on data that can be </a:t>
            </a:r>
            <a:r>
              <a:rPr lang="en-US" b="1" dirty="0"/>
              <a:t>measured</a:t>
            </a:r>
            <a:r>
              <a:rPr lang="en-US" dirty="0"/>
              <a:t>. </a:t>
            </a:r>
          </a:p>
          <a:p>
            <a:r>
              <a:rPr lang="en-US" b="1" dirty="0"/>
              <a:t>E.g.,</a:t>
            </a:r>
            <a:r>
              <a:rPr lang="en-US" dirty="0"/>
              <a:t> blood pressure measurements. number of pregnancies. body weight</a:t>
            </a:r>
          </a:p>
          <a:p>
            <a:endParaRPr lang="en-US" dirty="0"/>
          </a:p>
          <a:p>
            <a:r>
              <a:rPr lang="en-US" dirty="0"/>
              <a:t>Interval scale h</a:t>
            </a:r>
            <a:r>
              <a:rPr lang="en-US" u="sng" dirty="0"/>
              <a:t>as a natural order </a:t>
            </a:r>
            <a:r>
              <a:rPr lang="en-US" b="1" dirty="0"/>
              <a:t>and</a:t>
            </a:r>
            <a:r>
              <a:rPr lang="en-US" dirty="0"/>
              <a:t> a defined “distance”</a:t>
            </a:r>
          </a:p>
          <a:p>
            <a:endParaRPr lang="en-US" dirty="0"/>
          </a:p>
          <a:p>
            <a:r>
              <a:rPr lang="en-US" dirty="0"/>
              <a:t>Ratio scale (you can take ratios and they make sense). It h</a:t>
            </a:r>
            <a:r>
              <a:rPr lang="en-US" u="sng" dirty="0"/>
              <a:t>as a natural order</a:t>
            </a:r>
            <a:r>
              <a:rPr lang="en-US" dirty="0"/>
              <a:t> </a:t>
            </a:r>
            <a:r>
              <a:rPr lang="en-US" b="1" dirty="0"/>
              <a:t>and</a:t>
            </a:r>
            <a:r>
              <a:rPr lang="en-US" dirty="0"/>
              <a:t> “distance” </a:t>
            </a:r>
            <a:r>
              <a:rPr lang="en-US" b="1" dirty="0"/>
              <a:t>and</a:t>
            </a:r>
            <a:r>
              <a:rPr lang="en-US" dirty="0"/>
              <a:t> a “Zero-value”</a:t>
            </a:r>
          </a:p>
          <a:p>
            <a:pPr defTabSz="947182" eaLnBrk="1" fontAlgn="auto" hangingPunct="1">
              <a:spcBef>
                <a:spcPts val="0"/>
              </a:spcBef>
              <a:spcAft>
                <a:spcPts val="0"/>
              </a:spcAft>
              <a:defRPr/>
            </a:pP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20</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8972505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500" dirty="0"/>
              <a:t>Note: The interval scale has also a zero-value as the ratio scale.  And can take negative and positive values</a:t>
            </a:r>
          </a:p>
          <a:p>
            <a:r>
              <a:rPr lang="en-US" sz="1500" dirty="0"/>
              <a:t>The difference is that a variable on the </a:t>
            </a:r>
            <a:r>
              <a:rPr lang="en-US" sz="1500" b="1" dirty="0"/>
              <a:t>interval scale </a:t>
            </a:r>
            <a:r>
              <a:rPr lang="en-US" sz="1500" dirty="0"/>
              <a:t>can have values to the left and right of the zero-value;  </a:t>
            </a:r>
          </a:p>
          <a:p>
            <a:endParaRPr lang="en-US" sz="1500" dirty="0"/>
          </a:p>
          <a:p>
            <a:r>
              <a:rPr lang="en-US" sz="1500" dirty="0"/>
              <a:t>Variables on a ratio scale can’t take values lower than the zero-value. Only Positives</a:t>
            </a:r>
          </a:p>
          <a:p>
            <a:endParaRPr lang="en-US" sz="1500" dirty="0"/>
          </a:p>
          <a:p>
            <a:r>
              <a:rPr lang="en-US" sz="1500" dirty="0"/>
              <a:t>If ratios of 2 measurements has a meaning and makes sense then Ratio scale.</a:t>
            </a:r>
          </a:p>
          <a:p>
            <a:endParaRPr lang="en-US" sz="1500" dirty="0"/>
          </a:p>
          <a:p>
            <a:r>
              <a:rPr lang="en-US" sz="1500" dirty="0"/>
              <a:t> Does “Zero” has a meaning? </a:t>
            </a:r>
            <a:r>
              <a:rPr lang="en-US" dirty="0"/>
              <a:t>Zero kelvin (−273.15 °C) is defined as absolute zero.</a:t>
            </a:r>
            <a:endParaRPr lang="en-US" sz="1500" dirty="0"/>
          </a:p>
          <a:p>
            <a:r>
              <a:rPr lang="en-US" sz="1500" dirty="0"/>
              <a:t>https://en.wikipedia.org/wiki/Absolute_zero</a:t>
            </a:r>
          </a:p>
          <a:p>
            <a:r>
              <a:rPr lang="en-US" sz="1500" dirty="0"/>
              <a:t>What do you think about </a:t>
            </a:r>
            <a:r>
              <a:rPr lang="en-US" sz="1500" b="1" dirty="0"/>
              <a:t>“Degree of pain”? </a:t>
            </a:r>
            <a:r>
              <a:rPr lang="en-US" sz="1500" dirty="0"/>
              <a:t>Scale? </a:t>
            </a:r>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21</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557668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22</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1865241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sz="1200" dirty="0"/>
              <a:t>Any statistic is classified as being either descriptive or analytical.</a:t>
            </a:r>
          </a:p>
          <a:p>
            <a:endParaRPr lang="en-US" sz="1200" dirty="0"/>
          </a:p>
          <a:p>
            <a:r>
              <a:rPr lang="en-US" sz="1200" b="1" dirty="0"/>
              <a:t>Descriptive statistics</a:t>
            </a:r>
            <a:r>
              <a:rPr lang="en-US" sz="1200" dirty="0"/>
              <a:t> gives, as it’s name reveals, a description of the data sample. This include for example graphs, mean values, median values and different measurements of variation (how far or close values are from the mean, for example). </a:t>
            </a:r>
          </a:p>
          <a:p>
            <a:r>
              <a:rPr lang="en-US" sz="1200" dirty="0"/>
              <a:t>The purpose of </a:t>
            </a:r>
            <a:r>
              <a:rPr lang="en-US" sz="1200" b="1" dirty="0"/>
              <a:t>descriptive statistics</a:t>
            </a:r>
            <a:r>
              <a:rPr lang="en-US" sz="1200" dirty="0"/>
              <a:t> is to summarize or describe a data set. Researchers use these statistics to describe or characterize the population or sample being studied.</a:t>
            </a:r>
          </a:p>
          <a:p>
            <a:endParaRPr lang="sv-SE" sz="1200"/>
          </a:p>
          <a:p>
            <a:r>
              <a:rPr lang="en-US" sz="1200"/>
              <a:t>To do an analysis, </a:t>
            </a:r>
            <a:r>
              <a:rPr lang="en-US" sz="1200" b="1"/>
              <a:t>analytical statistics</a:t>
            </a:r>
            <a:r>
              <a:rPr lang="en-US" sz="1200"/>
              <a:t>, or </a:t>
            </a:r>
            <a:r>
              <a:rPr lang="en-US" sz="1200" b="1"/>
              <a:t>inferential</a:t>
            </a:r>
            <a:r>
              <a:rPr lang="en-US" sz="1200"/>
              <a:t> statistics, is needed. </a:t>
            </a:r>
            <a:r>
              <a:rPr lang="en-US" sz="1200" dirty="0"/>
              <a:t>The aim of analytical statistics is to draw conclusions about a population based on the data at hand. For example if a difference between two groups is statistically significant, i.e. if the difference is larger than could be expect to occur randomly.</a:t>
            </a:r>
          </a:p>
          <a:p>
            <a:endParaRPr lang="en-US" dirty="0"/>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23</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0744289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defTabSz="473677"/>
            <a:r>
              <a:rPr lang="en-US" dirty="0"/>
              <a:t>Descriptive statistics is about describing/summarizing the collected Data</a:t>
            </a:r>
          </a:p>
          <a:p>
            <a:endParaRPr lang="en-US" dirty="0"/>
          </a:p>
          <a:p>
            <a:pPr defTabSz="473677"/>
            <a:r>
              <a:rPr lang="en-US" dirty="0"/>
              <a:t>It can be numerical(numbers in table) and/or</a:t>
            </a:r>
            <a:r>
              <a:rPr lang="en-US" baseline="0" dirty="0"/>
              <a:t> graphical (</a:t>
            </a:r>
            <a:r>
              <a:rPr lang="sv-SE" dirty="0">
                <a:solidFill>
                  <a:srgbClr val="000000"/>
                </a:solidFill>
                <a:latin typeface="+mn-lt"/>
              </a:rPr>
              <a:t>histograms, box-</a:t>
            </a:r>
            <a:r>
              <a:rPr lang="sv-SE" dirty="0" err="1">
                <a:solidFill>
                  <a:srgbClr val="000000"/>
                </a:solidFill>
                <a:latin typeface="+mn-lt"/>
              </a:rPr>
              <a:t>plots</a:t>
            </a:r>
            <a:r>
              <a:rPr lang="sv-SE" dirty="0">
                <a:solidFill>
                  <a:srgbClr val="000000"/>
                </a:solidFill>
                <a:latin typeface="+mn-lt"/>
              </a:rPr>
              <a:t>, bar diagram)</a:t>
            </a:r>
          </a:p>
          <a:p>
            <a:endParaRPr lang="en-US" dirty="0"/>
          </a:p>
          <a:p>
            <a:pPr defTabSz="473677"/>
            <a:r>
              <a:rPr lang="en-US" dirty="0"/>
              <a:t>NOTE:</a:t>
            </a:r>
            <a:r>
              <a:rPr lang="en-US" baseline="0" dirty="0"/>
              <a:t> </a:t>
            </a:r>
            <a:r>
              <a:rPr lang="en-US" dirty="0"/>
              <a:t>Analytical(Inferential) statistics is about drawing conclusion from the collected data</a:t>
            </a:r>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24</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1104213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r>
              <a:rPr lang="en-US" b="1" u="sng" dirty="0"/>
              <a:t>Descriptive statistics</a:t>
            </a:r>
            <a:r>
              <a:rPr lang="en-US" u="sng" dirty="0"/>
              <a:t> </a:t>
            </a:r>
            <a:r>
              <a:rPr lang="en-US" dirty="0"/>
              <a:t>is about describing/summarizing the collected Data</a:t>
            </a:r>
          </a:p>
          <a:p>
            <a:endParaRPr lang="en-US" dirty="0"/>
          </a:p>
          <a:p>
            <a:pPr marL="228600" indent="-228600" defTabSz="914290">
              <a:buFont typeface="+mj-lt"/>
              <a:buAutoNum type="arabicPeriod"/>
              <a:defRPr/>
            </a:pPr>
            <a:r>
              <a:rPr lang="en-US" b="1" dirty="0"/>
              <a:t>Numerical </a:t>
            </a:r>
            <a:r>
              <a:rPr lang="en-US" b="0" dirty="0"/>
              <a:t>Descriptive statistics</a:t>
            </a:r>
            <a:r>
              <a:rPr lang="en-US" dirty="0"/>
              <a:t>  describing data by numbers in tables</a:t>
            </a:r>
          </a:p>
          <a:p>
            <a:pPr marL="228600" indent="-228600" defTabSz="914290">
              <a:buFont typeface="+mj-lt"/>
              <a:buAutoNum type="arabicPeriod"/>
              <a:defRPr/>
            </a:pPr>
            <a:r>
              <a:rPr lang="en-US" b="1" dirty="0"/>
              <a:t>Graphical  </a:t>
            </a:r>
            <a:r>
              <a:rPr lang="en-US" b="0" dirty="0"/>
              <a:t>Descriptive statistics</a:t>
            </a:r>
            <a:r>
              <a:rPr lang="en-US" dirty="0"/>
              <a:t>  describing data by diagrams. E.g. Histograms, Box plots etc.</a:t>
            </a:r>
          </a:p>
          <a:p>
            <a:endParaRPr lang="en-US" b="1" dirty="0"/>
          </a:p>
          <a:p>
            <a:r>
              <a:rPr lang="en-US" b="0" u="sng" dirty="0"/>
              <a:t>Categorical variables	</a:t>
            </a:r>
            <a:r>
              <a:rPr lang="en-US" b="1" dirty="0"/>
              <a:t>	</a:t>
            </a:r>
          </a:p>
          <a:p>
            <a:r>
              <a:rPr lang="en-US" dirty="0"/>
              <a:t>Frequency tables (frequency &amp; proportions) and Bar diagram</a:t>
            </a:r>
          </a:p>
          <a:p>
            <a:r>
              <a:rPr lang="en-US" b="1" dirty="0"/>
              <a:t> </a:t>
            </a:r>
            <a:endParaRPr lang="en-US" dirty="0"/>
          </a:p>
          <a:p>
            <a:r>
              <a:rPr lang="en-US" dirty="0"/>
              <a:t> </a:t>
            </a:r>
          </a:p>
          <a:p>
            <a:r>
              <a:rPr lang="en-US" dirty="0"/>
              <a:t> </a:t>
            </a:r>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25</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0748947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fontScale="92500"/>
          </a:bodyPr>
          <a:lstStyle/>
          <a:p>
            <a:r>
              <a:rPr lang="en-US" b="1" u="sng" dirty="0"/>
              <a:t>Descriptive statistics</a:t>
            </a:r>
            <a:r>
              <a:rPr lang="en-US" u="sng" dirty="0"/>
              <a:t> </a:t>
            </a:r>
            <a:r>
              <a:rPr lang="en-US" dirty="0"/>
              <a:t>is about describing/summarizing the collected Data</a:t>
            </a:r>
          </a:p>
          <a:p>
            <a:endParaRPr lang="en-US" dirty="0"/>
          </a:p>
          <a:p>
            <a:pPr marL="228600" indent="-228600" defTabSz="914290">
              <a:buFont typeface="+mj-lt"/>
              <a:buAutoNum type="arabicPeriod"/>
              <a:defRPr/>
            </a:pPr>
            <a:r>
              <a:rPr lang="en-US" b="1" dirty="0"/>
              <a:t>Numerical </a:t>
            </a:r>
            <a:r>
              <a:rPr lang="en-US" b="0" dirty="0"/>
              <a:t>Descriptive statistics</a:t>
            </a:r>
            <a:r>
              <a:rPr lang="en-US" dirty="0"/>
              <a:t>  describing data by numbers in tables</a:t>
            </a:r>
          </a:p>
          <a:p>
            <a:pPr marL="228600" indent="-228600" defTabSz="914290">
              <a:buFont typeface="+mj-lt"/>
              <a:buAutoNum type="arabicPeriod"/>
              <a:defRPr/>
            </a:pPr>
            <a:r>
              <a:rPr lang="en-US" b="1" dirty="0"/>
              <a:t>Graphical  </a:t>
            </a:r>
            <a:r>
              <a:rPr lang="en-US" b="0" dirty="0"/>
              <a:t>Descriptive statistics</a:t>
            </a:r>
            <a:r>
              <a:rPr lang="en-US" dirty="0"/>
              <a:t>  describing data by diagrams. E.g., Histograms, Box plots etc.</a:t>
            </a:r>
          </a:p>
          <a:p>
            <a:endParaRPr lang="en-US" b="1" dirty="0"/>
          </a:p>
          <a:p>
            <a:r>
              <a:rPr lang="en-US" u="sng" dirty="0"/>
              <a:t>Continuous variables</a:t>
            </a:r>
          </a:p>
          <a:p>
            <a:pPr defTabSz="457146"/>
            <a:r>
              <a:rPr lang="en-US" b="1" dirty="0"/>
              <a:t>Parametric methods	</a:t>
            </a:r>
          </a:p>
          <a:p>
            <a:pPr marL="0" marR="0" lvl="0" indent="0" algn="l" defTabSz="457146" rtl="0" eaLnBrk="0" fontAlgn="base" latinLnBrk="0" hangingPunct="0">
              <a:lnSpc>
                <a:spcPct val="100000"/>
              </a:lnSpc>
              <a:spcBef>
                <a:spcPct val="30000"/>
              </a:spcBef>
              <a:spcAft>
                <a:spcPct val="0"/>
              </a:spcAft>
              <a:buClrTx/>
              <a:buSzTx/>
              <a:buFontTx/>
              <a:buNone/>
              <a:tabLst/>
              <a:defRPr/>
            </a:pPr>
            <a:r>
              <a:rPr lang="en-US" sz="1200" b="1" dirty="0">
                <a:latin typeface="+mn-lt"/>
              </a:rPr>
              <a:t>Central tendency</a:t>
            </a:r>
            <a:r>
              <a:rPr lang="en-US" sz="1200" b="1" dirty="0">
                <a:solidFill>
                  <a:srgbClr val="0070C0"/>
                </a:solidFill>
                <a:latin typeface="+mn-lt"/>
              </a:rPr>
              <a:t> (</a:t>
            </a:r>
            <a:r>
              <a:rPr lang="en-US" sz="1200" b="1" dirty="0" err="1">
                <a:solidFill>
                  <a:srgbClr val="0070C0"/>
                </a:solidFill>
                <a:latin typeface="+mn-lt"/>
              </a:rPr>
              <a:t>läge</a:t>
            </a:r>
            <a:r>
              <a:rPr lang="en-US" sz="1200" b="1" dirty="0">
                <a:solidFill>
                  <a:srgbClr val="0070C0"/>
                </a:solidFill>
                <a:latin typeface="+mn-lt"/>
              </a:rPr>
              <a:t>) = </a:t>
            </a:r>
            <a:r>
              <a:rPr lang="en-US" dirty="0"/>
              <a:t>Mean, </a:t>
            </a:r>
          </a:p>
          <a:p>
            <a:pPr marL="0" indent="0">
              <a:lnSpc>
                <a:spcPct val="100000"/>
              </a:lnSpc>
              <a:spcBef>
                <a:spcPts val="650"/>
              </a:spcBef>
              <a:buNone/>
            </a:pPr>
            <a:r>
              <a:rPr lang="en-US" sz="1200" b="1" dirty="0">
                <a:latin typeface="+mn-lt"/>
              </a:rPr>
              <a:t>Dispersion</a:t>
            </a:r>
            <a:r>
              <a:rPr lang="en-US" sz="1200" dirty="0">
                <a:latin typeface="+mn-lt"/>
              </a:rPr>
              <a:t>:</a:t>
            </a:r>
            <a:r>
              <a:rPr lang="en-US" sz="1200" b="1" dirty="0">
                <a:solidFill>
                  <a:srgbClr val="0070C0"/>
                </a:solidFill>
                <a:latin typeface="+mn-lt"/>
              </a:rPr>
              <a:t> (</a:t>
            </a:r>
            <a:r>
              <a:rPr lang="en-US" sz="1200" b="1" dirty="0" err="1">
                <a:solidFill>
                  <a:srgbClr val="0070C0"/>
                </a:solidFill>
                <a:latin typeface="+mn-lt"/>
              </a:rPr>
              <a:t>spridning</a:t>
            </a:r>
            <a:r>
              <a:rPr lang="en-US" sz="1200" b="1" dirty="0">
                <a:solidFill>
                  <a:srgbClr val="0070C0"/>
                </a:solidFill>
                <a:latin typeface="+mn-lt"/>
              </a:rPr>
              <a:t>) = </a:t>
            </a:r>
            <a:r>
              <a:rPr lang="en-US" sz="1200" dirty="0">
                <a:latin typeface="+mn-lt"/>
              </a:rPr>
              <a:t>How spread the values are from the “center” = </a:t>
            </a:r>
            <a:r>
              <a:rPr lang="en-US" dirty="0"/>
              <a:t>Standard deviation	</a:t>
            </a:r>
          </a:p>
          <a:p>
            <a:pPr marL="0" indent="0">
              <a:lnSpc>
                <a:spcPct val="100000"/>
              </a:lnSpc>
              <a:spcBef>
                <a:spcPts val="650"/>
              </a:spcBef>
              <a:buNone/>
            </a:pPr>
            <a:r>
              <a:rPr lang="en-US" dirty="0"/>
              <a:t>95% confidence intervals</a:t>
            </a:r>
          </a:p>
          <a:p>
            <a:pPr defTabSz="457146"/>
            <a:r>
              <a:rPr lang="en-US" dirty="0"/>
              <a:t>Histograms to check normality of data</a:t>
            </a:r>
          </a:p>
          <a:p>
            <a:endParaRPr lang="en-US" dirty="0"/>
          </a:p>
          <a:p>
            <a:pPr defTabSz="457146"/>
            <a:r>
              <a:rPr lang="en-US" b="1" dirty="0"/>
              <a:t>Non-parametric methods</a:t>
            </a:r>
          </a:p>
          <a:p>
            <a:pPr defTabSz="457146"/>
            <a:r>
              <a:rPr lang="en-US" sz="1200" b="1" dirty="0">
                <a:latin typeface="+mn-lt"/>
              </a:rPr>
              <a:t>Central tendency</a:t>
            </a:r>
            <a:r>
              <a:rPr lang="en-US" sz="1200" b="1" dirty="0">
                <a:solidFill>
                  <a:srgbClr val="0070C0"/>
                </a:solidFill>
                <a:latin typeface="+mn-lt"/>
              </a:rPr>
              <a:t> (</a:t>
            </a:r>
            <a:r>
              <a:rPr lang="en-US" sz="1200" b="1" dirty="0" err="1">
                <a:solidFill>
                  <a:srgbClr val="0070C0"/>
                </a:solidFill>
                <a:latin typeface="+mn-lt"/>
              </a:rPr>
              <a:t>läge</a:t>
            </a:r>
            <a:r>
              <a:rPr lang="en-US" sz="1200" b="1" dirty="0">
                <a:solidFill>
                  <a:srgbClr val="0070C0"/>
                </a:solidFill>
                <a:latin typeface="+mn-lt"/>
              </a:rPr>
              <a:t>) = </a:t>
            </a:r>
            <a:r>
              <a:rPr lang="en-US" dirty="0"/>
              <a:t>Median  </a:t>
            </a:r>
          </a:p>
          <a:p>
            <a:pPr defTabSz="457146"/>
            <a:r>
              <a:rPr lang="en-US" sz="1200" b="1" dirty="0">
                <a:latin typeface="+mn-lt"/>
              </a:rPr>
              <a:t>Dispersion</a:t>
            </a:r>
            <a:r>
              <a:rPr lang="en-US" sz="1200" dirty="0">
                <a:latin typeface="+mn-lt"/>
              </a:rPr>
              <a:t>:</a:t>
            </a:r>
            <a:r>
              <a:rPr lang="en-US" sz="1200" b="1" dirty="0">
                <a:solidFill>
                  <a:srgbClr val="0070C0"/>
                </a:solidFill>
                <a:latin typeface="+mn-lt"/>
              </a:rPr>
              <a:t> (</a:t>
            </a:r>
            <a:r>
              <a:rPr lang="en-US" sz="1200" b="1" dirty="0" err="1">
                <a:solidFill>
                  <a:srgbClr val="0070C0"/>
                </a:solidFill>
                <a:latin typeface="+mn-lt"/>
              </a:rPr>
              <a:t>spridning</a:t>
            </a:r>
            <a:r>
              <a:rPr lang="en-US" sz="1200" b="1" dirty="0">
                <a:solidFill>
                  <a:srgbClr val="0070C0"/>
                </a:solidFill>
                <a:latin typeface="+mn-lt"/>
              </a:rPr>
              <a:t>) = </a:t>
            </a:r>
            <a:r>
              <a:rPr lang="en-US" sz="1200" dirty="0">
                <a:latin typeface="+mn-lt"/>
              </a:rPr>
              <a:t>How spread the values are from the “center” = </a:t>
            </a:r>
            <a:r>
              <a:rPr lang="en-US" dirty="0"/>
              <a:t>2</a:t>
            </a:r>
            <a:r>
              <a:rPr lang="en-US" baseline="30000" dirty="0"/>
              <a:t>nd</a:t>
            </a:r>
            <a:r>
              <a:rPr lang="en-US" dirty="0"/>
              <a:t> and 3</a:t>
            </a:r>
            <a:r>
              <a:rPr lang="en-US" baseline="30000" dirty="0"/>
              <a:t>rd</a:t>
            </a:r>
            <a:r>
              <a:rPr lang="en-US" dirty="0"/>
              <a:t> Quartiles or Inter-quartile range</a:t>
            </a:r>
          </a:p>
          <a:p>
            <a:r>
              <a:rPr lang="en-US" b="1" dirty="0"/>
              <a:t> </a:t>
            </a:r>
            <a:r>
              <a:rPr lang="en-US" dirty="0"/>
              <a:t>Box plots </a:t>
            </a:r>
          </a:p>
          <a:p>
            <a:r>
              <a:rPr lang="en-US" dirty="0"/>
              <a:t> </a:t>
            </a:r>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26</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0241163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Mean and standard deviation for continuous variable AGE (s</a:t>
            </a:r>
          </a:p>
          <a:p>
            <a:endParaRPr lang="en-US" dirty="0"/>
          </a:p>
          <a:p>
            <a:pPr defTabSz="457146"/>
            <a:r>
              <a:rPr lang="en-US" dirty="0"/>
              <a:t>Frequency tables with frequency &amp; proportions for each category of qualitative variable MARITAL STATUS</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27</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8550933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A box plot describing Median,</a:t>
            </a:r>
            <a:r>
              <a:rPr lang="en-US" baseline="0" dirty="0"/>
              <a:t> 1</a:t>
            </a:r>
            <a:r>
              <a:rPr lang="en-US" baseline="30000" dirty="0"/>
              <a:t>st</a:t>
            </a:r>
            <a:r>
              <a:rPr lang="en-US" baseline="0" dirty="0"/>
              <a:t> quartile and 3</a:t>
            </a:r>
            <a:r>
              <a:rPr lang="en-US" baseline="30000" dirty="0"/>
              <a:t>rd</a:t>
            </a:r>
            <a:r>
              <a:rPr lang="en-US" baseline="0" dirty="0"/>
              <a:t> quartile of </a:t>
            </a:r>
          </a:p>
          <a:p>
            <a:endParaRPr lang="en-US" baseline="0" dirty="0"/>
          </a:p>
          <a:p>
            <a:r>
              <a:rPr lang="en-US" dirty="0"/>
              <a:t>Sensory Nerve conduction</a:t>
            </a:r>
          </a:p>
          <a:p>
            <a:endParaRPr lang="en-US" dirty="0"/>
          </a:p>
          <a:p>
            <a:r>
              <a:rPr lang="en-US" dirty="0"/>
              <a:t>sensory latencies in right hand between unexposed (0) and exposed (1-4</a:t>
            </a:r>
            <a:r>
              <a:rPr lang="en-US" baseline="0" dirty="0"/>
              <a:t> </a:t>
            </a:r>
            <a:r>
              <a:rPr lang="en-US" dirty="0"/>
              <a:t>classes with cumulative lifetime exposure )  subjects</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28</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362427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sz="1200" b="1" i="0" u="none" strike="noStrike" kern="1200" dirty="0">
                <a:solidFill>
                  <a:schemeClr val="tx1"/>
                </a:solidFill>
                <a:effectLst/>
                <a:latin typeface="+mn-lt"/>
                <a:ea typeface="ＭＳ Ｐゴシック" pitchFamily="-65" charset="-128"/>
                <a:cs typeface="ＭＳ Ｐゴシック" pitchFamily="-65" charset="-128"/>
              </a:rPr>
              <a:t>THE STATISTICAL PART OF THE SCIENTIFIC METHOD</a:t>
            </a:r>
          </a:p>
          <a:p>
            <a:r>
              <a:rPr lang="en-US" sz="1200" b="0" i="0" u="none" strike="noStrike" kern="1200" dirty="0">
                <a:solidFill>
                  <a:schemeClr val="tx1"/>
                </a:solidFill>
                <a:effectLst/>
                <a:latin typeface="+mn-lt"/>
                <a:ea typeface="ＭＳ Ｐゴシック" pitchFamily="-65" charset="-128"/>
                <a:cs typeface="ＭＳ Ｐゴシック" pitchFamily="-65" charset="-128"/>
                <a:hlinkClick r:id="rId3"/>
              </a:rPr>
              <a:t>George W. </a:t>
            </a:r>
            <a:r>
              <a:rPr lang="en-US" sz="1200" b="0" i="0" u="none" strike="noStrike" kern="1200" dirty="0" err="1">
                <a:solidFill>
                  <a:schemeClr val="tx1"/>
                </a:solidFill>
                <a:effectLst/>
                <a:latin typeface="+mn-lt"/>
                <a:ea typeface="ＭＳ Ｐゴシック" pitchFamily="-65" charset="-128"/>
                <a:cs typeface="ＭＳ Ｐゴシック" pitchFamily="-65" charset="-128"/>
                <a:hlinkClick r:id="rId3"/>
              </a:rPr>
              <a:t>Snedecor</a:t>
            </a:r>
            <a:r>
              <a:rPr lang="en-US" sz="1200" b="0" i="0" u="none" strike="noStrike" kern="1200" dirty="0">
                <a:solidFill>
                  <a:schemeClr val="tx1"/>
                </a:solidFill>
                <a:effectLst/>
                <a:latin typeface="+mn-lt"/>
                <a:ea typeface="ＭＳ Ｐゴシック" pitchFamily="-65" charset="-128"/>
                <a:cs typeface="ＭＳ Ｐゴシック" pitchFamily="-65" charset="-128"/>
              </a:rPr>
              <a:t> </a:t>
            </a:r>
          </a:p>
          <a:p>
            <a:r>
              <a:rPr lang="en-US" sz="1200" b="0" i="0" u="none" strike="noStrike" kern="1200" dirty="0">
                <a:solidFill>
                  <a:schemeClr val="tx1"/>
                </a:solidFill>
                <a:effectLst/>
                <a:latin typeface="+mn-lt"/>
                <a:ea typeface="ＭＳ Ｐゴシック" pitchFamily="-65" charset="-128"/>
                <a:cs typeface="ＭＳ Ｐゴシック" pitchFamily="-65" charset="-128"/>
              </a:rPr>
              <a:t>First published: March 1950</a:t>
            </a:r>
          </a:p>
          <a:p>
            <a:r>
              <a:rPr lang="en-US" sz="1200" b="1" i="0" u="none" strike="noStrike" kern="1200" dirty="0">
                <a:solidFill>
                  <a:schemeClr val="tx1"/>
                </a:solidFill>
                <a:effectLst/>
                <a:latin typeface="+mn-lt"/>
                <a:ea typeface="ＭＳ Ｐゴシック" pitchFamily="-65" charset="-128"/>
                <a:cs typeface="ＭＳ Ｐゴシック" pitchFamily="-65" charset="-128"/>
                <a:hlinkClick r:id="rId4"/>
              </a:rPr>
              <a:t>https://doi.org/10.1111/j.1749-6632.1950.tb53972.x</a:t>
            </a:r>
            <a:endParaRPr lang="en-US" sz="1200" b="0" i="0" u="none" strike="noStrike" kern="1200" dirty="0">
              <a:solidFill>
                <a:schemeClr val="tx1"/>
              </a:solidFill>
              <a:effectLst/>
              <a:latin typeface="+mn-lt"/>
              <a:ea typeface="ＭＳ Ｐゴシック" pitchFamily="-65" charset="-128"/>
              <a:cs typeface="ＭＳ Ｐゴシック" pitchFamily="-65" charset="-128"/>
            </a:endParaRPr>
          </a:p>
          <a:p>
            <a:endParaRPr lang="en-US" dirty="0">
              <a:effectLst/>
            </a:endParaRPr>
          </a:p>
        </p:txBody>
      </p:sp>
      <p:sp>
        <p:nvSpPr>
          <p:cNvPr id="4" name="Platshållare för bildnummer 3"/>
          <p:cNvSpPr>
            <a:spLocks noGrp="1"/>
          </p:cNvSpPr>
          <p:nvPr>
            <p:ph type="sldNum" sz="quarter" idx="10"/>
          </p:nvPr>
        </p:nvSpPr>
        <p:spPr/>
        <p:txBody>
          <a:bodyPr/>
          <a:lstStyle/>
          <a:p>
            <a:fld id="{473083DE-3344-4679-AD0C-FFA5B7FA7A5E}" type="slidenum">
              <a:rPr lang="sv-SE" smtClean="0">
                <a:solidFill>
                  <a:prstClr val="black"/>
                </a:solidFill>
              </a:rPr>
              <a:pPr/>
              <a:t>29</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2591375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473083DE-3344-4679-AD0C-FFA5B7FA7A5E}" type="slidenum">
              <a:rPr lang="sv-SE" smtClean="0">
                <a:solidFill>
                  <a:prstClr val="black"/>
                </a:solidFill>
              </a:rPr>
              <a:pPr/>
              <a:t>30</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2914253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GB" dirty="0"/>
          </a:p>
        </p:txBody>
      </p:sp>
      <p:sp>
        <p:nvSpPr>
          <p:cNvPr id="4" name="Platshållare för bildnummer 3"/>
          <p:cNvSpPr>
            <a:spLocks noGrp="1"/>
          </p:cNvSpPr>
          <p:nvPr>
            <p:ph type="sldNum" sz="quarter" idx="10"/>
          </p:nvPr>
        </p:nvSpPr>
        <p:spPr/>
        <p:txBody>
          <a:bodyPr/>
          <a:lstStyle/>
          <a:p>
            <a:pPr>
              <a:defRPr/>
            </a:pPr>
            <a:fld id="{B7A5680B-5CFF-5C46-8A8E-F880F761868B}" type="slidenum">
              <a:rPr lang="sv-SE" smtClean="0"/>
              <a:pPr>
                <a:defRPr/>
              </a:pPr>
              <a:t>31</a:t>
            </a:fld>
            <a:endParaRPr lang="sv-SE" dirty="0"/>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3293865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a:p>
            <a:pPr defTabSz="473677"/>
            <a:r>
              <a:rPr lang="en-US" dirty="0"/>
              <a:t>In this lecture we will talk about </a:t>
            </a:r>
            <a:r>
              <a:rPr lang="en-US" b="1" dirty="0"/>
              <a:t>Hypothesis testing.</a:t>
            </a:r>
          </a:p>
          <a:p>
            <a:endParaRPr lang="sv-SE" dirty="0"/>
          </a:p>
        </p:txBody>
      </p:sp>
      <p:sp>
        <p:nvSpPr>
          <p:cNvPr id="4" name="Platshållare för bildnumm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32</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631253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fontScale="70000" lnSpcReduction="20000"/>
          </a:bodyPr>
          <a:lstStyle/>
          <a:p>
            <a:endParaRPr lang="sv-SE" dirty="0"/>
          </a:p>
          <a:p>
            <a:pPr marL="0" indent="0">
              <a:spcBef>
                <a:spcPts val="600"/>
              </a:spcBef>
              <a:spcAft>
                <a:spcPts val="600"/>
              </a:spcAft>
              <a:buNone/>
            </a:pPr>
            <a:r>
              <a:rPr lang="en-US" sz="2800" dirty="0">
                <a:latin typeface="+mn-lt"/>
                <a:ea typeface="ＭＳ Ｐゴシック" pitchFamily="-109" charset="-128"/>
                <a:sym typeface="Symbol" pitchFamily="-109" charset="2"/>
              </a:rPr>
              <a:t>You start by sets up a </a:t>
            </a:r>
            <a:r>
              <a:rPr lang="en-US" sz="2800" b="1" dirty="0">
                <a:solidFill>
                  <a:schemeClr val="accent1"/>
                </a:solidFill>
                <a:latin typeface="+mn-lt"/>
                <a:ea typeface="ＭＳ Ｐゴシック" pitchFamily="-109" charset="-128"/>
                <a:sym typeface="Symbol" pitchFamily="-109" charset="2"/>
              </a:rPr>
              <a:t>null hypothesis </a:t>
            </a:r>
            <a:r>
              <a:rPr lang="en-US" sz="2800" dirty="0">
                <a:solidFill>
                  <a:srgbClr val="002060"/>
                </a:solidFill>
                <a:latin typeface="+mn-lt"/>
                <a:ea typeface="ＭＳ Ｐゴシック" pitchFamily="-109" charset="-128"/>
                <a:sym typeface="Symbol" pitchFamily="-109" charset="2"/>
              </a:rPr>
              <a:t>(H</a:t>
            </a:r>
            <a:r>
              <a:rPr lang="en-US" sz="2800" baseline="-25000" dirty="0">
                <a:solidFill>
                  <a:srgbClr val="002060"/>
                </a:solidFill>
                <a:latin typeface="+mn-lt"/>
                <a:ea typeface="ＭＳ Ｐゴシック" pitchFamily="-109" charset="-128"/>
                <a:sym typeface="Symbol" pitchFamily="-109" charset="2"/>
              </a:rPr>
              <a:t>0</a:t>
            </a:r>
            <a:r>
              <a:rPr lang="en-US" sz="2800" dirty="0">
                <a:solidFill>
                  <a:srgbClr val="002060"/>
                </a:solidFill>
                <a:latin typeface="+mn-lt"/>
                <a:ea typeface="ＭＳ Ｐゴシック" pitchFamily="-109" charset="-128"/>
                <a:sym typeface="Symbol" pitchFamily="-109" charset="2"/>
              </a:rPr>
              <a:t>)</a:t>
            </a:r>
          </a:p>
          <a:p>
            <a:pPr marL="0" indent="0">
              <a:spcBef>
                <a:spcPts val="600"/>
              </a:spcBef>
              <a:spcAft>
                <a:spcPts val="600"/>
              </a:spcAft>
              <a:buNone/>
            </a:pPr>
            <a:r>
              <a:rPr lang="en-US" sz="2800" dirty="0">
                <a:latin typeface="+mn-lt"/>
                <a:ea typeface="ＭＳ Ｐゴシック" pitchFamily="-109" charset="-128"/>
                <a:sym typeface="Symbol" pitchFamily="-109" charset="2"/>
              </a:rPr>
              <a:t>You want to be able to discard / reject H</a:t>
            </a:r>
            <a:r>
              <a:rPr lang="en-US" sz="2800" baseline="-25000" dirty="0">
                <a:latin typeface="+mn-lt"/>
                <a:ea typeface="ＭＳ Ｐゴシック" pitchFamily="-109" charset="-128"/>
                <a:sym typeface="Symbol" pitchFamily="-109" charset="2"/>
              </a:rPr>
              <a:t>0 , </a:t>
            </a:r>
            <a:r>
              <a:rPr lang="en-US" sz="2800" dirty="0">
                <a:latin typeface="+mn-lt"/>
                <a:ea typeface="ＭＳ Ｐゴシック" pitchFamily="-109" charset="-128"/>
                <a:sym typeface="Symbol" pitchFamily="-109" charset="2"/>
              </a:rPr>
              <a:t>e.g. </a:t>
            </a:r>
            <a:r>
              <a:rPr lang="en-US" sz="2800" b="1" dirty="0">
                <a:solidFill>
                  <a:schemeClr val="accent1"/>
                </a:solidFill>
                <a:latin typeface="+mn-lt"/>
                <a:ea typeface="ＭＳ Ｐゴシック" pitchFamily="-109" charset="-128"/>
                <a:sym typeface="Symbol" pitchFamily="-109" charset="2"/>
              </a:rPr>
              <a:t>no effect</a:t>
            </a:r>
            <a:r>
              <a:rPr lang="en-US" sz="2800" dirty="0">
                <a:solidFill>
                  <a:schemeClr val="accent1"/>
                </a:solidFill>
                <a:latin typeface="+mn-lt"/>
                <a:ea typeface="ＭＳ Ｐゴシック" pitchFamily="-109" charset="-128"/>
                <a:sym typeface="Symbol" pitchFamily="-109" charset="2"/>
              </a:rPr>
              <a:t> / </a:t>
            </a:r>
            <a:r>
              <a:rPr lang="en-US" sz="2800" b="1" dirty="0">
                <a:solidFill>
                  <a:schemeClr val="accent1"/>
                </a:solidFill>
                <a:latin typeface="+mn-lt"/>
                <a:ea typeface="ＭＳ Ｐゴシック" pitchFamily="-109" charset="-128"/>
                <a:sym typeface="Symbol" pitchFamily="-109" charset="2"/>
              </a:rPr>
              <a:t>no difference between groups</a:t>
            </a:r>
          </a:p>
          <a:p>
            <a:pPr marL="0" indent="0">
              <a:spcBef>
                <a:spcPts val="600"/>
              </a:spcBef>
              <a:spcAft>
                <a:spcPts val="600"/>
              </a:spcAft>
              <a:buNone/>
            </a:pPr>
            <a:r>
              <a:rPr lang="en-US" sz="2800" dirty="0">
                <a:latin typeface="+mn-lt"/>
                <a:ea typeface="ＭＳ Ｐゴシック" pitchFamily="-109" charset="-128"/>
                <a:sym typeface="Symbol" pitchFamily="-109" charset="2"/>
              </a:rPr>
              <a:t>If H</a:t>
            </a:r>
            <a:r>
              <a:rPr lang="en-US" sz="2800" baseline="-25000" dirty="0">
                <a:latin typeface="+mn-lt"/>
                <a:ea typeface="ＭＳ Ｐゴシック" pitchFamily="-109" charset="-128"/>
                <a:sym typeface="Symbol" pitchFamily="-109" charset="2"/>
              </a:rPr>
              <a:t>0</a:t>
            </a:r>
            <a:r>
              <a:rPr lang="en-US" sz="2800" dirty="0">
                <a:latin typeface="+mn-lt"/>
                <a:ea typeface="ＭＳ Ｐゴシック" pitchFamily="-109" charset="-128"/>
                <a:sym typeface="Symbol" pitchFamily="-109" charset="2"/>
              </a:rPr>
              <a:t> is rejected, only the alternative hypothesis should remains (H</a:t>
            </a:r>
            <a:r>
              <a:rPr lang="en-US" sz="2800" baseline="-25000" dirty="0">
                <a:latin typeface="+mn-lt"/>
                <a:ea typeface="ＭＳ Ｐゴシック" pitchFamily="-109" charset="-128"/>
                <a:sym typeface="Symbol" pitchFamily="-109" charset="2"/>
              </a:rPr>
              <a:t>1</a:t>
            </a:r>
            <a:r>
              <a:rPr lang="en-US" sz="2800" dirty="0">
                <a:latin typeface="+mn-lt"/>
                <a:ea typeface="ＭＳ Ｐゴシック" pitchFamily="-109" charset="-128"/>
                <a:sym typeface="Symbol" pitchFamily="-109" charset="2"/>
              </a:rPr>
              <a:t>).</a:t>
            </a:r>
          </a:p>
          <a:p>
            <a:pPr marL="400050" lvl="1" indent="0">
              <a:spcBef>
                <a:spcPts val="1200"/>
              </a:spcBef>
              <a:buNone/>
            </a:pPr>
            <a:r>
              <a:rPr lang="en-US" sz="2800" b="1" dirty="0">
                <a:solidFill>
                  <a:schemeClr val="accent1"/>
                </a:solidFill>
                <a:latin typeface="+mn-lt"/>
                <a:ea typeface="ＭＳ Ｐゴシック" pitchFamily="-109" charset="-128"/>
                <a:sym typeface="Symbol" pitchFamily="-109" charset="2"/>
              </a:rPr>
              <a:t>H</a:t>
            </a:r>
            <a:r>
              <a:rPr lang="en-US" sz="2800" b="1" baseline="-25000" dirty="0">
                <a:solidFill>
                  <a:schemeClr val="accent1"/>
                </a:solidFill>
                <a:latin typeface="+mn-lt"/>
                <a:ea typeface="ＭＳ Ｐゴシック" pitchFamily="-109" charset="-128"/>
                <a:sym typeface="Symbol" pitchFamily="-109" charset="2"/>
              </a:rPr>
              <a:t>0</a:t>
            </a:r>
            <a:r>
              <a:rPr lang="en-US" sz="2800" b="1" dirty="0">
                <a:solidFill>
                  <a:schemeClr val="accent1"/>
                </a:solidFill>
                <a:latin typeface="+mn-lt"/>
                <a:ea typeface="ＭＳ Ｐゴシック" pitchFamily="-109" charset="-128"/>
                <a:sym typeface="Symbol" pitchFamily="-109" charset="2"/>
              </a:rPr>
              <a:t>: No effect</a:t>
            </a:r>
          </a:p>
          <a:p>
            <a:pPr marL="400050" lvl="1" indent="0">
              <a:spcBef>
                <a:spcPts val="0"/>
              </a:spcBef>
              <a:spcAft>
                <a:spcPts val="1200"/>
              </a:spcAft>
              <a:buNone/>
            </a:pPr>
            <a:r>
              <a:rPr lang="en-US" sz="2800" b="1" dirty="0">
                <a:solidFill>
                  <a:schemeClr val="accent1"/>
                </a:solidFill>
                <a:latin typeface="+mn-lt"/>
                <a:ea typeface="ＭＳ Ｐゴシック" pitchFamily="-109" charset="-128"/>
                <a:sym typeface="Symbol" pitchFamily="-109" charset="2"/>
              </a:rPr>
              <a:t>H</a:t>
            </a:r>
            <a:r>
              <a:rPr lang="en-US" sz="2800" b="1" baseline="-25000" dirty="0">
                <a:solidFill>
                  <a:schemeClr val="accent1"/>
                </a:solidFill>
                <a:latin typeface="+mn-lt"/>
                <a:ea typeface="ＭＳ Ｐゴシック" pitchFamily="-109" charset="-128"/>
                <a:sym typeface="Symbol" pitchFamily="-109" charset="2"/>
              </a:rPr>
              <a:t>1</a:t>
            </a:r>
            <a:r>
              <a:rPr lang="en-US" sz="2800" b="1" dirty="0">
                <a:solidFill>
                  <a:schemeClr val="accent1"/>
                </a:solidFill>
                <a:latin typeface="+mn-lt"/>
                <a:ea typeface="ＭＳ Ｐゴシック" pitchFamily="-109" charset="-128"/>
                <a:sym typeface="Symbol" pitchFamily="-109" charset="2"/>
              </a:rPr>
              <a:t>: An effect</a:t>
            </a:r>
          </a:p>
          <a:p>
            <a:pPr marL="0" indent="0" eaLnBrk="1" hangingPunct="1">
              <a:spcBef>
                <a:spcPts val="600"/>
              </a:spcBef>
              <a:spcAft>
                <a:spcPts val="1200"/>
              </a:spcAft>
              <a:buFont typeface="Wingdings" pitchFamily="-109" charset="2"/>
              <a:buNone/>
            </a:pPr>
            <a:r>
              <a:rPr lang="en-US" sz="2800" dirty="0">
                <a:latin typeface="+mn-lt"/>
                <a:ea typeface="ＭＳ Ｐゴシック" pitchFamily="-109" charset="-128"/>
                <a:sym typeface="Symbol" pitchFamily="-109" charset="2"/>
              </a:rPr>
              <a:t>That is, H</a:t>
            </a:r>
            <a:r>
              <a:rPr lang="en-US" sz="2800" baseline="-25000" dirty="0">
                <a:latin typeface="+mn-lt"/>
                <a:ea typeface="ＭＳ Ｐゴシック" pitchFamily="-109" charset="-128"/>
                <a:sym typeface="Symbol" pitchFamily="-109" charset="2"/>
              </a:rPr>
              <a:t>0</a:t>
            </a:r>
            <a:r>
              <a:rPr lang="en-US" sz="2800" dirty="0">
                <a:latin typeface="+mn-lt"/>
                <a:ea typeface="ＭＳ Ｐゴシック" pitchFamily="-109" charset="-128"/>
                <a:sym typeface="Symbol" pitchFamily="-109" charset="2"/>
              </a:rPr>
              <a:t> and H</a:t>
            </a:r>
            <a:r>
              <a:rPr lang="en-US" sz="2800" baseline="-25000" dirty="0">
                <a:latin typeface="+mn-lt"/>
                <a:ea typeface="ＭＳ Ｐゴシック" pitchFamily="-109" charset="-128"/>
                <a:sym typeface="Symbol" pitchFamily="-109" charset="2"/>
              </a:rPr>
              <a:t>1</a:t>
            </a:r>
            <a:r>
              <a:rPr lang="en-US" sz="2800" dirty="0">
                <a:latin typeface="+mn-lt"/>
                <a:ea typeface="ＭＳ Ｐゴシック" pitchFamily="-109" charset="-128"/>
                <a:sym typeface="Symbol" pitchFamily="-109" charset="2"/>
              </a:rPr>
              <a:t> should be formulated so that if one is false the other must be true.</a:t>
            </a:r>
          </a:p>
          <a:p>
            <a:pPr eaLnBrk="1" hangingPunct="1">
              <a:spcBef>
                <a:spcPts val="600"/>
              </a:spcBef>
              <a:spcAft>
                <a:spcPts val="1200"/>
              </a:spcAft>
              <a:buFont typeface="Wingdings" pitchFamily="-109" charset="2"/>
              <a:buNone/>
            </a:pPr>
            <a:endParaRPr lang="en-US" sz="2400" dirty="0">
              <a:ea typeface="ＭＳ Ｐゴシック" pitchFamily="-109" charset="-128"/>
            </a:endParaRPr>
          </a:p>
          <a:p>
            <a:pPr lvl="1">
              <a:spcBef>
                <a:spcPts val="600"/>
              </a:spcBef>
              <a:spcAft>
                <a:spcPts val="1200"/>
              </a:spcAft>
              <a:buNone/>
            </a:pPr>
            <a:r>
              <a:rPr lang="en-US" sz="2400" dirty="0">
                <a:ea typeface="ＭＳ Ｐゴシック" pitchFamily="-109" charset="-128"/>
                <a:sym typeface="Symbol" pitchFamily="-109" charset="2"/>
              </a:rPr>
              <a:t>		</a:t>
            </a:r>
            <a:endParaRPr lang="en-US" sz="2400" dirty="0">
              <a:ea typeface="ＭＳ Ｐゴシック" pitchFamily="-109" charset="-128"/>
            </a:endParaRPr>
          </a:p>
          <a:p>
            <a:endParaRPr lang="sv-SE" dirty="0"/>
          </a:p>
        </p:txBody>
      </p:sp>
      <p:sp>
        <p:nvSpPr>
          <p:cNvPr id="4" name="Platshållare för bildnumm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33</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990788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lnSpcReduction="10000"/>
          </a:bodyPr>
          <a:lstStyle/>
          <a:p>
            <a:pPr eaLnBrk="1" hangingPunct="1">
              <a:spcBef>
                <a:spcPts val="622"/>
              </a:spcBef>
              <a:spcAft>
                <a:spcPts val="622"/>
              </a:spcAft>
            </a:pPr>
            <a:r>
              <a:rPr lang="en-US" dirty="0">
                <a:ea typeface="ＭＳ Ｐゴシック" pitchFamily="-109" charset="-128"/>
                <a:sym typeface="Symbol" pitchFamily="-109" charset="2"/>
              </a:rPr>
              <a:t>An hypothesis is a statement about the population that can either be true or false.</a:t>
            </a:r>
          </a:p>
          <a:p>
            <a:pPr>
              <a:lnSpc>
                <a:spcPct val="110000"/>
              </a:lnSpc>
            </a:pPr>
            <a:r>
              <a:rPr lang="en-US" dirty="0"/>
              <a:t>The null hypothesis (H</a:t>
            </a:r>
            <a:r>
              <a:rPr lang="en-US" baseline="-25000" dirty="0"/>
              <a:t>0</a:t>
            </a:r>
            <a:r>
              <a:rPr lang="en-US" dirty="0"/>
              <a:t>):</a:t>
            </a:r>
          </a:p>
          <a:p>
            <a:pPr lvl="1">
              <a:lnSpc>
                <a:spcPct val="110000"/>
              </a:lnSpc>
            </a:pPr>
            <a:r>
              <a:rPr lang="en-US" dirty="0"/>
              <a:t>Is considered true until disproved </a:t>
            </a:r>
          </a:p>
          <a:p>
            <a:pPr lvl="1">
              <a:lnSpc>
                <a:spcPct val="110000"/>
              </a:lnSpc>
            </a:pPr>
            <a:r>
              <a:rPr lang="en-US" dirty="0"/>
              <a:t>Can never be proven</a:t>
            </a:r>
          </a:p>
          <a:p>
            <a:pPr lvl="1">
              <a:lnSpc>
                <a:spcPct val="110000"/>
              </a:lnSpc>
            </a:pPr>
            <a:r>
              <a:rPr lang="en-US" dirty="0"/>
              <a:t>Often cautiously formulated</a:t>
            </a:r>
          </a:p>
          <a:p>
            <a:pPr>
              <a:lnSpc>
                <a:spcPct val="110000"/>
              </a:lnSpc>
              <a:spcBef>
                <a:spcPts val="1865"/>
              </a:spcBef>
            </a:pPr>
            <a:r>
              <a:rPr lang="en-US" dirty="0"/>
              <a:t>The alternative hypothesis (H</a:t>
            </a:r>
            <a:r>
              <a:rPr lang="en-US" baseline="-25000" dirty="0"/>
              <a:t>1</a:t>
            </a:r>
            <a:r>
              <a:rPr lang="en-US" dirty="0"/>
              <a:t>):</a:t>
            </a:r>
          </a:p>
          <a:p>
            <a:pPr lvl="1">
              <a:lnSpc>
                <a:spcPct val="110000"/>
              </a:lnSpc>
            </a:pPr>
            <a:r>
              <a:rPr lang="en-US" dirty="0"/>
              <a:t>Includes </a:t>
            </a:r>
            <a:r>
              <a:rPr lang="en-US" u="sng" dirty="0"/>
              <a:t>everything </a:t>
            </a:r>
            <a:r>
              <a:rPr lang="en-US" dirty="0"/>
              <a:t>except the null hypothesis</a:t>
            </a:r>
          </a:p>
          <a:p>
            <a:pPr lvl="1">
              <a:lnSpc>
                <a:spcPct val="110000"/>
              </a:lnSpc>
            </a:pPr>
            <a:r>
              <a:rPr lang="en-US" dirty="0"/>
              <a:t>Is in other words, rather vaguely formulated</a:t>
            </a:r>
            <a:endParaRPr lang="sv-SE" dirty="0"/>
          </a:p>
          <a:p>
            <a:endParaRPr lang="sv-SE" dirty="0"/>
          </a:p>
          <a:p>
            <a:pPr>
              <a:lnSpc>
                <a:spcPct val="114000"/>
              </a:lnSpc>
              <a:spcBef>
                <a:spcPts val="622"/>
              </a:spcBef>
              <a:spcAft>
                <a:spcPts val="622"/>
              </a:spcAft>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significance level </a:t>
            </a:r>
            <a:r>
              <a:rPr lang="en-US" dirty="0">
                <a:latin typeface="Times New Roman" panose="02020603050405020304" pitchFamily="18" charset="0"/>
                <a:cs typeface="Times New Roman" panose="02020603050405020304" pitchFamily="18" charset="0"/>
              </a:rPr>
              <a:t>(</a:t>
            </a:r>
            <a:r>
              <a:rPr lang="el-GR" dirty="0">
                <a:latin typeface="Times New Roman" panose="02020603050405020304" pitchFamily="18" charset="0"/>
                <a:ea typeface="Cambria Math"/>
                <a:cs typeface="Times New Roman" panose="02020603050405020304" pitchFamily="18" charset="0"/>
              </a:rPr>
              <a:t>α</a:t>
            </a:r>
            <a:r>
              <a:rPr lang="en-US" dirty="0">
                <a:latin typeface="Times New Roman" panose="02020603050405020304" pitchFamily="18" charset="0"/>
                <a:ea typeface="Cambria Math"/>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should be chosen before any analyses are done.</a:t>
            </a:r>
          </a:p>
          <a:p>
            <a:pPr>
              <a:lnSpc>
                <a:spcPct val="114000"/>
              </a:lnSpc>
              <a:spcBef>
                <a:spcPts val="622"/>
              </a:spcBef>
              <a:spcAft>
                <a:spcPts val="1243"/>
              </a:spcAft>
            </a:pPr>
            <a:r>
              <a:rPr lang="en-US" dirty="0">
                <a:latin typeface="Times New Roman" panose="02020603050405020304" pitchFamily="18" charset="0"/>
                <a:cs typeface="Times New Roman" panose="02020603050405020304" pitchFamily="18" charset="0"/>
              </a:rPr>
              <a:t>It specifies the highest acceptable risk for erroneously rejecting H</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(i.e. making a type 1 error).</a:t>
            </a:r>
          </a:p>
          <a:p>
            <a:pPr>
              <a:lnSpc>
                <a:spcPct val="114000"/>
              </a:lnSpc>
              <a:spcBef>
                <a:spcPts val="622"/>
              </a:spcBef>
              <a:spcAft>
                <a:spcPts val="622"/>
              </a:spcAft>
            </a:pPr>
            <a:r>
              <a:rPr lang="en-US" dirty="0">
                <a:solidFill>
                  <a:schemeClr val="accent1"/>
                </a:solidFill>
                <a:latin typeface="Times New Roman" panose="02020603050405020304" pitchFamily="18" charset="0"/>
                <a:cs typeface="Times New Roman" panose="02020603050405020304" pitchFamily="18" charset="0"/>
              </a:rPr>
              <a:t>E.g. </a:t>
            </a:r>
            <a:r>
              <a:rPr lang="en-US" dirty="0">
                <a:latin typeface="Times New Roman" panose="02020603050405020304" pitchFamily="18" charset="0"/>
                <a:cs typeface="Times New Roman" panose="02020603050405020304" pitchFamily="18" charset="0"/>
              </a:rPr>
              <a:t>the significance level of a 95% CI is 0.05 (1-0.95) or 5%</a:t>
            </a:r>
          </a:p>
          <a:p>
            <a:pPr>
              <a:lnSpc>
                <a:spcPct val="114000"/>
              </a:lnSpc>
              <a:spcBef>
                <a:spcPts val="622"/>
              </a:spcBef>
              <a:spcAft>
                <a:spcPts val="622"/>
              </a:spcAft>
            </a:pPr>
            <a:r>
              <a:rPr lang="en-US" dirty="0">
                <a:latin typeface="Times New Roman" panose="02020603050405020304" pitchFamily="18" charset="0"/>
                <a:cs typeface="Times New Roman" panose="02020603050405020304" pitchFamily="18" charset="0"/>
              </a:rPr>
              <a:t>We accept that 5% of our CIs won't cover the true value, hence lead us the a wrongful conclusion.   </a:t>
            </a:r>
          </a:p>
          <a:p>
            <a:endParaRPr lang="sv-SE" dirty="0">
              <a:latin typeface="Times New Roman" panose="02020603050405020304" pitchFamily="18" charset="0"/>
              <a:cs typeface="Times New Roman" panose="02020603050405020304" pitchFamily="18" charset="0"/>
            </a:endParaRPr>
          </a:p>
        </p:txBody>
      </p:sp>
      <p:sp>
        <p:nvSpPr>
          <p:cNvPr id="4" name="Platshållare för bildnumm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34</a:t>
            </a:fld>
            <a:endParaRPr lang="sv-SE" dirty="0">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674412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a:xfrm>
            <a:off x="958850" y="1071563"/>
            <a:ext cx="5148263" cy="2895600"/>
          </a:xfrm>
        </p:spPr>
      </p:sp>
      <p:sp>
        <p:nvSpPr>
          <p:cNvPr id="3" name="Platshållare för anteckningar 2"/>
          <p:cNvSpPr>
            <a:spLocks noGrp="1"/>
          </p:cNvSpPr>
          <p:nvPr>
            <p:ph type="body" idx="1"/>
          </p:nvPr>
        </p:nvSpPr>
        <p:spPr/>
        <p:txBody>
          <a:bodyPr>
            <a:normAutofit fontScale="77500" lnSpcReduction="20000"/>
          </a:bodyPr>
          <a:lstStyle/>
          <a:p>
            <a:pPr defTabSz="473677"/>
            <a:r>
              <a:rPr lang="en-US" dirty="0"/>
              <a:t>When you have formulated your hypotheses, you might want to test them. </a:t>
            </a:r>
          </a:p>
          <a:p>
            <a:endParaRPr lang="sv-SE" dirty="0"/>
          </a:p>
          <a:p>
            <a:pPr marL="1645" lvl="1">
              <a:lnSpc>
                <a:spcPct val="110000"/>
              </a:lnSpc>
              <a:spcAft>
                <a:spcPts val="622"/>
              </a:spcAft>
            </a:pPr>
            <a:r>
              <a:rPr lang="en-US" sz="2300" dirty="0"/>
              <a:t>Choice of </a:t>
            </a:r>
            <a:r>
              <a:rPr lang="en-US" sz="2300" b="1" dirty="0">
                <a:solidFill>
                  <a:srgbClr val="002060"/>
                </a:solidFill>
              </a:rPr>
              <a:t>statistical test</a:t>
            </a:r>
            <a:r>
              <a:rPr lang="en-US" sz="2300" dirty="0"/>
              <a:t> depends on the </a:t>
            </a:r>
            <a:r>
              <a:rPr lang="en-US" sz="2300" b="1" dirty="0">
                <a:solidFill>
                  <a:srgbClr val="002060"/>
                </a:solidFill>
              </a:rPr>
              <a:t>type of variable </a:t>
            </a:r>
            <a:r>
              <a:rPr lang="en-US" sz="2300" dirty="0"/>
              <a:t>(quantitative, qualitative) and the </a:t>
            </a:r>
            <a:r>
              <a:rPr lang="en-US" sz="2300" b="1" dirty="0">
                <a:solidFill>
                  <a:srgbClr val="002060"/>
                </a:solidFill>
              </a:rPr>
              <a:t>distribution</a:t>
            </a:r>
            <a:r>
              <a:rPr lang="en-US" sz="2300" dirty="0"/>
              <a:t> of the variable</a:t>
            </a:r>
          </a:p>
          <a:p>
            <a:pPr marL="356902" lvl="1" indent="-355258">
              <a:lnSpc>
                <a:spcPct val="110000"/>
              </a:lnSpc>
              <a:spcAft>
                <a:spcPts val="622"/>
              </a:spcAft>
              <a:buFont typeface="Arial" panose="020B0604020202020204" pitchFamily="34" charset="0"/>
              <a:buChar char="•"/>
            </a:pPr>
            <a:r>
              <a:rPr lang="en-US" sz="2300" b="1" dirty="0">
                <a:solidFill>
                  <a:srgbClr val="0070C0"/>
                </a:solidFill>
              </a:rPr>
              <a:t>Parametric tests</a:t>
            </a:r>
            <a:r>
              <a:rPr lang="en-US" sz="2300" dirty="0"/>
              <a:t>: the variable is, for ex, normally distributed; mean and standard deviation are parameters  </a:t>
            </a:r>
          </a:p>
          <a:p>
            <a:pPr marL="771370" lvl="2" indent="-355258">
              <a:lnSpc>
                <a:spcPct val="110000"/>
              </a:lnSpc>
              <a:spcAft>
                <a:spcPts val="622"/>
              </a:spcAft>
            </a:pPr>
            <a:r>
              <a:rPr lang="en-US" sz="2100" dirty="0"/>
              <a:t>You test assumptions about the parameters at population level (ex: mean)</a:t>
            </a:r>
          </a:p>
          <a:p>
            <a:pPr marL="356902" lvl="1" indent="-355258">
              <a:lnSpc>
                <a:spcPct val="110000"/>
              </a:lnSpc>
              <a:spcAft>
                <a:spcPts val="622"/>
              </a:spcAft>
              <a:buFont typeface="Arial" panose="020B0604020202020204" pitchFamily="34" charset="0"/>
              <a:buChar char="•"/>
            </a:pPr>
            <a:r>
              <a:rPr lang="en-US" sz="2300" b="1" dirty="0"/>
              <a:t> </a:t>
            </a:r>
            <a:r>
              <a:rPr lang="en-US" sz="2300" b="1" dirty="0">
                <a:solidFill>
                  <a:srgbClr val="0070C0"/>
                </a:solidFill>
              </a:rPr>
              <a:t>Non-parametric tests</a:t>
            </a:r>
            <a:r>
              <a:rPr lang="en-US" sz="2300" dirty="0"/>
              <a:t>: you don’t know (can’t assume) any distribution for the variable</a:t>
            </a:r>
          </a:p>
          <a:p>
            <a:pPr marL="771370" lvl="2" indent="-355258">
              <a:lnSpc>
                <a:spcPct val="110000"/>
              </a:lnSpc>
              <a:spcAft>
                <a:spcPts val="622"/>
              </a:spcAft>
            </a:pPr>
            <a:r>
              <a:rPr lang="en-US" sz="2100" dirty="0"/>
              <a:t>You test assumptions about the population independent of any distribution (ex: median) </a:t>
            </a:r>
          </a:p>
          <a:p>
            <a:endParaRPr lang="sv-SE" dirty="0"/>
          </a:p>
        </p:txBody>
      </p:sp>
      <p:sp>
        <p:nvSpPr>
          <p:cNvPr id="4" name="Platshållare för bildnummer 3"/>
          <p:cNvSpPr>
            <a:spLocks noGrp="1"/>
          </p:cNvSpPr>
          <p:nvPr>
            <p:ph type="sldNum" sz="quarter" idx="10"/>
          </p:nvPr>
        </p:nvSpPr>
        <p:spPr/>
        <p:txBody>
          <a:bodyPr/>
          <a:lstStyle/>
          <a:p>
            <a:fld id="{4408995C-B3E1-4E2E-8CD0-73E72B7C4CFD}" type="slidenum">
              <a:rPr lang="sv-SE" smtClean="0">
                <a:solidFill>
                  <a:prstClr val="black"/>
                </a:solidFill>
              </a:rPr>
              <a:pPr/>
              <a:t>35</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6758778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dirty="0"/>
              <a:t>A sampling distribution</a:t>
            </a:r>
            <a:r>
              <a:rPr lang="sv-SE" baseline="0" dirty="0"/>
              <a:t> is the </a:t>
            </a:r>
            <a:r>
              <a:rPr lang="sv-SE" baseline="0" dirty="0" err="1"/>
              <a:t>frequency</a:t>
            </a:r>
            <a:r>
              <a:rPr lang="sv-SE" baseline="0" dirty="0"/>
              <a:t> distribution </a:t>
            </a:r>
            <a:r>
              <a:rPr lang="sv-SE" baseline="0" dirty="0" err="1"/>
              <a:t>of</a:t>
            </a:r>
            <a:r>
              <a:rPr lang="sv-SE" baseline="0" dirty="0"/>
              <a:t> the </a:t>
            </a:r>
            <a:r>
              <a:rPr lang="sv-SE" baseline="0" dirty="0" err="1"/>
              <a:t>sample</a:t>
            </a:r>
            <a:r>
              <a:rPr lang="sv-SE" baseline="0" dirty="0"/>
              <a:t> </a:t>
            </a:r>
            <a:r>
              <a:rPr lang="sv-SE" baseline="0" dirty="0" err="1"/>
              <a:t>statistics</a:t>
            </a:r>
            <a:r>
              <a:rPr lang="sv-SE" baseline="0" dirty="0"/>
              <a:t>.</a:t>
            </a:r>
          </a:p>
          <a:p>
            <a:r>
              <a:rPr lang="sv-SE" baseline="0" dirty="0"/>
              <a:t>The standard </a:t>
            </a:r>
            <a:r>
              <a:rPr lang="sv-SE" baseline="0" dirty="0" err="1"/>
              <a:t>error</a:t>
            </a:r>
            <a:r>
              <a:rPr lang="sv-SE" baseline="0" dirty="0"/>
              <a:t> </a:t>
            </a:r>
            <a:r>
              <a:rPr lang="sv-SE" baseline="0" dirty="0" err="1"/>
              <a:t>of</a:t>
            </a:r>
            <a:r>
              <a:rPr lang="sv-SE" baseline="0" dirty="0"/>
              <a:t> the </a:t>
            </a:r>
            <a:r>
              <a:rPr lang="sv-SE" baseline="0" dirty="0" err="1"/>
              <a:t>mean</a:t>
            </a:r>
            <a:r>
              <a:rPr lang="sv-SE" baseline="0" dirty="0"/>
              <a:t> is the standard deviation </a:t>
            </a:r>
            <a:r>
              <a:rPr lang="sv-SE" baseline="0" dirty="0" err="1"/>
              <a:t>of</a:t>
            </a:r>
            <a:r>
              <a:rPr lang="sv-SE" baseline="0" dirty="0"/>
              <a:t> </a:t>
            </a:r>
            <a:r>
              <a:rPr lang="sv-SE" baseline="0" dirty="0" err="1"/>
              <a:t>sample</a:t>
            </a:r>
            <a:r>
              <a:rPr lang="sv-SE" baseline="0" dirty="0"/>
              <a:t> </a:t>
            </a:r>
            <a:r>
              <a:rPr lang="sv-SE" baseline="0" dirty="0" err="1"/>
              <a:t>means</a:t>
            </a:r>
            <a:r>
              <a:rPr lang="sv-SE" baseline="0" dirty="0"/>
              <a:t>. It is a </a:t>
            </a:r>
            <a:r>
              <a:rPr lang="sv-SE" baseline="0" dirty="0" err="1"/>
              <a:t>measure</a:t>
            </a:r>
            <a:r>
              <a:rPr lang="sv-SE" baseline="0" dirty="0"/>
              <a:t> </a:t>
            </a:r>
            <a:r>
              <a:rPr lang="sv-SE" baseline="0" dirty="0" err="1"/>
              <a:t>of</a:t>
            </a:r>
            <a:r>
              <a:rPr lang="sv-SE" baseline="0" dirty="0"/>
              <a:t> </a:t>
            </a:r>
            <a:r>
              <a:rPr lang="sv-SE" baseline="0" dirty="0" err="1"/>
              <a:t>how</a:t>
            </a:r>
            <a:r>
              <a:rPr lang="sv-SE" baseline="0" dirty="0"/>
              <a:t> representative a </a:t>
            </a:r>
            <a:r>
              <a:rPr lang="sv-SE" baseline="0" dirty="0" err="1"/>
              <a:t>sample</a:t>
            </a:r>
            <a:r>
              <a:rPr lang="sv-SE" baseline="0" dirty="0"/>
              <a:t> </a:t>
            </a:r>
            <a:r>
              <a:rPr lang="sv-SE" baseline="0" dirty="0" err="1"/>
              <a:t>mean</a:t>
            </a:r>
            <a:r>
              <a:rPr lang="sv-SE" baseline="0" dirty="0"/>
              <a:t> is </a:t>
            </a:r>
            <a:r>
              <a:rPr lang="sv-SE" baseline="0" dirty="0" err="1"/>
              <a:t>likely</a:t>
            </a:r>
            <a:r>
              <a:rPr lang="sv-SE" baseline="0" dirty="0"/>
              <a:t> to be </a:t>
            </a:r>
            <a:r>
              <a:rPr lang="sv-SE" baseline="0" dirty="0" err="1"/>
              <a:t>of</a:t>
            </a:r>
            <a:r>
              <a:rPr lang="sv-SE" baseline="0" dirty="0"/>
              <a:t> the population </a:t>
            </a:r>
            <a:r>
              <a:rPr lang="sv-SE" baseline="0" dirty="0" err="1"/>
              <a:t>mean</a:t>
            </a:r>
            <a:r>
              <a:rPr lang="sv-SE" baseline="0" dirty="0"/>
              <a:t>.</a:t>
            </a:r>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36</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3834422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GB" b="1" dirty="0"/>
              <a:t>Which is the correct statistical test to use? </a:t>
            </a:r>
            <a:r>
              <a:rPr lang="en-GB" dirty="0"/>
              <a:t>By Evie </a:t>
            </a:r>
            <a:r>
              <a:rPr lang="en-GB" dirty="0" err="1"/>
              <a:t>McCrum</a:t>
            </a:r>
            <a:r>
              <a:rPr lang="en-GB" dirty="0"/>
              <a:t>-Gardner</a:t>
            </a:r>
          </a:p>
          <a:p>
            <a:r>
              <a:rPr lang="en-GB" dirty="0"/>
              <a:t>British Journal of Oral and Maxillofacial Surgery 46 (2008) 38–41</a:t>
            </a:r>
            <a:endParaRPr lang="sv-SE" dirty="0"/>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37</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5002732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fontScale="85000" lnSpcReduction="20000"/>
          </a:bodyPr>
          <a:lstStyle/>
          <a:p>
            <a:r>
              <a:rPr lang="en-US" b="1" dirty="0">
                <a:effectLst/>
              </a:rPr>
              <a:t>The central limit theorem says that if we repeatedly take infinitely large sample from a population, the mean values ​​of these samples will ALWAYS be normally distributed</a:t>
            </a:r>
            <a:r>
              <a:rPr lang="en-US" dirty="0">
                <a:effectLst/>
              </a:rPr>
              <a:t>, regardless of how</a:t>
            </a:r>
            <a:r>
              <a:rPr lang="en-US" baseline="0" dirty="0">
                <a:effectLst/>
              </a:rPr>
              <a:t> </a:t>
            </a:r>
            <a:r>
              <a:rPr lang="en-US" dirty="0">
                <a:effectLst/>
              </a:rPr>
              <a:t>the original variable's distribution looks like. Since we rarely have infinitely large sample, we can be happy that this rule</a:t>
            </a:r>
            <a:r>
              <a:rPr lang="en-US" baseline="0" dirty="0">
                <a:effectLst/>
              </a:rPr>
              <a:t> </a:t>
            </a:r>
            <a:r>
              <a:rPr lang="en-US" dirty="0">
                <a:effectLst/>
              </a:rPr>
              <a:t>applies approximately long before: even for a sample of 30-50 observations, it becomes reasonable to assume normal distribution given that the variable’s distribution is not very far from the normal distribution. In the example of oxygen uptake, we had a sample of 397 individuals - it means that our statistical model is reasonable if the oxygen uptake doesn´t</a:t>
            </a:r>
            <a:r>
              <a:rPr lang="en-US" baseline="0" dirty="0">
                <a:effectLst/>
              </a:rPr>
              <a:t> have</a:t>
            </a:r>
            <a:r>
              <a:rPr lang="en-US" dirty="0">
                <a:effectLst/>
              </a:rPr>
              <a:t> a very skewed distribution. It</a:t>
            </a:r>
            <a:r>
              <a:rPr lang="en-US" baseline="0" dirty="0">
                <a:effectLst/>
              </a:rPr>
              <a:t> is hard to say where exactly</a:t>
            </a:r>
            <a:r>
              <a:rPr lang="en-US" dirty="0">
                <a:effectLst/>
              </a:rPr>
              <a:t> the line between how 'normally distributed' a sample needs to be and how large the sample size needs to be in order to apply the central limit theorem. In determining this, it is always good to draw a histogram of the data no matter how large the sample is; if nothing else, it will help you detect</a:t>
            </a:r>
            <a:r>
              <a:rPr lang="en-US" baseline="0" dirty="0">
                <a:effectLst/>
              </a:rPr>
              <a:t> </a:t>
            </a:r>
            <a:r>
              <a:rPr lang="en-US" dirty="0">
                <a:effectLst/>
              </a:rPr>
              <a:t>the existence of outliers and other errors (incorrectly entered data items, for example). If the study is very small, say n &lt;20, it is necessary to know in advance that the variable you are interested in is normally distributed based on previous data (for example,</a:t>
            </a:r>
            <a:r>
              <a:rPr lang="en-US" baseline="0" dirty="0">
                <a:effectLst/>
              </a:rPr>
              <a:t> from published studies)</a:t>
            </a:r>
            <a:r>
              <a:rPr lang="en-US" dirty="0">
                <a:effectLst/>
              </a:rPr>
              <a:t>. At a sample</a:t>
            </a:r>
            <a:r>
              <a:rPr lang="en-US" baseline="0" dirty="0">
                <a:effectLst/>
              </a:rPr>
              <a:t> size of </a:t>
            </a:r>
            <a:r>
              <a:rPr lang="en-US" dirty="0">
                <a:effectLst/>
              </a:rPr>
              <a:t>20-50 observations, it is possible to use the normal distribution if the data is reasonably symmetrical. If the data have a skewed distribution, larger sample sizes are needed, see later examples. One may also consider transforming skewed data so that they become more symmetrical prior to analysis. This could be done</a:t>
            </a:r>
            <a:r>
              <a:rPr lang="en-US" baseline="0" dirty="0">
                <a:effectLst/>
              </a:rPr>
              <a:t> by applying mathematical transformations to the data points, for example.</a:t>
            </a:r>
            <a:endParaRPr lang="sv-SE" dirty="0"/>
          </a:p>
          <a:p>
            <a:endParaRPr lang="sv-SE" dirty="0"/>
          </a:p>
          <a:p>
            <a:r>
              <a:rPr lang="sv-SE" dirty="0"/>
              <a:t>Centrala gränsvärdessatsen</a:t>
            </a:r>
            <a:r>
              <a:rPr lang="sv-SE" baseline="0" dirty="0"/>
              <a:t> säger att om vi upprepade gånger tar oändligt stora stickprov från en population kommer medelvärdena av dessa ALLTID vara normalfördelade, oavsett hur variabelns fördelning ser ut. Eftersom vi sällan har oändligt stora stickprov så kan vi vara glada över att detta gäller approximativt långt innan – redan vid ett stickprov på 30-50 börjar det blir rimligt att anta normalfördelning förutsatt att variabelns fördelning inte är väldigt långt från normalfördelningen. I exemplet med syreupptagningsförmågan hade vi ett stickprov på 397 individer – det betyder att vår statistiska modell är rimlig om inte syreupptagningsförmåga hade en väldigt skev fördelning. Var gränsen går i balansen mellan hur ’normalfördelat’ ett stickprov behöver vara och hur stor stickprovsstorlek som behövs för att tillämpa centrala gränsvärdessatsen går inte att säga rakt av. När man skall avgöra detta är det alltid bra att rita upp ett histogram på materialet oavsett hur stort stickprov man har – om inte annat än för att det finns andra fel (felaktigt inmatade data ex) man kan upptäcka. Om undersökningen är mycket liten, n&lt;20 så krävs det att man på förhand känner till att variabeln man är intresserad av är normalfördelad. Vid 20-50 brukar det normalt sett gå att använda normalfördelningen om data bara är någorlunda symmetrisk. Om data har en sned fördelning kan större stickprovsstorlekar behövas, se senare exempel. Man kan också överväga att transformera skeva data så att de blir mer symmetriska innan analysen.</a:t>
            </a:r>
            <a:endParaRPr lang="sv-SE" dirty="0"/>
          </a:p>
        </p:txBody>
      </p:sp>
      <p:sp>
        <p:nvSpPr>
          <p:cNvPr id="4" name="Platshållare för bildnummer 3"/>
          <p:cNvSpPr>
            <a:spLocks noGrp="1"/>
          </p:cNvSpPr>
          <p:nvPr>
            <p:ph type="sldNum" sz="quarter" idx="10"/>
          </p:nvPr>
        </p:nvSpPr>
        <p:spPr/>
        <p:txBody>
          <a:bodyPr/>
          <a:lstStyle/>
          <a:p>
            <a:fld id="{473083DE-3344-4679-AD0C-FFA5B7FA7A5E}" type="slidenum">
              <a:rPr lang="sv-SE" smtClean="0"/>
              <a:t>38</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506238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spcBef>
                <a:spcPts val="300"/>
              </a:spcBef>
              <a:spcAft>
                <a:spcPts val="600"/>
              </a:spcAft>
            </a:pPr>
            <a:r>
              <a:rPr lang="en-US" dirty="0"/>
              <a:t>There are typically three situations in medical research that give rise </a:t>
            </a:r>
            <a:r>
              <a:rPr lang="en-US" b="1" dirty="0"/>
              <a:t>to paired observations</a:t>
            </a:r>
            <a:r>
              <a:rPr lang="en-US" dirty="0"/>
              <a:t>:</a:t>
            </a:r>
          </a:p>
          <a:p>
            <a:pPr marL="514288" indent="-514288">
              <a:spcBef>
                <a:spcPts val="300"/>
              </a:spcBef>
              <a:spcAft>
                <a:spcPts val="600"/>
              </a:spcAft>
              <a:buFont typeface="+mj-lt"/>
              <a:buAutoNum type="arabicPeriod"/>
            </a:pPr>
            <a:r>
              <a:rPr lang="en-US" dirty="0"/>
              <a:t>Comparing two different variables on the patient, e.g. comparing creatinine levels in blood and in urine.</a:t>
            </a:r>
          </a:p>
          <a:p>
            <a:pPr marL="514288" indent="-514288">
              <a:spcBef>
                <a:spcPts val="300"/>
              </a:spcBef>
              <a:spcAft>
                <a:spcPts val="600"/>
              </a:spcAft>
              <a:buFont typeface="+mj-lt"/>
              <a:buAutoNum type="arabicPeriod"/>
            </a:pPr>
            <a:r>
              <a:rPr lang="en-US" dirty="0"/>
              <a:t>Comparing measurements taken on the same patient , but at two different time points, e.g. before and after intake of medicine. </a:t>
            </a:r>
          </a:p>
          <a:p>
            <a:pPr marL="514288" indent="-514288">
              <a:spcBef>
                <a:spcPts val="300"/>
              </a:spcBef>
              <a:spcAft>
                <a:spcPts val="600"/>
              </a:spcAft>
              <a:buFont typeface="+mj-lt"/>
              <a:buAutoNum type="arabicPeriod"/>
            </a:pPr>
            <a:r>
              <a:rPr lang="en-US" dirty="0"/>
              <a:t>Matched case-control studies, in which for every treated patient, we try to find a non-treated person with similar observable characteristics against whom the effect of the treatment can be assessed. </a:t>
            </a:r>
          </a:p>
          <a:p>
            <a:pPr>
              <a:spcBef>
                <a:spcPts val="300"/>
              </a:spcBef>
              <a:spcAft>
                <a:spcPts val="600"/>
              </a:spcAft>
            </a:pPr>
            <a:r>
              <a:rPr lang="en-US" dirty="0"/>
              <a:t>In all these cases, there will be a </a:t>
            </a:r>
            <a:r>
              <a:rPr lang="en-US" i="1" dirty="0"/>
              <a:t>dependence</a:t>
            </a:r>
            <a:r>
              <a:rPr lang="en-US" dirty="0"/>
              <a:t> between observations in the different groups.</a:t>
            </a:r>
          </a:p>
        </p:txBody>
      </p:sp>
      <p:sp>
        <p:nvSpPr>
          <p:cNvPr id="4" name="Slide Number Placeholder 3"/>
          <p:cNvSpPr>
            <a:spLocks noGrp="1"/>
          </p:cNvSpPr>
          <p:nvPr>
            <p:ph type="sldNum" sz="quarter" idx="10"/>
          </p:nvPr>
        </p:nvSpPr>
        <p:spPr/>
        <p:txBody>
          <a:bodyPr/>
          <a:lstStyle/>
          <a:p>
            <a:fld id="{4408995C-B3E1-4E2E-8CD0-73E72B7C4CFD}" type="slidenum">
              <a:rPr lang="sv-SE" smtClean="0">
                <a:solidFill>
                  <a:prstClr val="black"/>
                </a:solidFill>
              </a:rPr>
              <a:pPr/>
              <a:t>39</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6013711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408995C-B3E1-4E2E-8CD0-73E72B7C4CFD}" type="slidenum">
              <a:rPr lang="sv-SE" smtClean="0">
                <a:solidFill>
                  <a:prstClr val="black"/>
                </a:solidFill>
              </a:rPr>
              <a:pPr/>
              <a:t>40</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8162873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dirty="0"/>
              <a:t>maximal oxygen </a:t>
            </a:r>
            <a:r>
              <a:rPr lang="sv-SE" dirty="0" err="1"/>
              <a:t>uptake</a:t>
            </a:r>
            <a:r>
              <a:rPr lang="sv-SE" dirty="0"/>
              <a:t> (VO2 max) is a </a:t>
            </a:r>
            <a:r>
              <a:rPr lang="sv-SE" dirty="0" err="1"/>
              <a:t>quantitative</a:t>
            </a:r>
            <a:r>
              <a:rPr lang="sv-SE" dirty="0"/>
              <a:t> (</a:t>
            </a:r>
            <a:r>
              <a:rPr lang="sv-SE" dirty="0" err="1"/>
              <a:t>continous</a:t>
            </a:r>
            <a:r>
              <a:rPr lang="sv-SE" dirty="0"/>
              <a:t>) </a:t>
            </a:r>
            <a:r>
              <a:rPr lang="sv-SE" dirty="0" err="1"/>
              <a:t>variable</a:t>
            </a:r>
            <a:r>
              <a:rPr lang="sv-SE" dirty="0"/>
              <a:t>.</a:t>
            </a:r>
          </a:p>
          <a:p>
            <a:r>
              <a:rPr lang="sv-SE" dirty="0"/>
              <a:t>Draw a histogram. </a:t>
            </a:r>
            <a:r>
              <a:rPr lang="sv-SE" dirty="0" err="1"/>
              <a:t>Are</a:t>
            </a:r>
            <a:r>
              <a:rPr lang="sv-SE" dirty="0"/>
              <a:t> histograms </a:t>
            </a:r>
            <a:r>
              <a:rPr lang="sv-SE" dirty="0" err="1"/>
              <a:t>aproximately</a:t>
            </a:r>
            <a:r>
              <a:rPr lang="sv-SE" dirty="0"/>
              <a:t> </a:t>
            </a:r>
            <a:r>
              <a:rPr lang="sv-SE" dirty="0" err="1"/>
              <a:t>symmetric</a:t>
            </a:r>
            <a:r>
              <a:rPr lang="sv-SE" dirty="0"/>
              <a:t>?</a:t>
            </a:r>
          </a:p>
        </p:txBody>
      </p:sp>
      <p:sp>
        <p:nvSpPr>
          <p:cNvPr id="4" name="Platshållare för bildnummer 3"/>
          <p:cNvSpPr>
            <a:spLocks noGrp="1"/>
          </p:cNvSpPr>
          <p:nvPr>
            <p:ph type="sldNum" sz="quarter" idx="10"/>
          </p:nvPr>
        </p:nvSpPr>
        <p:spPr/>
        <p:txBody>
          <a:bodyPr/>
          <a:lstStyle/>
          <a:p>
            <a:fld id="{4408995C-B3E1-4E2E-8CD0-73E72B7C4CFD}" type="slidenum">
              <a:rPr lang="sv-SE" smtClean="0">
                <a:solidFill>
                  <a:prstClr val="black"/>
                </a:solidFill>
              </a:rPr>
              <a:pPr/>
              <a:t>41</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9027937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r>
              <a:rPr lang="en-US" dirty="0"/>
              <a:t>This is a guide to choose which statistical test to use to answer an specific research question.</a:t>
            </a:r>
          </a:p>
          <a:p>
            <a:endParaRPr lang="en-US" dirty="0"/>
          </a:p>
          <a:p>
            <a:r>
              <a:rPr lang="en-US" dirty="0"/>
              <a:t>Discovering Statistics Using IBM SPSS Statistics</a:t>
            </a:r>
          </a:p>
          <a:p>
            <a:r>
              <a:rPr lang="en-US" dirty="0"/>
              <a:t>5</a:t>
            </a:r>
            <a:r>
              <a:rPr lang="en-US" baseline="30000" dirty="0"/>
              <a:t>th</a:t>
            </a:r>
            <a:r>
              <a:rPr lang="en-US" dirty="0"/>
              <a:t> Edition page: 1072</a:t>
            </a:r>
          </a:p>
          <a:p>
            <a:r>
              <a:rPr lang="en-US" dirty="0"/>
              <a:t>ISBN-13:978-1-5264-1952-1</a:t>
            </a:r>
          </a:p>
          <a:p>
            <a:endParaRPr lang="en-US" dirty="0"/>
          </a:p>
          <a:p>
            <a:r>
              <a:rPr lang="en-US" dirty="0"/>
              <a:t>How to select the correct statistical test for a research project. clinical trial. or other investigation. The first step is to decide in what scale of measurement your data are as this will affect your decision—nominal. ordinal. or interval. </a:t>
            </a:r>
          </a:p>
          <a:p>
            <a:r>
              <a:rPr lang="en-US" dirty="0"/>
              <a:t>The next stage is to consider the purpose of the analysis—for example. are you comparing independent or paired groups? </a:t>
            </a:r>
          </a:p>
          <a:p>
            <a:endParaRPr lang="en-US" dirty="0"/>
          </a:p>
          <a:p>
            <a:r>
              <a:rPr lang="en-US" sz="1500" dirty="0"/>
              <a:t>If an incorrect test is used. then invalid results and misleading conclusions may be drawn from the study.</a:t>
            </a:r>
          </a:p>
          <a:p>
            <a:br>
              <a:rPr lang="en-US" sz="1500" dirty="0"/>
            </a:br>
            <a:r>
              <a:rPr lang="en-US" sz="1700" dirty="0"/>
              <a:t>Scale of measurements; Parametric Assumption; Paired or un-paired data; </a:t>
            </a:r>
            <a:endParaRPr lang="en-US" sz="1500" dirty="0"/>
          </a:p>
          <a:p>
            <a:endParaRPr lang="en-US" dirty="0"/>
          </a:p>
        </p:txBody>
      </p:sp>
      <p:sp>
        <p:nvSpPr>
          <p:cNvPr id="4" name="Platshållare för bildnummer 3"/>
          <p:cNvSpPr>
            <a:spLocks noGrp="1"/>
          </p:cNvSpPr>
          <p:nvPr>
            <p:ph type="sldNum" sz="quarter" idx="10"/>
          </p:nvPr>
        </p:nvSpPr>
        <p:spPr/>
        <p:txBody>
          <a:bodyPr/>
          <a:lstStyle/>
          <a:p>
            <a:pPr>
              <a:defRPr/>
            </a:pPr>
            <a:fld id="{E2296650-2E2C-4972-BF52-9F62FD96D473}" type="slidenum">
              <a:rPr lang="sv-SE" smtClean="0"/>
              <a:pPr>
                <a:defRPr/>
              </a:pPr>
              <a:t>42</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9145109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4408995C-B3E1-4E2E-8CD0-73E72B7C4CFD}" type="slidenum">
              <a:rPr lang="sv-SE" smtClean="0">
                <a:solidFill>
                  <a:prstClr val="black"/>
                </a:solidFill>
              </a:rPr>
              <a:pPr/>
              <a:t>43</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0576924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Platshållare för bildobjekt 1"/>
          <p:cNvSpPr>
            <a:spLocks noGrp="1" noRot="1" noChangeAspect="1" noTextEdit="1"/>
          </p:cNvSpPr>
          <p:nvPr>
            <p:ph type="sldImg"/>
          </p:nvPr>
        </p:nvSpPr>
        <p:spPr bwMode="auto">
          <a:xfrm>
            <a:off x="958850" y="1071563"/>
            <a:ext cx="5148263" cy="28956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Platshållare för anteckninga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fontAlgn="auto">
              <a:lnSpc>
                <a:spcPct val="80000"/>
              </a:lnSpc>
              <a:spcAft>
                <a:spcPts val="600"/>
              </a:spcAft>
              <a:defRPr/>
            </a:pPr>
            <a:r>
              <a:rPr lang="en-US" dirty="0">
                <a:latin typeface="Calibri" panose="020F0502020204030204" pitchFamily="34" charset="0"/>
              </a:rPr>
              <a:t>Reject the null hypothesis		Potential </a:t>
            </a:r>
            <a:r>
              <a:rPr lang="en-US" b="1" dirty="0">
                <a:latin typeface="Calibri" panose="020F0502020204030204" pitchFamily="34" charset="0"/>
              </a:rPr>
              <a:t>Type I error</a:t>
            </a:r>
            <a:r>
              <a:rPr lang="en-US" dirty="0">
                <a:latin typeface="Calibri" panose="020F0502020204030204" pitchFamily="34" charset="0"/>
              </a:rPr>
              <a:t>: rejection of true H</a:t>
            </a:r>
            <a:r>
              <a:rPr lang="en-US" baseline="-25000" dirty="0">
                <a:latin typeface="Calibri" panose="020F0502020204030204" pitchFamily="34" charset="0"/>
              </a:rPr>
              <a:t>0</a:t>
            </a:r>
            <a:endParaRPr lang="en-US" dirty="0">
              <a:latin typeface="Calibri" panose="020F0502020204030204" pitchFamily="34" charset="0"/>
            </a:endParaRPr>
          </a:p>
          <a:p>
            <a:pPr fontAlgn="auto">
              <a:lnSpc>
                <a:spcPct val="80000"/>
              </a:lnSpc>
              <a:spcBef>
                <a:spcPts val="0"/>
              </a:spcBef>
              <a:spcAft>
                <a:spcPts val="0"/>
              </a:spcAft>
              <a:defRPr/>
            </a:pPr>
            <a:r>
              <a:rPr lang="sv-SE" dirty="0" err="1">
                <a:latin typeface="Calibri" panose="020F0502020204030204" pitchFamily="34" charset="0"/>
              </a:rPr>
              <a:t>We</a:t>
            </a:r>
            <a:r>
              <a:rPr lang="sv-SE" dirty="0">
                <a:latin typeface="Calibri" panose="020F0502020204030204" pitchFamily="34" charset="0"/>
              </a:rPr>
              <a:t> </a:t>
            </a:r>
            <a:r>
              <a:rPr lang="sv-SE" dirty="0" err="1">
                <a:latin typeface="Calibri" panose="020F0502020204030204" pitchFamily="34" charset="0"/>
              </a:rPr>
              <a:t>believe</a:t>
            </a:r>
            <a:r>
              <a:rPr lang="sv-SE" dirty="0">
                <a:latin typeface="Calibri" panose="020F0502020204030204" pitchFamily="34" charset="0"/>
              </a:rPr>
              <a:t> </a:t>
            </a:r>
            <a:r>
              <a:rPr lang="sv-SE" dirty="0" err="1">
                <a:latin typeface="Calibri" panose="020F0502020204030204" pitchFamily="34" charset="0"/>
              </a:rPr>
              <a:t>there</a:t>
            </a:r>
            <a:r>
              <a:rPr lang="sv-SE" dirty="0">
                <a:latin typeface="Calibri" panose="020F0502020204030204" pitchFamily="34" charset="0"/>
              </a:rPr>
              <a:t> is an </a:t>
            </a:r>
            <a:r>
              <a:rPr lang="sv-SE" dirty="0" err="1">
                <a:latin typeface="Calibri" panose="020F0502020204030204" pitchFamily="34" charset="0"/>
              </a:rPr>
              <a:t>effect</a:t>
            </a:r>
            <a:r>
              <a:rPr lang="sv-SE" baseline="0" dirty="0">
                <a:latin typeface="Calibri" panose="020F0502020204030204" pitchFamily="34" charset="0"/>
              </a:rPr>
              <a:t> </a:t>
            </a:r>
            <a:r>
              <a:rPr lang="sv-SE" baseline="0" dirty="0" err="1">
                <a:latin typeface="Calibri" panose="020F0502020204030204" pitchFamily="34" charset="0"/>
              </a:rPr>
              <a:t>of</a:t>
            </a:r>
            <a:r>
              <a:rPr lang="sv-SE" baseline="0" dirty="0">
                <a:latin typeface="Calibri" panose="020F0502020204030204" pitchFamily="34" charset="0"/>
              </a:rPr>
              <a:t> </a:t>
            </a:r>
            <a:r>
              <a:rPr lang="sv-SE" baseline="0" dirty="0" err="1">
                <a:latin typeface="Calibri" panose="020F0502020204030204" pitchFamily="34" charset="0"/>
              </a:rPr>
              <a:t>treatment</a:t>
            </a:r>
            <a:r>
              <a:rPr lang="sv-SE" baseline="0" dirty="0">
                <a:latin typeface="Calibri" panose="020F0502020204030204" pitchFamily="34" charset="0"/>
              </a:rPr>
              <a:t>, </a:t>
            </a:r>
            <a:r>
              <a:rPr lang="sv-SE" baseline="0" dirty="0" err="1">
                <a:latin typeface="Calibri" panose="020F0502020204030204" pitchFamily="34" charset="0"/>
              </a:rPr>
              <a:t>when</a:t>
            </a:r>
            <a:r>
              <a:rPr lang="sv-SE" baseline="0" dirty="0">
                <a:latin typeface="Calibri" panose="020F0502020204030204" pitchFamily="34" charset="0"/>
              </a:rPr>
              <a:t> in </a:t>
            </a:r>
            <a:r>
              <a:rPr lang="sv-SE" baseline="0" dirty="0" err="1">
                <a:latin typeface="Calibri" panose="020F0502020204030204" pitchFamily="34" charset="0"/>
              </a:rPr>
              <a:t>reality</a:t>
            </a:r>
            <a:r>
              <a:rPr lang="sv-SE" baseline="0" dirty="0">
                <a:latin typeface="Calibri" panose="020F0502020204030204" pitchFamily="34" charset="0"/>
              </a:rPr>
              <a:t> </a:t>
            </a:r>
            <a:r>
              <a:rPr lang="sv-SE" baseline="0" dirty="0" err="1">
                <a:latin typeface="Calibri" panose="020F0502020204030204" pitchFamily="34" charset="0"/>
              </a:rPr>
              <a:t>there</a:t>
            </a:r>
            <a:r>
              <a:rPr lang="sv-SE" baseline="0" dirty="0">
                <a:latin typeface="Calibri" panose="020F0502020204030204" pitchFamily="34" charset="0"/>
              </a:rPr>
              <a:t> is not.</a:t>
            </a:r>
            <a:endParaRPr lang="en-US" dirty="0">
              <a:latin typeface="Calibri" panose="020F0502020204030204" pitchFamily="34" charset="0"/>
            </a:endParaRPr>
          </a:p>
          <a:p>
            <a:pPr fontAlgn="auto">
              <a:lnSpc>
                <a:spcPct val="80000"/>
              </a:lnSpc>
              <a:spcBef>
                <a:spcPts val="0"/>
              </a:spcBef>
              <a:spcAft>
                <a:spcPts val="0"/>
              </a:spcAft>
              <a:defRPr/>
            </a:pPr>
            <a:r>
              <a:rPr lang="en-US" dirty="0">
                <a:latin typeface="Calibri" panose="020F0502020204030204" pitchFamily="34" charset="0"/>
              </a:rPr>
              <a:t>Fail to reject the null hypothesis	Potential </a:t>
            </a:r>
            <a:r>
              <a:rPr lang="en-US" b="1" dirty="0">
                <a:latin typeface="Calibri" panose="020F0502020204030204" pitchFamily="34" charset="0"/>
              </a:rPr>
              <a:t>Type II error</a:t>
            </a:r>
            <a:r>
              <a:rPr lang="en-US" dirty="0">
                <a:latin typeface="Calibri" panose="020F0502020204030204" pitchFamily="34" charset="0"/>
              </a:rPr>
              <a:t>: not rejection of false H</a:t>
            </a:r>
            <a:r>
              <a:rPr lang="en-US" baseline="-25000" dirty="0">
                <a:latin typeface="Calibri" panose="020F0502020204030204" pitchFamily="34" charset="0"/>
              </a:rPr>
              <a:t>0</a:t>
            </a:r>
            <a:endParaRPr lang="en-US" dirty="0">
              <a:latin typeface="Calibri" panose="020F0502020204030204" pitchFamily="34" charset="0"/>
            </a:endParaRPr>
          </a:p>
          <a:p>
            <a:pPr marL="0" marR="0" lvl="0" indent="0" algn="l" defTabSz="457200" rtl="0" eaLnBrk="0" fontAlgn="auto" latinLnBrk="0" hangingPunct="0">
              <a:lnSpc>
                <a:spcPct val="80000"/>
              </a:lnSpc>
              <a:spcBef>
                <a:spcPts val="0"/>
              </a:spcBef>
              <a:spcAft>
                <a:spcPts val="0"/>
              </a:spcAft>
              <a:buClrTx/>
              <a:buSzTx/>
              <a:buFontTx/>
              <a:buNone/>
              <a:tabLst/>
              <a:defRPr/>
            </a:pPr>
            <a:r>
              <a:rPr lang="sv-SE" dirty="0" err="1">
                <a:latin typeface="Calibri" panose="020F0502020204030204" pitchFamily="34" charset="0"/>
              </a:rPr>
              <a:t>We</a:t>
            </a:r>
            <a:r>
              <a:rPr lang="sv-SE" dirty="0">
                <a:latin typeface="Calibri" panose="020F0502020204030204" pitchFamily="34" charset="0"/>
              </a:rPr>
              <a:t> </a:t>
            </a:r>
            <a:r>
              <a:rPr lang="sv-SE" dirty="0" err="1">
                <a:latin typeface="Calibri" panose="020F0502020204030204" pitchFamily="34" charset="0"/>
              </a:rPr>
              <a:t>believe</a:t>
            </a:r>
            <a:r>
              <a:rPr lang="sv-SE" dirty="0">
                <a:latin typeface="Calibri" panose="020F0502020204030204" pitchFamily="34" charset="0"/>
              </a:rPr>
              <a:t> </a:t>
            </a:r>
            <a:r>
              <a:rPr lang="sv-SE" dirty="0" err="1">
                <a:latin typeface="Calibri" panose="020F0502020204030204" pitchFamily="34" charset="0"/>
              </a:rPr>
              <a:t>there</a:t>
            </a:r>
            <a:r>
              <a:rPr lang="sv-SE" dirty="0">
                <a:latin typeface="Calibri" panose="020F0502020204030204" pitchFamily="34" charset="0"/>
              </a:rPr>
              <a:t> is no </a:t>
            </a:r>
            <a:r>
              <a:rPr lang="sv-SE" dirty="0" err="1">
                <a:latin typeface="Calibri" panose="020F0502020204030204" pitchFamily="34" charset="0"/>
              </a:rPr>
              <a:t>effect</a:t>
            </a:r>
            <a:r>
              <a:rPr lang="sv-SE" baseline="0" dirty="0">
                <a:latin typeface="Calibri" panose="020F0502020204030204" pitchFamily="34" charset="0"/>
              </a:rPr>
              <a:t> </a:t>
            </a:r>
            <a:r>
              <a:rPr lang="sv-SE" baseline="0" dirty="0" err="1">
                <a:latin typeface="Calibri" panose="020F0502020204030204" pitchFamily="34" charset="0"/>
              </a:rPr>
              <a:t>of</a:t>
            </a:r>
            <a:r>
              <a:rPr lang="sv-SE" baseline="0" dirty="0">
                <a:latin typeface="Calibri" panose="020F0502020204030204" pitchFamily="34" charset="0"/>
              </a:rPr>
              <a:t> </a:t>
            </a:r>
            <a:r>
              <a:rPr lang="sv-SE" baseline="0" dirty="0" err="1">
                <a:latin typeface="Calibri" panose="020F0502020204030204" pitchFamily="34" charset="0"/>
              </a:rPr>
              <a:t>treatment</a:t>
            </a:r>
            <a:r>
              <a:rPr lang="sv-SE" baseline="0" dirty="0">
                <a:latin typeface="Calibri" panose="020F0502020204030204" pitchFamily="34" charset="0"/>
              </a:rPr>
              <a:t>, </a:t>
            </a:r>
            <a:r>
              <a:rPr lang="sv-SE" baseline="0" dirty="0" err="1">
                <a:latin typeface="Calibri" panose="020F0502020204030204" pitchFamily="34" charset="0"/>
              </a:rPr>
              <a:t>when</a:t>
            </a:r>
            <a:r>
              <a:rPr lang="sv-SE" baseline="0" dirty="0">
                <a:latin typeface="Calibri" panose="020F0502020204030204" pitchFamily="34" charset="0"/>
              </a:rPr>
              <a:t> in </a:t>
            </a:r>
            <a:r>
              <a:rPr lang="sv-SE" baseline="0" dirty="0" err="1">
                <a:latin typeface="Calibri" panose="020F0502020204030204" pitchFamily="34" charset="0"/>
              </a:rPr>
              <a:t>reality</a:t>
            </a:r>
            <a:r>
              <a:rPr lang="sv-SE" baseline="0" dirty="0">
                <a:latin typeface="Calibri" panose="020F0502020204030204" pitchFamily="34" charset="0"/>
              </a:rPr>
              <a:t> </a:t>
            </a:r>
            <a:r>
              <a:rPr lang="sv-SE" baseline="0" dirty="0" err="1">
                <a:latin typeface="Calibri" panose="020F0502020204030204" pitchFamily="34" charset="0"/>
              </a:rPr>
              <a:t>there</a:t>
            </a:r>
            <a:r>
              <a:rPr lang="sv-SE" baseline="0" dirty="0">
                <a:latin typeface="Calibri" panose="020F0502020204030204" pitchFamily="34" charset="0"/>
              </a:rPr>
              <a:t> is.</a:t>
            </a:r>
            <a:endParaRPr lang="en-US" dirty="0">
              <a:latin typeface="Calibri" panose="020F0502020204030204" pitchFamily="34" charset="0"/>
            </a:endParaRPr>
          </a:p>
          <a:p>
            <a:pPr fontAlgn="auto">
              <a:lnSpc>
                <a:spcPct val="80000"/>
              </a:lnSpc>
              <a:spcBef>
                <a:spcPts val="0"/>
              </a:spcBef>
              <a:spcAft>
                <a:spcPts val="0"/>
              </a:spcAft>
              <a:defRPr/>
            </a:pPr>
            <a:endParaRPr lang="en-US" b="1" dirty="0">
              <a:latin typeface="Calibri" panose="020F0502020204030204" pitchFamily="34" charset="0"/>
            </a:endParaRPr>
          </a:p>
          <a:p>
            <a:pPr fontAlgn="auto">
              <a:lnSpc>
                <a:spcPct val="80000"/>
              </a:lnSpc>
              <a:spcBef>
                <a:spcPts val="0"/>
              </a:spcBef>
              <a:spcAft>
                <a:spcPts val="0"/>
              </a:spcAft>
              <a:defRPr/>
            </a:pPr>
            <a:r>
              <a:rPr lang="en-US" b="1" dirty="0">
                <a:latin typeface="Calibri" panose="020F0502020204030204" pitchFamily="34" charset="0"/>
              </a:rPr>
              <a:t>Power</a:t>
            </a:r>
            <a:r>
              <a:rPr lang="en-US" dirty="0">
                <a:latin typeface="Calibri" panose="020F0502020204030204" pitchFamily="34" charset="0"/>
              </a:rPr>
              <a:t> = Probability of rejecting H</a:t>
            </a:r>
            <a:r>
              <a:rPr lang="en-US" baseline="-25000" dirty="0">
                <a:latin typeface="Calibri" panose="020F0502020204030204" pitchFamily="34" charset="0"/>
              </a:rPr>
              <a:t>0</a:t>
            </a:r>
            <a:r>
              <a:rPr lang="en-US" dirty="0">
                <a:latin typeface="Calibri" panose="020F0502020204030204" pitchFamily="34" charset="0"/>
              </a:rPr>
              <a:t> when it is false and is equal to (1-</a:t>
            </a:r>
            <a:r>
              <a:rPr lang="el-GR" sz="1200" i="1" dirty="0">
                <a:solidFill>
                  <a:srgbClr val="000000"/>
                </a:solidFill>
                <a:latin typeface="Cambria" pitchFamily="18" charset="0"/>
                <a:cs typeface="Arial" pitchFamily="34" charset="0"/>
              </a:rPr>
              <a:t>β</a:t>
            </a:r>
            <a:r>
              <a:rPr lang="sv-SE" sz="1200" i="1" dirty="0">
                <a:solidFill>
                  <a:srgbClr val="000000"/>
                </a:solidFill>
                <a:latin typeface="Cambria" pitchFamily="18" charset="0"/>
                <a:cs typeface="Arial" pitchFamily="34" charset="0"/>
              </a:rPr>
              <a:t>).</a:t>
            </a:r>
          </a:p>
          <a:p>
            <a:pPr fontAlgn="auto">
              <a:lnSpc>
                <a:spcPct val="80000"/>
              </a:lnSpc>
              <a:spcBef>
                <a:spcPts val="0"/>
              </a:spcBef>
              <a:spcAft>
                <a:spcPts val="0"/>
              </a:spcAft>
              <a:defRPr/>
            </a:pPr>
            <a:br>
              <a:rPr lang="sv-SE" sz="1200" i="1" dirty="0">
                <a:solidFill>
                  <a:srgbClr val="000000"/>
                </a:solidFill>
                <a:latin typeface="Cambria" pitchFamily="18" charset="0"/>
                <a:cs typeface="Arial" pitchFamily="34" charset="0"/>
              </a:rPr>
            </a:br>
            <a:r>
              <a:rPr lang="sv-SE" sz="1200" i="0" dirty="0" err="1">
                <a:solidFill>
                  <a:srgbClr val="000000"/>
                </a:solidFill>
                <a:latin typeface="Cambria" pitchFamily="18" charset="0"/>
                <a:cs typeface="Arial" pitchFamily="34" charset="0"/>
              </a:rPr>
              <a:t>We</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have</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higher</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tolerance</a:t>
            </a:r>
            <a:r>
              <a:rPr lang="sv-SE" sz="1200" i="0" dirty="0">
                <a:solidFill>
                  <a:srgbClr val="000000"/>
                </a:solidFill>
                <a:latin typeface="Cambria" pitchFamily="18" charset="0"/>
                <a:cs typeface="Arial" pitchFamily="34" charset="0"/>
              </a:rPr>
              <a:t> for </a:t>
            </a:r>
            <a:r>
              <a:rPr lang="sv-SE" sz="1200" b="1" i="0" dirty="0">
                <a:solidFill>
                  <a:srgbClr val="000000"/>
                </a:solidFill>
                <a:latin typeface="Cambria" pitchFamily="18" charset="0"/>
                <a:cs typeface="Arial" pitchFamily="34" charset="0"/>
              </a:rPr>
              <a:t>Type-2 </a:t>
            </a:r>
            <a:r>
              <a:rPr lang="sv-SE" sz="1200" b="1" i="0" dirty="0" err="1">
                <a:solidFill>
                  <a:srgbClr val="000000"/>
                </a:solidFill>
                <a:latin typeface="Cambria" pitchFamily="18" charset="0"/>
                <a:cs typeface="Arial" pitchFamily="34" charset="0"/>
              </a:rPr>
              <a:t>error</a:t>
            </a:r>
            <a:r>
              <a:rPr lang="sv-SE" sz="1200" b="1" i="0" dirty="0">
                <a:solidFill>
                  <a:srgbClr val="000000"/>
                </a:solidFill>
                <a:latin typeface="Cambria" pitchFamily="18" charset="0"/>
                <a:cs typeface="Arial" pitchFamily="34" charset="0"/>
              </a:rPr>
              <a:t>, </a:t>
            </a:r>
            <a:r>
              <a:rPr lang="sv-SE" sz="1200" i="0" dirty="0">
                <a:solidFill>
                  <a:srgbClr val="000000"/>
                </a:solidFill>
                <a:latin typeface="Cambria" pitchFamily="18" charset="0"/>
                <a:cs typeface="Arial" pitchFamily="34" charset="0"/>
              </a:rPr>
              <a:t>as in </a:t>
            </a:r>
            <a:r>
              <a:rPr lang="sv-SE" sz="1200" i="0" dirty="0" err="1">
                <a:solidFill>
                  <a:srgbClr val="000000"/>
                </a:solidFill>
                <a:latin typeface="Cambria" pitchFamily="18" charset="0"/>
                <a:cs typeface="Arial" pitchFamily="34" charset="0"/>
              </a:rPr>
              <a:t>this</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case</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we</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conclude</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there</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does</a:t>
            </a:r>
            <a:r>
              <a:rPr lang="sv-SE" sz="1200" i="0" dirty="0">
                <a:solidFill>
                  <a:srgbClr val="000000"/>
                </a:solidFill>
                <a:latin typeface="Cambria" pitchFamily="18" charset="0"/>
                <a:cs typeface="Arial" pitchFamily="34" charset="0"/>
              </a:rPr>
              <a:t> not </a:t>
            </a:r>
            <a:r>
              <a:rPr lang="sv-SE" sz="1200" i="0" dirty="0" err="1">
                <a:solidFill>
                  <a:srgbClr val="000000"/>
                </a:solidFill>
                <a:latin typeface="Cambria" pitchFamily="18" charset="0"/>
                <a:cs typeface="Arial" pitchFamily="34" charset="0"/>
              </a:rPr>
              <a:t>exist</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differences</a:t>
            </a:r>
            <a:r>
              <a:rPr lang="sv-SE" sz="1200" i="0" dirty="0">
                <a:solidFill>
                  <a:srgbClr val="000000"/>
                </a:solidFill>
                <a:latin typeface="Cambria" pitchFamily="18" charset="0"/>
                <a:cs typeface="Arial" pitchFamily="34" charset="0"/>
              </a:rPr>
              <a:t> in </a:t>
            </a:r>
            <a:r>
              <a:rPr lang="sv-SE" sz="1200" i="0" dirty="0" err="1">
                <a:solidFill>
                  <a:srgbClr val="000000"/>
                </a:solidFill>
                <a:latin typeface="Cambria" pitchFamily="18" charset="0"/>
                <a:cs typeface="Arial" pitchFamily="34" charset="0"/>
              </a:rPr>
              <a:t>therapy</a:t>
            </a:r>
            <a:r>
              <a:rPr lang="sv-SE" sz="1200" i="0" dirty="0">
                <a:solidFill>
                  <a:srgbClr val="000000"/>
                </a:solidFill>
                <a:latin typeface="Cambria" pitchFamily="18" charset="0"/>
                <a:cs typeface="Arial" pitchFamily="34" charset="0"/>
              </a:rPr>
              <a:t>/operation etc. </a:t>
            </a:r>
            <a:r>
              <a:rPr lang="sv-SE" sz="1200" i="0" dirty="0" err="1">
                <a:solidFill>
                  <a:srgbClr val="000000"/>
                </a:solidFill>
                <a:latin typeface="Cambria" pitchFamily="18" charset="0"/>
                <a:cs typeface="Arial" pitchFamily="34" charset="0"/>
              </a:rPr>
              <a:t>even</a:t>
            </a:r>
            <a:r>
              <a:rPr lang="sv-SE" sz="1200" i="0" dirty="0">
                <a:solidFill>
                  <a:srgbClr val="000000"/>
                </a:solidFill>
                <a:latin typeface="Cambria" pitchFamily="18" charset="0"/>
                <a:cs typeface="Arial" pitchFamily="34" charset="0"/>
              </a:rPr>
              <a:t> in </a:t>
            </a:r>
            <a:r>
              <a:rPr lang="sv-SE" sz="1200" i="0" dirty="0" err="1">
                <a:solidFill>
                  <a:srgbClr val="000000"/>
                </a:solidFill>
                <a:latin typeface="Cambria" pitchFamily="18" charset="0"/>
                <a:cs typeface="Arial" pitchFamily="34" charset="0"/>
              </a:rPr>
              <a:t>reality</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there</a:t>
            </a:r>
            <a:r>
              <a:rPr lang="sv-SE" sz="1200" i="0" dirty="0">
                <a:solidFill>
                  <a:srgbClr val="000000"/>
                </a:solidFill>
                <a:latin typeface="Cambria" pitchFamily="18" charset="0"/>
                <a:cs typeface="Arial" pitchFamily="34" charset="0"/>
              </a:rPr>
              <a:t> do </a:t>
            </a:r>
            <a:r>
              <a:rPr lang="sv-SE" sz="1200" i="0" dirty="0" err="1">
                <a:solidFill>
                  <a:srgbClr val="000000"/>
                </a:solidFill>
                <a:latin typeface="Cambria" pitchFamily="18" charset="0"/>
                <a:cs typeface="Arial" pitchFamily="34" charset="0"/>
              </a:rPr>
              <a:t>exist</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differences</a:t>
            </a:r>
            <a:endParaRPr lang="sv-SE" sz="1200" i="0" dirty="0">
              <a:solidFill>
                <a:srgbClr val="000000"/>
              </a:solidFill>
              <a:latin typeface="Cambria" pitchFamily="18" charset="0"/>
              <a:cs typeface="Arial" pitchFamily="34" charset="0"/>
            </a:endParaRPr>
          </a:p>
          <a:p>
            <a:pPr fontAlgn="auto">
              <a:lnSpc>
                <a:spcPct val="80000"/>
              </a:lnSpc>
              <a:spcBef>
                <a:spcPts val="0"/>
              </a:spcBef>
              <a:spcAft>
                <a:spcPts val="0"/>
              </a:spcAft>
              <a:defRPr/>
            </a:pPr>
            <a:r>
              <a:rPr lang="sv-SE" sz="1200" i="0" dirty="0">
                <a:solidFill>
                  <a:srgbClr val="000000"/>
                </a:solidFill>
                <a:latin typeface="Cambria" pitchFamily="18" charset="0"/>
                <a:cs typeface="Arial" pitchFamily="34" charset="0"/>
              </a:rPr>
              <a:t>A simple </a:t>
            </a:r>
            <a:r>
              <a:rPr lang="sv-SE" sz="1200" i="0" dirty="0" err="1">
                <a:solidFill>
                  <a:srgbClr val="000000"/>
                </a:solidFill>
                <a:latin typeface="Cambria" pitchFamily="18" charset="0"/>
                <a:cs typeface="Arial" pitchFamily="34" charset="0"/>
              </a:rPr>
              <a:t>consequence</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will</a:t>
            </a:r>
            <a:r>
              <a:rPr lang="sv-SE" sz="1200" i="0" dirty="0">
                <a:solidFill>
                  <a:srgbClr val="000000"/>
                </a:solidFill>
                <a:latin typeface="Cambria" pitchFamily="18" charset="0"/>
                <a:cs typeface="Arial" pitchFamily="34" charset="0"/>
              </a:rPr>
              <a:t> be not </a:t>
            </a:r>
            <a:r>
              <a:rPr lang="sv-SE" sz="1200" i="0" dirty="0" err="1">
                <a:solidFill>
                  <a:srgbClr val="000000"/>
                </a:solidFill>
                <a:latin typeface="Cambria" pitchFamily="18" charset="0"/>
                <a:cs typeface="Arial" pitchFamily="34" charset="0"/>
              </a:rPr>
              <a:t>implementing</a:t>
            </a:r>
            <a:r>
              <a:rPr lang="sv-SE" sz="1200" i="0" dirty="0">
                <a:solidFill>
                  <a:srgbClr val="000000"/>
                </a:solidFill>
                <a:latin typeface="Cambria" pitchFamily="18" charset="0"/>
                <a:cs typeface="Arial" pitchFamily="34" charset="0"/>
              </a:rPr>
              <a:t> the </a:t>
            </a:r>
            <a:r>
              <a:rPr lang="sv-SE" sz="1200" i="0" dirty="0" err="1">
                <a:solidFill>
                  <a:srgbClr val="000000"/>
                </a:solidFill>
                <a:latin typeface="Cambria" pitchFamily="18" charset="0"/>
                <a:cs typeface="Arial" pitchFamily="34" charset="0"/>
              </a:rPr>
              <a:t>therapy</a:t>
            </a:r>
            <a:r>
              <a:rPr lang="sv-SE" sz="1200" i="0" dirty="0">
                <a:solidFill>
                  <a:srgbClr val="000000"/>
                </a:solidFill>
                <a:latin typeface="Cambria" pitchFamily="18" charset="0"/>
                <a:cs typeface="Arial" pitchFamily="34" charset="0"/>
              </a:rPr>
              <a:t>.</a:t>
            </a:r>
          </a:p>
          <a:p>
            <a:pPr marL="0" marR="0" lvl="0" indent="0" algn="l" defTabSz="457200" rtl="0" eaLnBrk="0" fontAlgn="auto" latinLnBrk="0" hangingPunct="0">
              <a:lnSpc>
                <a:spcPct val="80000"/>
              </a:lnSpc>
              <a:spcBef>
                <a:spcPts val="0"/>
              </a:spcBef>
              <a:spcAft>
                <a:spcPts val="0"/>
              </a:spcAft>
              <a:buClrTx/>
              <a:buSzTx/>
              <a:buFontTx/>
              <a:buNone/>
              <a:tabLst/>
              <a:defRPr/>
            </a:pPr>
            <a:endParaRPr lang="sv-SE" sz="1200" i="0" dirty="0">
              <a:solidFill>
                <a:srgbClr val="000000"/>
              </a:solidFill>
              <a:latin typeface="Cambria" pitchFamily="18" charset="0"/>
              <a:cs typeface="Arial" pitchFamily="34" charset="0"/>
            </a:endParaRPr>
          </a:p>
          <a:p>
            <a:pPr marL="0" marR="0" lvl="0" indent="0" algn="l" defTabSz="457200" rtl="0" eaLnBrk="0" fontAlgn="auto" latinLnBrk="0" hangingPunct="0">
              <a:lnSpc>
                <a:spcPct val="80000"/>
              </a:lnSpc>
              <a:spcBef>
                <a:spcPts val="0"/>
              </a:spcBef>
              <a:spcAft>
                <a:spcPts val="0"/>
              </a:spcAft>
              <a:buClrTx/>
              <a:buSzTx/>
              <a:buFontTx/>
              <a:buNone/>
              <a:tabLst/>
              <a:defRPr/>
            </a:pPr>
            <a:r>
              <a:rPr lang="sv-SE" sz="1200" i="0" dirty="0">
                <a:solidFill>
                  <a:srgbClr val="000000"/>
                </a:solidFill>
                <a:latin typeface="Cambria" pitchFamily="18" charset="0"/>
                <a:cs typeface="Arial" pitchFamily="34" charset="0"/>
              </a:rPr>
              <a:t>On the </a:t>
            </a:r>
            <a:r>
              <a:rPr lang="sv-SE" sz="1200" i="0" dirty="0" err="1">
                <a:solidFill>
                  <a:srgbClr val="000000"/>
                </a:solidFill>
                <a:latin typeface="Cambria" pitchFamily="18" charset="0"/>
                <a:cs typeface="Arial" pitchFamily="34" charset="0"/>
              </a:rPr>
              <a:t>other</a:t>
            </a:r>
            <a:r>
              <a:rPr lang="sv-SE" sz="1200" i="0" dirty="0">
                <a:solidFill>
                  <a:srgbClr val="000000"/>
                </a:solidFill>
                <a:latin typeface="Cambria" pitchFamily="18" charset="0"/>
                <a:cs typeface="Arial" pitchFamily="34" charset="0"/>
              </a:rPr>
              <a:t> hand </a:t>
            </a:r>
            <a:r>
              <a:rPr lang="sv-SE" sz="1200" i="0" dirty="0" err="1">
                <a:solidFill>
                  <a:srgbClr val="000000"/>
                </a:solidFill>
                <a:latin typeface="Cambria" pitchFamily="18" charset="0"/>
                <a:cs typeface="Arial" pitchFamily="34" charset="0"/>
              </a:rPr>
              <a:t>we</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have</a:t>
            </a:r>
            <a:r>
              <a:rPr lang="sv-SE" sz="1200" i="0" dirty="0">
                <a:solidFill>
                  <a:srgbClr val="000000"/>
                </a:solidFill>
                <a:latin typeface="Cambria" pitchFamily="18" charset="0"/>
                <a:cs typeface="Arial" pitchFamily="34" charset="0"/>
              </a:rPr>
              <a:t> a </a:t>
            </a:r>
            <a:r>
              <a:rPr lang="sv-SE" sz="1200" i="0" dirty="0" err="1">
                <a:solidFill>
                  <a:srgbClr val="000000"/>
                </a:solidFill>
                <a:latin typeface="Cambria" pitchFamily="18" charset="0"/>
                <a:cs typeface="Arial" pitchFamily="34" charset="0"/>
              </a:rPr>
              <a:t>lower</a:t>
            </a:r>
            <a:r>
              <a:rPr lang="sv-SE" sz="1200" i="0" dirty="0">
                <a:solidFill>
                  <a:srgbClr val="000000"/>
                </a:solidFill>
                <a:latin typeface="Cambria" pitchFamily="18" charset="0"/>
                <a:cs typeface="Arial" pitchFamily="34" charset="0"/>
              </a:rPr>
              <a:t> </a:t>
            </a:r>
            <a:r>
              <a:rPr lang="sv-SE" sz="1200" i="0" dirty="0" err="1">
                <a:solidFill>
                  <a:srgbClr val="000000"/>
                </a:solidFill>
                <a:latin typeface="Cambria" pitchFamily="18" charset="0"/>
                <a:cs typeface="Arial" pitchFamily="34" charset="0"/>
              </a:rPr>
              <a:t>threshold</a:t>
            </a:r>
            <a:r>
              <a:rPr lang="sv-SE" sz="1200" i="0" dirty="0">
                <a:solidFill>
                  <a:srgbClr val="000000"/>
                </a:solidFill>
                <a:latin typeface="Cambria" pitchFamily="18" charset="0"/>
                <a:cs typeface="Arial" pitchFamily="34" charset="0"/>
              </a:rPr>
              <a:t> for </a:t>
            </a:r>
            <a:r>
              <a:rPr lang="sv-SE" sz="1200" b="1" i="0" dirty="0">
                <a:solidFill>
                  <a:srgbClr val="000000"/>
                </a:solidFill>
                <a:latin typeface="Cambria" pitchFamily="18" charset="0"/>
                <a:cs typeface="Arial" pitchFamily="34" charset="0"/>
              </a:rPr>
              <a:t>Type-1 </a:t>
            </a:r>
            <a:r>
              <a:rPr lang="sv-SE" sz="1200" b="1" i="0" dirty="0" err="1">
                <a:solidFill>
                  <a:srgbClr val="000000"/>
                </a:solidFill>
                <a:latin typeface="Cambria" pitchFamily="18" charset="0"/>
                <a:cs typeface="Arial" pitchFamily="34" charset="0"/>
              </a:rPr>
              <a:t>error</a:t>
            </a:r>
            <a:r>
              <a:rPr lang="sv-SE" sz="1200" b="1" i="0" dirty="0">
                <a:solidFill>
                  <a:srgbClr val="000000"/>
                </a:solidFill>
                <a:latin typeface="Cambria" pitchFamily="18" charset="0"/>
                <a:cs typeface="Arial" pitchFamily="34" charset="0"/>
              </a:rPr>
              <a:t>, </a:t>
            </a:r>
            <a:r>
              <a:rPr lang="sv-SE" sz="1200" b="1" i="0" dirty="0" err="1">
                <a:solidFill>
                  <a:srgbClr val="000000"/>
                </a:solidFill>
                <a:latin typeface="Cambria" pitchFamily="18" charset="0"/>
                <a:cs typeface="Arial" pitchFamily="34" charset="0"/>
              </a:rPr>
              <a:t>Why</a:t>
            </a:r>
            <a:r>
              <a:rPr lang="sv-SE" sz="1200" b="1" i="0" dirty="0">
                <a:solidFill>
                  <a:srgbClr val="000000"/>
                </a:solidFill>
                <a:latin typeface="Cambria" pitchFamily="18" charset="0"/>
                <a:cs typeface="Arial" pitchFamily="34" charset="0"/>
              </a:rPr>
              <a:t>?</a:t>
            </a:r>
          </a:p>
          <a:p>
            <a:pPr fontAlgn="auto">
              <a:lnSpc>
                <a:spcPct val="80000"/>
              </a:lnSpc>
              <a:spcBef>
                <a:spcPts val="0"/>
              </a:spcBef>
              <a:spcAft>
                <a:spcPts val="0"/>
              </a:spcAft>
              <a:defRPr/>
            </a:pPr>
            <a:endParaRPr lang="en-US" i="0" dirty="0">
              <a:latin typeface="Calibri" panose="020F0502020204030204" pitchFamily="34" charset="0"/>
            </a:endParaRPr>
          </a:p>
          <a:p>
            <a:endParaRPr lang="en-US" noProof="0" dirty="0"/>
          </a:p>
        </p:txBody>
      </p:sp>
      <p:sp>
        <p:nvSpPr>
          <p:cNvPr id="4" name="Platshållare för bildnummer 3"/>
          <p:cNvSpPr>
            <a:spLocks noGrp="1"/>
          </p:cNvSpPr>
          <p:nvPr>
            <p:ph type="sldNum" sz="quarter" idx="5"/>
          </p:nvPr>
        </p:nvSpPr>
        <p:spPr/>
        <p:txBody>
          <a:bodyPr/>
          <a:lstStyle/>
          <a:p>
            <a:pPr>
              <a:defRPr/>
            </a:pPr>
            <a:fld id="{93BE0EE4-FDD4-452E-9DD1-515F25D560C9}" type="slidenum">
              <a:rPr lang="sv-SE" smtClean="0">
                <a:solidFill>
                  <a:prstClr val="black"/>
                </a:solidFill>
              </a:rPr>
              <a:pPr>
                <a:defRPr/>
              </a:pPr>
              <a:t>44</a:t>
            </a:fld>
            <a:endParaRPr lang="sv-SE">
              <a:solidFill>
                <a:prstClr val="black"/>
              </a:solidFill>
            </a:endParaRPr>
          </a:p>
        </p:txBody>
      </p:sp>
      <p:sp>
        <p:nvSpPr>
          <p:cNvPr id="3" name="Date Placeholder 2"/>
          <p:cNvSpPr>
            <a:spLocks noGrp="1"/>
          </p:cNvSpPr>
          <p:nvPr>
            <p:ph type="dt" idx="10"/>
          </p:nvPr>
        </p:nvSpPr>
        <p:spPr/>
        <p:txBody>
          <a:bodyPr/>
          <a:lstStyle/>
          <a:p>
            <a:pPr>
              <a:defRPr/>
            </a:pPr>
            <a:endParaRPr lang="sv-SE"/>
          </a:p>
        </p:txBody>
      </p:sp>
    </p:spTree>
    <p:extLst>
      <p:ext uri="{BB962C8B-B14F-4D97-AF65-F5344CB8AC3E}">
        <p14:creationId xmlns:p14="http://schemas.microsoft.com/office/powerpoint/2010/main" val="38532303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defTabSz="457146"/>
            <a:r>
              <a:rPr lang="en-US" dirty="0"/>
              <a:t>Adopted from </a:t>
            </a:r>
            <a:r>
              <a:rPr lang="en-US" b="1" dirty="0"/>
              <a:t>Figure 8.1</a:t>
            </a:r>
            <a:r>
              <a:rPr lang="en-US" dirty="0"/>
              <a:t> and </a:t>
            </a:r>
            <a:r>
              <a:rPr lang="en-US" b="1" dirty="0"/>
              <a:t>figure 10.2</a:t>
            </a:r>
            <a:r>
              <a:rPr lang="en-US" dirty="0"/>
              <a:t> from </a:t>
            </a:r>
            <a:r>
              <a:rPr lang="sv-SE" dirty="0">
                <a:latin typeface="Times New Roman" panose="02020603050405020304" pitchFamily="18" charset="0"/>
                <a:cs typeface="Times New Roman" panose="02020603050405020304" pitchFamily="18" charset="0"/>
              </a:rPr>
              <a:t>“PRAKTISK STATISTIK FÖR MEDICIN OCH HÄLSA” av Jonas Björk </a:t>
            </a:r>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45</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8966870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The non-parametric tests also have assumptions.</a:t>
            </a:r>
          </a:p>
          <a:p>
            <a:r>
              <a:rPr lang="en-US" dirty="0"/>
              <a:t>E.g. Mann-Whitney U test is for two independent groups</a:t>
            </a:r>
          </a:p>
          <a:p>
            <a:r>
              <a:rPr lang="en-US" dirty="0"/>
              <a:t>Chi-square test can only be used for categorical data</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46</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4528193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47</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587654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8688" y="1238250"/>
            <a:ext cx="5940425" cy="3341688"/>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normAutofit/>
              </a:bodyPr>
              <a:lstStyle/>
              <a:p>
                <a:pPr>
                  <a:lnSpc>
                    <a:spcPct val="114000"/>
                  </a:lnSpc>
                  <a:spcBef>
                    <a:spcPct val="0"/>
                  </a:spcBef>
                  <a:spcAft>
                    <a:spcPts val="622"/>
                  </a:spcAft>
                </a:pPr>
                <a:r>
                  <a:rPr lang="en-US" dirty="0">
                    <a:ea typeface="ＭＳ Ｐゴシック" pitchFamily="-109" charset="-128"/>
                  </a:rPr>
                  <a:t>A test of the null hypothesis will result in a p-value.</a:t>
                </a:r>
              </a:p>
              <a:p>
                <a:pPr>
                  <a:lnSpc>
                    <a:spcPct val="114000"/>
                  </a:lnSpc>
                  <a:spcBef>
                    <a:spcPct val="0"/>
                  </a:spcBef>
                  <a:spcAft>
                    <a:spcPts val="622"/>
                  </a:spcAft>
                </a:pPr>
                <a:r>
                  <a:rPr lang="en-US" b="1" dirty="0">
                    <a:ea typeface="ＭＳ Ｐゴシック" pitchFamily="-109" charset="-128"/>
                  </a:rPr>
                  <a:t>Definition for p-value for testing a hypothesis about </a:t>
                </a:r>
                <a:r>
                  <a:rPr lang="en-US" dirty="0">
                    <a:latin typeface="Cambria Math"/>
                    <a:ea typeface="Cambria Math"/>
                  </a:rPr>
                  <a:t>𝛍</a:t>
                </a:r>
                <a:r>
                  <a:rPr lang="en-US" dirty="0">
                    <a:ea typeface="ＭＳ Ｐゴシック" pitchFamily="-109" charset="-128"/>
                  </a:rPr>
                  <a:t>:</a:t>
                </a:r>
              </a:p>
              <a:p>
                <a:pPr marL="354324">
                  <a:lnSpc>
                    <a:spcPct val="114000"/>
                  </a:lnSpc>
                  <a:spcBef>
                    <a:spcPct val="0"/>
                  </a:spcBef>
                  <a:spcAft>
                    <a:spcPts val="1243"/>
                  </a:spcAft>
                </a:pPr>
                <a:r>
                  <a:rPr lang="en-US" dirty="0">
                    <a:ea typeface="ＭＳ Ｐゴシック" pitchFamily="-109" charset="-128"/>
                  </a:rPr>
                  <a:t>The probability of observing the value of </a:t>
                </a:r>
                <a14:m>
                  <m:oMath xmlns:m="http://schemas.openxmlformats.org/officeDocument/2006/math">
                    <m:acc>
                      <m:accPr>
                        <m:chr m:val="̅"/>
                        <m:ctrlPr>
                          <a:rPr lang="sv-SE" i="1">
                            <a:latin typeface="Cambria Math" panose="02040503050406030204" pitchFamily="18" charset="0"/>
                            <a:ea typeface="ＭＳ Ｐゴシック" pitchFamily="-109" charset="-128"/>
                          </a:rPr>
                        </m:ctrlPr>
                      </m:accPr>
                      <m:e>
                        <m:r>
                          <a:rPr lang="sv-SE" i="1">
                            <a:latin typeface="Cambria Math"/>
                            <a:ea typeface="ＭＳ Ｐゴシック" pitchFamily="-109" charset="-128"/>
                          </a:rPr>
                          <m:t>𝑥</m:t>
                        </m:r>
                      </m:e>
                    </m:acc>
                  </m:oMath>
                </a14:m>
                <a:r>
                  <a:rPr lang="en-US" dirty="0">
                    <a:ea typeface="ＭＳ Ｐゴシック" pitchFamily="-109" charset="-128"/>
                  </a:rPr>
                  <a:t>  that we </a:t>
                </a:r>
                <a:r>
                  <a:rPr lang="en-US" b="1" dirty="0">
                    <a:ea typeface="ＭＳ Ｐゴシック" pitchFamily="-109" charset="-128"/>
                  </a:rPr>
                  <a:t>did observe</a:t>
                </a:r>
                <a:r>
                  <a:rPr lang="en-US" dirty="0">
                    <a:ea typeface="ＭＳ Ｐゴシック" pitchFamily="-109" charset="-128"/>
                  </a:rPr>
                  <a:t>, </a:t>
                </a:r>
                <a:r>
                  <a:rPr lang="en-US" i="1" dirty="0">
                    <a:ea typeface="ＭＳ Ｐゴシック" pitchFamily="-109" charset="-128"/>
                  </a:rPr>
                  <a:t>or an even more extreme value</a:t>
                </a:r>
                <a:r>
                  <a:rPr lang="en-US" dirty="0">
                    <a:ea typeface="ＭＳ Ｐゴシック" pitchFamily="-109" charset="-128"/>
                  </a:rPr>
                  <a:t>, given that H</a:t>
                </a:r>
                <a:r>
                  <a:rPr lang="en-US" baseline="-25000" dirty="0">
                    <a:ea typeface="ＭＳ Ｐゴシック" pitchFamily="-109" charset="-128"/>
                  </a:rPr>
                  <a:t>0</a:t>
                </a:r>
                <a:r>
                  <a:rPr lang="en-US" dirty="0">
                    <a:ea typeface="ＭＳ Ｐゴシック" pitchFamily="-109" charset="-128"/>
                  </a:rPr>
                  <a:t> is true. </a:t>
                </a:r>
              </a:p>
              <a:p>
                <a:pPr>
                  <a:lnSpc>
                    <a:spcPct val="114000"/>
                  </a:lnSpc>
                  <a:spcBef>
                    <a:spcPct val="0"/>
                  </a:spcBef>
                  <a:spcAft>
                    <a:spcPts val="1243"/>
                  </a:spcAft>
                </a:pPr>
                <a:r>
                  <a:rPr lang="en-US" dirty="0">
                    <a:ea typeface="ＭＳ Ｐゴシック" pitchFamily="-109" charset="-128"/>
                  </a:rPr>
                  <a:t>The </a:t>
                </a:r>
                <a:r>
                  <a:rPr lang="en-US" b="1" i="1" dirty="0">
                    <a:ea typeface="ＭＳ Ｐゴシック" pitchFamily="-109" charset="-128"/>
                  </a:rPr>
                  <a:t>p-value</a:t>
                </a:r>
                <a:r>
                  <a:rPr lang="en-US" dirty="0">
                    <a:ea typeface="ＭＳ Ｐゴシック" pitchFamily="-109" charset="-128"/>
                  </a:rPr>
                  <a:t> (</a:t>
                </a:r>
                <a:r>
                  <a:rPr lang="en-US" i="1" dirty="0">
                    <a:ea typeface="ＭＳ Ｐゴシック" pitchFamily="-109" charset="-128"/>
                  </a:rPr>
                  <a:t>p</a:t>
                </a:r>
                <a:r>
                  <a:rPr lang="en-US" dirty="0">
                    <a:ea typeface="ＭＳ Ｐゴシック" pitchFamily="-109" charset="-128"/>
                  </a:rPr>
                  <a:t>) is a measure of the strength of evidence in the observed data against H</a:t>
                </a:r>
                <a:r>
                  <a:rPr lang="en-US" baseline="-25000" dirty="0">
                    <a:ea typeface="ＭＳ Ｐゴシック" pitchFamily="-109" charset="-128"/>
                  </a:rPr>
                  <a:t>0</a:t>
                </a:r>
                <a:endParaRPr lang="en-US" dirty="0">
                  <a:ea typeface="ＭＳ Ｐゴシック" pitchFamily="-109" charset="-128"/>
                </a:endParaRPr>
              </a:p>
              <a:p>
                <a:pPr>
                  <a:lnSpc>
                    <a:spcPct val="114000"/>
                  </a:lnSpc>
                  <a:spcBef>
                    <a:spcPct val="0"/>
                  </a:spcBef>
                  <a:spcAft>
                    <a:spcPts val="622"/>
                  </a:spcAft>
                </a:pPr>
                <a:r>
                  <a:rPr lang="en-US" dirty="0">
                    <a:ea typeface="ＭＳ Ｐゴシック" pitchFamily="-109" charset="-128"/>
                  </a:rPr>
                  <a:t>The </a:t>
                </a:r>
                <a:r>
                  <a:rPr lang="en-US" i="1" dirty="0">
                    <a:ea typeface="ＭＳ Ｐゴシック" pitchFamily="-109" charset="-128"/>
                  </a:rPr>
                  <a:t>p</a:t>
                </a:r>
                <a:r>
                  <a:rPr lang="en-US" dirty="0">
                    <a:ea typeface="ＭＳ Ｐゴシック" pitchFamily="-109" charset="-128"/>
                  </a:rPr>
                  <a:t> is a probability </a:t>
                </a:r>
                <a:r>
                  <a:rPr lang="en-US" dirty="0">
                    <a:latin typeface="Cambria Math"/>
                    <a:ea typeface="Cambria Math"/>
                  </a:rPr>
                  <a:t>→ </a:t>
                </a:r>
                <a:r>
                  <a:rPr lang="en-US" dirty="0">
                    <a:ea typeface="ＭＳ Ｐゴシック" pitchFamily="-109" charset="-128"/>
                  </a:rPr>
                  <a:t>0 &lt; </a:t>
                </a:r>
                <a:r>
                  <a:rPr lang="en-US" i="1" dirty="0">
                    <a:ea typeface="ＭＳ Ｐゴシック" pitchFamily="-109" charset="-128"/>
                  </a:rPr>
                  <a:t>p</a:t>
                </a:r>
                <a:r>
                  <a:rPr lang="en-US" dirty="0">
                    <a:ea typeface="ＭＳ Ｐゴシック" pitchFamily="-109" charset="-128"/>
                  </a:rPr>
                  <a:t> &lt; 1</a:t>
                </a:r>
              </a:p>
              <a:p>
                <a:pPr>
                  <a:lnSpc>
                    <a:spcPct val="114000"/>
                  </a:lnSpc>
                  <a:spcBef>
                    <a:spcPts val="1243"/>
                  </a:spcBef>
                  <a:spcAft>
                    <a:spcPts val="622"/>
                  </a:spcAft>
                </a:pPr>
                <a:r>
                  <a:rPr lang="en-US" dirty="0">
                    <a:ea typeface="ＭＳ Ｐゴシック" pitchFamily="-109" charset="-128"/>
                  </a:rPr>
                  <a:t>The basic idea is that if </a:t>
                </a:r>
                <a:r>
                  <a:rPr lang="en-US" i="1" dirty="0">
                    <a:ea typeface="ＭＳ Ｐゴシック" pitchFamily="-109" charset="-128"/>
                  </a:rPr>
                  <a:t>p</a:t>
                </a:r>
                <a:r>
                  <a:rPr lang="en-US" dirty="0">
                    <a:ea typeface="ＭＳ Ｐゴシック" pitchFamily="-109" charset="-128"/>
                  </a:rPr>
                  <a:t> is lower that the significance level than you reject the null hypothesis</a:t>
                </a:r>
              </a:p>
              <a:p>
                <a:pPr lvl="1">
                  <a:lnSpc>
                    <a:spcPct val="114000"/>
                  </a:lnSpc>
                  <a:spcBef>
                    <a:spcPct val="0"/>
                  </a:spcBef>
                  <a:spcAft>
                    <a:spcPts val="1243"/>
                  </a:spcAft>
                </a:pPr>
                <a:r>
                  <a:rPr lang="en-US" dirty="0">
                    <a:ea typeface="ＭＳ Ｐゴシック" pitchFamily="-109" charset="-128"/>
                  </a:rPr>
                  <a:t>The p-value is then called </a:t>
                </a:r>
                <a:r>
                  <a:rPr lang="en-US" b="1" u="sng" dirty="0">
                    <a:ea typeface="ＭＳ Ｐゴシック" pitchFamily="-109" charset="-128"/>
                  </a:rPr>
                  <a:t>significant</a:t>
                </a:r>
                <a:r>
                  <a:rPr lang="en-US" b="1" dirty="0">
                    <a:ea typeface="ＭＳ Ｐゴシック" pitchFamily="-109" charset="-128"/>
                  </a:rPr>
                  <a:t> </a:t>
                </a:r>
              </a:p>
              <a:p>
                <a:endParaRPr lang="en-US" dirty="0"/>
              </a:p>
            </p:txBody>
          </p:sp>
        </mc:Choice>
        <mc:Fallback xmlns="">
          <p:sp>
            <p:nvSpPr>
              <p:cNvPr id="3" name="Notes Placeholder 2"/>
              <p:cNvSpPr>
                <a:spLocks noGrp="1"/>
              </p:cNvSpPr>
              <p:nvPr>
                <p:ph type="body" idx="1"/>
              </p:nvPr>
            </p:nvSpPr>
            <p:spPr/>
            <p:txBody>
              <a:bodyPr>
                <a:normAutofit/>
              </a:bodyPr>
              <a:lstStyle/>
              <a:p>
                <a:pPr>
                  <a:lnSpc>
                    <a:spcPct val="114000"/>
                  </a:lnSpc>
                  <a:spcBef>
                    <a:spcPct val="0"/>
                  </a:spcBef>
                  <a:spcAft>
                    <a:spcPts val="622"/>
                  </a:spcAft>
                </a:pPr>
                <a:r>
                  <a:rPr lang="en-US" dirty="0">
                    <a:ea typeface="ＭＳ Ｐゴシック" pitchFamily="-109" charset="-128"/>
                  </a:rPr>
                  <a:t>A test of the null hypothesis will result in a p-value.</a:t>
                </a:r>
              </a:p>
              <a:p>
                <a:pPr>
                  <a:lnSpc>
                    <a:spcPct val="114000"/>
                  </a:lnSpc>
                  <a:spcBef>
                    <a:spcPct val="0"/>
                  </a:spcBef>
                  <a:spcAft>
                    <a:spcPts val="622"/>
                  </a:spcAft>
                </a:pPr>
                <a:r>
                  <a:rPr lang="en-US" b="1" dirty="0">
                    <a:ea typeface="ＭＳ Ｐゴシック" pitchFamily="-109" charset="-128"/>
                  </a:rPr>
                  <a:t>Definition for p-value for testing an hypothesis about </a:t>
                </a:r>
                <a:r>
                  <a:rPr lang="en-US" dirty="0">
                    <a:latin typeface="Cambria Math"/>
                    <a:ea typeface="Cambria Math"/>
                  </a:rPr>
                  <a:t>𝛍</a:t>
                </a:r>
                <a:r>
                  <a:rPr lang="en-US" dirty="0">
                    <a:ea typeface="ＭＳ Ｐゴシック" pitchFamily="-109" charset="-128"/>
                  </a:rPr>
                  <a:t>:</a:t>
                </a:r>
              </a:p>
              <a:p>
                <a:pPr marL="354346">
                  <a:lnSpc>
                    <a:spcPct val="114000"/>
                  </a:lnSpc>
                  <a:spcBef>
                    <a:spcPct val="0"/>
                  </a:spcBef>
                  <a:spcAft>
                    <a:spcPts val="1243"/>
                  </a:spcAft>
                </a:pPr>
                <a:r>
                  <a:rPr lang="en-US" dirty="0">
                    <a:ea typeface="ＭＳ Ｐゴシック" pitchFamily="-109" charset="-128"/>
                  </a:rPr>
                  <a:t>The probability of observing the value of </a:t>
                </a:r>
                <a:r>
                  <a:rPr lang="sv-SE" i="0">
                    <a:latin typeface="Cambria Math"/>
                    <a:ea typeface="ＭＳ Ｐゴシック" pitchFamily="-109" charset="-128"/>
                  </a:rPr>
                  <a:t>𝑥</a:t>
                </a:r>
                <a:r>
                  <a:rPr lang="sv-SE" i="0">
                    <a:latin typeface="Cambria Math" panose="02040503050406030204" pitchFamily="18" charset="0"/>
                    <a:ea typeface="ＭＳ Ｐゴシック" pitchFamily="-109" charset="-128"/>
                  </a:rPr>
                  <a:t> ̅</a:t>
                </a:r>
                <a:r>
                  <a:rPr lang="en-US" dirty="0">
                    <a:ea typeface="ＭＳ Ｐゴシック" pitchFamily="-109" charset="-128"/>
                  </a:rPr>
                  <a:t>  that we </a:t>
                </a:r>
                <a:r>
                  <a:rPr lang="en-US" b="1" dirty="0">
                    <a:ea typeface="ＭＳ Ｐゴシック" pitchFamily="-109" charset="-128"/>
                  </a:rPr>
                  <a:t>did observe</a:t>
                </a:r>
                <a:r>
                  <a:rPr lang="en-US" dirty="0">
                    <a:ea typeface="ＭＳ Ｐゴシック" pitchFamily="-109" charset="-128"/>
                  </a:rPr>
                  <a:t>, </a:t>
                </a:r>
                <a:r>
                  <a:rPr lang="en-US" i="1" dirty="0">
                    <a:ea typeface="ＭＳ Ｐゴシック" pitchFamily="-109" charset="-128"/>
                  </a:rPr>
                  <a:t>or an even more extreme value</a:t>
                </a:r>
                <a:r>
                  <a:rPr lang="en-US" dirty="0">
                    <a:ea typeface="ＭＳ Ｐゴシック" pitchFamily="-109" charset="-128"/>
                  </a:rPr>
                  <a:t>, given that H</a:t>
                </a:r>
                <a:r>
                  <a:rPr lang="en-US" baseline="-25000" dirty="0">
                    <a:ea typeface="ＭＳ Ｐゴシック" pitchFamily="-109" charset="-128"/>
                  </a:rPr>
                  <a:t>0</a:t>
                </a:r>
                <a:r>
                  <a:rPr lang="en-US" dirty="0">
                    <a:ea typeface="ＭＳ Ｐゴシック" pitchFamily="-109" charset="-128"/>
                  </a:rPr>
                  <a:t> is true. </a:t>
                </a:r>
                <a:endParaRPr lang="en-US" dirty="0">
                  <a:ea typeface="ＭＳ Ｐゴシック" pitchFamily="-109" charset="-128"/>
                </a:endParaRPr>
              </a:p>
              <a:p>
                <a:pPr>
                  <a:lnSpc>
                    <a:spcPct val="114000"/>
                  </a:lnSpc>
                  <a:spcBef>
                    <a:spcPct val="0"/>
                  </a:spcBef>
                  <a:spcAft>
                    <a:spcPts val="1243"/>
                  </a:spcAft>
                </a:pPr>
                <a:r>
                  <a:rPr lang="en-US" dirty="0">
                    <a:ea typeface="ＭＳ Ｐゴシック" pitchFamily="-109" charset="-128"/>
                  </a:rPr>
                  <a:t>The </a:t>
                </a:r>
                <a:r>
                  <a:rPr lang="en-US" b="1" i="1" dirty="0">
                    <a:ea typeface="ＭＳ Ｐゴシック" pitchFamily="-109" charset="-128"/>
                  </a:rPr>
                  <a:t>p-value</a:t>
                </a:r>
                <a:r>
                  <a:rPr lang="en-US" dirty="0">
                    <a:ea typeface="ＭＳ Ｐゴシック" pitchFamily="-109" charset="-128"/>
                  </a:rPr>
                  <a:t> (</a:t>
                </a:r>
                <a:r>
                  <a:rPr lang="en-US" i="1" dirty="0">
                    <a:ea typeface="ＭＳ Ｐゴシック" pitchFamily="-109" charset="-128"/>
                  </a:rPr>
                  <a:t>p</a:t>
                </a:r>
                <a:r>
                  <a:rPr lang="en-US" dirty="0">
                    <a:ea typeface="ＭＳ Ｐゴシック" pitchFamily="-109" charset="-128"/>
                  </a:rPr>
                  <a:t>) is a measure of the strength of evidence in the observed data against H</a:t>
                </a:r>
                <a:r>
                  <a:rPr lang="en-US" baseline="-25000" dirty="0">
                    <a:ea typeface="ＭＳ Ｐゴシック" pitchFamily="-109" charset="-128"/>
                  </a:rPr>
                  <a:t>0</a:t>
                </a:r>
                <a:endParaRPr lang="en-US" dirty="0">
                  <a:ea typeface="ＭＳ Ｐゴシック" pitchFamily="-109" charset="-128"/>
                </a:endParaRPr>
              </a:p>
              <a:p>
                <a:pPr>
                  <a:lnSpc>
                    <a:spcPct val="114000"/>
                  </a:lnSpc>
                  <a:spcBef>
                    <a:spcPct val="0"/>
                  </a:spcBef>
                  <a:spcAft>
                    <a:spcPts val="622"/>
                  </a:spcAft>
                </a:pPr>
                <a:r>
                  <a:rPr lang="en-US" dirty="0">
                    <a:ea typeface="ＭＳ Ｐゴシック" pitchFamily="-109" charset="-128"/>
                  </a:rPr>
                  <a:t>The </a:t>
                </a:r>
                <a:r>
                  <a:rPr lang="en-US" i="1" dirty="0">
                    <a:ea typeface="ＭＳ Ｐゴシック" pitchFamily="-109" charset="-128"/>
                  </a:rPr>
                  <a:t>p</a:t>
                </a:r>
                <a:r>
                  <a:rPr lang="en-US" dirty="0">
                    <a:ea typeface="ＭＳ Ｐゴシック" pitchFamily="-109" charset="-128"/>
                  </a:rPr>
                  <a:t> is a probability </a:t>
                </a:r>
                <a:r>
                  <a:rPr lang="en-US" dirty="0">
                    <a:latin typeface="Cambria Math"/>
                    <a:ea typeface="Cambria Math"/>
                  </a:rPr>
                  <a:t>→ </a:t>
                </a:r>
                <a:r>
                  <a:rPr lang="en-US" dirty="0">
                    <a:ea typeface="ＭＳ Ｐゴシック" pitchFamily="-109" charset="-128"/>
                  </a:rPr>
                  <a:t>0 </a:t>
                </a:r>
                <a:r>
                  <a:rPr lang="en-US" dirty="0">
                    <a:ea typeface="ＭＳ Ｐゴシック" pitchFamily="-109" charset="-128"/>
                  </a:rPr>
                  <a:t>&lt; </a:t>
                </a:r>
                <a:r>
                  <a:rPr lang="en-US" i="1" dirty="0">
                    <a:ea typeface="ＭＳ Ｐゴシック" pitchFamily="-109" charset="-128"/>
                  </a:rPr>
                  <a:t>p</a:t>
                </a:r>
                <a:r>
                  <a:rPr lang="en-US" dirty="0">
                    <a:ea typeface="ＭＳ Ｐゴシック" pitchFamily="-109" charset="-128"/>
                  </a:rPr>
                  <a:t> &lt; 1</a:t>
                </a:r>
              </a:p>
              <a:p>
                <a:pPr>
                  <a:lnSpc>
                    <a:spcPct val="114000"/>
                  </a:lnSpc>
                  <a:spcBef>
                    <a:spcPts val="1243"/>
                  </a:spcBef>
                  <a:spcAft>
                    <a:spcPts val="622"/>
                  </a:spcAft>
                </a:pPr>
                <a:r>
                  <a:rPr lang="en-US" dirty="0">
                    <a:ea typeface="ＭＳ Ｐゴシック" pitchFamily="-109" charset="-128"/>
                  </a:rPr>
                  <a:t>The </a:t>
                </a:r>
                <a:r>
                  <a:rPr lang="en-US" dirty="0">
                    <a:ea typeface="ＭＳ Ｐゴシック" pitchFamily="-109" charset="-128"/>
                  </a:rPr>
                  <a:t>basic idea is that if </a:t>
                </a:r>
                <a:r>
                  <a:rPr lang="en-US" i="1" dirty="0">
                    <a:ea typeface="ＭＳ Ｐゴシック" pitchFamily="-109" charset="-128"/>
                  </a:rPr>
                  <a:t>p</a:t>
                </a:r>
                <a:r>
                  <a:rPr lang="en-US" dirty="0">
                    <a:ea typeface="ＭＳ Ｐゴシック" pitchFamily="-109" charset="-128"/>
                  </a:rPr>
                  <a:t> is </a:t>
                </a:r>
                <a:r>
                  <a:rPr lang="en-US" dirty="0">
                    <a:ea typeface="ＭＳ Ｐゴシック" pitchFamily="-109" charset="-128"/>
                  </a:rPr>
                  <a:t>lower that the significance level than you reject the null hypothesis</a:t>
                </a:r>
              </a:p>
              <a:p>
                <a:pPr lvl="1">
                  <a:lnSpc>
                    <a:spcPct val="114000"/>
                  </a:lnSpc>
                  <a:spcBef>
                    <a:spcPct val="0"/>
                  </a:spcBef>
                  <a:spcAft>
                    <a:spcPts val="1243"/>
                  </a:spcAft>
                </a:pPr>
                <a:r>
                  <a:rPr lang="en-US" dirty="0">
                    <a:ea typeface="ＭＳ Ｐゴシック" pitchFamily="-109" charset="-128"/>
                  </a:rPr>
                  <a:t>The p-value is then called </a:t>
                </a:r>
                <a:r>
                  <a:rPr lang="en-US" b="1" u="sng" dirty="0">
                    <a:ea typeface="ＭＳ Ｐゴシック" pitchFamily="-109" charset="-128"/>
                  </a:rPr>
                  <a:t>significant</a:t>
                </a:r>
                <a:r>
                  <a:rPr lang="en-US" b="1" dirty="0">
                    <a:ea typeface="ＭＳ Ｐゴシック" pitchFamily="-109" charset="-128"/>
                  </a:rPr>
                  <a:t> </a:t>
                </a:r>
              </a:p>
              <a:p>
                <a:endParaRPr lang="en-US" dirty="0"/>
              </a:p>
            </p:txBody>
          </p:sp>
        </mc:Fallback>
      </mc:AlternateContent>
      <p:sp>
        <p:nvSpPr>
          <p:cNvPr id="4" name="Slide Number Placeholder 3"/>
          <p:cNvSpPr>
            <a:spLocks noGrp="1"/>
          </p:cNvSpPr>
          <p:nvPr>
            <p:ph type="sldNum" sz="quarter" idx="10"/>
          </p:nvPr>
        </p:nvSpPr>
        <p:spPr/>
        <p:txBody>
          <a:bodyPr/>
          <a:lstStyle/>
          <a:p>
            <a:fld id="{4408995C-B3E1-4E2E-8CD0-73E72B7C4CFD}" type="slidenum">
              <a:rPr lang="sv-SE" smtClean="0">
                <a:solidFill>
                  <a:prstClr val="black"/>
                </a:solidFill>
              </a:rPr>
              <a:pPr/>
              <a:t>48</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2374661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8688" y="1238250"/>
            <a:ext cx="5940425" cy="3341688"/>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normAutofit/>
              </a:bodyPr>
              <a:lstStyle/>
              <a:p>
                <a:pPr>
                  <a:lnSpc>
                    <a:spcPct val="114000"/>
                  </a:lnSpc>
                  <a:spcBef>
                    <a:spcPct val="0"/>
                  </a:spcBef>
                  <a:spcAft>
                    <a:spcPts val="622"/>
                  </a:spcAft>
                </a:pPr>
                <a:r>
                  <a:rPr lang="en-US" dirty="0">
                    <a:ea typeface="ＭＳ Ｐゴシック" pitchFamily="-109" charset="-128"/>
                  </a:rPr>
                  <a:t>A test of the null hypothesis will result in a p-value.</a:t>
                </a:r>
              </a:p>
              <a:p>
                <a:pPr>
                  <a:lnSpc>
                    <a:spcPct val="114000"/>
                  </a:lnSpc>
                  <a:spcBef>
                    <a:spcPct val="0"/>
                  </a:spcBef>
                  <a:spcAft>
                    <a:spcPts val="622"/>
                  </a:spcAft>
                </a:pPr>
                <a:r>
                  <a:rPr lang="en-US" b="1" dirty="0">
                    <a:ea typeface="ＭＳ Ｐゴシック" pitchFamily="-109" charset="-128"/>
                  </a:rPr>
                  <a:t>Definition for p-value for testing an hypothesis about </a:t>
                </a:r>
                <a:r>
                  <a:rPr lang="en-US" dirty="0">
                    <a:latin typeface="Cambria Math"/>
                    <a:ea typeface="Cambria Math"/>
                  </a:rPr>
                  <a:t>𝛍</a:t>
                </a:r>
                <a:r>
                  <a:rPr lang="en-US" dirty="0">
                    <a:ea typeface="ＭＳ Ｐゴシック" pitchFamily="-109" charset="-128"/>
                  </a:rPr>
                  <a:t>:</a:t>
                </a:r>
              </a:p>
              <a:p>
                <a:pPr marL="354324">
                  <a:lnSpc>
                    <a:spcPct val="114000"/>
                  </a:lnSpc>
                  <a:spcBef>
                    <a:spcPct val="0"/>
                  </a:spcBef>
                  <a:spcAft>
                    <a:spcPts val="1243"/>
                  </a:spcAft>
                </a:pPr>
                <a:r>
                  <a:rPr lang="en-US" dirty="0">
                    <a:ea typeface="ＭＳ Ｐゴシック" pitchFamily="-109" charset="-128"/>
                  </a:rPr>
                  <a:t>The probability of observing the value of </a:t>
                </a:r>
                <a14:m>
                  <m:oMath xmlns:m="http://schemas.openxmlformats.org/officeDocument/2006/math">
                    <m:acc>
                      <m:accPr>
                        <m:chr m:val="̅"/>
                        <m:ctrlPr>
                          <a:rPr lang="sv-SE" i="1">
                            <a:latin typeface="Cambria Math" panose="02040503050406030204" pitchFamily="18" charset="0"/>
                            <a:ea typeface="ＭＳ Ｐゴシック" pitchFamily="-109" charset="-128"/>
                          </a:rPr>
                        </m:ctrlPr>
                      </m:accPr>
                      <m:e>
                        <m:r>
                          <a:rPr lang="sv-SE" i="1">
                            <a:latin typeface="Cambria Math"/>
                            <a:ea typeface="ＭＳ Ｐゴシック" pitchFamily="-109" charset="-128"/>
                          </a:rPr>
                          <m:t>𝑥</m:t>
                        </m:r>
                      </m:e>
                    </m:acc>
                  </m:oMath>
                </a14:m>
                <a:r>
                  <a:rPr lang="en-US" dirty="0">
                    <a:ea typeface="ＭＳ Ｐゴシック" pitchFamily="-109" charset="-128"/>
                  </a:rPr>
                  <a:t>  that we </a:t>
                </a:r>
                <a:r>
                  <a:rPr lang="en-US" b="1" dirty="0">
                    <a:ea typeface="ＭＳ Ｐゴシック" pitchFamily="-109" charset="-128"/>
                  </a:rPr>
                  <a:t>did observe</a:t>
                </a:r>
                <a:r>
                  <a:rPr lang="en-US" dirty="0">
                    <a:ea typeface="ＭＳ Ｐゴシック" pitchFamily="-109" charset="-128"/>
                  </a:rPr>
                  <a:t>, </a:t>
                </a:r>
                <a:r>
                  <a:rPr lang="en-US" i="1" dirty="0">
                    <a:ea typeface="ＭＳ Ｐゴシック" pitchFamily="-109" charset="-128"/>
                  </a:rPr>
                  <a:t>or an even more extreme value</a:t>
                </a:r>
                <a:r>
                  <a:rPr lang="en-US" dirty="0">
                    <a:ea typeface="ＭＳ Ｐゴシック" pitchFamily="-109" charset="-128"/>
                  </a:rPr>
                  <a:t>, given that H</a:t>
                </a:r>
                <a:r>
                  <a:rPr lang="en-US" baseline="-25000" dirty="0">
                    <a:ea typeface="ＭＳ Ｐゴシック" pitchFamily="-109" charset="-128"/>
                  </a:rPr>
                  <a:t>0</a:t>
                </a:r>
                <a:r>
                  <a:rPr lang="en-US" dirty="0">
                    <a:ea typeface="ＭＳ Ｐゴシック" pitchFamily="-109" charset="-128"/>
                  </a:rPr>
                  <a:t> is true. </a:t>
                </a:r>
              </a:p>
              <a:p>
                <a:pPr>
                  <a:lnSpc>
                    <a:spcPct val="114000"/>
                  </a:lnSpc>
                  <a:spcBef>
                    <a:spcPct val="0"/>
                  </a:spcBef>
                  <a:spcAft>
                    <a:spcPts val="1243"/>
                  </a:spcAft>
                </a:pPr>
                <a:r>
                  <a:rPr lang="en-US" dirty="0">
                    <a:ea typeface="ＭＳ Ｐゴシック" pitchFamily="-109" charset="-128"/>
                  </a:rPr>
                  <a:t>The </a:t>
                </a:r>
                <a:r>
                  <a:rPr lang="en-US" b="1" i="1" dirty="0">
                    <a:ea typeface="ＭＳ Ｐゴシック" pitchFamily="-109" charset="-128"/>
                  </a:rPr>
                  <a:t>p-value</a:t>
                </a:r>
                <a:r>
                  <a:rPr lang="en-US" dirty="0">
                    <a:ea typeface="ＭＳ Ｐゴシック" pitchFamily="-109" charset="-128"/>
                  </a:rPr>
                  <a:t> (</a:t>
                </a:r>
                <a:r>
                  <a:rPr lang="en-US" i="1" dirty="0">
                    <a:ea typeface="ＭＳ Ｐゴシック" pitchFamily="-109" charset="-128"/>
                  </a:rPr>
                  <a:t>p</a:t>
                </a:r>
                <a:r>
                  <a:rPr lang="en-US" dirty="0">
                    <a:ea typeface="ＭＳ Ｐゴシック" pitchFamily="-109" charset="-128"/>
                  </a:rPr>
                  <a:t>) is a measure of the strength of evidence in the observed data against H</a:t>
                </a:r>
                <a:r>
                  <a:rPr lang="en-US" baseline="-25000" dirty="0">
                    <a:ea typeface="ＭＳ Ｐゴシック" pitchFamily="-109" charset="-128"/>
                  </a:rPr>
                  <a:t>0</a:t>
                </a:r>
                <a:endParaRPr lang="en-US" dirty="0">
                  <a:ea typeface="ＭＳ Ｐゴシック" pitchFamily="-109" charset="-128"/>
                </a:endParaRPr>
              </a:p>
              <a:p>
                <a:pPr>
                  <a:lnSpc>
                    <a:spcPct val="114000"/>
                  </a:lnSpc>
                  <a:spcBef>
                    <a:spcPct val="0"/>
                  </a:spcBef>
                  <a:spcAft>
                    <a:spcPts val="622"/>
                  </a:spcAft>
                </a:pPr>
                <a:r>
                  <a:rPr lang="en-US" dirty="0">
                    <a:ea typeface="ＭＳ Ｐゴシック" pitchFamily="-109" charset="-128"/>
                  </a:rPr>
                  <a:t>The </a:t>
                </a:r>
                <a:r>
                  <a:rPr lang="en-US" i="1" dirty="0">
                    <a:ea typeface="ＭＳ Ｐゴシック" pitchFamily="-109" charset="-128"/>
                  </a:rPr>
                  <a:t>p</a:t>
                </a:r>
                <a:r>
                  <a:rPr lang="en-US" dirty="0">
                    <a:ea typeface="ＭＳ Ｐゴシック" pitchFamily="-109" charset="-128"/>
                  </a:rPr>
                  <a:t> is a probability </a:t>
                </a:r>
                <a:r>
                  <a:rPr lang="en-US" dirty="0">
                    <a:latin typeface="Cambria Math"/>
                    <a:ea typeface="Cambria Math"/>
                  </a:rPr>
                  <a:t>→ </a:t>
                </a:r>
                <a:r>
                  <a:rPr lang="en-US" dirty="0">
                    <a:ea typeface="ＭＳ Ｐゴシック" pitchFamily="-109" charset="-128"/>
                  </a:rPr>
                  <a:t>0 &lt; </a:t>
                </a:r>
                <a:r>
                  <a:rPr lang="en-US" i="1" dirty="0">
                    <a:ea typeface="ＭＳ Ｐゴシック" pitchFamily="-109" charset="-128"/>
                  </a:rPr>
                  <a:t>p</a:t>
                </a:r>
                <a:r>
                  <a:rPr lang="en-US" dirty="0">
                    <a:ea typeface="ＭＳ Ｐゴシック" pitchFamily="-109" charset="-128"/>
                  </a:rPr>
                  <a:t> &lt; 1</a:t>
                </a:r>
              </a:p>
              <a:p>
                <a:pPr>
                  <a:lnSpc>
                    <a:spcPct val="114000"/>
                  </a:lnSpc>
                  <a:spcBef>
                    <a:spcPts val="1243"/>
                  </a:spcBef>
                  <a:spcAft>
                    <a:spcPts val="622"/>
                  </a:spcAft>
                </a:pPr>
                <a:r>
                  <a:rPr lang="en-US" dirty="0">
                    <a:ea typeface="ＭＳ Ｐゴシック" pitchFamily="-109" charset="-128"/>
                  </a:rPr>
                  <a:t>The basic idea is that if </a:t>
                </a:r>
                <a:r>
                  <a:rPr lang="en-US" i="1" dirty="0">
                    <a:ea typeface="ＭＳ Ｐゴシック" pitchFamily="-109" charset="-128"/>
                  </a:rPr>
                  <a:t>p</a:t>
                </a:r>
                <a:r>
                  <a:rPr lang="en-US" dirty="0">
                    <a:ea typeface="ＭＳ Ｐゴシック" pitchFamily="-109" charset="-128"/>
                  </a:rPr>
                  <a:t> is lower that the significance level than you reject the null hypothesis</a:t>
                </a:r>
              </a:p>
              <a:p>
                <a:pPr lvl="1">
                  <a:lnSpc>
                    <a:spcPct val="114000"/>
                  </a:lnSpc>
                  <a:spcBef>
                    <a:spcPct val="0"/>
                  </a:spcBef>
                  <a:spcAft>
                    <a:spcPts val="1243"/>
                  </a:spcAft>
                </a:pPr>
                <a:r>
                  <a:rPr lang="en-US" dirty="0">
                    <a:ea typeface="ＭＳ Ｐゴシック" pitchFamily="-109" charset="-128"/>
                  </a:rPr>
                  <a:t>The p-value is then called </a:t>
                </a:r>
                <a:r>
                  <a:rPr lang="en-US" b="1" u="sng" dirty="0">
                    <a:ea typeface="ＭＳ Ｐゴシック" pitchFamily="-109" charset="-128"/>
                  </a:rPr>
                  <a:t>significant</a:t>
                </a:r>
                <a:r>
                  <a:rPr lang="en-US" b="1" dirty="0">
                    <a:ea typeface="ＭＳ Ｐゴシック" pitchFamily="-109" charset="-128"/>
                  </a:rPr>
                  <a:t> </a:t>
                </a:r>
              </a:p>
              <a:p>
                <a:endParaRPr lang="en-US" dirty="0"/>
              </a:p>
            </p:txBody>
          </p:sp>
        </mc:Choice>
        <mc:Fallback xmlns="">
          <p:sp>
            <p:nvSpPr>
              <p:cNvPr id="3" name="Notes Placeholder 2"/>
              <p:cNvSpPr>
                <a:spLocks noGrp="1"/>
              </p:cNvSpPr>
              <p:nvPr>
                <p:ph type="body" idx="1"/>
              </p:nvPr>
            </p:nvSpPr>
            <p:spPr/>
            <p:txBody>
              <a:bodyPr>
                <a:normAutofit/>
              </a:bodyPr>
              <a:lstStyle/>
              <a:p>
                <a:pPr>
                  <a:lnSpc>
                    <a:spcPct val="114000"/>
                  </a:lnSpc>
                  <a:spcBef>
                    <a:spcPct val="0"/>
                  </a:spcBef>
                  <a:spcAft>
                    <a:spcPts val="622"/>
                  </a:spcAft>
                </a:pPr>
                <a:r>
                  <a:rPr lang="en-US" dirty="0">
                    <a:ea typeface="ＭＳ Ｐゴシック" pitchFamily="-109" charset="-128"/>
                  </a:rPr>
                  <a:t>A test of the null hypothesis will result in a p-value.</a:t>
                </a:r>
              </a:p>
              <a:p>
                <a:pPr>
                  <a:lnSpc>
                    <a:spcPct val="114000"/>
                  </a:lnSpc>
                  <a:spcBef>
                    <a:spcPct val="0"/>
                  </a:spcBef>
                  <a:spcAft>
                    <a:spcPts val="622"/>
                  </a:spcAft>
                </a:pPr>
                <a:r>
                  <a:rPr lang="en-US" b="1" dirty="0">
                    <a:ea typeface="ＭＳ Ｐゴシック" pitchFamily="-109" charset="-128"/>
                  </a:rPr>
                  <a:t>Definition for p-value for testing an hypothesis about </a:t>
                </a:r>
                <a:r>
                  <a:rPr lang="en-US" dirty="0">
                    <a:latin typeface="Cambria Math"/>
                    <a:ea typeface="Cambria Math"/>
                  </a:rPr>
                  <a:t>𝛍</a:t>
                </a:r>
                <a:r>
                  <a:rPr lang="en-US" dirty="0">
                    <a:ea typeface="ＭＳ Ｐゴシック" pitchFamily="-109" charset="-128"/>
                  </a:rPr>
                  <a:t>:</a:t>
                </a:r>
              </a:p>
              <a:p>
                <a:pPr marL="354346">
                  <a:lnSpc>
                    <a:spcPct val="114000"/>
                  </a:lnSpc>
                  <a:spcBef>
                    <a:spcPct val="0"/>
                  </a:spcBef>
                  <a:spcAft>
                    <a:spcPts val="1243"/>
                  </a:spcAft>
                </a:pPr>
                <a:r>
                  <a:rPr lang="en-US" dirty="0">
                    <a:ea typeface="ＭＳ Ｐゴシック" pitchFamily="-109" charset="-128"/>
                  </a:rPr>
                  <a:t>The probability of observing the value of </a:t>
                </a:r>
                <a:r>
                  <a:rPr lang="sv-SE" i="0">
                    <a:latin typeface="Cambria Math"/>
                    <a:ea typeface="ＭＳ Ｐゴシック" pitchFamily="-109" charset="-128"/>
                  </a:rPr>
                  <a:t>𝑥</a:t>
                </a:r>
                <a:r>
                  <a:rPr lang="sv-SE" i="0">
                    <a:latin typeface="Cambria Math" panose="02040503050406030204" pitchFamily="18" charset="0"/>
                    <a:ea typeface="ＭＳ Ｐゴシック" pitchFamily="-109" charset="-128"/>
                  </a:rPr>
                  <a:t> ̅</a:t>
                </a:r>
                <a:r>
                  <a:rPr lang="en-US" dirty="0">
                    <a:ea typeface="ＭＳ Ｐゴシック" pitchFamily="-109" charset="-128"/>
                  </a:rPr>
                  <a:t>  that we </a:t>
                </a:r>
                <a:r>
                  <a:rPr lang="en-US" b="1" dirty="0">
                    <a:ea typeface="ＭＳ Ｐゴシック" pitchFamily="-109" charset="-128"/>
                  </a:rPr>
                  <a:t>did observe</a:t>
                </a:r>
                <a:r>
                  <a:rPr lang="en-US" dirty="0">
                    <a:ea typeface="ＭＳ Ｐゴシック" pitchFamily="-109" charset="-128"/>
                  </a:rPr>
                  <a:t>, </a:t>
                </a:r>
                <a:r>
                  <a:rPr lang="en-US" i="1" dirty="0">
                    <a:ea typeface="ＭＳ Ｐゴシック" pitchFamily="-109" charset="-128"/>
                  </a:rPr>
                  <a:t>or an even more extreme value</a:t>
                </a:r>
                <a:r>
                  <a:rPr lang="en-US" dirty="0">
                    <a:ea typeface="ＭＳ Ｐゴシック" pitchFamily="-109" charset="-128"/>
                  </a:rPr>
                  <a:t>, given that H</a:t>
                </a:r>
                <a:r>
                  <a:rPr lang="en-US" baseline="-25000" dirty="0">
                    <a:ea typeface="ＭＳ Ｐゴシック" pitchFamily="-109" charset="-128"/>
                  </a:rPr>
                  <a:t>0</a:t>
                </a:r>
                <a:r>
                  <a:rPr lang="en-US" dirty="0">
                    <a:ea typeface="ＭＳ Ｐゴシック" pitchFamily="-109" charset="-128"/>
                  </a:rPr>
                  <a:t> is true. </a:t>
                </a:r>
                <a:endParaRPr lang="en-US" dirty="0">
                  <a:ea typeface="ＭＳ Ｐゴシック" pitchFamily="-109" charset="-128"/>
                </a:endParaRPr>
              </a:p>
              <a:p>
                <a:pPr>
                  <a:lnSpc>
                    <a:spcPct val="114000"/>
                  </a:lnSpc>
                  <a:spcBef>
                    <a:spcPct val="0"/>
                  </a:spcBef>
                  <a:spcAft>
                    <a:spcPts val="1243"/>
                  </a:spcAft>
                </a:pPr>
                <a:r>
                  <a:rPr lang="en-US" dirty="0">
                    <a:ea typeface="ＭＳ Ｐゴシック" pitchFamily="-109" charset="-128"/>
                  </a:rPr>
                  <a:t>The </a:t>
                </a:r>
                <a:r>
                  <a:rPr lang="en-US" b="1" i="1" dirty="0">
                    <a:ea typeface="ＭＳ Ｐゴシック" pitchFamily="-109" charset="-128"/>
                  </a:rPr>
                  <a:t>p-value</a:t>
                </a:r>
                <a:r>
                  <a:rPr lang="en-US" dirty="0">
                    <a:ea typeface="ＭＳ Ｐゴシック" pitchFamily="-109" charset="-128"/>
                  </a:rPr>
                  <a:t> (</a:t>
                </a:r>
                <a:r>
                  <a:rPr lang="en-US" i="1" dirty="0">
                    <a:ea typeface="ＭＳ Ｐゴシック" pitchFamily="-109" charset="-128"/>
                  </a:rPr>
                  <a:t>p</a:t>
                </a:r>
                <a:r>
                  <a:rPr lang="en-US" dirty="0">
                    <a:ea typeface="ＭＳ Ｐゴシック" pitchFamily="-109" charset="-128"/>
                  </a:rPr>
                  <a:t>) is a measure of the strength of evidence in the observed data against H</a:t>
                </a:r>
                <a:r>
                  <a:rPr lang="en-US" baseline="-25000" dirty="0">
                    <a:ea typeface="ＭＳ Ｐゴシック" pitchFamily="-109" charset="-128"/>
                  </a:rPr>
                  <a:t>0</a:t>
                </a:r>
                <a:endParaRPr lang="en-US" dirty="0">
                  <a:ea typeface="ＭＳ Ｐゴシック" pitchFamily="-109" charset="-128"/>
                </a:endParaRPr>
              </a:p>
              <a:p>
                <a:pPr>
                  <a:lnSpc>
                    <a:spcPct val="114000"/>
                  </a:lnSpc>
                  <a:spcBef>
                    <a:spcPct val="0"/>
                  </a:spcBef>
                  <a:spcAft>
                    <a:spcPts val="622"/>
                  </a:spcAft>
                </a:pPr>
                <a:r>
                  <a:rPr lang="en-US" dirty="0">
                    <a:ea typeface="ＭＳ Ｐゴシック" pitchFamily="-109" charset="-128"/>
                  </a:rPr>
                  <a:t>The </a:t>
                </a:r>
                <a:r>
                  <a:rPr lang="en-US" i="1" dirty="0">
                    <a:ea typeface="ＭＳ Ｐゴシック" pitchFamily="-109" charset="-128"/>
                  </a:rPr>
                  <a:t>p</a:t>
                </a:r>
                <a:r>
                  <a:rPr lang="en-US" dirty="0">
                    <a:ea typeface="ＭＳ Ｐゴシック" pitchFamily="-109" charset="-128"/>
                  </a:rPr>
                  <a:t> is a probability </a:t>
                </a:r>
                <a:r>
                  <a:rPr lang="en-US" dirty="0">
                    <a:latin typeface="Cambria Math"/>
                    <a:ea typeface="Cambria Math"/>
                  </a:rPr>
                  <a:t>→ </a:t>
                </a:r>
                <a:r>
                  <a:rPr lang="en-US" dirty="0">
                    <a:ea typeface="ＭＳ Ｐゴシック" pitchFamily="-109" charset="-128"/>
                  </a:rPr>
                  <a:t>0 </a:t>
                </a:r>
                <a:r>
                  <a:rPr lang="en-US" dirty="0">
                    <a:ea typeface="ＭＳ Ｐゴシック" pitchFamily="-109" charset="-128"/>
                  </a:rPr>
                  <a:t>&lt; </a:t>
                </a:r>
                <a:r>
                  <a:rPr lang="en-US" i="1" dirty="0">
                    <a:ea typeface="ＭＳ Ｐゴシック" pitchFamily="-109" charset="-128"/>
                  </a:rPr>
                  <a:t>p</a:t>
                </a:r>
                <a:r>
                  <a:rPr lang="en-US" dirty="0">
                    <a:ea typeface="ＭＳ Ｐゴシック" pitchFamily="-109" charset="-128"/>
                  </a:rPr>
                  <a:t> &lt; 1</a:t>
                </a:r>
              </a:p>
              <a:p>
                <a:pPr>
                  <a:lnSpc>
                    <a:spcPct val="114000"/>
                  </a:lnSpc>
                  <a:spcBef>
                    <a:spcPts val="1243"/>
                  </a:spcBef>
                  <a:spcAft>
                    <a:spcPts val="622"/>
                  </a:spcAft>
                </a:pPr>
                <a:r>
                  <a:rPr lang="en-US" dirty="0">
                    <a:ea typeface="ＭＳ Ｐゴシック" pitchFamily="-109" charset="-128"/>
                  </a:rPr>
                  <a:t>The </a:t>
                </a:r>
                <a:r>
                  <a:rPr lang="en-US" dirty="0">
                    <a:ea typeface="ＭＳ Ｐゴシック" pitchFamily="-109" charset="-128"/>
                  </a:rPr>
                  <a:t>basic idea is that if </a:t>
                </a:r>
                <a:r>
                  <a:rPr lang="en-US" i="1" dirty="0">
                    <a:ea typeface="ＭＳ Ｐゴシック" pitchFamily="-109" charset="-128"/>
                  </a:rPr>
                  <a:t>p</a:t>
                </a:r>
                <a:r>
                  <a:rPr lang="en-US" dirty="0">
                    <a:ea typeface="ＭＳ Ｐゴシック" pitchFamily="-109" charset="-128"/>
                  </a:rPr>
                  <a:t> is </a:t>
                </a:r>
                <a:r>
                  <a:rPr lang="en-US" dirty="0">
                    <a:ea typeface="ＭＳ Ｐゴシック" pitchFamily="-109" charset="-128"/>
                  </a:rPr>
                  <a:t>lower that the significance level than you reject the null hypothesis</a:t>
                </a:r>
              </a:p>
              <a:p>
                <a:pPr lvl="1">
                  <a:lnSpc>
                    <a:spcPct val="114000"/>
                  </a:lnSpc>
                  <a:spcBef>
                    <a:spcPct val="0"/>
                  </a:spcBef>
                  <a:spcAft>
                    <a:spcPts val="1243"/>
                  </a:spcAft>
                </a:pPr>
                <a:r>
                  <a:rPr lang="en-US" dirty="0">
                    <a:ea typeface="ＭＳ Ｐゴシック" pitchFamily="-109" charset="-128"/>
                  </a:rPr>
                  <a:t>The p-value is then called </a:t>
                </a:r>
                <a:r>
                  <a:rPr lang="en-US" b="1" u="sng" dirty="0">
                    <a:ea typeface="ＭＳ Ｐゴシック" pitchFamily="-109" charset="-128"/>
                  </a:rPr>
                  <a:t>significant</a:t>
                </a:r>
                <a:r>
                  <a:rPr lang="en-US" b="1" dirty="0">
                    <a:ea typeface="ＭＳ Ｐゴシック" pitchFamily="-109" charset="-128"/>
                  </a:rPr>
                  <a:t> </a:t>
                </a:r>
              </a:p>
              <a:p>
                <a:endParaRPr lang="en-US" dirty="0"/>
              </a:p>
            </p:txBody>
          </p:sp>
        </mc:Fallback>
      </mc:AlternateContent>
      <p:sp>
        <p:nvSpPr>
          <p:cNvPr id="4" name="Slide Number Placeholder 3"/>
          <p:cNvSpPr>
            <a:spLocks noGrp="1"/>
          </p:cNvSpPr>
          <p:nvPr>
            <p:ph type="sldNum" sz="quarter" idx="10"/>
          </p:nvPr>
        </p:nvSpPr>
        <p:spPr/>
        <p:txBody>
          <a:bodyPr/>
          <a:lstStyle/>
          <a:p>
            <a:fld id="{4408995C-B3E1-4E2E-8CD0-73E72B7C4CFD}" type="slidenum">
              <a:rPr lang="sv-SE" smtClean="0">
                <a:solidFill>
                  <a:prstClr val="black"/>
                </a:solidFill>
              </a:rPr>
              <a:pPr/>
              <a:t>49</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0799372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50</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9443873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8688" y="1238250"/>
            <a:ext cx="5940425" cy="3341688"/>
          </a:xfrm>
        </p:spPr>
      </p:sp>
      <p:sp>
        <p:nvSpPr>
          <p:cNvPr id="3" name="Notes Placeholder 2"/>
          <p:cNvSpPr>
            <a:spLocks noGrp="1"/>
          </p:cNvSpPr>
          <p:nvPr>
            <p:ph type="body" idx="1"/>
          </p:nvPr>
        </p:nvSpPr>
        <p:spPr/>
        <p:txBody>
          <a:bodyPr>
            <a:normAutofit/>
          </a:bodyPr>
          <a:lstStyle/>
          <a:p>
            <a:pPr>
              <a:lnSpc>
                <a:spcPct val="150000"/>
              </a:lnSpc>
              <a:spcBef>
                <a:spcPts val="622"/>
              </a:spcBef>
              <a:spcAft>
                <a:spcPts val="622"/>
              </a:spcAft>
            </a:pPr>
            <a:r>
              <a:rPr lang="en-US" dirty="0"/>
              <a:t>The </a:t>
            </a:r>
            <a:r>
              <a:rPr lang="en-US" b="1" dirty="0"/>
              <a:t>significance level </a:t>
            </a:r>
            <a:r>
              <a:rPr lang="en-US" dirty="0">
                <a:latin typeface="Cambria" panose="02040503050406030204" pitchFamily="18" charset="0"/>
              </a:rPr>
              <a:t>(</a:t>
            </a:r>
            <a:r>
              <a:rPr lang="el-GR" dirty="0">
                <a:latin typeface="Cambria Math"/>
                <a:ea typeface="Cambria Math"/>
              </a:rPr>
              <a:t>α</a:t>
            </a:r>
            <a:r>
              <a:rPr lang="en-US" dirty="0">
                <a:latin typeface="Cambria" panose="02040503050406030204" pitchFamily="18" charset="0"/>
                <a:ea typeface="Cambria Math"/>
              </a:rPr>
              <a:t>)</a:t>
            </a:r>
            <a:r>
              <a:rPr lang="en-US" dirty="0">
                <a:latin typeface="Cambria Math"/>
                <a:ea typeface="Cambria Math"/>
              </a:rPr>
              <a:t> </a:t>
            </a:r>
            <a:r>
              <a:rPr lang="en-US" dirty="0"/>
              <a:t> should be chosen before any analyses are done.</a:t>
            </a:r>
          </a:p>
          <a:p>
            <a:pPr>
              <a:lnSpc>
                <a:spcPct val="150000"/>
              </a:lnSpc>
              <a:spcBef>
                <a:spcPts val="622"/>
              </a:spcBef>
              <a:spcAft>
                <a:spcPts val="1243"/>
              </a:spcAft>
            </a:pPr>
            <a:r>
              <a:rPr lang="en-US" dirty="0"/>
              <a:t>It specifies the highest acceptable risk for erroneously rejecting H</a:t>
            </a:r>
            <a:r>
              <a:rPr lang="en-US" baseline="-25000" dirty="0"/>
              <a:t>0</a:t>
            </a:r>
            <a:r>
              <a:rPr lang="en-US" dirty="0"/>
              <a:t> (i.e., making a type 1 error).</a:t>
            </a:r>
          </a:p>
          <a:p>
            <a:pPr>
              <a:lnSpc>
                <a:spcPct val="150000"/>
              </a:lnSpc>
              <a:spcBef>
                <a:spcPts val="622"/>
              </a:spcBef>
              <a:spcAft>
                <a:spcPts val="622"/>
              </a:spcAft>
            </a:pPr>
            <a:r>
              <a:rPr lang="en-US" dirty="0">
                <a:solidFill>
                  <a:schemeClr val="accent1"/>
                </a:solidFill>
              </a:rPr>
              <a:t>E.g., </a:t>
            </a:r>
            <a:r>
              <a:rPr lang="en-US" dirty="0"/>
              <a:t>the significance level of a 95% CI is 0.05 (1 - 0.95) or 5%</a:t>
            </a:r>
          </a:p>
          <a:p>
            <a:pPr>
              <a:lnSpc>
                <a:spcPct val="150000"/>
              </a:lnSpc>
              <a:spcBef>
                <a:spcPts val="622"/>
              </a:spcBef>
              <a:spcAft>
                <a:spcPts val="622"/>
              </a:spcAft>
            </a:pPr>
            <a:r>
              <a:rPr lang="en-US" dirty="0"/>
              <a:t>We accept that 5% of our CIs won't cover the true value, hence lead us a wrongful conclusion.   </a:t>
            </a:r>
          </a:p>
          <a:p>
            <a:endParaRPr lang="en-US" dirty="0"/>
          </a:p>
        </p:txBody>
      </p:sp>
      <p:sp>
        <p:nvSpPr>
          <p:cNvPr id="4" name="Slide Number Placeholder 3"/>
          <p:cNvSpPr>
            <a:spLocks noGrp="1"/>
          </p:cNvSpPr>
          <p:nvPr>
            <p:ph type="sldNum" sz="quarter" idx="10"/>
          </p:nvPr>
        </p:nvSpPr>
        <p:spPr/>
        <p:txBody>
          <a:bodyPr/>
          <a:lstStyle/>
          <a:p>
            <a:fld id="{4408995C-B3E1-4E2E-8CD0-73E72B7C4CFD}" type="slidenum">
              <a:rPr lang="sv-SE" smtClean="0">
                <a:solidFill>
                  <a:prstClr val="black"/>
                </a:solidFill>
              </a:rPr>
              <a:pPr/>
              <a:t>51</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1520021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34855" eaLnBrk="0" hangingPunct="0">
              <a:defRPr>
                <a:solidFill>
                  <a:schemeClr val="tx1"/>
                </a:solidFill>
                <a:latin typeface="Arial" pitchFamily="34" charset="0"/>
              </a:defRPr>
            </a:lvl1pPr>
            <a:lvl2pPr marL="776140" indent="-298517" defTabSz="1034855" eaLnBrk="0" hangingPunct="0">
              <a:defRPr>
                <a:solidFill>
                  <a:schemeClr val="tx1"/>
                </a:solidFill>
                <a:latin typeface="Arial" pitchFamily="34" charset="0"/>
              </a:defRPr>
            </a:lvl2pPr>
            <a:lvl3pPr marL="1194063" indent="-238812" defTabSz="1034855" eaLnBrk="0" hangingPunct="0">
              <a:defRPr>
                <a:solidFill>
                  <a:schemeClr val="tx1"/>
                </a:solidFill>
                <a:latin typeface="Arial" pitchFamily="34" charset="0"/>
              </a:defRPr>
            </a:lvl3pPr>
            <a:lvl4pPr marL="1671689" indent="-238812" defTabSz="1034855" eaLnBrk="0" hangingPunct="0">
              <a:defRPr>
                <a:solidFill>
                  <a:schemeClr val="tx1"/>
                </a:solidFill>
                <a:latin typeface="Arial" pitchFamily="34" charset="0"/>
              </a:defRPr>
            </a:lvl4pPr>
            <a:lvl5pPr marL="2149314" indent="-238812" defTabSz="1034855" eaLnBrk="0" hangingPunct="0">
              <a:defRPr>
                <a:solidFill>
                  <a:schemeClr val="tx1"/>
                </a:solidFill>
                <a:latin typeface="Arial" pitchFamily="34" charset="0"/>
              </a:defRPr>
            </a:lvl5pPr>
            <a:lvl6pPr marL="2626939" indent="-238812" defTabSz="1034855" eaLnBrk="0" fontAlgn="base" hangingPunct="0">
              <a:spcBef>
                <a:spcPct val="0"/>
              </a:spcBef>
              <a:spcAft>
                <a:spcPct val="0"/>
              </a:spcAft>
              <a:defRPr>
                <a:solidFill>
                  <a:schemeClr val="tx1"/>
                </a:solidFill>
                <a:latin typeface="Arial" pitchFamily="34" charset="0"/>
              </a:defRPr>
            </a:lvl6pPr>
            <a:lvl7pPr marL="3104565" indent="-238812" defTabSz="1034855" eaLnBrk="0" fontAlgn="base" hangingPunct="0">
              <a:spcBef>
                <a:spcPct val="0"/>
              </a:spcBef>
              <a:spcAft>
                <a:spcPct val="0"/>
              </a:spcAft>
              <a:defRPr>
                <a:solidFill>
                  <a:schemeClr val="tx1"/>
                </a:solidFill>
                <a:latin typeface="Arial" pitchFamily="34" charset="0"/>
              </a:defRPr>
            </a:lvl7pPr>
            <a:lvl8pPr marL="3582190" indent="-238812" defTabSz="1034855" eaLnBrk="0" fontAlgn="base" hangingPunct="0">
              <a:spcBef>
                <a:spcPct val="0"/>
              </a:spcBef>
              <a:spcAft>
                <a:spcPct val="0"/>
              </a:spcAft>
              <a:defRPr>
                <a:solidFill>
                  <a:schemeClr val="tx1"/>
                </a:solidFill>
                <a:latin typeface="Arial" pitchFamily="34" charset="0"/>
              </a:defRPr>
            </a:lvl8pPr>
            <a:lvl9pPr marL="4059815" indent="-238812" defTabSz="1034855" eaLnBrk="0" fontAlgn="base" hangingPunct="0">
              <a:spcBef>
                <a:spcPct val="0"/>
              </a:spcBef>
              <a:spcAft>
                <a:spcPct val="0"/>
              </a:spcAft>
              <a:defRPr>
                <a:solidFill>
                  <a:schemeClr val="tx1"/>
                </a:solidFill>
                <a:latin typeface="Arial" pitchFamily="34" charset="0"/>
              </a:defRPr>
            </a:lvl9pPr>
          </a:lstStyle>
          <a:p>
            <a:pPr eaLnBrk="1" hangingPunct="1"/>
            <a:fld id="{A88C12A4-A88B-4736-83A2-532379B05076}" type="slidenum">
              <a:rPr lang="en-GB" smtClean="0"/>
              <a:pPr eaLnBrk="1" hangingPunct="1"/>
              <a:t>52</a:t>
            </a:fld>
            <a:endParaRPr lang="en-GB"/>
          </a:p>
        </p:txBody>
      </p:sp>
      <p:sp>
        <p:nvSpPr>
          <p:cNvPr id="159747" name="Rectangle 2"/>
          <p:cNvSpPr>
            <a:spLocks noGrp="1" noRot="1" noChangeAspect="1" noChangeArrowheads="1" noTextEdit="1"/>
          </p:cNvSpPr>
          <p:nvPr>
            <p:ph type="sldImg"/>
          </p:nvPr>
        </p:nvSpPr>
        <p:spPr>
          <a:xfrm>
            <a:off x="461963" y="719138"/>
            <a:ext cx="6400800" cy="3600450"/>
          </a:xfrm>
          <a:ln/>
        </p:spPr>
      </p:sp>
      <p:sp>
        <p:nvSpPr>
          <p:cNvPr id="159748" name="Rectangle 3"/>
          <p:cNvSpPr>
            <a:spLocks noGrp="1" noChangeArrowheads="1"/>
          </p:cNvSpPr>
          <p:nvPr>
            <p:ph type="body" idx="1"/>
          </p:nvPr>
        </p:nvSpPr>
        <p:spPr>
          <a:xfrm>
            <a:off x="732563" y="4560143"/>
            <a:ext cx="5857055" cy="432182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latin typeface="Arial" pitchFamily="34" charset="0"/>
            </a:endParaRPr>
          </a:p>
        </p:txBody>
      </p:sp>
      <p:sp>
        <p:nvSpPr>
          <p:cNvPr id="3" name="Date Placeholder 2"/>
          <p:cNvSpPr>
            <a:spLocks noGrp="1"/>
          </p:cNvSpPr>
          <p:nvPr>
            <p:ph type="dt" idx="10"/>
          </p:nvPr>
        </p:nvSpPr>
        <p:spPr/>
        <p:txBody>
          <a:bodyPr/>
          <a:lstStyle/>
          <a:p>
            <a:pPr>
              <a:defRPr/>
            </a:pPr>
            <a:endParaRPr lang="sv-SE"/>
          </a:p>
        </p:txBody>
      </p:sp>
    </p:spTree>
    <p:extLst>
      <p:ext uri="{BB962C8B-B14F-4D97-AF65-F5344CB8AC3E}">
        <p14:creationId xmlns:p14="http://schemas.microsoft.com/office/powerpoint/2010/main" val="28011855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BP = Blood pressure</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53</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8671833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34855" eaLnBrk="0" hangingPunct="0">
              <a:defRPr>
                <a:solidFill>
                  <a:schemeClr val="tx1"/>
                </a:solidFill>
                <a:latin typeface="Arial" pitchFamily="34" charset="0"/>
              </a:defRPr>
            </a:lvl1pPr>
            <a:lvl2pPr marL="776140" indent="-298517" defTabSz="1034855" eaLnBrk="0" hangingPunct="0">
              <a:defRPr>
                <a:solidFill>
                  <a:schemeClr val="tx1"/>
                </a:solidFill>
                <a:latin typeface="Arial" pitchFamily="34" charset="0"/>
              </a:defRPr>
            </a:lvl2pPr>
            <a:lvl3pPr marL="1194063" indent="-238812" defTabSz="1034855" eaLnBrk="0" hangingPunct="0">
              <a:defRPr>
                <a:solidFill>
                  <a:schemeClr val="tx1"/>
                </a:solidFill>
                <a:latin typeface="Arial" pitchFamily="34" charset="0"/>
              </a:defRPr>
            </a:lvl3pPr>
            <a:lvl4pPr marL="1671689" indent="-238812" defTabSz="1034855" eaLnBrk="0" hangingPunct="0">
              <a:defRPr>
                <a:solidFill>
                  <a:schemeClr val="tx1"/>
                </a:solidFill>
                <a:latin typeface="Arial" pitchFamily="34" charset="0"/>
              </a:defRPr>
            </a:lvl4pPr>
            <a:lvl5pPr marL="2149314" indent="-238812" defTabSz="1034855" eaLnBrk="0" hangingPunct="0">
              <a:defRPr>
                <a:solidFill>
                  <a:schemeClr val="tx1"/>
                </a:solidFill>
                <a:latin typeface="Arial" pitchFamily="34" charset="0"/>
              </a:defRPr>
            </a:lvl5pPr>
            <a:lvl6pPr marL="2626939" indent="-238812" defTabSz="1034855" eaLnBrk="0" fontAlgn="base" hangingPunct="0">
              <a:spcBef>
                <a:spcPct val="0"/>
              </a:spcBef>
              <a:spcAft>
                <a:spcPct val="0"/>
              </a:spcAft>
              <a:defRPr>
                <a:solidFill>
                  <a:schemeClr val="tx1"/>
                </a:solidFill>
                <a:latin typeface="Arial" pitchFamily="34" charset="0"/>
              </a:defRPr>
            </a:lvl6pPr>
            <a:lvl7pPr marL="3104565" indent="-238812" defTabSz="1034855" eaLnBrk="0" fontAlgn="base" hangingPunct="0">
              <a:spcBef>
                <a:spcPct val="0"/>
              </a:spcBef>
              <a:spcAft>
                <a:spcPct val="0"/>
              </a:spcAft>
              <a:defRPr>
                <a:solidFill>
                  <a:schemeClr val="tx1"/>
                </a:solidFill>
                <a:latin typeface="Arial" pitchFamily="34" charset="0"/>
              </a:defRPr>
            </a:lvl7pPr>
            <a:lvl8pPr marL="3582190" indent="-238812" defTabSz="1034855" eaLnBrk="0" fontAlgn="base" hangingPunct="0">
              <a:spcBef>
                <a:spcPct val="0"/>
              </a:spcBef>
              <a:spcAft>
                <a:spcPct val="0"/>
              </a:spcAft>
              <a:defRPr>
                <a:solidFill>
                  <a:schemeClr val="tx1"/>
                </a:solidFill>
                <a:latin typeface="Arial" pitchFamily="34" charset="0"/>
              </a:defRPr>
            </a:lvl8pPr>
            <a:lvl9pPr marL="4059815" indent="-238812" defTabSz="1034855" eaLnBrk="0" fontAlgn="base" hangingPunct="0">
              <a:spcBef>
                <a:spcPct val="0"/>
              </a:spcBef>
              <a:spcAft>
                <a:spcPct val="0"/>
              </a:spcAft>
              <a:defRPr>
                <a:solidFill>
                  <a:schemeClr val="tx1"/>
                </a:solidFill>
                <a:latin typeface="Arial" pitchFamily="34" charset="0"/>
              </a:defRPr>
            </a:lvl9pPr>
          </a:lstStyle>
          <a:p>
            <a:pPr eaLnBrk="1" hangingPunct="1"/>
            <a:fld id="{A5CE419D-CEFF-4296-B203-15956D59D993}" type="slidenum">
              <a:rPr lang="en-GB" smtClean="0"/>
              <a:pPr eaLnBrk="1" hangingPunct="1"/>
              <a:t>54</a:t>
            </a:fld>
            <a:endParaRPr lang="en-GB"/>
          </a:p>
        </p:txBody>
      </p:sp>
      <p:sp>
        <p:nvSpPr>
          <p:cNvPr id="158723" name="Rectangle 2"/>
          <p:cNvSpPr>
            <a:spLocks noGrp="1" noRot="1" noChangeAspect="1" noChangeArrowheads="1" noTextEdit="1"/>
          </p:cNvSpPr>
          <p:nvPr>
            <p:ph type="sldImg"/>
          </p:nvPr>
        </p:nvSpPr>
        <p:spPr>
          <a:xfrm>
            <a:off x="461963" y="719138"/>
            <a:ext cx="6400800" cy="3600450"/>
          </a:xfrm>
          <a:ln/>
        </p:spPr>
      </p:sp>
      <p:sp>
        <p:nvSpPr>
          <p:cNvPr id="158724" name="Rectangle 3"/>
          <p:cNvSpPr>
            <a:spLocks noGrp="1" noChangeArrowheads="1"/>
          </p:cNvSpPr>
          <p:nvPr>
            <p:ph type="body" idx="1"/>
          </p:nvPr>
        </p:nvSpPr>
        <p:spPr>
          <a:xfrm>
            <a:off x="732563" y="4560143"/>
            <a:ext cx="5857055" cy="432182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atin typeface="Arial" pitchFamily="34" charset="0"/>
            </a:endParaRPr>
          </a:p>
        </p:txBody>
      </p:sp>
      <p:sp>
        <p:nvSpPr>
          <p:cNvPr id="3" name="Date Placeholder 2"/>
          <p:cNvSpPr>
            <a:spLocks noGrp="1"/>
          </p:cNvSpPr>
          <p:nvPr>
            <p:ph type="dt" idx="10"/>
          </p:nvPr>
        </p:nvSpPr>
        <p:spPr/>
        <p:txBody>
          <a:bodyPr/>
          <a:lstStyle/>
          <a:p>
            <a:pPr>
              <a:defRPr/>
            </a:pPr>
            <a:endParaRPr lang="sv-SE"/>
          </a:p>
        </p:txBody>
      </p:sp>
    </p:spTree>
    <p:extLst>
      <p:ext uri="{BB962C8B-B14F-4D97-AF65-F5344CB8AC3E}">
        <p14:creationId xmlns:p14="http://schemas.microsoft.com/office/powerpoint/2010/main" val="8215141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Platshållare för bildobjekt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Platshållare för anteckninga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sv-SE" altLang="sv-SE"/>
              <a:t>Sample: normalviktiga unga vuxna, grupp 1 normalviktiga som barn, grupp 2 överviktiga</a:t>
            </a:r>
          </a:p>
          <a:p>
            <a:r>
              <a:rPr lang="sv-SE" altLang="sv-SE"/>
              <a:t>Vi vet inte skillnad, men vill kunna testa en hypotes och vi vill kunna upptäcka ovanstående skillnad</a:t>
            </a:r>
          </a:p>
        </p:txBody>
      </p:sp>
      <p:sp>
        <p:nvSpPr>
          <p:cNvPr id="44036" name="Platshållare för bildnumm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Calibri" panose="020F0502020204030204" pitchFamily="34" charset="0"/>
              </a:defRPr>
            </a:lvl1pPr>
            <a:lvl2pPr marL="840715" indent="-323352">
              <a:spcBef>
                <a:spcPct val="30000"/>
              </a:spcBef>
              <a:defRPr sz="1500">
                <a:solidFill>
                  <a:schemeClr val="tx1"/>
                </a:solidFill>
                <a:latin typeface="Calibri" panose="020F0502020204030204" pitchFamily="34" charset="0"/>
              </a:defRPr>
            </a:lvl2pPr>
            <a:lvl3pPr marL="1293410" indent="-258682">
              <a:spcBef>
                <a:spcPct val="30000"/>
              </a:spcBef>
              <a:defRPr sz="1500">
                <a:solidFill>
                  <a:schemeClr val="tx1"/>
                </a:solidFill>
                <a:latin typeface="Calibri" panose="020F0502020204030204" pitchFamily="34" charset="0"/>
              </a:defRPr>
            </a:lvl3pPr>
            <a:lvl4pPr marL="1810772" indent="-258682">
              <a:spcBef>
                <a:spcPct val="30000"/>
              </a:spcBef>
              <a:defRPr sz="1500">
                <a:solidFill>
                  <a:schemeClr val="tx1"/>
                </a:solidFill>
                <a:latin typeface="Calibri" panose="020F0502020204030204" pitchFamily="34" charset="0"/>
              </a:defRPr>
            </a:lvl4pPr>
            <a:lvl5pPr marL="2328136" indent="-258682">
              <a:spcBef>
                <a:spcPct val="30000"/>
              </a:spcBef>
              <a:defRPr sz="1500">
                <a:solidFill>
                  <a:schemeClr val="tx1"/>
                </a:solidFill>
                <a:latin typeface="Calibri" panose="020F0502020204030204" pitchFamily="34" charset="0"/>
              </a:defRPr>
            </a:lvl5pPr>
            <a:lvl6pPr marL="2845500" indent="-258682" eaLnBrk="0" fontAlgn="base" hangingPunct="0">
              <a:spcBef>
                <a:spcPct val="30000"/>
              </a:spcBef>
              <a:spcAft>
                <a:spcPct val="0"/>
              </a:spcAft>
              <a:defRPr sz="1500">
                <a:solidFill>
                  <a:schemeClr val="tx1"/>
                </a:solidFill>
                <a:latin typeface="Calibri" panose="020F0502020204030204" pitchFamily="34" charset="0"/>
              </a:defRPr>
            </a:lvl6pPr>
            <a:lvl7pPr marL="3362866" indent="-258682" eaLnBrk="0" fontAlgn="base" hangingPunct="0">
              <a:spcBef>
                <a:spcPct val="30000"/>
              </a:spcBef>
              <a:spcAft>
                <a:spcPct val="0"/>
              </a:spcAft>
              <a:defRPr sz="1500">
                <a:solidFill>
                  <a:schemeClr val="tx1"/>
                </a:solidFill>
                <a:latin typeface="Calibri" panose="020F0502020204030204" pitchFamily="34" charset="0"/>
              </a:defRPr>
            </a:lvl7pPr>
            <a:lvl8pPr marL="3880229" indent="-258682" eaLnBrk="0" fontAlgn="base" hangingPunct="0">
              <a:spcBef>
                <a:spcPct val="30000"/>
              </a:spcBef>
              <a:spcAft>
                <a:spcPct val="0"/>
              </a:spcAft>
              <a:defRPr sz="1500">
                <a:solidFill>
                  <a:schemeClr val="tx1"/>
                </a:solidFill>
                <a:latin typeface="Calibri" panose="020F0502020204030204" pitchFamily="34" charset="0"/>
              </a:defRPr>
            </a:lvl8pPr>
            <a:lvl9pPr marL="4397593" indent="-258682" eaLnBrk="0" fontAlgn="base" hangingPunct="0">
              <a:spcBef>
                <a:spcPct val="30000"/>
              </a:spcBef>
              <a:spcAft>
                <a:spcPct val="0"/>
              </a:spcAft>
              <a:defRPr sz="1500">
                <a:solidFill>
                  <a:schemeClr val="tx1"/>
                </a:solidFill>
                <a:latin typeface="Calibri" panose="020F0502020204030204" pitchFamily="34" charset="0"/>
              </a:defRPr>
            </a:lvl9pPr>
          </a:lstStyle>
          <a:p>
            <a:pPr>
              <a:spcBef>
                <a:spcPct val="0"/>
              </a:spcBef>
            </a:pPr>
            <a:fld id="{7081445A-EFBB-4EEF-BCC3-1FF389A1185B}" type="slidenum">
              <a:rPr lang="sv-SE" altLang="sv-SE" smtClean="0"/>
              <a:pPr>
                <a:spcBef>
                  <a:spcPct val="0"/>
                </a:spcBef>
              </a:pPr>
              <a:t>55</a:t>
            </a:fld>
            <a:endParaRPr lang="sv-SE" altLang="sv-SE"/>
          </a:p>
        </p:txBody>
      </p:sp>
      <p:sp>
        <p:nvSpPr>
          <p:cNvPr id="3" name="Date Placeholder 2"/>
          <p:cNvSpPr>
            <a:spLocks noGrp="1"/>
          </p:cNvSpPr>
          <p:nvPr>
            <p:ph type="dt" idx="10"/>
          </p:nvPr>
        </p:nvSpPr>
        <p:spPr/>
        <p:txBody>
          <a:bodyPr/>
          <a:lstStyle/>
          <a:p>
            <a:pPr>
              <a:defRPr/>
            </a:pPr>
            <a:endParaRPr lang="sv-SE"/>
          </a:p>
        </p:txBody>
      </p:sp>
    </p:spTree>
    <p:extLst>
      <p:ext uri="{BB962C8B-B14F-4D97-AF65-F5344CB8AC3E}">
        <p14:creationId xmlns:p14="http://schemas.microsoft.com/office/powerpoint/2010/main" val="16565334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55722909-48ED-4079-8344-8F2EBBA90366}" type="slidenum">
              <a:rPr lang="sv-SE" smtClean="0">
                <a:solidFill>
                  <a:prstClr val="black"/>
                </a:solidFill>
              </a:rPr>
              <a:pPr/>
              <a:t>56</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11509543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55722909-48ED-4079-8344-8F2EBBA90366}" type="slidenum">
              <a:rPr lang="sv-SE" smtClean="0">
                <a:solidFill>
                  <a:prstClr val="black"/>
                </a:solidFill>
              </a:rPr>
              <a:pPr/>
              <a:t>57</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2482744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GB" b="1"/>
              <a:t>Exercises 1.</a:t>
            </a:r>
            <a:r>
              <a:rPr lang="en-GB"/>
              <a:t> </a:t>
            </a:r>
            <a:r>
              <a:rPr lang="en-GB" dirty="0"/>
              <a:t>Suppose we wish to estimate the prevalence of students un-satisfied with teaching at SA. We think it will be about 25%, and we would like to estimate this to within 5%. How many subjects do we need? </a:t>
            </a:r>
            <a:endParaRPr lang="en-US"/>
          </a:p>
          <a:p>
            <a:endParaRPr lang="en-US" sz="1200" dirty="0"/>
          </a:p>
          <a:p>
            <a:r>
              <a:rPr lang="en-US" sz="1200" dirty="0"/>
              <a:t>With</a:t>
            </a:r>
            <a:r>
              <a:rPr lang="en-US" sz="1200" baseline="0" dirty="0"/>
              <a:t> an expected prevalence of 25 % and within 6% we get </a:t>
            </a:r>
          </a:p>
          <a:p>
            <a:endParaRPr lang="en-US" sz="1200" baseline="0" dirty="0"/>
          </a:p>
          <a:p>
            <a:r>
              <a:rPr lang="en-US" sz="1200" dirty="0"/>
              <a:t>SE = (0.06*2)/1*1.96 = 0.12/3.92 = 0,031</a:t>
            </a:r>
          </a:p>
          <a:p>
            <a:endParaRPr lang="en-US" sz="1200"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dirty="0"/>
              <a:t>m= 0,25*(1-0,25) / (0,031*0,031) = 200 students</a:t>
            </a:r>
            <a:r>
              <a:rPr lang="en-US" sz="1200" baseline="0" dirty="0"/>
              <a:t> to answer the telephone survey</a:t>
            </a:r>
            <a:endParaRPr lang="en-US" sz="800" dirty="0"/>
          </a:p>
          <a:p>
            <a:endParaRPr lang="en-US" sz="800" dirty="0"/>
          </a:p>
        </p:txBody>
      </p:sp>
      <p:sp>
        <p:nvSpPr>
          <p:cNvPr id="4" name="Slide Number Placeholder 3"/>
          <p:cNvSpPr>
            <a:spLocks noGrp="1"/>
          </p:cNvSpPr>
          <p:nvPr>
            <p:ph type="sldNum" sz="quarter" idx="10"/>
          </p:nvPr>
        </p:nvSpPr>
        <p:spPr/>
        <p:txBody>
          <a:bodyPr/>
          <a:lstStyle/>
          <a:p>
            <a:fld id="{4408995C-B3E1-4E2E-8CD0-73E72B7C4CFD}" type="slidenum">
              <a:rPr lang="sv-SE" smtClean="0">
                <a:solidFill>
                  <a:prstClr val="black"/>
                </a:solidFill>
              </a:rPr>
              <a:pPr/>
              <a:t>58</a:t>
            </a:fld>
            <a:endParaRPr lang="sv-SE" dirty="0">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1862655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GB" b="1"/>
              <a:t>Exercises 1.</a:t>
            </a:r>
            <a:r>
              <a:rPr lang="en-GB"/>
              <a:t> </a:t>
            </a:r>
            <a:r>
              <a:rPr lang="en-GB" dirty="0"/>
              <a:t>Suppose we wish to estimate the prevalence of students un-satisfied with teaching at SA. We think it will be about 25%, and we would like to estimate this to within 5%. How many subjects do we need? </a:t>
            </a:r>
            <a:endParaRPr lang="en-US"/>
          </a:p>
          <a:p>
            <a:endParaRPr lang="en-US" sz="1200" dirty="0"/>
          </a:p>
          <a:p>
            <a:r>
              <a:rPr lang="en-US" sz="1200" dirty="0"/>
              <a:t>With</a:t>
            </a:r>
            <a:r>
              <a:rPr lang="en-US" sz="1200" baseline="0" dirty="0"/>
              <a:t> an expected prevalence of 25 % and within 6% we get </a:t>
            </a:r>
          </a:p>
          <a:p>
            <a:endParaRPr lang="en-US" sz="1200" baseline="0" dirty="0"/>
          </a:p>
          <a:p>
            <a:r>
              <a:rPr lang="en-US" sz="1200" dirty="0"/>
              <a:t>SE = (0.06*2)/1*1.96 = 0.12/3.92 = 0,031</a:t>
            </a:r>
          </a:p>
          <a:p>
            <a:endParaRPr lang="en-US" sz="1200"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dirty="0"/>
              <a:t>m= 0,25*(1-0,25) / (0,031*0,031) = 200 students</a:t>
            </a:r>
            <a:r>
              <a:rPr lang="en-US" sz="1200" baseline="0" dirty="0"/>
              <a:t> to answer the telephone survey</a:t>
            </a:r>
            <a:endParaRPr lang="en-US" sz="800" dirty="0"/>
          </a:p>
          <a:p>
            <a:endParaRPr lang="en-US" sz="800" dirty="0"/>
          </a:p>
        </p:txBody>
      </p:sp>
      <p:sp>
        <p:nvSpPr>
          <p:cNvPr id="4" name="Slide Number Placeholder 3"/>
          <p:cNvSpPr>
            <a:spLocks noGrp="1"/>
          </p:cNvSpPr>
          <p:nvPr>
            <p:ph type="sldNum" sz="quarter" idx="10"/>
          </p:nvPr>
        </p:nvSpPr>
        <p:spPr/>
        <p:txBody>
          <a:bodyPr/>
          <a:lstStyle/>
          <a:p>
            <a:fld id="{4408995C-B3E1-4E2E-8CD0-73E72B7C4CFD}" type="slidenum">
              <a:rPr lang="sv-SE" smtClean="0">
                <a:solidFill>
                  <a:prstClr val="black"/>
                </a:solidFill>
              </a:rPr>
              <a:pPr/>
              <a:t>59</a:t>
            </a:fld>
            <a:endParaRPr lang="sv-SE" dirty="0">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8486903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800" dirty="0"/>
              <a:t>RTW = Return to work</a:t>
            </a:r>
          </a:p>
          <a:p>
            <a:r>
              <a:rPr lang="en-GB" sz="800" dirty="0"/>
              <a:t>The </a:t>
            </a:r>
            <a:r>
              <a:rPr lang="en-GB" sz="800" b="1" dirty="0"/>
              <a:t>margin of error</a:t>
            </a:r>
            <a:r>
              <a:rPr lang="en-GB" sz="800" dirty="0"/>
              <a:t> is a statistic expressing the amount of random </a:t>
            </a:r>
            <a:r>
              <a:rPr lang="en-GB" sz="800" dirty="0">
                <a:hlinkClick r:id="rId3" tooltip="Sampling error"/>
              </a:rPr>
              <a:t>sampling error</a:t>
            </a:r>
            <a:r>
              <a:rPr lang="en-GB" sz="800" dirty="0"/>
              <a:t> in a </a:t>
            </a:r>
            <a:r>
              <a:rPr lang="en-GB" sz="800" dirty="0">
                <a:hlinkClick r:id="rId4" tooltip="Statistical survey"/>
              </a:rPr>
              <a:t>survey</a:t>
            </a:r>
            <a:r>
              <a:rPr lang="en-GB" sz="800" dirty="0"/>
              <a:t>'s results. The larger the margin of error, the less confidence one should have that the poll's reported results are close to the "true" figures; that is, the figures for the whole </a:t>
            </a:r>
            <a:r>
              <a:rPr lang="en-GB" sz="800" dirty="0">
                <a:hlinkClick r:id="rId5" tooltip="Statistical population"/>
              </a:rPr>
              <a:t>population</a:t>
            </a:r>
            <a:r>
              <a:rPr lang="en-GB" sz="800" dirty="0"/>
              <a:t>. Margin of error is positive whenever a population is incompletely sampled and the outcome measure has positive variance (that is, it varies).</a:t>
            </a:r>
            <a:endParaRPr lang="en-US" sz="800" dirty="0"/>
          </a:p>
        </p:txBody>
      </p:sp>
      <p:sp>
        <p:nvSpPr>
          <p:cNvPr id="4" name="Slide Number Placeholder 3"/>
          <p:cNvSpPr>
            <a:spLocks noGrp="1"/>
          </p:cNvSpPr>
          <p:nvPr>
            <p:ph type="sldNum" sz="quarter" idx="10"/>
          </p:nvPr>
        </p:nvSpPr>
        <p:spPr/>
        <p:txBody>
          <a:bodyPr/>
          <a:lstStyle/>
          <a:p>
            <a:fld id="{4408995C-B3E1-4E2E-8CD0-73E72B7C4CFD}" type="slidenum">
              <a:rPr lang="sv-SE" smtClean="0">
                <a:solidFill>
                  <a:prstClr val="black"/>
                </a:solidFill>
              </a:rPr>
              <a:pPr/>
              <a:t>60</a:t>
            </a:fld>
            <a:endParaRPr lang="sv-SE" dirty="0">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4372555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800" dirty="0"/>
              <a:t>Sample size calculations performed in Statistical analysis software (SAS)</a:t>
            </a:r>
          </a:p>
          <a:p>
            <a:endParaRPr lang="en-GB" sz="800" b="1" dirty="0"/>
          </a:p>
          <a:p>
            <a:r>
              <a:rPr lang="en-GB" sz="800" b="1" dirty="0"/>
              <a:t>Optional reading:</a:t>
            </a:r>
          </a:p>
          <a:p>
            <a:pPr marL="414492" lvl="2" indent="-414492">
              <a:buFontTx/>
              <a:buAutoNum type="romanLcPeriod"/>
            </a:pPr>
            <a:r>
              <a:rPr lang="en-US" dirty="0">
                <a:latin typeface="Times New Roman" panose="02020603050405020304" pitchFamily="18" charset="0"/>
                <a:cs typeface="Times New Roman" panose="02020603050405020304" pitchFamily="18" charset="0"/>
              </a:rPr>
              <a:t>Campbell, M., Machin, D., &amp; Walters, S. (2010). </a:t>
            </a:r>
            <a:r>
              <a:rPr lang="en-US" i="1" dirty="0">
                <a:latin typeface="Times New Roman" panose="02020603050405020304" pitchFamily="18" charset="0"/>
                <a:cs typeface="Times New Roman" panose="02020603050405020304" pitchFamily="18" charset="0"/>
              </a:rPr>
              <a:t>Chapter 14. Sample size issues, </a:t>
            </a:r>
            <a:r>
              <a:rPr lang="en-US" dirty="0">
                <a:latin typeface="Times New Roman" panose="02020603050405020304" pitchFamily="18" charset="0"/>
                <a:cs typeface="Times New Roman" panose="02020603050405020304" pitchFamily="18" charset="0"/>
              </a:rPr>
              <a:t>Medical Statistics : A Textbook for the Health Sciences. New York: John Wiley &amp; Sons, Incorporated. Available online at GU-library</a:t>
            </a:r>
          </a:p>
          <a:p>
            <a:pPr marL="0" lvl="2"/>
            <a:endParaRPr lang="en-US"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4408995C-B3E1-4E2E-8CD0-73E72B7C4CFD}" type="slidenum">
              <a:rPr lang="sv-SE" smtClean="0">
                <a:solidFill>
                  <a:prstClr val="black"/>
                </a:solidFill>
              </a:rPr>
              <a:pPr/>
              <a:t>61</a:t>
            </a:fld>
            <a:endParaRPr lang="sv-SE" dirty="0">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5188919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800" dirty="0"/>
              <a:t>Sample size calculations performed in SAS</a:t>
            </a:r>
          </a:p>
          <a:p>
            <a:pPr marL="0" lvl="2"/>
            <a:r>
              <a:rPr lang="en-US" b="1" dirty="0">
                <a:latin typeface="Times New Roman" panose="02020603050405020304" pitchFamily="18" charset="0"/>
                <a:cs typeface="Times New Roman" panose="02020603050405020304" pitchFamily="18" charset="0"/>
              </a:rPr>
              <a:t>Optional reading</a:t>
            </a:r>
          </a:p>
          <a:p>
            <a:pPr marL="414492" lvl="2" indent="-414492">
              <a:buFontTx/>
              <a:buAutoNum type="romanLcPeriod"/>
            </a:pPr>
            <a:r>
              <a:rPr lang="en-US" dirty="0">
                <a:latin typeface="Times New Roman" panose="02020603050405020304" pitchFamily="18" charset="0"/>
                <a:cs typeface="Times New Roman" panose="02020603050405020304" pitchFamily="18" charset="0"/>
              </a:rPr>
              <a:t>Campbell, M., Machin, D., &amp; Walters, S. (2010). </a:t>
            </a:r>
            <a:r>
              <a:rPr lang="en-US" i="1" dirty="0">
                <a:latin typeface="Times New Roman" panose="02020603050405020304" pitchFamily="18" charset="0"/>
                <a:cs typeface="Times New Roman" panose="02020603050405020304" pitchFamily="18" charset="0"/>
              </a:rPr>
              <a:t>Chapter 14. Sample size issues, </a:t>
            </a:r>
            <a:r>
              <a:rPr lang="en-US" dirty="0">
                <a:latin typeface="Times New Roman" panose="02020603050405020304" pitchFamily="18" charset="0"/>
                <a:cs typeface="Times New Roman" panose="02020603050405020304" pitchFamily="18" charset="0"/>
              </a:rPr>
              <a:t>Medical Statistics : A Textbook for the Health Sciences. New York: John Wiley &amp; Sons, Incorporated. Available online at GU-library</a:t>
            </a:r>
            <a:endParaRPr lang="en-US" b="1" dirty="0">
              <a:latin typeface="Times New Roman" panose="02020603050405020304" pitchFamily="18" charset="0"/>
              <a:cs typeface="Times New Roman" panose="02020603050405020304" pitchFamily="18" charset="0"/>
            </a:endParaRPr>
          </a:p>
          <a:p>
            <a:pPr marL="414492" lvl="2" indent="-414492">
              <a:buAutoNum type="romanLcPeriod"/>
            </a:pPr>
            <a:r>
              <a:rPr lang="en-US" dirty="0">
                <a:latin typeface="Times New Roman" panose="02020603050405020304" pitchFamily="18" charset="0"/>
                <a:cs typeface="Times New Roman" panose="02020603050405020304" pitchFamily="18" charset="0"/>
              </a:rPr>
              <a:t>Liu, G. (2005). </a:t>
            </a:r>
            <a:r>
              <a:rPr lang="en-US" i="1" dirty="0">
                <a:latin typeface="Times New Roman" panose="02020603050405020304" pitchFamily="18" charset="0"/>
                <a:cs typeface="Times New Roman" panose="02020603050405020304" pitchFamily="18" charset="0"/>
              </a:rPr>
              <a:t>Sample Size in Epidemiologic Studies. </a:t>
            </a:r>
            <a:r>
              <a:rPr lang="en-US" dirty="0">
                <a:latin typeface="Times New Roman" panose="02020603050405020304" pitchFamily="18" charset="0"/>
                <a:cs typeface="Times New Roman" panose="02020603050405020304" pitchFamily="18" charset="0"/>
              </a:rPr>
              <a:t>In Encyclopedia of Biostatistics (</a:t>
            </a:r>
            <a:r>
              <a:rPr lang="en-US" dirty="0" err="1">
                <a:latin typeface="Times New Roman" panose="02020603050405020304" pitchFamily="18" charset="0"/>
                <a:cs typeface="Times New Roman" panose="02020603050405020304" pitchFamily="18" charset="0"/>
              </a:rPr>
              <a:t>eds</a:t>
            </a:r>
            <a:r>
              <a:rPr lang="en-US" dirty="0">
                <a:latin typeface="Times New Roman" panose="02020603050405020304" pitchFamily="18" charset="0"/>
                <a:cs typeface="Times New Roman" panose="02020603050405020304" pitchFamily="18" charset="0"/>
              </a:rPr>
              <a:t> P. Armitage and T. Colton). 	Uploaded in same folder</a:t>
            </a:r>
          </a:p>
          <a:p>
            <a:pPr marL="414492" lvl="2" indent="-414492">
              <a:buFont typeface="+mj-lt"/>
              <a:buAutoNum type="romanLcPeriod"/>
            </a:pPr>
            <a:endParaRPr lang="en-US" dirty="0">
              <a:latin typeface="Times New Roman" panose="02020603050405020304" pitchFamily="18" charset="0"/>
              <a:cs typeface="Times New Roman" panose="02020603050405020304" pitchFamily="18" charset="0"/>
            </a:endParaRPr>
          </a:p>
          <a:p>
            <a:pPr marL="414492" lvl="2" indent="-414492">
              <a:buFont typeface="+mj-lt"/>
              <a:buAutoNum type="romanLcPeriod"/>
            </a:pPr>
            <a:endParaRPr lang="en-US" dirty="0">
              <a:latin typeface="Times New Roman" panose="02020603050405020304" pitchFamily="18" charset="0"/>
              <a:cs typeface="Times New Roman" panose="02020603050405020304" pitchFamily="18" charset="0"/>
            </a:endParaRPr>
          </a:p>
          <a:p>
            <a:endParaRPr lang="en-US" sz="800" dirty="0"/>
          </a:p>
        </p:txBody>
      </p:sp>
      <p:sp>
        <p:nvSpPr>
          <p:cNvPr id="4" name="Slide Number Placeholder 3"/>
          <p:cNvSpPr>
            <a:spLocks noGrp="1"/>
          </p:cNvSpPr>
          <p:nvPr>
            <p:ph type="sldNum" sz="quarter" idx="10"/>
          </p:nvPr>
        </p:nvSpPr>
        <p:spPr/>
        <p:txBody>
          <a:bodyPr/>
          <a:lstStyle/>
          <a:p>
            <a:fld id="{4408995C-B3E1-4E2E-8CD0-73E72B7C4CFD}" type="slidenum">
              <a:rPr lang="sv-SE" smtClean="0">
                <a:solidFill>
                  <a:prstClr val="black"/>
                </a:solidFill>
              </a:rPr>
              <a:pPr/>
              <a:t>62</a:t>
            </a:fld>
            <a:endParaRPr lang="sv-SE" dirty="0">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7937249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408995C-B3E1-4E2E-8CD0-73E72B7C4CFD}" type="slidenum">
              <a:rPr lang="sv-SE" smtClean="0">
                <a:solidFill>
                  <a:prstClr val="black"/>
                </a:solidFill>
              </a:rPr>
              <a:pPr/>
              <a:t>63</a:t>
            </a:fld>
            <a:endParaRPr lang="sv-SE" dirty="0">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28953308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Performing a set of statistical tests simultaneously </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64</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5951787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17 tests were performed</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65</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68147399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66</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88345039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Platshållare för anteckninga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sv-SE" altLang="en-US" sz="1200" dirty="0"/>
                  <a:t>The risk </a:t>
                </a:r>
                <a:r>
                  <a:rPr lang="sv-SE" altLang="en-US" sz="1200" dirty="0" err="1"/>
                  <a:t>of</a:t>
                </a:r>
                <a:r>
                  <a:rPr lang="sv-SE" altLang="en-US" sz="1200" dirty="0"/>
                  <a:t> </a:t>
                </a:r>
                <a:r>
                  <a:rPr lang="sv-SE" altLang="en-US" sz="1200" dirty="0" err="1"/>
                  <a:t>that</a:t>
                </a:r>
                <a:r>
                  <a:rPr lang="sv-SE" altLang="en-US" sz="1200" dirty="0"/>
                  <a:t> at </a:t>
                </a:r>
                <a:r>
                  <a:rPr lang="sv-SE" altLang="en-US" sz="1200" dirty="0" err="1"/>
                  <a:t>least</a:t>
                </a:r>
                <a:r>
                  <a:rPr lang="sv-SE" altLang="en-US" sz="1200" dirty="0"/>
                  <a:t> </a:t>
                </a:r>
                <a:r>
                  <a:rPr lang="sv-SE" altLang="en-US" sz="1200" dirty="0" err="1"/>
                  <a:t>one</a:t>
                </a:r>
                <a:r>
                  <a:rPr lang="sv-SE" altLang="en-US" sz="1200" dirty="0"/>
                  <a:t> test </a:t>
                </a:r>
                <a:r>
                  <a:rPr lang="sv-SE" altLang="en-US" sz="1200" dirty="0" err="1"/>
                  <a:t>will</a:t>
                </a:r>
                <a:r>
                  <a:rPr lang="sv-SE" altLang="en-US" sz="1200" dirty="0"/>
                  <a:t> be </a:t>
                </a:r>
                <a:r>
                  <a:rPr lang="sv-SE" altLang="en-US" sz="1200" b="1" dirty="0" err="1"/>
                  <a:t>significant</a:t>
                </a:r>
                <a:r>
                  <a:rPr lang="sv-SE" altLang="en-US" sz="1200" b="1" dirty="0"/>
                  <a:t> </a:t>
                </a:r>
                <a:r>
                  <a:rPr lang="sv-SE" altLang="en-US" sz="1200" dirty="0" err="1"/>
                  <a:t>even</a:t>
                </a:r>
                <a:r>
                  <a:rPr lang="sv-SE" altLang="en-US" sz="1200" dirty="0"/>
                  <a:t> </a:t>
                </a:r>
                <a:r>
                  <a:rPr lang="sv-SE" altLang="en-US" sz="1200" dirty="0" err="1"/>
                  <a:t>when</a:t>
                </a:r>
                <a:r>
                  <a:rPr lang="sv-SE" altLang="en-US" sz="1200" dirty="0"/>
                  <a:t> H0 is </a:t>
                </a:r>
                <a:r>
                  <a:rPr lang="sv-SE" altLang="en-US" sz="1200" dirty="0" err="1"/>
                  <a:t>true</a:t>
                </a:r>
                <a:r>
                  <a:rPr lang="sv-SE" altLang="en-US" sz="1200" dirty="0"/>
                  <a:t> (</a:t>
                </a:r>
                <a:r>
                  <a:rPr lang="sv-SE" altLang="en-US" sz="1200" dirty="0" err="1"/>
                  <a:t>false</a:t>
                </a:r>
                <a:r>
                  <a:rPr lang="sv-SE" altLang="en-US" sz="1200" dirty="0"/>
                  <a:t> positive), </a:t>
                </a:r>
                <a:r>
                  <a:rPr lang="sv-SE" altLang="en-US" sz="1200" dirty="0" err="1"/>
                  <a:t>can</a:t>
                </a:r>
                <a:r>
                  <a:rPr lang="sv-SE" altLang="en-US" sz="1200" dirty="0"/>
                  <a:t> be </a:t>
                </a:r>
                <a:r>
                  <a:rPr lang="sv-SE" altLang="en-US" sz="1200" dirty="0" err="1"/>
                  <a:t>calculated</a:t>
                </a:r>
                <a:r>
                  <a:rPr lang="sv-SE" altLang="en-US" sz="1200" dirty="0"/>
                  <a:t> by  1-(1 - </a:t>
                </a:r>
                <a:r>
                  <a:rPr lang="el-GR" altLang="en-US" sz="1200" dirty="0">
                    <a:cs typeface="Arial" panose="020B0604020202020204" pitchFamily="34" charset="0"/>
                  </a:rPr>
                  <a:t>α </a:t>
                </a:r>
                <a:r>
                  <a:rPr lang="sv-SE" altLang="en-US" sz="1200" dirty="0">
                    <a:cs typeface="Arial" panose="020B0604020202020204" pitchFamily="34" charset="0"/>
                  </a:rPr>
                  <a:t>)</a:t>
                </a:r>
                <a:r>
                  <a:rPr lang="sv-SE" altLang="en-US" sz="1200" baseline="30000" dirty="0">
                    <a:cs typeface="Arial" panose="020B0604020202020204" pitchFamily="34" charset="0"/>
                  </a:rPr>
                  <a:t>c</a:t>
                </a:r>
                <a:r>
                  <a:rPr lang="sv-SE" altLang="en-US" sz="1200" dirty="0"/>
                  <a:t>.(c =nr. </a:t>
                </a:r>
                <a:r>
                  <a:rPr lang="sv-SE" altLang="en-US" sz="1200" dirty="0" err="1"/>
                  <a:t>of</a:t>
                </a:r>
                <a:r>
                  <a:rPr lang="sv-SE" altLang="en-US" sz="1200" dirty="0"/>
                  <a:t> tests)</a:t>
                </a:r>
              </a:p>
              <a:p>
                <a:endParaRPr lang="sv-SE" dirty="0"/>
              </a:p>
              <a:p>
                <a:r>
                  <a:rPr lang="sv-SE" dirty="0" err="1"/>
                  <a:t>When</a:t>
                </a:r>
                <a:r>
                  <a:rPr lang="sv-SE" dirty="0"/>
                  <a:t> </a:t>
                </a:r>
                <a:r>
                  <a:rPr lang="sv-SE" dirty="0" err="1"/>
                  <a:t>alpha</a:t>
                </a:r>
                <a:r>
                  <a:rPr lang="sv-SE" dirty="0"/>
                  <a:t>,</a:t>
                </a:r>
                <a:r>
                  <a:rPr lang="sv-SE" baseline="0" dirty="0"/>
                  <a:t> </a:t>
                </a:r>
                <a14:m>
                  <m:oMath xmlns:m="http://schemas.openxmlformats.org/officeDocument/2006/math">
                    <m:r>
                      <a:rPr lang="el-GR" i="1" dirty="0" smtClean="0">
                        <a:latin typeface="Cambria Math" panose="02040503050406030204" pitchFamily="18" charset="0"/>
                      </a:rPr>
                      <m:t>𝛼</m:t>
                    </m:r>
                    <m:r>
                      <a:rPr lang="sv-SE" b="0" i="1" dirty="0" smtClean="0">
                        <a:latin typeface="Cambria Math" panose="02040503050406030204" pitchFamily="18" charset="0"/>
                      </a:rPr>
                      <m:t>=0.05 </m:t>
                    </m:r>
                    <m:r>
                      <a:rPr lang="sv-SE" b="0" i="1" dirty="0" smtClean="0">
                        <a:latin typeface="Cambria Math" panose="02040503050406030204" pitchFamily="18" charset="0"/>
                      </a:rPr>
                      <m:t>𝑎𝑛𝑑</m:t>
                    </m:r>
                    <m:r>
                      <a:rPr lang="sv-SE" b="0" i="1" dirty="0" smtClean="0">
                        <a:latin typeface="Cambria Math" panose="02040503050406030204" pitchFamily="18" charset="0"/>
                      </a:rPr>
                      <m:t> </m:t>
                    </m:r>
                    <m:r>
                      <a:rPr lang="sv-SE" b="0" i="1" dirty="0" smtClean="0">
                        <a:latin typeface="Cambria Math" panose="02040503050406030204" pitchFamily="18" charset="0"/>
                      </a:rPr>
                      <m:t>𝑐</m:t>
                    </m:r>
                    <m:r>
                      <a:rPr lang="sv-SE" b="0" i="1" dirty="0" smtClean="0">
                        <a:latin typeface="Cambria Math" panose="02040503050406030204" pitchFamily="18" charset="0"/>
                      </a:rPr>
                      <m:t>=1</m:t>
                    </m:r>
                    <m:r>
                      <a:rPr lang="sv-SE" b="0" i="0" dirty="0" smtClean="0">
                        <a:latin typeface="Cambria Math" panose="02040503050406030204" pitchFamily="18" charset="0"/>
                      </a:rPr>
                      <m:t>,</m:t>
                    </m:r>
                  </m:oMath>
                </a14:m>
                <a:r>
                  <a:rPr lang="sv-SE" b="0" dirty="0"/>
                  <a:t> </a:t>
                </a:r>
                <a:r>
                  <a:rPr lang="sv-SE" b="0" dirty="0" err="1"/>
                  <a:t>then</a:t>
                </a:r>
                <a:r>
                  <a:rPr lang="sv-SE" b="0" dirty="0"/>
                  <a:t>  </a:t>
                </a:r>
                <a14:m>
                  <m:oMath xmlns:m="http://schemas.openxmlformats.org/officeDocument/2006/math">
                    <m:r>
                      <a:rPr lang="sv-SE" i="1" dirty="0" smtClean="0">
                        <a:latin typeface="Cambria Math" panose="02040503050406030204" pitchFamily="18" charset="0"/>
                      </a:rPr>
                      <m:t>1 – </m:t>
                    </m:r>
                    <m:sSup>
                      <m:sSupPr>
                        <m:ctrlPr>
                          <a:rPr lang="sv-SE" i="1" dirty="0" smtClean="0">
                            <a:latin typeface="Cambria Math" panose="02040503050406030204" pitchFamily="18" charset="0"/>
                          </a:rPr>
                        </m:ctrlPr>
                      </m:sSupPr>
                      <m:e>
                        <m:r>
                          <a:rPr lang="sv-SE" i="1" dirty="0" smtClean="0">
                            <a:latin typeface="Cambria Math" panose="02040503050406030204" pitchFamily="18" charset="0"/>
                          </a:rPr>
                          <m:t>(1−</m:t>
                        </m:r>
                        <m:r>
                          <a:rPr lang="sv-SE" b="0" i="1" dirty="0" smtClean="0">
                            <a:latin typeface="Cambria Math" panose="02040503050406030204" pitchFamily="18" charset="0"/>
                          </a:rPr>
                          <m:t>0.05</m:t>
                        </m:r>
                        <m:r>
                          <a:rPr lang="sv-SE" i="1" dirty="0" smtClean="0">
                            <a:latin typeface="Cambria Math" panose="02040503050406030204" pitchFamily="18" charset="0"/>
                          </a:rPr>
                          <m:t>)</m:t>
                        </m:r>
                        <m:r>
                          <m:rPr>
                            <m:nor/>
                          </m:rPr>
                          <a:rPr lang="sv-SE" dirty="0" smtClean="0"/>
                          <m:t> </m:t>
                        </m:r>
                      </m:e>
                      <m:sup>
                        <m:r>
                          <a:rPr lang="sv-SE" b="0" i="1" dirty="0" smtClean="0">
                            <a:latin typeface="Cambria Math" panose="02040503050406030204" pitchFamily="18" charset="0"/>
                          </a:rPr>
                          <m:t>1</m:t>
                        </m:r>
                      </m:sup>
                    </m:sSup>
                  </m:oMath>
                </a14:m>
                <a:r>
                  <a:rPr lang="sv-SE" dirty="0"/>
                  <a:t>= 1 – 0.95   = 0.05</a:t>
                </a:r>
              </a:p>
              <a:p>
                <a:pPr defTabSz="947353">
                  <a:defRPr/>
                </a:pPr>
                <a:endParaRPr lang="sv-SE" b="0" i="1" dirty="0">
                  <a:latin typeface="Cambria Math" panose="02040503050406030204" pitchFamily="18" charset="0"/>
                </a:endParaRPr>
              </a:p>
              <a:p>
                <a:pPr defTabSz="947353">
                  <a:defRPr/>
                </a:pPr>
                <a14:m>
                  <m:oMath xmlns:m="http://schemas.openxmlformats.org/officeDocument/2006/math">
                    <m:r>
                      <a:rPr lang="sv-SE" b="0" i="1" dirty="0" smtClean="0">
                        <a:latin typeface="Cambria Math" panose="02040503050406030204" pitchFamily="18" charset="0"/>
                      </a:rPr>
                      <m:t>𝐹𝑜𝑟</m:t>
                    </m:r>
                    <m:r>
                      <a:rPr lang="sv-SE" b="0" i="1" dirty="0" smtClean="0">
                        <a:latin typeface="Cambria Math" panose="02040503050406030204" pitchFamily="18" charset="0"/>
                      </a:rPr>
                      <m:t> </m:t>
                    </m:r>
                    <m:r>
                      <a:rPr lang="sv-SE" b="0" i="1" dirty="0" smtClean="0">
                        <a:latin typeface="Cambria Math" panose="02040503050406030204" pitchFamily="18" charset="0"/>
                      </a:rPr>
                      <m:t>𝑐</m:t>
                    </m:r>
                    <m:r>
                      <a:rPr lang="sv-SE" b="0" i="1" dirty="0" smtClean="0">
                        <a:latin typeface="Cambria Math" panose="02040503050406030204" pitchFamily="18" charset="0"/>
                      </a:rPr>
                      <m:t>=2</m:t>
                    </m:r>
                  </m:oMath>
                </a14:m>
                <a:r>
                  <a:rPr lang="sv-SE" b="0" dirty="0"/>
                  <a:t>, </a:t>
                </a:r>
                <a:r>
                  <a:rPr lang="sv-SE" b="0" dirty="0" err="1"/>
                  <a:t>then</a:t>
                </a:r>
                <a:r>
                  <a:rPr lang="sv-SE" b="0" dirty="0"/>
                  <a:t>  </a:t>
                </a:r>
                <a14:m>
                  <m:oMath xmlns:m="http://schemas.openxmlformats.org/officeDocument/2006/math">
                    <m:r>
                      <a:rPr lang="sv-SE" i="1" dirty="0" smtClean="0">
                        <a:latin typeface="Cambria Math" panose="02040503050406030204" pitchFamily="18" charset="0"/>
                      </a:rPr>
                      <m:t>1 – </m:t>
                    </m:r>
                    <m:sSup>
                      <m:sSupPr>
                        <m:ctrlPr>
                          <a:rPr lang="sv-SE" i="1" dirty="0" smtClean="0">
                            <a:latin typeface="Cambria Math" panose="02040503050406030204" pitchFamily="18" charset="0"/>
                          </a:rPr>
                        </m:ctrlPr>
                      </m:sSupPr>
                      <m:e>
                        <m:r>
                          <a:rPr lang="sv-SE" i="1" dirty="0" smtClean="0">
                            <a:latin typeface="Cambria Math" panose="02040503050406030204" pitchFamily="18" charset="0"/>
                          </a:rPr>
                          <m:t>(1−</m:t>
                        </m:r>
                        <m:r>
                          <a:rPr lang="sv-SE" b="0" i="1" dirty="0" smtClean="0">
                            <a:latin typeface="Cambria Math" panose="02040503050406030204" pitchFamily="18" charset="0"/>
                          </a:rPr>
                          <m:t>0.05</m:t>
                        </m:r>
                        <m:r>
                          <a:rPr lang="sv-SE" i="1" dirty="0" smtClean="0">
                            <a:latin typeface="Cambria Math" panose="02040503050406030204" pitchFamily="18" charset="0"/>
                          </a:rPr>
                          <m:t>)</m:t>
                        </m:r>
                        <m:r>
                          <m:rPr>
                            <m:nor/>
                          </m:rPr>
                          <a:rPr lang="sv-SE" dirty="0" smtClean="0"/>
                          <m:t> </m:t>
                        </m:r>
                      </m:e>
                      <m:sup>
                        <m:r>
                          <a:rPr lang="sv-SE" b="0" i="1" dirty="0" smtClean="0">
                            <a:latin typeface="Cambria Math" panose="02040503050406030204" pitchFamily="18" charset="0"/>
                          </a:rPr>
                          <m:t>2</m:t>
                        </m:r>
                      </m:sup>
                    </m:sSup>
                  </m:oMath>
                </a14:m>
                <a:r>
                  <a:rPr lang="sv-SE" dirty="0"/>
                  <a:t>= 1 – </a:t>
                </a:r>
                <a14:m>
                  <m:oMath xmlns:m="http://schemas.openxmlformats.org/officeDocument/2006/math">
                    <m:sSup>
                      <m:sSupPr>
                        <m:ctrlPr>
                          <a:rPr lang="sv-SE" i="1" dirty="0" smtClean="0">
                            <a:latin typeface="Cambria Math" panose="02040503050406030204" pitchFamily="18" charset="0"/>
                          </a:rPr>
                        </m:ctrlPr>
                      </m:sSupPr>
                      <m:e>
                        <m:r>
                          <a:rPr lang="sv-SE" i="1" dirty="0" smtClean="0">
                            <a:latin typeface="Cambria Math" panose="02040503050406030204" pitchFamily="18" charset="0"/>
                          </a:rPr>
                          <m:t>0.95</m:t>
                        </m:r>
                      </m:e>
                      <m:sup>
                        <m:r>
                          <a:rPr lang="sv-SE" b="0" i="1" dirty="0" smtClean="0">
                            <a:latin typeface="Cambria Math" panose="02040503050406030204" pitchFamily="18" charset="0"/>
                          </a:rPr>
                          <m:t>2</m:t>
                        </m:r>
                      </m:sup>
                    </m:sSup>
                  </m:oMath>
                </a14:m>
                <a:r>
                  <a:rPr lang="sv-SE" dirty="0"/>
                  <a:t> = 1- 0.90 = 0.10</a:t>
                </a:r>
              </a:p>
              <a:p>
                <a14:m>
                  <m:oMath xmlns:m="http://schemas.openxmlformats.org/officeDocument/2006/math">
                    <m:r>
                      <a:rPr lang="sv-SE" b="0" i="1" dirty="0" smtClean="0">
                        <a:latin typeface="Cambria Math" panose="02040503050406030204" pitchFamily="18" charset="0"/>
                      </a:rPr>
                      <m:t>𝐹𝑜𝑟</m:t>
                    </m:r>
                    <m:r>
                      <a:rPr lang="sv-SE" b="0" i="1" dirty="0" smtClean="0">
                        <a:latin typeface="Cambria Math" panose="02040503050406030204" pitchFamily="18" charset="0"/>
                      </a:rPr>
                      <m:t> </m:t>
                    </m:r>
                    <m:r>
                      <a:rPr lang="sv-SE" b="0" i="1" dirty="0" smtClean="0">
                        <a:latin typeface="Cambria Math" panose="02040503050406030204" pitchFamily="18" charset="0"/>
                      </a:rPr>
                      <m:t>𝑐</m:t>
                    </m:r>
                    <m:r>
                      <a:rPr lang="sv-SE" b="0" i="1" dirty="0" smtClean="0">
                        <a:latin typeface="Cambria Math" panose="02040503050406030204" pitchFamily="18" charset="0"/>
                      </a:rPr>
                      <m:t>=</m:t>
                    </m:r>
                  </m:oMath>
                </a14:m>
                <a:r>
                  <a:rPr lang="sv-SE" b="0" dirty="0"/>
                  <a:t>3,  </a:t>
                </a:r>
                <a:r>
                  <a:rPr lang="sv-SE" b="0" dirty="0" err="1"/>
                  <a:t>then</a:t>
                </a:r>
                <a:r>
                  <a:rPr lang="sv-SE" b="0" dirty="0"/>
                  <a:t>  </a:t>
                </a:r>
                <a14:m>
                  <m:oMath xmlns:m="http://schemas.openxmlformats.org/officeDocument/2006/math">
                    <m:r>
                      <a:rPr lang="sv-SE" i="1" dirty="0" smtClean="0">
                        <a:latin typeface="Cambria Math" panose="02040503050406030204" pitchFamily="18" charset="0"/>
                      </a:rPr>
                      <m:t>1 – </m:t>
                    </m:r>
                    <m:sSup>
                      <m:sSupPr>
                        <m:ctrlPr>
                          <a:rPr lang="sv-SE" i="1" dirty="0" smtClean="0">
                            <a:latin typeface="Cambria Math" panose="02040503050406030204" pitchFamily="18" charset="0"/>
                          </a:rPr>
                        </m:ctrlPr>
                      </m:sSupPr>
                      <m:e>
                        <m:r>
                          <a:rPr lang="sv-SE" i="1" dirty="0" smtClean="0">
                            <a:latin typeface="Cambria Math" panose="02040503050406030204" pitchFamily="18" charset="0"/>
                          </a:rPr>
                          <m:t>(1−</m:t>
                        </m:r>
                        <m:r>
                          <a:rPr lang="sv-SE" b="0" i="1" dirty="0" smtClean="0">
                            <a:latin typeface="Cambria Math" panose="02040503050406030204" pitchFamily="18" charset="0"/>
                          </a:rPr>
                          <m:t>0.05</m:t>
                        </m:r>
                        <m:r>
                          <a:rPr lang="sv-SE" i="1" dirty="0" smtClean="0">
                            <a:latin typeface="Cambria Math" panose="02040503050406030204" pitchFamily="18" charset="0"/>
                          </a:rPr>
                          <m:t>)</m:t>
                        </m:r>
                        <m:r>
                          <m:rPr>
                            <m:nor/>
                          </m:rPr>
                          <a:rPr lang="sv-SE" dirty="0" smtClean="0"/>
                          <m:t> </m:t>
                        </m:r>
                      </m:e>
                      <m:sup>
                        <m:r>
                          <a:rPr lang="sv-SE" b="0" i="1" dirty="0" smtClean="0">
                            <a:latin typeface="Cambria Math" panose="02040503050406030204" pitchFamily="18" charset="0"/>
                          </a:rPr>
                          <m:t>3</m:t>
                        </m:r>
                      </m:sup>
                    </m:sSup>
                  </m:oMath>
                </a14:m>
                <a:r>
                  <a:rPr lang="sv-SE" dirty="0"/>
                  <a:t> = 1 – </a:t>
                </a:r>
                <a14:m>
                  <m:oMath xmlns:m="http://schemas.openxmlformats.org/officeDocument/2006/math">
                    <m:sSup>
                      <m:sSupPr>
                        <m:ctrlPr>
                          <a:rPr lang="sv-SE" i="1" dirty="0" smtClean="0">
                            <a:latin typeface="Cambria Math" panose="02040503050406030204" pitchFamily="18" charset="0"/>
                          </a:rPr>
                        </m:ctrlPr>
                      </m:sSupPr>
                      <m:e>
                        <m:r>
                          <a:rPr lang="sv-SE" i="1" dirty="0" smtClean="0">
                            <a:latin typeface="Cambria Math" panose="02040503050406030204" pitchFamily="18" charset="0"/>
                          </a:rPr>
                          <m:t>0.95</m:t>
                        </m:r>
                      </m:e>
                      <m:sup>
                        <m:r>
                          <a:rPr lang="sv-SE" b="0" i="1" dirty="0" smtClean="0">
                            <a:latin typeface="Cambria Math" panose="02040503050406030204" pitchFamily="18" charset="0"/>
                          </a:rPr>
                          <m:t>3</m:t>
                        </m:r>
                      </m:sup>
                    </m:sSup>
                  </m:oMath>
                </a14:m>
                <a:r>
                  <a:rPr lang="sv-SE" dirty="0"/>
                  <a:t> = 1- 0.86 = 0.14</a:t>
                </a:r>
              </a:p>
              <a:p>
                <a:pPr defTabSz="947353">
                  <a:defRPr/>
                </a:pPr>
                <a14:m>
                  <m:oMath xmlns:m="http://schemas.openxmlformats.org/officeDocument/2006/math">
                    <m:r>
                      <a:rPr lang="sv-SE" b="0" i="1" dirty="0" smtClean="0">
                        <a:latin typeface="Cambria Math" panose="02040503050406030204" pitchFamily="18" charset="0"/>
                      </a:rPr>
                      <m:t>𝐹𝑜𝑟</m:t>
                    </m:r>
                    <m:r>
                      <a:rPr lang="sv-SE" b="0" i="1" dirty="0" smtClean="0">
                        <a:latin typeface="Cambria Math" panose="02040503050406030204" pitchFamily="18" charset="0"/>
                      </a:rPr>
                      <m:t> </m:t>
                    </m:r>
                    <m:r>
                      <a:rPr lang="sv-SE" b="0" i="1" dirty="0" smtClean="0">
                        <a:latin typeface="Cambria Math" panose="02040503050406030204" pitchFamily="18" charset="0"/>
                      </a:rPr>
                      <m:t>𝑐</m:t>
                    </m:r>
                    <m:r>
                      <a:rPr lang="sv-SE" b="0" i="1" dirty="0" smtClean="0">
                        <a:latin typeface="Cambria Math" panose="02040503050406030204" pitchFamily="18" charset="0"/>
                      </a:rPr>
                      <m:t>=</m:t>
                    </m:r>
                  </m:oMath>
                </a14:m>
                <a:r>
                  <a:rPr lang="sv-SE" b="0" dirty="0"/>
                  <a:t>4,    </a:t>
                </a:r>
                <a:r>
                  <a:rPr lang="sv-SE" b="0" dirty="0" err="1"/>
                  <a:t>then</a:t>
                </a:r>
                <a:r>
                  <a:rPr lang="sv-SE" b="0" dirty="0"/>
                  <a:t>  </a:t>
                </a:r>
                <a14:m>
                  <m:oMath xmlns:m="http://schemas.openxmlformats.org/officeDocument/2006/math">
                    <m:r>
                      <a:rPr lang="sv-SE" i="1" dirty="0" smtClean="0">
                        <a:latin typeface="Cambria Math" panose="02040503050406030204" pitchFamily="18" charset="0"/>
                      </a:rPr>
                      <m:t>1 – </m:t>
                    </m:r>
                    <m:sSup>
                      <m:sSupPr>
                        <m:ctrlPr>
                          <a:rPr lang="sv-SE" i="1" dirty="0" smtClean="0">
                            <a:latin typeface="Cambria Math" panose="02040503050406030204" pitchFamily="18" charset="0"/>
                          </a:rPr>
                        </m:ctrlPr>
                      </m:sSupPr>
                      <m:e>
                        <m:r>
                          <a:rPr lang="sv-SE" i="1" dirty="0" smtClean="0">
                            <a:latin typeface="Cambria Math" panose="02040503050406030204" pitchFamily="18" charset="0"/>
                          </a:rPr>
                          <m:t>(1−</m:t>
                        </m:r>
                        <m:r>
                          <a:rPr lang="sv-SE" b="0" i="1" dirty="0" smtClean="0">
                            <a:latin typeface="Cambria Math" panose="02040503050406030204" pitchFamily="18" charset="0"/>
                          </a:rPr>
                          <m:t>0.05</m:t>
                        </m:r>
                        <m:r>
                          <a:rPr lang="sv-SE" i="1" dirty="0" smtClean="0">
                            <a:latin typeface="Cambria Math" panose="02040503050406030204" pitchFamily="18" charset="0"/>
                          </a:rPr>
                          <m:t>)</m:t>
                        </m:r>
                        <m:r>
                          <m:rPr>
                            <m:nor/>
                          </m:rPr>
                          <a:rPr lang="sv-SE" dirty="0" smtClean="0"/>
                          <m:t> </m:t>
                        </m:r>
                      </m:e>
                      <m:sup>
                        <m:r>
                          <a:rPr lang="sv-SE" b="0" i="1" dirty="0" smtClean="0">
                            <a:latin typeface="Cambria Math" panose="02040503050406030204" pitchFamily="18" charset="0"/>
                          </a:rPr>
                          <m:t>4</m:t>
                        </m:r>
                      </m:sup>
                    </m:sSup>
                  </m:oMath>
                </a14:m>
                <a:r>
                  <a:rPr lang="sv-SE" dirty="0"/>
                  <a:t> = 1 – </a:t>
                </a:r>
                <a14:m>
                  <m:oMath xmlns:m="http://schemas.openxmlformats.org/officeDocument/2006/math">
                    <m:sSup>
                      <m:sSupPr>
                        <m:ctrlPr>
                          <a:rPr lang="sv-SE" i="1" dirty="0" smtClean="0">
                            <a:latin typeface="Cambria Math" panose="02040503050406030204" pitchFamily="18" charset="0"/>
                          </a:rPr>
                        </m:ctrlPr>
                      </m:sSupPr>
                      <m:e>
                        <m:r>
                          <a:rPr lang="sv-SE" i="1" dirty="0" smtClean="0">
                            <a:latin typeface="Cambria Math" panose="02040503050406030204" pitchFamily="18" charset="0"/>
                          </a:rPr>
                          <m:t>0.95</m:t>
                        </m:r>
                      </m:e>
                      <m:sup>
                        <m:r>
                          <a:rPr lang="sv-SE" b="0" i="1" dirty="0" smtClean="0">
                            <a:latin typeface="Cambria Math" panose="02040503050406030204" pitchFamily="18" charset="0"/>
                          </a:rPr>
                          <m:t>4</m:t>
                        </m:r>
                      </m:sup>
                    </m:sSup>
                  </m:oMath>
                </a14:m>
                <a:r>
                  <a:rPr lang="sv-SE" dirty="0"/>
                  <a:t> = 1- 0.81 = 0.19</a:t>
                </a:r>
              </a:p>
              <a:p>
                <a:pPr defTabSz="947353">
                  <a:defRPr/>
                </a:pPr>
                <a14:m>
                  <m:oMath xmlns:m="http://schemas.openxmlformats.org/officeDocument/2006/math">
                    <m:r>
                      <a:rPr lang="sv-SE" b="0" i="1" dirty="0" smtClean="0">
                        <a:latin typeface="Cambria Math" panose="02040503050406030204" pitchFamily="18" charset="0"/>
                      </a:rPr>
                      <m:t>𝐹𝑜𝑟</m:t>
                    </m:r>
                    <m:r>
                      <a:rPr lang="sv-SE" b="0" i="1" dirty="0" smtClean="0">
                        <a:latin typeface="Cambria Math" panose="02040503050406030204" pitchFamily="18" charset="0"/>
                      </a:rPr>
                      <m:t> </m:t>
                    </m:r>
                    <m:r>
                      <a:rPr lang="sv-SE" b="0" i="1" dirty="0" smtClean="0">
                        <a:latin typeface="Cambria Math" panose="02040503050406030204" pitchFamily="18" charset="0"/>
                      </a:rPr>
                      <m:t>𝑐</m:t>
                    </m:r>
                    <m:r>
                      <a:rPr lang="sv-SE" b="0" i="1" dirty="0" smtClean="0">
                        <a:latin typeface="Cambria Math" panose="02040503050406030204" pitchFamily="18" charset="0"/>
                      </a:rPr>
                      <m:t>=</m:t>
                    </m:r>
                    <m:r>
                      <a:rPr lang="sv-SE" b="0" i="0" dirty="0" smtClean="0">
                        <a:latin typeface="Cambria Math" panose="02040503050406030204" pitchFamily="18" charset="0"/>
                      </a:rPr>
                      <m:t>5</m:t>
                    </m:r>
                  </m:oMath>
                </a14:m>
                <a:r>
                  <a:rPr lang="sv-SE" b="0" dirty="0"/>
                  <a:t>,   </a:t>
                </a:r>
                <a:r>
                  <a:rPr lang="sv-SE" b="0" dirty="0" err="1"/>
                  <a:t>then</a:t>
                </a:r>
                <a:r>
                  <a:rPr lang="sv-SE" b="0" dirty="0"/>
                  <a:t>  </a:t>
                </a:r>
                <a14:m>
                  <m:oMath xmlns:m="http://schemas.openxmlformats.org/officeDocument/2006/math">
                    <m:r>
                      <a:rPr lang="sv-SE" i="1" dirty="0" smtClean="0">
                        <a:latin typeface="Cambria Math" panose="02040503050406030204" pitchFamily="18" charset="0"/>
                      </a:rPr>
                      <m:t>1 – </m:t>
                    </m:r>
                    <m:sSup>
                      <m:sSupPr>
                        <m:ctrlPr>
                          <a:rPr lang="sv-SE" i="1" dirty="0" smtClean="0">
                            <a:latin typeface="Cambria Math" panose="02040503050406030204" pitchFamily="18" charset="0"/>
                          </a:rPr>
                        </m:ctrlPr>
                      </m:sSupPr>
                      <m:e>
                        <m:r>
                          <a:rPr lang="sv-SE" i="1" dirty="0" smtClean="0">
                            <a:latin typeface="Cambria Math" panose="02040503050406030204" pitchFamily="18" charset="0"/>
                          </a:rPr>
                          <m:t>(1−</m:t>
                        </m:r>
                        <m:r>
                          <a:rPr lang="sv-SE" b="0" i="1" dirty="0" smtClean="0">
                            <a:latin typeface="Cambria Math" panose="02040503050406030204" pitchFamily="18" charset="0"/>
                          </a:rPr>
                          <m:t>0.05</m:t>
                        </m:r>
                        <m:r>
                          <a:rPr lang="sv-SE" i="1" dirty="0" smtClean="0">
                            <a:latin typeface="Cambria Math" panose="02040503050406030204" pitchFamily="18" charset="0"/>
                          </a:rPr>
                          <m:t>)</m:t>
                        </m:r>
                        <m:r>
                          <m:rPr>
                            <m:nor/>
                          </m:rPr>
                          <a:rPr lang="sv-SE" dirty="0" smtClean="0"/>
                          <m:t> </m:t>
                        </m:r>
                      </m:e>
                      <m:sup>
                        <m:r>
                          <a:rPr lang="sv-SE" b="0" i="1" dirty="0" smtClean="0">
                            <a:latin typeface="Cambria Math" panose="02040503050406030204" pitchFamily="18" charset="0"/>
                          </a:rPr>
                          <m:t>5</m:t>
                        </m:r>
                      </m:sup>
                    </m:sSup>
                  </m:oMath>
                </a14:m>
                <a:r>
                  <a:rPr lang="sv-SE" dirty="0"/>
                  <a:t> = 1 – </a:t>
                </a:r>
                <a14:m>
                  <m:oMath xmlns:m="http://schemas.openxmlformats.org/officeDocument/2006/math">
                    <m:sSup>
                      <m:sSupPr>
                        <m:ctrlPr>
                          <a:rPr lang="sv-SE" i="1" dirty="0" smtClean="0">
                            <a:latin typeface="Cambria Math" panose="02040503050406030204" pitchFamily="18" charset="0"/>
                          </a:rPr>
                        </m:ctrlPr>
                      </m:sSupPr>
                      <m:e>
                        <m:r>
                          <a:rPr lang="sv-SE" i="1" dirty="0" smtClean="0">
                            <a:latin typeface="Cambria Math" panose="02040503050406030204" pitchFamily="18" charset="0"/>
                          </a:rPr>
                          <m:t>0.95</m:t>
                        </m:r>
                      </m:e>
                      <m:sup>
                        <m:r>
                          <a:rPr lang="sv-SE" b="0" i="1" dirty="0" smtClean="0">
                            <a:latin typeface="Cambria Math" panose="02040503050406030204" pitchFamily="18" charset="0"/>
                          </a:rPr>
                          <m:t>5</m:t>
                        </m:r>
                      </m:sup>
                    </m:sSup>
                  </m:oMath>
                </a14:m>
                <a:r>
                  <a:rPr lang="sv-SE" dirty="0"/>
                  <a:t> = 1- 0.77 = 0.23</a:t>
                </a:r>
              </a:p>
              <a:p>
                <a:pPr defTabSz="947353">
                  <a:defRPr/>
                </a:pPr>
                <a14:m>
                  <m:oMath xmlns:m="http://schemas.openxmlformats.org/officeDocument/2006/math">
                    <m:r>
                      <a:rPr lang="sv-SE" b="0" i="1" dirty="0" smtClean="0">
                        <a:latin typeface="Cambria Math" panose="02040503050406030204" pitchFamily="18" charset="0"/>
                      </a:rPr>
                      <m:t>𝐹𝑜𝑟</m:t>
                    </m:r>
                    <m:r>
                      <a:rPr lang="sv-SE" b="0" i="1" dirty="0" smtClean="0">
                        <a:latin typeface="Cambria Math" panose="02040503050406030204" pitchFamily="18" charset="0"/>
                      </a:rPr>
                      <m:t> </m:t>
                    </m:r>
                    <m:r>
                      <a:rPr lang="sv-SE" b="0" i="1" dirty="0" smtClean="0">
                        <a:latin typeface="Cambria Math" panose="02040503050406030204" pitchFamily="18" charset="0"/>
                      </a:rPr>
                      <m:t>𝑐</m:t>
                    </m:r>
                    <m:r>
                      <a:rPr lang="sv-SE" b="0" i="0" dirty="0" smtClean="0">
                        <a:latin typeface="Cambria Math" panose="02040503050406030204" pitchFamily="18" charset="0"/>
                      </a:rPr>
                      <m:t>=10</m:t>
                    </m:r>
                  </m:oMath>
                </a14:m>
                <a:r>
                  <a:rPr lang="sv-SE" b="0" dirty="0"/>
                  <a:t>, </a:t>
                </a:r>
                <a:r>
                  <a:rPr lang="sv-SE" b="0" dirty="0" err="1"/>
                  <a:t>then</a:t>
                </a:r>
                <a:r>
                  <a:rPr lang="sv-SE" b="0" dirty="0"/>
                  <a:t>  </a:t>
                </a:r>
                <a14:m>
                  <m:oMath xmlns:m="http://schemas.openxmlformats.org/officeDocument/2006/math">
                    <m:r>
                      <a:rPr lang="sv-SE" i="1" dirty="0" smtClean="0">
                        <a:latin typeface="Cambria Math" panose="02040503050406030204" pitchFamily="18" charset="0"/>
                      </a:rPr>
                      <m:t>1 – </m:t>
                    </m:r>
                    <m:sSup>
                      <m:sSupPr>
                        <m:ctrlPr>
                          <a:rPr lang="sv-SE" i="1" dirty="0" smtClean="0">
                            <a:latin typeface="Cambria Math" panose="02040503050406030204" pitchFamily="18" charset="0"/>
                          </a:rPr>
                        </m:ctrlPr>
                      </m:sSupPr>
                      <m:e>
                        <m:r>
                          <a:rPr lang="sv-SE" i="1" dirty="0" smtClean="0">
                            <a:latin typeface="Cambria Math" panose="02040503050406030204" pitchFamily="18" charset="0"/>
                          </a:rPr>
                          <m:t>(1−</m:t>
                        </m:r>
                        <m:r>
                          <a:rPr lang="sv-SE" b="0" i="1" dirty="0" smtClean="0">
                            <a:latin typeface="Cambria Math" panose="02040503050406030204" pitchFamily="18" charset="0"/>
                          </a:rPr>
                          <m:t>0.05</m:t>
                        </m:r>
                        <m:r>
                          <a:rPr lang="sv-SE" i="1" dirty="0" smtClean="0">
                            <a:latin typeface="Cambria Math" panose="02040503050406030204" pitchFamily="18" charset="0"/>
                          </a:rPr>
                          <m:t>)</m:t>
                        </m:r>
                        <m:r>
                          <m:rPr>
                            <m:nor/>
                          </m:rPr>
                          <a:rPr lang="sv-SE" dirty="0" smtClean="0"/>
                          <m:t> </m:t>
                        </m:r>
                      </m:e>
                      <m:sup>
                        <m:r>
                          <a:rPr lang="sv-SE" b="0" i="1" dirty="0" smtClean="0">
                            <a:latin typeface="Cambria Math" panose="02040503050406030204" pitchFamily="18" charset="0"/>
                          </a:rPr>
                          <m:t>10</m:t>
                        </m:r>
                      </m:sup>
                    </m:sSup>
                  </m:oMath>
                </a14:m>
                <a:r>
                  <a:rPr lang="sv-SE" dirty="0"/>
                  <a:t>= 1 – </a:t>
                </a:r>
                <a14:m>
                  <m:oMath xmlns:m="http://schemas.openxmlformats.org/officeDocument/2006/math">
                    <m:sSup>
                      <m:sSupPr>
                        <m:ctrlPr>
                          <a:rPr lang="sv-SE" i="1" dirty="0" smtClean="0">
                            <a:latin typeface="Cambria Math" panose="02040503050406030204" pitchFamily="18" charset="0"/>
                          </a:rPr>
                        </m:ctrlPr>
                      </m:sSupPr>
                      <m:e>
                        <m:r>
                          <a:rPr lang="sv-SE" i="1" dirty="0" smtClean="0">
                            <a:latin typeface="Cambria Math" panose="02040503050406030204" pitchFamily="18" charset="0"/>
                          </a:rPr>
                          <m:t>0.95</m:t>
                        </m:r>
                      </m:e>
                      <m:sup>
                        <m:r>
                          <a:rPr lang="sv-SE" b="0" i="1" dirty="0" smtClean="0">
                            <a:latin typeface="Cambria Math" panose="02040503050406030204" pitchFamily="18" charset="0"/>
                          </a:rPr>
                          <m:t>10</m:t>
                        </m:r>
                      </m:sup>
                    </m:sSup>
                  </m:oMath>
                </a14:m>
                <a:r>
                  <a:rPr lang="sv-SE" dirty="0"/>
                  <a:t>=1- 0.60 = 0.40</a:t>
                </a:r>
              </a:p>
              <a:p>
                <a:endParaRPr lang="sv-SE" dirty="0"/>
              </a:p>
              <a:p>
                <a:endParaRPr lang="sv-SE" b="0" dirty="0"/>
              </a:p>
              <a:p>
                <a:endParaRPr lang="sv-SE" dirty="0"/>
              </a:p>
              <a:p>
                <a:endParaRPr lang="en-US" dirty="0"/>
              </a:p>
            </p:txBody>
          </p:sp>
        </mc:Choice>
        <mc:Fallback xmlns="">
          <p:sp>
            <p:nvSpPr>
              <p:cNvPr id="3" name="Platshållare för anteckningar 2"/>
              <p:cNvSpPr>
                <a:spLocks noGrp="1"/>
              </p:cNvSpPr>
              <p:nvPr>
                <p:ph type="body" idx="1"/>
              </p:nvPr>
            </p:nvSpPr>
            <p:spPr/>
            <p:txBody>
              <a:bodyPr/>
              <a:lstStyle/>
              <a:p>
                <a:r>
                  <a:rPr lang="sv-SE" dirty="0" smtClean="0"/>
                  <a:t>The risk </a:t>
                </a:r>
                <a:r>
                  <a:rPr lang="sv-SE" dirty="0" err="1" smtClean="0"/>
                  <a:t>that</a:t>
                </a:r>
                <a:r>
                  <a:rPr lang="sv-SE" dirty="0" smtClean="0"/>
                  <a:t> </a:t>
                </a:r>
                <a:r>
                  <a:rPr lang="sv-SE" dirty="0" err="1" smtClean="0"/>
                  <a:t>one</a:t>
                </a:r>
                <a:r>
                  <a:rPr lang="sv-SE" dirty="0" smtClean="0"/>
                  <a:t> test </a:t>
                </a:r>
                <a:r>
                  <a:rPr lang="sv-SE" b="1" dirty="0" smtClean="0"/>
                  <a:t>(c)</a:t>
                </a:r>
                <a:r>
                  <a:rPr lang="sv-SE" dirty="0" smtClean="0"/>
                  <a:t> </a:t>
                </a:r>
                <a:r>
                  <a:rPr lang="sv-SE" dirty="0" err="1" smtClean="0"/>
                  <a:t>will</a:t>
                </a:r>
                <a:r>
                  <a:rPr lang="sv-SE" dirty="0" smtClean="0"/>
                  <a:t> be non-</a:t>
                </a:r>
                <a:r>
                  <a:rPr lang="sv-SE" dirty="0" err="1" smtClean="0"/>
                  <a:t>significant</a:t>
                </a:r>
                <a:r>
                  <a:rPr lang="sv-SE" dirty="0" smtClean="0"/>
                  <a:t> at </a:t>
                </a:r>
                <a:r>
                  <a:rPr lang="el-GR" i="0" dirty="0" smtClean="0">
                    <a:latin typeface="Cambria Math" panose="02040503050406030204" pitchFamily="18" charset="0"/>
                  </a:rPr>
                  <a:t>𝛼</a:t>
                </a:r>
                <a:r>
                  <a:rPr lang="sv-SE" dirty="0" smtClean="0"/>
                  <a:t>-</a:t>
                </a:r>
                <a:r>
                  <a:rPr lang="sv-SE" dirty="0" err="1" smtClean="0"/>
                  <a:t>level</a:t>
                </a:r>
                <a:r>
                  <a:rPr lang="sv-SE" dirty="0" smtClean="0"/>
                  <a:t> </a:t>
                </a:r>
                <a:r>
                  <a:rPr lang="sv-SE" dirty="0" err="1" smtClean="0"/>
                  <a:t>of</a:t>
                </a:r>
                <a:r>
                  <a:rPr lang="sv-SE" dirty="0" smtClean="0"/>
                  <a:t> </a:t>
                </a:r>
                <a:r>
                  <a:rPr lang="sv-SE" dirty="0" err="1" smtClean="0"/>
                  <a:t>significance</a:t>
                </a:r>
                <a:r>
                  <a:rPr lang="sv-SE" dirty="0" smtClean="0"/>
                  <a:t>	= </a:t>
                </a:r>
                <a:r>
                  <a:rPr lang="sv-SE" i="0" dirty="0" smtClean="0">
                    <a:latin typeface="Cambria Math" panose="02040503050406030204" pitchFamily="18" charset="0"/>
                  </a:rPr>
                  <a:t>1 – 〖(1−</a:t>
                </a:r>
                <a:r>
                  <a:rPr lang="el-GR" i="0" dirty="0" smtClean="0">
                    <a:latin typeface="Cambria Math" panose="02040503050406030204" pitchFamily="18" charset="0"/>
                  </a:rPr>
                  <a:t>𝛼</a:t>
                </a:r>
                <a:r>
                  <a:rPr lang="sv-SE" i="0" dirty="0" smtClean="0">
                    <a:latin typeface="Cambria Math" panose="02040503050406030204" pitchFamily="18" charset="0"/>
                  </a:rPr>
                  <a:t>)"</a:t>
                </a:r>
                <a:r>
                  <a:rPr lang="sv-SE" i="0" dirty="0" smtClean="0"/>
                  <a:t> </a:t>
                </a:r>
                <a:r>
                  <a:rPr lang="sv-SE" i="0" dirty="0" smtClean="0">
                    <a:latin typeface="Cambria Math" panose="02040503050406030204" pitchFamily="18" charset="0"/>
                  </a:rPr>
                  <a:t>" 〗^</a:t>
                </a:r>
                <a:r>
                  <a:rPr lang="sv-SE" b="0" i="0" dirty="0" smtClean="0">
                    <a:latin typeface="Cambria Math" panose="02040503050406030204" pitchFamily="18" charset="0"/>
                  </a:rPr>
                  <a:t>𝑐</a:t>
                </a:r>
                <a:endParaRPr lang="sv-SE" dirty="0" smtClean="0"/>
              </a:p>
              <a:p>
                <a:endParaRPr lang="sv-SE" dirty="0" smtClean="0"/>
              </a:p>
              <a:p>
                <a:r>
                  <a:rPr lang="sv-SE" dirty="0" err="1" smtClean="0"/>
                  <a:t>When</a:t>
                </a:r>
                <a:r>
                  <a:rPr lang="sv-SE" dirty="0" smtClean="0"/>
                  <a:t> </a:t>
                </a:r>
                <a:r>
                  <a:rPr lang="sv-SE" dirty="0" err="1" smtClean="0"/>
                  <a:t>alpha</a:t>
                </a:r>
                <a:r>
                  <a:rPr lang="sv-SE" dirty="0" smtClean="0"/>
                  <a:t>,</a:t>
                </a:r>
                <a:r>
                  <a:rPr lang="sv-SE" baseline="0" dirty="0" smtClean="0"/>
                  <a:t> </a:t>
                </a:r>
                <a:r>
                  <a:rPr lang="el-GR" i="0" dirty="0" smtClean="0">
                    <a:latin typeface="Cambria Math" panose="02040503050406030204" pitchFamily="18" charset="0"/>
                  </a:rPr>
                  <a:t>𝛼</a:t>
                </a:r>
                <a:r>
                  <a:rPr lang="sv-SE" b="0" i="0" dirty="0" smtClean="0">
                    <a:latin typeface="Cambria Math" panose="02040503050406030204" pitchFamily="18" charset="0"/>
                  </a:rPr>
                  <a:t>=0.05 𝑎𝑛𝑑 𝑐=1,</a:t>
                </a:r>
                <a:r>
                  <a:rPr lang="sv-SE" b="0" dirty="0" smtClean="0"/>
                  <a:t> </a:t>
                </a:r>
                <a:r>
                  <a:rPr lang="sv-SE" b="0" dirty="0" err="1" smtClean="0"/>
                  <a:t>then</a:t>
                </a:r>
                <a:r>
                  <a:rPr lang="sv-SE" b="0" dirty="0" smtClean="0"/>
                  <a:t>  </a:t>
                </a:r>
                <a:r>
                  <a:rPr lang="sv-SE" i="0" dirty="0" smtClean="0">
                    <a:latin typeface="Cambria Math" panose="02040503050406030204" pitchFamily="18" charset="0"/>
                  </a:rPr>
                  <a:t>1 – 〖(1−</a:t>
                </a:r>
                <a:r>
                  <a:rPr lang="sv-SE" b="0" i="0" dirty="0" smtClean="0">
                    <a:latin typeface="Cambria Math" panose="02040503050406030204" pitchFamily="18" charset="0"/>
                  </a:rPr>
                  <a:t>0.05</a:t>
                </a:r>
                <a:r>
                  <a:rPr lang="sv-SE" i="0" dirty="0" smtClean="0">
                    <a:latin typeface="Cambria Math" panose="02040503050406030204" pitchFamily="18" charset="0"/>
                  </a:rPr>
                  <a:t>)"</a:t>
                </a:r>
                <a:r>
                  <a:rPr lang="sv-SE" i="0" dirty="0" smtClean="0"/>
                  <a:t> </a:t>
                </a:r>
                <a:r>
                  <a:rPr lang="sv-SE" i="0" dirty="0" smtClean="0">
                    <a:latin typeface="Cambria Math" panose="02040503050406030204" pitchFamily="18" charset="0"/>
                  </a:rPr>
                  <a:t>" 〗^</a:t>
                </a:r>
                <a:r>
                  <a:rPr lang="sv-SE" b="0" i="0" dirty="0" smtClean="0">
                    <a:latin typeface="Cambria Math" panose="02040503050406030204" pitchFamily="18" charset="0"/>
                  </a:rPr>
                  <a:t>1</a:t>
                </a:r>
                <a:r>
                  <a:rPr lang="sv-SE" dirty="0" smtClean="0"/>
                  <a:t>= 1 – 0.95   = 0.05</a:t>
                </a:r>
              </a:p>
              <a:p>
                <a:pPr defTabSz="947410">
                  <a:defRPr/>
                </a:pPr>
                <a:endParaRPr lang="sv-SE" b="0" i="1" dirty="0" smtClean="0">
                  <a:latin typeface="Cambria Math" panose="02040503050406030204" pitchFamily="18" charset="0"/>
                </a:endParaRPr>
              </a:p>
              <a:p>
                <a:pPr defTabSz="947410">
                  <a:defRPr/>
                </a:pPr>
                <a:r>
                  <a:rPr lang="sv-SE" b="0" i="0" dirty="0" smtClean="0">
                    <a:latin typeface="Cambria Math" panose="02040503050406030204" pitchFamily="18" charset="0"/>
                  </a:rPr>
                  <a:t>𝐹𝑜𝑟 𝑐=2</a:t>
                </a:r>
                <a:r>
                  <a:rPr lang="sv-SE" b="0" dirty="0" smtClean="0"/>
                  <a:t>, </a:t>
                </a:r>
                <a:r>
                  <a:rPr lang="sv-SE" b="0" dirty="0" err="1" smtClean="0"/>
                  <a:t>then</a:t>
                </a:r>
                <a:r>
                  <a:rPr lang="sv-SE" b="0" dirty="0" smtClean="0"/>
                  <a:t>  </a:t>
                </a:r>
                <a:r>
                  <a:rPr lang="sv-SE" i="0" dirty="0" smtClean="0">
                    <a:latin typeface="Cambria Math" panose="02040503050406030204" pitchFamily="18" charset="0"/>
                  </a:rPr>
                  <a:t>1 – 〖(1−</a:t>
                </a:r>
                <a:r>
                  <a:rPr lang="sv-SE" b="0" i="0" dirty="0" smtClean="0">
                    <a:latin typeface="Cambria Math" panose="02040503050406030204" pitchFamily="18" charset="0"/>
                  </a:rPr>
                  <a:t>0.05</a:t>
                </a:r>
                <a:r>
                  <a:rPr lang="sv-SE" i="0" dirty="0" smtClean="0">
                    <a:latin typeface="Cambria Math" panose="02040503050406030204" pitchFamily="18" charset="0"/>
                  </a:rPr>
                  <a:t>)"</a:t>
                </a:r>
                <a:r>
                  <a:rPr lang="sv-SE" i="0" dirty="0" smtClean="0"/>
                  <a:t> </a:t>
                </a:r>
                <a:r>
                  <a:rPr lang="sv-SE" i="0" dirty="0" smtClean="0">
                    <a:latin typeface="Cambria Math" panose="02040503050406030204" pitchFamily="18" charset="0"/>
                  </a:rPr>
                  <a:t>" 〗^</a:t>
                </a:r>
                <a:r>
                  <a:rPr lang="sv-SE" b="0" i="0" dirty="0" smtClean="0">
                    <a:latin typeface="Cambria Math" panose="02040503050406030204" pitchFamily="18" charset="0"/>
                  </a:rPr>
                  <a:t>2</a:t>
                </a:r>
                <a:r>
                  <a:rPr lang="sv-SE" dirty="0" smtClean="0"/>
                  <a:t>= 1 – </a:t>
                </a:r>
                <a:r>
                  <a:rPr lang="sv-SE" i="0" dirty="0" smtClean="0">
                    <a:latin typeface="Cambria Math" panose="02040503050406030204" pitchFamily="18" charset="0"/>
                  </a:rPr>
                  <a:t>〖0.95〗^</a:t>
                </a:r>
                <a:r>
                  <a:rPr lang="sv-SE" b="0" i="0" dirty="0" smtClean="0">
                    <a:latin typeface="Cambria Math" panose="02040503050406030204" pitchFamily="18" charset="0"/>
                  </a:rPr>
                  <a:t>2</a:t>
                </a:r>
                <a:r>
                  <a:rPr lang="sv-SE" dirty="0" smtClean="0"/>
                  <a:t> = 1- 0.90 = 0.10</a:t>
                </a:r>
              </a:p>
              <a:p>
                <a:r>
                  <a:rPr lang="sv-SE" b="0" i="0" dirty="0" smtClean="0">
                    <a:latin typeface="Cambria Math" panose="02040503050406030204" pitchFamily="18" charset="0"/>
                  </a:rPr>
                  <a:t>𝐹𝑜𝑟 𝑐=</a:t>
                </a:r>
                <a:r>
                  <a:rPr lang="sv-SE" b="0" dirty="0" smtClean="0"/>
                  <a:t>3,  </a:t>
                </a:r>
                <a:r>
                  <a:rPr lang="sv-SE" b="0" dirty="0" err="1" smtClean="0"/>
                  <a:t>then</a:t>
                </a:r>
                <a:r>
                  <a:rPr lang="sv-SE" b="0" dirty="0" smtClean="0"/>
                  <a:t>  </a:t>
                </a:r>
                <a:r>
                  <a:rPr lang="sv-SE" i="0" dirty="0" smtClean="0">
                    <a:latin typeface="Cambria Math" panose="02040503050406030204" pitchFamily="18" charset="0"/>
                  </a:rPr>
                  <a:t>1 – 〖(1−</a:t>
                </a:r>
                <a:r>
                  <a:rPr lang="sv-SE" b="0" i="0" dirty="0" smtClean="0">
                    <a:latin typeface="Cambria Math" panose="02040503050406030204" pitchFamily="18" charset="0"/>
                  </a:rPr>
                  <a:t>0.05</a:t>
                </a:r>
                <a:r>
                  <a:rPr lang="sv-SE" i="0" dirty="0" smtClean="0">
                    <a:latin typeface="Cambria Math" panose="02040503050406030204" pitchFamily="18" charset="0"/>
                  </a:rPr>
                  <a:t>)"</a:t>
                </a:r>
                <a:r>
                  <a:rPr lang="sv-SE" i="0" dirty="0" smtClean="0"/>
                  <a:t> </a:t>
                </a:r>
                <a:r>
                  <a:rPr lang="sv-SE" i="0" dirty="0" smtClean="0">
                    <a:latin typeface="Cambria Math" panose="02040503050406030204" pitchFamily="18" charset="0"/>
                  </a:rPr>
                  <a:t>" 〗^</a:t>
                </a:r>
                <a:r>
                  <a:rPr lang="sv-SE" b="0" i="0" dirty="0" smtClean="0">
                    <a:latin typeface="Cambria Math" panose="02040503050406030204" pitchFamily="18" charset="0"/>
                  </a:rPr>
                  <a:t>3</a:t>
                </a:r>
                <a:r>
                  <a:rPr lang="sv-SE" dirty="0" smtClean="0"/>
                  <a:t> = 1 – </a:t>
                </a:r>
                <a:r>
                  <a:rPr lang="sv-SE" i="0" dirty="0" smtClean="0">
                    <a:latin typeface="Cambria Math" panose="02040503050406030204" pitchFamily="18" charset="0"/>
                  </a:rPr>
                  <a:t>〖0.95〗^</a:t>
                </a:r>
                <a:r>
                  <a:rPr lang="sv-SE" b="0" i="0" dirty="0" smtClean="0">
                    <a:latin typeface="Cambria Math" panose="02040503050406030204" pitchFamily="18" charset="0"/>
                  </a:rPr>
                  <a:t>3</a:t>
                </a:r>
                <a:r>
                  <a:rPr lang="sv-SE" dirty="0" smtClean="0"/>
                  <a:t> = 1- 0.86 = 0.14</a:t>
                </a:r>
              </a:p>
              <a:p>
                <a:pPr defTabSz="947410">
                  <a:defRPr/>
                </a:pPr>
                <a:r>
                  <a:rPr lang="sv-SE" b="0" i="0" dirty="0" smtClean="0">
                    <a:latin typeface="Cambria Math" panose="02040503050406030204" pitchFamily="18" charset="0"/>
                  </a:rPr>
                  <a:t>𝐹𝑜𝑟 𝑐=</a:t>
                </a:r>
                <a:r>
                  <a:rPr lang="sv-SE" b="0" dirty="0" smtClean="0"/>
                  <a:t>4,    </a:t>
                </a:r>
                <a:r>
                  <a:rPr lang="sv-SE" b="0" dirty="0" err="1" smtClean="0"/>
                  <a:t>then</a:t>
                </a:r>
                <a:r>
                  <a:rPr lang="sv-SE" b="0" dirty="0" smtClean="0"/>
                  <a:t>  </a:t>
                </a:r>
                <a:r>
                  <a:rPr lang="sv-SE" i="0" dirty="0" smtClean="0">
                    <a:latin typeface="Cambria Math" panose="02040503050406030204" pitchFamily="18" charset="0"/>
                  </a:rPr>
                  <a:t>1 – 〖(1−</a:t>
                </a:r>
                <a:r>
                  <a:rPr lang="sv-SE" b="0" i="0" dirty="0" smtClean="0">
                    <a:latin typeface="Cambria Math" panose="02040503050406030204" pitchFamily="18" charset="0"/>
                  </a:rPr>
                  <a:t>0.05</a:t>
                </a:r>
                <a:r>
                  <a:rPr lang="sv-SE" i="0" dirty="0" smtClean="0">
                    <a:latin typeface="Cambria Math" panose="02040503050406030204" pitchFamily="18" charset="0"/>
                  </a:rPr>
                  <a:t>)"</a:t>
                </a:r>
                <a:r>
                  <a:rPr lang="sv-SE" i="0" dirty="0" smtClean="0"/>
                  <a:t> </a:t>
                </a:r>
                <a:r>
                  <a:rPr lang="sv-SE" i="0" dirty="0" smtClean="0">
                    <a:latin typeface="Cambria Math" panose="02040503050406030204" pitchFamily="18" charset="0"/>
                  </a:rPr>
                  <a:t>" 〗^</a:t>
                </a:r>
                <a:r>
                  <a:rPr lang="sv-SE" b="0" i="0" dirty="0" smtClean="0">
                    <a:latin typeface="Cambria Math" panose="02040503050406030204" pitchFamily="18" charset="0"/>
                  </a:rPr>
                  <a:t>4</a:t>
                </a:r>
                <a:r>
                  <a:rPr lang="sv-SE" dirty="0" smtClean="0"/>
                  <a:t> = 1 – </a:t>
                </a:r>
                <a:r>
                  <a:rPr lang="sv-SE" i="0" dirty="0" smtClean="0">
                    <a:latin typeface="Cambria Math" panose="02040503050406030204" pitchFamily="18" charset="0"/>
                  </a:rPr>
                  <a:t>〖0.95〗^</a:t>
                </a:r>
                <a:r>
                  <a:rPr lang="sv-SE" b="0" i="0" dirty="0" smtClean="0">
                    <a:latin typeface="Cambria Math" panose="02040503050406030204" pitchFamily="18" charset="0"/>
                  </a:rPr>
                  <a:t>4</a:t>
                </a:r>
                <a:r>
                  <a:rPr lang="sv-SE" dirty="0" smtClean="0"/>
                  <a:t> = 1- 0.81 = 0.19</a:t>
                </a:r>
              </a:p>
              <a:p>
                <a:pPr defTabSz="947410">
                  <a:defRPr/>
                </a:pPr>
                <a:r>
                  <a:rPr lang="sv-SE" b="0" i="0" dirty="0" smtClean="0">
                    <a:latin typeface="Cambria Math" panose="02040503050406030204" pitchFamily="18" charset="0"/>
                  </a:rPr>
                  <a:t>𝐹𝑜𝑟 𝑐=5</a:t>
                </a:r>
                <a:r>
                  <a:rPr lang="sv-SE" b="0" dirty="0" smtClean="0"/>
                  <a:t>,   </a:t>
                </a:r>
                <a:r>
                  <a:rPr lang="sv-SE" b="0" dirty="0" err="1" smtClean="0"/>
                  <a:t>then</a:t>
                </a:r>
                <a:r>
                  <a:rPr lang="sv-SE" b="0" dirty="0" smtClean="0"/>
                  <a:t>  </a:t>
                </a:r>
                <a:r>
                  <a:rPr lang="sv-SE" i="0" dirty="0" smtClean="0">
                    <a:latin typeface="Cambria Math" panose="02040503050406030204" pitchFamily="18" charset="0"/>
                  </a:rPr>
                  <a:t>1 – 〖(1−</a:t>
                </a:r>
                <a:r>
                  <a:rPr lang="sv-SE" b="0" i="0" dirty="0" smtClean="0">
                    <a:latin typeface="Cambria Math" panose="02040503050406030204" pitchFamily="18" charset="0"/>
                  </a:rPr>
                  <a:t>0.05</a:t>
                </a:r>
                <a:r>
                  <a:rPr lang="sv-SE" i="0" dirty="0" smtClean="0">
                    <a:latin typeface="Cambria Math" panose="02040503050406030204" pitchFamily="18" charset="0"/>
                  </a:rPr>
                  <a:t>)"</a:t>
                </a:r>
                <a:r>
                  <a:rPr lang="sv-SE" i="0" dirty="0" smtClean="0"/>
                  <a:t> </a:t>
                </a:r>
                <a:r>
                  <a:rPr lang="sv-SE" i="0" dirty="0" smtClean="0">
                    <a:latin typeface="Cambria Math" panose="02040503050406030204" pitchFamily="18" charset="0"/>
                  </a:rPr>
                  <a:t>" 〗^</a:t>
                </a:r>
                <a:r>
                  <a:rPr lang="sv-SE" b="0" i="0" dirty="0" smtClean="0">
                    <a:latin typeface="Cambria Math" panose="02040503050406030204" pitchFamily="18" charset="0"/>
                  </a:rPr>
                  <a:t>5</a:t>
                </a:r>
                <a:r>
                  <a:rPr lang="sv-SE" dirty="0" smtClean="0"/>
                  <a:t> = 1 – </a:t>
                </a:r>
                <a:r>
                  <a:rPr lang="sv-SE" i="0" dirty="0" smtClean="0">
                    <a:latin typeface="Cambria Math" panose="02040503050406030204" pitchFamily="18" charset="0"/>
                  </a:rPr>
                  <a:t>〖0.95〗^</a:t>
                </a:r>
                <a:r>
                  <a:rPr lang="sv-SE" b="0" i="0" dirty="0" smtClean="0">
                    <a:latin typeface="Cambria Math" panose="02040503050406030204" pitchFamily="18" charset="0"/>
                  </a:rPr>
                  <a:t>5</a:t>
                </a:r>
                <a:r>
                  <a:rPr lang="sv-SE" dirty="0" smtClean="0"/>
                  <a:t> = 1- 0.77 = 0.23</a:t>
                </a:r>
              </a:p>
              <a:p>
                <a:pPr defTabSz="947410">
                  <a:defRPr/>
                </a:pPr>
                <a:r>
                  <a:rPr lang="sv-SE" b="0" i="0" dirty="0" smtClean="0">
                    <a:latin typeface="Cambria Math" panose="02040503050406030204" pitchFamily="18" charset="0"/>
                  </a:rPr>
                  <a:t>𝐹𝑜𝑟 𝑐=10</a:t>
                </a:r>
                <a:r>
                  <a:rPr lang="sv-SE" b="0" dirty="0" smtClean="0"/>
                  <a:t>, </a:t>
                </a:r>
                <a:r>
                  <a:rPr lang="sv-SE" b="0" dirty="0" err="1" smtClean="0"/>
                  <a:t>then</a:t>
                </a:r>
                <a:r>
                  <a:rPr lang="sv-SE" b="0" dirty="0" smtClean="0"/>
                  <a:t>  </a:t>
                </a:r>
                <a:r>
                  <a:rPr lang="sv-SE" i="0" dirty="0" smtClean="0">
                    <a:latin typeface="Cambria Math" panose="02040503050406030204" pitchFamily="18" charset="0"/>
                  </a:rPr>
                  <a:t>1 – 〖(1−</a:t>
                </a:r>
                <a:r>
                  <a:rPr lang="sv-SE" b="0" i="0" dirty="0" smtClean="0">
                    <a:latin typeface="Cambria Math" panose="02040503050406030204" pitchFamily="18" charset="0"/>
                  </a:rPr>
                  <a:t>0.05</a:t>
                </a:r>
                <a:r>
                  <a:rPr lang="sv-SE" i="0" dirty="0" smtClean="0">
                    <a:latin typeface="Cambria Math" panose="02040503050406030204" pitchFamily="18" charset="0"/>
                  </a:rPr>
                  <a:t>)"</a:t>
                </a:r>
                <a:r>
                  <a:rPr lang="sv-SE" i="0" dirty="0" smtClean="0"/>
                  <a:t> </a:t>
                </a:r>
                <a:r>
                  <a:rPr lang="sv-SE" i="0" dirty="0" smtClean="0">
                    <a:latin typeface="Cambria Math" panose="02040503050406030204" pitchFamily="18" charset="0"/>
                  </a:rPr>
                  <a:t>" 〗^</a:t>
                </a:r>
                <a:r>
                  <a:rPr lang="sv-SE" b="0" i="0" dirty="0" smtClean="0">
                    <a:latin typeface="Cambria Math" panose="02040503050406030204" pitchFamily="18" charset="0"/>
                  </a:rPr>
                  <a:t>10</a:t>
                </a:r>
                <a:r>
                  <a:rPr lang="sv-SE" dirty="0" smtClean="0"/>
                  <a:t>= 1 – </a:t>
                </a:r>
                <a:r>
                  <a:rPr lang="sv-SE" i="0" dirty="0" smtClean="0">
                    <a:latin typeface="Cambria Math" panose="02040503050406030204" pitchFamily="18" charset="0"/>
                  </a:rPr>
                  <a:t>〖0.95〗^</a:t>
                </a:r>
                <a:r>
                  <a:rPr lang="sv-SE" b="0" i="0" dirty="0" smtClean="0">
                    <a:latin typeface="Cambria Math" panose="02040503050406030204" pitchFamily="18" charset="0"/>
                  </a:rPr>
                  <a:t>10</a:t>
                </a:r>
                <a:r>
                  <a:rPr lang="sv-SE" dirty="0" smtClean="0"/>
                  <a:t>=1- 0.60 = </a:t>
                </a:r>
                <a:r>
                  <a:rPr lang="sv-SE" dirty="0" smtClean="0"/>
                  <a:t>0.40</a:t>
                </a:r>
              </a:p>
              <a:p>
                <a:endParaRPr lang="sv-SE" dirty="0" smtClean="0"/>
              </a:p>
              <a:p>
                <a:endParaRPr lang="sv-SE" b="0" dirty="0" smtClean="0"/>
              </a:p>
              <a:p>
                <a:endParaRPr lang="sv-SE" dirty="0" smtClean="0"/>
              </a:p>
              <a:p>
                <a:endParaRPr lang="en-US" dirty="0"/>
              </a:p>
            </p:txBody>
          </p:sp>
        </mc:Fallback>
      </mc:AlternateContent>
      <p:sp>
        <p:nvSpPr>
          <p:cNvPr id="4" name="Platshållare för bildnummer 3"/>
          <p:cNvSpPr>
            <a:spLocks noGrp="1"/>
          </p:cNvSpPr>
          <p:nvPr>
            <p:ph type="sldNum" sz="quarter" idx="10"/>
          </p:nvPr>
        </p:nvSpPr>
        <p:spPr/>
        <p:txBody>
          <a:bodyPr/>
          <a:lstStyle/>
          <a:p>
            <a:fld id="{CECB7405-4276-4FEB-8EA2-369570AA649A}" type="slidenum">
              <a:rPr lang="sv-SE" smtClean="0"/>
              <a:pPr/>
              <a:t>67</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02621232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68</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8016561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69</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2286084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what is the p-value</a:t>
            </a:r>
          </a:p>
          <a:p>
            <a:r>
              <a:rPr lang="en-US" dirty="0"/>
              <a:t>First Heel-rise</a:t>
            </a:r>
            <a:r>
              <a:rPr lang="en-US" baseline="0" dirty="0"/>
              <a:t> example</a:t>
            </a:r>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70</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09612095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dirty="0"/>
              <a:t>Börja här 18/1</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71</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9141444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72</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03610971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73</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12968899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ANOVA is a parametric method</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74</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00239936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b="1" dirty="0" err="1"/>
              <a:t>Between</a:t>
            </a:r>
            <a:r>
              <a:rPr lang="sv-SE" b="1" dirty="0"/>
              <a:t> </a:t>
            </a:r>
            <a:r>
              <a:rPr lang="sv-SE" b="1" dirty="0" err="1"/>
              <a:t>groups</a:t>
            </a:r>
            <a:r>
              <a:rPr lang="sv-SE" b="1" dirty="0"/>
              <a:t> </a:t>
            </a:r>
            <a:r>
              <a:rPr lang="sv-SE" b="1" dirty="0" err="1"/>
              <a:t>df</a:t>
            </a:r>
            <a:r>
              <a:rPr lang="sv-SE" b="1" dirty="0"/>
              <a:t>  =</a:t>
            </a:r>
            <a:r>
              <a:rPr lang="sv-SE" dirty="0"/>
              <a:t> </a:t>
            </a:r>
            <a:r>
              <a:rPr lang="sv-SE" dirty="0" err="1"/>
              <a:t>number</a:t>
            </a:r>
            <a:r>
              <a:rPr lang="sv-SE" dirty="0"/>
              <a:t> </a:t>
            </a:r>
            <a:r>
              <a:rPr lang="sv-SE" dirty="0" err="1"/>
              <a:t>of</a:t>
            </a:r>
            <a:r>
              <a:rPr lang="sv-SE" dirty="0"/>
              <a:t> </a:t>
            </a:r>
            <a:r>
              <a:rPr lang="sv-SE" dirty="0" err="1"/>
              <a:t>groups</a:t>
            </a:r>
            <a:r>
              <a:rPr lang="sv-SE" dirty="0"/>
              <a:t> – 1</a:t>
            </a:r>
          </a:p>
          <a:p>
            <a:pPr defTabSz="947353">
              <a:defRPr/>
            </a:pPr>
            <a:r>
              <a:rPr lang="sv-SE" b="1" dirty="0" err="1"/>
              <a:t>Within</a:t>
            </a:r>
            <a:r>
              <a:rPr lang="sv-SE" b="1" dirty="0"/>
              <a:t> </a:t>
            </a:r>
            <a:r>
              <a:rPr lang="sv-SE" b="1" dirty="0" err="1"/>
              <a:t>groups</a:t>
            </a:r>
            <a:r>
              <a:rPr lang="sv-SE" b="1" dirty="0"/>
              <a:t> </a:t>
            </a:r>
            <a:r>
              <a:rPr lang="sv-SE" b="1" dirty="0" err="1"/>
              <a:t>df</a:t>
            </a:r>
            <a:r>
              <a:rPr lang="sv-SE" b="1" dirty="0"/>
              <a:t>  =</a:t>
            </a:r>
            <a:r>
              <a:rPr lang="sv-SE" dirty="0"/>
              <a:t> </a:t>
            </a:r>
            <a:r>
              <a:rPr lang="sv-SE" dirty="0" err="1"/>
              <a:t>number</a:t>
            </a:r>
            <a:r>
              <a:rPr lang="sv-SE" dirty="0"/>
              <a:t> </a:t>
            </a:r>
            <a:r>
              <a:rPr lang="sv-SE" dirty="0" err="1"/>
              <a:t>of</a:t>
            </a:r>
            <a:r>
              <a:rPr lang="sv-SE" dirty="0"/>
              <a:t> observations - </a:t>
            </a:r>
            <a:r>
              <a:rPr lang="sv-SE" dirty="0" err="1"/>
              <a:t>number</a:t>
            </a:r>
            <a:r>
              <a:rPr lang="sv-SE" dirty="0"/>
              <a:t> </a:t>
            </a:r>
            <a:r>
              <a:rPr lang="sv-SE" dirty="0" err="1"/>
              <a:t>of</a:t>
            </a:r>
            <a:r>
              <a:rPr lang="sv-SE" dirty="0"/>
              <a:t> </a:t>
            </a:r>
            <a:r>
              <a:rPr lang="sv-SE" dirty="0" err="1"/>
              <a:t>groups</a:t>
            </a:r>
            <a:r>
              <a:rPr lang="sv-SE" dirty="0"/>
              <a:t> </a:t>
            </a:r>
            <a:endParaRPr lang="en-GB" dirty="0"/>
          </a:p>
          <a:p>
            <a:pPr defTabSz="947353">
              <a:defRPr/>
            </a:pPr>
            <a:r>
              <a:rPr lang="sv-SE" b="1" dirty="0"/>
              <a:t>Total </a:t>
            </a:r>
            <a:r>
              <a:rPr lang="sv-SE" b="1" dirty="0" err="1"/>
              <a:t>df</a:t>
            </a:r>
            <a:r>
              <a:rPr lang="sv-SE" b="1" dirty="0"/>
              <a:t>  =</a:t>
            </a:r>
            <a:r>
              <a:rPr lang="sv-SE" dirty="0"/>
              <a:t> </a:t>
            </a:r>
            <a:r>
              <a:rPr lang="sv-SE" dirty="0" err="1"/>
              <a:t>number</a:t>
            </a:r>
            <a:r>
              <a:rPr lang="sv-SE" dirty="0"/>
              <a:t> </a:t>
            </a:r>
            <a:r>
              <a:rPr lang="sv-SE" dirty="0" err="1"/>
              <a:t>of</a:t>
            </a:r>
            <a:r>
              <a:rPr lang="sv-SE" dirty="0"/>
              <a:t> observations - 1</a:t>
            </a:r>
            <a:endParaRPr lang="en-GB" dirty="0"/>
          </a:p>
          <a:p>
            <a:endParaRPr lang="sv-SE" dirty="0"/>
          </a:p>
          <a:p>
            <a:pPr defTabSz="947353">
              <a:defRPr/>
            </a:pPr>
            <a:r>
              <a:rPr lang="sv-SE" b="1" dirty="0"/>
              <a:t>F</a:t>
            </a:r>
            <a:r>
              <a:rPr lang="sv-SE" b="1" baseline="-25000" dirty="0"/>
              <a:t>p, (k-1), (</a:t>
            </a:r>
            <a:r>
              <a:rPr lang="sv-SE" b="1" baseline="-25000" dirty="0" err="1"/>
              <a:t>n-k</a:t>
            </a:r>
            <a:r>
              <a:rPr lang="sv-SE" b="1" baseline="-25000" dirty="0"/>
              <a:t>)</a:t>
            </a:r>
            <a:r>
              <a:rPr lang="sv-SE" b="1" dirty="0"/>
              <a:t>  =</a:t>
            </a:r>
            <a:r>
              <a:rPr lang="sv-SE" dirty="0"/>
              <a:t> F-distribution </a:t>
            </a:r>
            <a:r>
              <a:rPr lang="sv-SE" dirty="0" err="1"/>
              <a:t>with</a:t>
            </a:r>
            <a:r>
              <a:rPr lang="sv-SE" dirty="0"/>
              <a:t> (k-1)(in </a:t>
            </a:r>
            <a:r>
              <a:rPr lang="sv-SE" dirty="0" err="1"/>
              <a:t>numerator</a:t>
            </a:r>
            <a:r>
              <a:rPr lang="sv-SE" dirty="0"/>
              <a:t>) and (</a:t>
            </a:r>
            <a:r>
              <a:rPr lang="sv-SE" dirty="0" err="1"/>
              <a:t>n-k</a:t>
            </a:r>
            <a:r>
              <a:rPr lang="sv-SE" dirty="0"/>
              <a:t>)(=in </a:t>
            </a:r>
            <a:r>
              <a:rPr lang="sv-SE" dirty="0" err="1"/>
              <a:t>denominator</a:t>
            </a:r>
            <a:r>
              <a:rPr lang="sv-SE" dirty="0"/>
              <a:t>) </a:t>
            </a:r>
            <a:r>
              <a:rPr lang="sv-SE" dirty="0" err="1"/>
              <a:t>degrees</a:t>
            </a:r>
            <a:r>
              <a:rPr lang="sv-SE" dirty="0"/>
              <a:t> </a:t>
            </a:r>
            <a:r>
              <a:rPr lang="sv-SE" dirty="0" err="1"/>
              <a:t>of</a:t>
            </a:r>
            <a:r>
              <a:rPr lang="sv-SE" dirty="0"/>
              <a:t> </a:t>
            </a:r>
            <a:r>
              <a:rPr lang="sv-SE" dirty="0" err="1"/>
              <a:t>freedom</a:t>
            </a:r>
            <a:endParaRPr lang="sv-SE" dirty="0"/>
          </a:p>
          <a:p>
            <a:pPr defTabSz="947353">
              <a:defRPr/>
            </a:pPr>
            <a:endParaRPr lang="sv-SE" dirty="0"/>
          </a:p>
          <a:p>
            <a:pPr defTabSz="947353">
              <a:defRPr/>
            </a:pPr>
            <a:r>
              <a:rPr lang="sv-SE" b="1" dirty="0"/>
              <a:t>k</a:t>
            </a:r>
            <a:r>
              <a:rPr lang="sv-SE" dirty="0"/>
              <a:t> = </a:t>
            </a:r>
            <a:r>
              <a:rPr lang="sv-SE" dirty="0" err="1"/>
              <a:t>number</a:t>
            </a:r>
            <a:r>
              <a:rPr lang="sv-SE" dirty="0"/>
              <a:t> </a:t>
            </a:r>
            <a:r>
              <a:rPr lang="sv-SE" dirty="0" err="1"/>
              <a:t>of</a:t>
            </a:r>
            <a:r>
              <a:rPr lang="sv-SE" dirty="0"/>
              <a:t> </a:t>
            </a:r>
            <a:r>
              <a:rPr lang="sv-SE" dirty="0" err="1"/>
              <a:t>groups</a:t>
            </a:r>
            <a:endParaRPr lang="sv-SE" dirty="0"/>
          </a:p>
          <a:p>
            <a:pPr defTabSz="947353">
              <a:defRPr/>
            </a:pPr>
            <a:endParaRPr lang="sv-SE" dirty="0"/>
          </a:p>
          <a:p>
            <a:pPr defTabSz="947353">
              <a:defRPr/>
            </a:pPr>
            <a:r>
              <a:rPr lang="sv-SE" b="1" dirty="0"/>
              <a:t>n</a:t>
            </a:r>
            <a:r>
              <a:rPr lang="sv-SE" dirty="0"/>
              <a:t> = total </a:t>
            </a:r>
            <a:r>
              <a:rPr lang="sv-SE" dirty="0" err="1"/>
              <a:t>number</a:t>
            </a:r>
            <a:r>
              <a:rPr lang="sv-SE" dirty="0"/>
              <a:t> </a:t>
            </a:r>
            <a:r>
              <a:rPr lang="sv-SE" dirty="0" err="1"/>
              <a:t>of</a:t>
            </a:r>
            <a:r>
              <a:rPr lang="sv-SE" dirty="0"/>
              <a:t> observations</a:t>
            </a:r>
            <a:endParaRPr lang="en-GB" dirty="0"/>
          </a:p>
          <a:p>
            <a:pPr defTabSz="947353">
              <a:defRPr/>
            </a:pPr>
            <a:endParaRPr lang="en-GB" dirty="0"/>
          </a:p>
          <a:p>
            <a:pPr eaLnBrk="1" hangingPunct="1">
              <a:spcBef>
                <a:spcPct val="50000"/>
              </a:spcBef>
              <a:buFontTx/>
              <a:buNone/>
            </a:pPr>
            <a:r>
              <a:rPr lang="sv-SE" altLang="en-US" sz="1200" dirty="0" err="1"/>
              <a:t>Degree</a:t>
            </a:r>
            <a:r>
              <a:rPr lang="sv-SE" altLang="en-US" sz="1200" dirty="0"/>
              <a:t> </a:t>
            </a:r>
            <a:r>
              <a:rPr lang="sv-SE" altLang="en-US" sz="1200" dirty="0" err="1"/>
              <a:t>of</a:t>
            </a:r>
            <a:r>
              <a:rPr lang="sv-SE" altLang="en-US" sz="1200" dirty="0"/>
              <a:t> </a:t>
            </a:r>
            <a:r>
              <a:rPr lang="sv-SE" altLang="en-US" sz="1200" dirty="0" err="1"/>
              <a:t>freedom</a:t>
            </a:r>
            <a:r>
              <a:rPr lang="sv-SE" altLang="en-US" sz="1200" dirty="0"/>
              <a:t> for </a:t>
            </a:r>
            <a:r>
              <a:rPr lang="sv-SE" altLang="en-US" sz="1200" b="1" dirty="0" err="1"/>
              <a:t>between</a:t>
            </a:r>
            <a:r>
              <a:rPr lang="sv-SE" altLang="en-US" sz="1200" dirty="0"/>
              <a:t> = </a:t>
            </a:r>
            <a:r>
              <a:rPr lang="sv-SE" altLang="en-US" sz="1200" dirty="0" err="1"/>
              <a:t>number</a:t>
            </a:r>
            <a:r>
              <a:rPr lang="sv-SE" altLang="en-US" sz="1200" dirty="0"/>
              <a:t> </a:t>
            </a:r>
            <a:r>
              <a:rPr lang="sv-SE" altLang="en-US" sz="1200" dirty="0" err="1"/>
              <a:t>of</a:t>
            </a:r>
            <a:r>
              <a:rPr lang="sv-SE" altLang="en-US" sz="1200" dirty="0"/>
              <a:t> </a:t>
            </a:r>
            <a:r>
              <a:rPr lang="sv-SE" altLang="en-US" sz="1200" dirty="0" err="1"/>
              <a:t>groups</a:t>
            </a:r>
            <a:r>
              <a:rPr lang="sv-SE" altLang="en-US" sz="1200" dirty="0"/>
              <a:t> -1</a:t>
            </a:r>
          </a:p>
          <a:p>
            <a:pPr eaLnBrk="1" hangingPunct="1">
              <a:spcBef>
                <a:spcPct val="50000"/>
              </a:spcBef>
              <a:buNone/>
            </a:pPr>
            <a:r>
              <a:rPr lang="sv-SE" altLang="en-US" sz="1200" dirty="0" err="1"/>
              <a:t>Degree</a:t>
            </a:r>
            <a:r>
              <a:rPr lang="sv-SE" altLang="en-US" sz="1200" dirty="0"/>
              <a:t> </a:t>
            </a:r>
            <a:r>
              <a:rPr lang="sv-SE" altLang="en-US" sz="1200" dirty="0" err="1"/>
              <a:t>of</a:t>
            </a:r>
            <a:r>
              <a:rPr lang="sv-SE" altLang="en-US" sz="1200" dirty="0"/>
              <a:t> </a:t>
            </a:r>
            <a:r>
              <a:rPr lang="sv-SE" altLang="en-US" sz="1200" dirty="0" err="1"/>
              <a:t>freedom</a:t>
            </a:r>
            <a:r>
              <a:rPr lang="sv-SE" altLang="en-US" sz="1200" dirty="0"/>
              <a:t> for </a:t>
            </a:r>
            <a:r>
              <a:rPr lang="sv-SE" altLang="en-US" sz="1200" b="1" dirty="0" err="1"/>
              <a:t>within</a:t>
            </a:r>
            <a:r>
              <a:rPr lang="sv-SE" altLang="en-US" sz="1200" dirty="0"/>
              <a:t>      = </a:t>
            </a:r>
            <a:r>
              <a:rPr lang="sv-SE" altLang="en-US" sz="1200" dirty="0" err="1"/>
              <a:t>number</a:t>
            </a:r>
            <a:r>
              <a:rPr lang="sv-SE" altLang="en-US" sz="1200" dirty="0"/>
              <a:t> </a:t>
            </a:r>
            <a:r>
              <a:rPr lang="sv-SE" altLang="en-US" sz="1200" dirty="0" err="1"/>
              <a:t>of</a:t>
            </a:r>
            <a:r>
              <a:rPr lang="sv-SE" altLang="en-US" sz="1200" dirty="0"/>
              <a:t> observation – </a:t>
            </a:r>
            <a:r>
              <a:rPr lang="sv-SE" altLang="en-US" sz="1200" dirty="0" err="1"/>
              <a:t>number</a:t>
            </a:r>
            <a:r>
              <a:rPr lang="sv-SE" altLang="en-US" sz="1200" dirty="0"/>
              <a:t> </a:t>
            </a:r>
            <a:r>
              <a:rPr lang="sv-SE" altLang="en-US" sz="1200" dirty="0" err="1"/>
              <a:t>of</a:t>
            </a:r>
            <a:r>
              <a:rPr lang="sv-SE" altLang="en-US" sz="1200" dirty="0"/>
              <a:t> </a:t>
            </a:r>
            <a:r>
              <a:rPr lang="sv-SE" altLang="en-US" sz="1200" dirty="0" err="1"/>
              <a:t>groups</a:t>
            </a:r>
            <a:endParaRPr lang="sv-SE" altLang="en-US" sz="1200" dirty="0"/>
          </a:p>
          <a:p>
            <a:pPr eaLnBrk="1" hangingPunct="1">
              <a:spcBef>
                <a:spcPct val="50000"/>
              </a:spcBef>
              <a:buNone/>
            </a:pPr>
            <a:r>
              <a:rPr lang="sv-SE" altLang="en-US" sz="1200" dirty="0" err="1"/>
              <a:t>Degree</a:t>
            </a:r>
            <a:r>
              <a:rPr lang="sv-SE" altLang="en-US" sz="1200" dirty="0"/>
              <a:t> </a:t>
            </a:r>
            <a:r>
              <a:rPr lang="sv-SE" altLang="en-US" sz="1200" dirty="0" err="1"/>
              <a:t>of</a:t>
            </a:r>
            <a:r>
              <a:rPr lang="sv-SE" altLang="en-US" sz="1200" dirty="0"/>
              <a:t> </a:t>
            </a:r>
            <a:r>
              <a:rPr lang="sv-SE" altLang="en-US" sz="1200" dirty="0" err="1"/>
              <a:t>freedom</a:t>
            </a:r>
            <a:r>
              <a:rPr lang="sv-SE" altLang="en-US" sz="1200" dirty="0"/>
              <a:t> for </a:t>
            </a:r>
            <a:r>
              <a:rPr lang="sv-SE" altLang="en-US" sz="1200" b="1" dirty="0"/>
              <a:t>total</a:t>
            </a:r>
            <a:r>
              <a:rPr lang="sv-SE" altLang="en-US" sz="1200" dirty="0"/>
              <a:t>         = </a:t>
            </a:r>
            <a:r>
              <a:rPr lang="sv-SE" altLang="en-US" sz="1200" dirty="0" err="1"/>
              <a:t>number</a:t>
            </a:r>
            <a:r>
              <a:rPr lang="sv-SE" altLang="en-US" sz="1200" dirty="0"/>
              <a:t> </a:t>
            </a:r>
            <a:r>
              <a:rPr lang="sv-SE" altLang="en-US" sz="1200" dirty="0" err="1"/>
              <a:t>of</a:t>
            </a:r>
            <a:r>
              <a:rPr lang="sv-SE" altLang="en-US" sz="1200" dirty="0"/>
              <a:t> observation – 1</a:t>
            </a:r>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75</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79775276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76</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57794763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noProof="0" dirty="0"/>
          </a:p>
        </p:txBody>
      </p:sp>
      <p:sp>
        <p:nvSpPr>
          <p:cNvPr id="4" name="Platshållare för bildnummer 3"/>
          <p:cNvSpPr>
            <a:spLocks noGrp="1"/>
          </p:cNvSpPr>
          <p:nvPr>
            <p:ph type="sldNum" sz="quarter" idx="10"/>
          </p:nvPr>
        </p:nvSpPr>
        <p:spPr/>
        <p:txBody>
          <a:bodyPr/>
          <a:lstStyle/>
          <a:p>
            <a:fld id="{6EA69313-BAA8-4CE1-BF20-4CAE6D6C927A}" type="slidenum">
              <a:rPr lang="sv-SE" smtClean="0">
                <a:solidFill>
                  <a:prstClr val="black"/>
                </a:solidFill>
              </a:rPr>
              <a:pPr/>
              <a:t>77</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68102110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fld id="{6EA69313-BAA8-4CE1-BF20-4CAE6D6C927A}" type="slidenum">
              <a:rPr lang="sv-SE" smtClean="0">
                <a:solidFill>
                  <a:prstClr val="black"/>
                </a:solidFill>
              </a:rPr>
              <a:pPr/>
              <a:t>78</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83612848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a:p>
        </p:txBody>
      </p:sp>
      <p:sp>
        <p:nvSpPr>
          <p:cNvPr id="4" name="Slide Number Placeholder 3"/>
          <p:cNvSpPr>
            <a:spLocks noGrp="1"/>
          </p:cNvSpPr>
          <p:nvPr>
            <p:ph type="sldNum" sz="quarter" idx="10"/>
          </p:nvPr>
        </p:nvSpPr>
        <p:spPr/>
        <p:txBody>
          <a:bodyPr/>
          <a:lstStyle/>
          <a:p>
            <a:fld id="{6EA69313-BAA8-4CE1-BF20-4CAE6D6C927A}" type="slidenum">
              <a:rPr lang="sv-SE" smtClean="0">
                <a:solidFill>
                  <a:prstClr val="black"/>
                </a:solidFill>
              </a:rPr>
              <a:pPr/>
              <a:t>79</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39542339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noProof="0" dirty="0"/>
              <a:t>If you obtain</a:t>
            </a:r>
            <a:r>
              <a:rPr lang="en-US" baseline="0" noProof="0" dirty="0"/>
              <a:t> a large difference in the two rank sums it is a sign of positive difference or negative difference between the two methods. </a:t>
            </a:r>
            <a:r>
              <a:rPr lang="en-US" noProof="0" dirty="0"/>
              <a:t>You</a:t>
            </a:r>
            <a:r>
              <a:rPr lang="en-US" baseline="0" noProof="0" dirty="0"/>
              <a:t> need a table to find the p-value (see </a:t>
            </a:r>
            <a:r>
              <a:rPr lang="en-US" baseline="0" noProof="0" dirty="0" err="1"/>
              <a:t>eLabb</a:t>
            </a:r>
            <a:r>
              <a:rPr lang="en-US" baseline="0" noProof="0" dirty="0"/>
              <a:t> for the book) or, as above, use a software like SPSS.</a:t>
            </a:r>
            <a:endParaRPr lang="en-US" noProof="0" dirty="0"/>
          </a:p>
        </p:txBody>
      </p:sp>
      <p:sp>
        <p:nvSpPr>
          <p:cNvPr id="4" name="Platshållare för bildnummer 3"/>
          <p:cNvSpPr>
            <a:spLocks noGrp="1"/>
          </p:cNvSpPr>
          <p:nvPr>
            <p:ph type="sldNum" sz="quarter" idx="10"/>
          </p:nvPr>
        </p:nvSpPr>
        <p:spPr/>
        <p:txBody>
          <a:bodyPr/>
          <a:lstStyle/>
          <a:p>
            <a:fld id="{6EA69313-BAA8-4CE1-BF20-4CAE6D6C927A}" type="slidenum">
              <a:rPr lang="sv-SE" smtClean="0">
                <a:solidFill>
                  <a:prstClr val="black"/>
                </a:solidFill>
              </a:rPr>
              <a:pPr/>
              <a:t>80</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43510794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noProof="0" dirty="0"/>
              <a:t>8.6 (p139)</a:t>
            </a:r>
          </a:p>
          <a:p>
            <a:r>
              <a:rPr lang="en-US" noProof="0" dirty="0"/>
              <a:t>Since a parametric test is based on an</a:t>
            </a:r>
            <a:r>
              <a:rPr lang="en-US" baseline="0" noProof="0" dirty="0"/>
              <a:t> assumption regarding distribution, all inference might be incorrect if that assumption is incorrect. </a:t>
            </a:r>
          </a:p>
          <a:p>
            <a:r>
              <a:rPr lang="en-US" baseline="0" noProof="0" dirty="0"/>
              <a:t>However, if the assumption regarding distribution is correct, the parametric test will be more </a:t>
            </a:r>
            <a:r>
              <a:rPr lang="en-US" b="1" baseline="0" noProof="0" dirty="0"/>
              <a:t>powerful</a:t>
            </a:r>
            <a:r>
              <a:rPr lang="en-US" baseline="0" noProof="0" dirty="0"/>
              <a:t> and can detect differences more easily compared to the nonparametric tests. It also turns out that the p-value calculated based on a non-parametric test is larger than then the one that would be obtain from a parametric test. Another argument for not using routinely non-parametric procedures is that they are not as flexible as the parametric alternatives.</a:t>
            </a:r>
            <a:endParaRPr lang="en-US" noProof="0" dirty="0"/>
          </a:p>
        </p:txBody>
      </p:sp>
      <p:sp>
        <p:nvSpPr>
          <p:cNvPr id="4" name="Platshållare för bildnummer 3"/>
          <p:cNvSpPr>
            <a:spLocks noGrp="1"/>
          </p:cNvSpPr>
          <p:nvPr>
            <p:ph type="sldNum" sz="quarter" idx="10"/>
          </p:nvPr>
        </p:nvSpPr>
        <p:spPr/>
        <p:txBody>
          <a:bodyPr/>
          <a:lstStyle/>
          <a:p>
            <a:fld id="{6EA69313-BAA8-4CE1-BF20-4CAE6D6C927A}" type="slidenum">
              <a:rPr lang="sv-SE" smtClean="0">
                <a:solidFill>
                  <a:prstClr val="black"/>
                </a:solidFill>
              </a:rPr>
              <a:pPr/>
              <a:t>81</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8679551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a:spcAft>
                <a:spcPts val="622"/>
              </a:spcAft>
            </a:pPr>
            <a:r>
              <a:rPr lang="en-US" dirty="0">
                <a:solidFill>
                  <a:srgbClr val="000000"/>
                </a:solidFill>
              </a:rPr>
              <a:t>You measure several variables on a sample of subjects. </a:t>
            </a:r>
          </a:p>
          <a:p>
            <a:pPr>
              <a:spcAft>
                <a:spcPts val="622"/>
              </a:spcAft>
            </a:pPr>
            <a:r>
              <a:rPr lang="en-US" dirty="0">
                <a:solidFill>
                  <a:srgbClr val="000000"/>
                </a:solidFill>
              </a:rPr>
              <a:t>You want to know if some (two, ..) variables are related in some way. </a:t>
            </a:r>
          </a:p>
          <a:p>
            <a:pPr>
              <a:spcAft>
                <a:spcPts val="622"/>
              </a:spcAft>
            </a:pPr>
            <a:r>
              <a:rPr lang="en-US" dirty="0">
                <a:solidFill>
                  <a:srgbClr val="000000"/>
                </a:solidFill>
              </a:rPr>
              <a:t>Does knowing one variable gives clues about the other variable (at population level)?</a:t>
            </a:r>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82</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76539156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150000"/>
              </a:lnSpc>
              <a:spcAft>
                <a:spcPts val="1243"/>
              </a:spcAft>
            </a:pPr>
            <a:r>
              <a:rPr lang="en-US" dirty="0"/>
              <a:t>H</a:t>
            </a:r>
            <a:r>
              <a:rPr lang="en-US" baseline="-25000" dirty="0"/>
              <a:t>0</a:t>
            </a:r>
            <a:r>
              <a:rPr lang="en-US" dirty="0"/>
              <a:t>: </a:t>
            </a:r>
            <a:r>
              <a:rPr lang="en-US" i="1" dirty="0"/>
              <a:t>ρ</a:t>
            </a:r>
            <a:r>
              <a:rPr lang="en-US" dirty="0"/>
              <a:t>=0, i.e. correlation in the population = 0</a:t>
            </a:r>
          </a:p>
          <a:p>
            <a:pPr>
              <a:lnSpc>
                <a:spcPct val="150000"/>
              </a:lnSpc>
              <a:spcAft>
                <a:spcPts val="1243"/>
              </a:spcAft>
            </a:pPr>
            <a:r>
              <a:rPr lang="en-US" dirty="0"/>
              <a:t>Requires the variables to be approximately normally distributed or a large sample size </a:t>
            </a:r>
          </a:p>
          <a:p>
            <a:pPr>
              <a:lnSpc>
                <a:spcPct val="150000"/>
              </a:lnSpc>
              <a:spcAft>
                <a:spcPts val="1243"/>
              </a:spcAft>
            </a:pPr>
            <a:r>
              <a:rPr lang="en-US" dirty="0"/>
              <a:t>Note that hypothesis testing is </a:t>
            </a:r>
            <a:r>
              <a:rPr lang="en-US" u="sng" dirty="0"/>
              <a:t>always</a:t>
            </a:r>
            <a:r>
              <a:rPr lang="en-US" dirty="0"/>
              <a:t> done under the assumption that H</a:t>
            </a:r>
            <a:r>
              <a:rPr lang="en-US" baseline="-25000" dirty="0"/>
              <a:t>0</a:t>
            </a:r>
            <a:r>
              <a:rPr lang="en-US" dirty="0"/>
              <a:t> is true.</a:t>
            </a:r>
          </a:p>
          <a:p>
            <a:endParaRPr lang="en-US" dirty="0"/>
          </a:p>
        </p:txBody>
      </p:sp>
      <p:sp>
        <p:nvSpPr>
          <p:cNvPr id="4" name="Slide Number Placeholder 3"/>
          <p:cNvSpPr>
            <a:spLocks noGrp="1"/>
          </p:cNvSpPr>
          <p:nvPr>
            <p:ph type="sldNum" sz="quarter" idx="10"/>
          </p:nvPr>
        </p:nvSpPr>
        <p:spPr/>
        <p:txBody>
          <a:bodyPr/>
          <a:lstStyle/>
          <a:p>
            <a:fld id="{7B784EB2-88F0-45BC-8AD3-DD736F8B7D16}" type="slidenum">
              <a:rPr lang="sv-SE" smtClean="0">
                <a:solidFill>
                  <a:prstClr val="black"/>
                </a:solidFill>
              </a:rPr>
              <a:pPr/>
              <a:t>83</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49610120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fontScale="55000" lnSpcReduction="20000"/>
          </a:bodyPr>
          <a:lstStyle/>
          <a:p>
            <a:pPr defTabSz="473705">
              <a:lnSpc>
                <a:spcPct val="150000"/>
              </a:lnSpc>
              <a:spcAft>
                <a:spcPts val="1243"/>
              </a:spcAft>
            </a:pPr>
            <a:r>
              <a:rPr lang="en-US" b="1" cap="small" dirty="0">
                <a:solidFill>
                  <a:srgbClr val="216964">
                    <a:lumMod val="75000"/>
                  </a:srgbClr>
                </a:solidFill>
              </a:rPr>
              <a:t>WHEN is it ok to use Pearson's correlation coefficient?</a:t>
            </a:r>
            <a:endParaRPr lang="en-US" b="1" dirty="0">
              <a:solidFill>
                <a:srgbClr val="216964">
                  <a:lumMod val="75000"/>
                </a:srgbClr>
              </a:solidFill>
            </a:endParaRPr>
          </a:p>
          <a:p>
            <a:pPr>
              <a:lnSpc>
                <a:spcPct val="150000"/>
              </a:lnSpc>
              <a:spcAft>
                <a:spcPts val="1243"/>
              </a:spcAft>
            </a:pPr>
            <a:endParaRPr lang="en-US" dirty="0"/>
          </a:p>
          <a:p>
            <a:pPr>
              <a:lnSpc>
                <a:spcPct val="150000"/>
              </a:lnSpc>
              <a:spcAft>
                <a:spcPts val="1243"/>
              </a:spcAft>
            </a:pPr>
            <a:r>
              <a:rPr lang="en-US" dirty="0"/>
              <a:t>If you have </a:t>
            </a:r>
            <a:r>
              <a:rPr lang="en-US" b="1" dirty="0"/>
              <a:t>quantitative</a:t>
            </a:r>
            <a:r>
              <a:rPr lang="en-US" dirty="0"/>
              <a:t> variables.</a:t>
            </a:r>
            <a:r>
              <a:rPr lang="en-US" baseline="0" dirty="0"/>
              <a:t> </a:t>
            </a:r>
            <a:r>
              <a:rPr lang="en-US" dirty="0"/>
              <a:t>If you see some type of </a:t>
            </a:r>
            <a:r>
              <a:rPr lang="en-US" b="1" dirty="0"/>
              <a:t>linear</a:t>
            </a:r>
            <a:r>
              <a:rPr lang="en-US" dirty="0"/>
              <a:t> relationship/ trend . If you </a:t>
            </a:r>
            <a:r>
              <a:rPr lang="en-US" b="1" dirty="0"/>
              <a:t>don’t</a:t>
            </a:r>
            <a:r>
              <a:rPr lang="en-US" dirty="0"/>
              <a:t> have </a:t>
            </a:r>
            <a:r>
              <a:rPr lang="en-US" b="1" dirty="0"/>
              <a:t>outliers</a:t>
            </a:r>
          </a:p>
          <a:p>
            <a:pPr>
              <a:lnSpc>
                <a:spcPct val="150000"/>
              </a:lnSpc>
              <a:spcAft>
                <a:spcPts val="1243"/>
              </a:spcAft>
            </a:pPr>
            <a:endParaRPr lang="en-US" b="1" dirty="0"/>
          </a:p>
          <a:p>
            <a:pPr defTabSz="473705">
              <a:spcAft>
                <a:spcPts val="1243"/>
              </a:spcAft>
            </a:pPr>
            <a:r>
              <a:rPr lang="en-US" sz="3700" b="1" cap="small" dirty="0">
                <a:solidFill>
                  <a:srgbClr val="216964">
                    <a:lumMod val="75000"/>
                  </a:srgbClr>
                </a:solidFill>
              </a:rPr>
              <a:t>When </a:t>
            </a:r>
            <a:r>
              <a:rPr lang="en-US" sz="3700" b="1" u="sng" cap="small" dirty="0">
                <a:solidFill>
                  <a:srgbClr val="216964">
                    <a:lumMod val="75000"/>
                  </a:srgbClr>
                </a:solidFill>
              </a:rPr>
              <a:t>not</a:t>
            </a:r>
            <a:r>
              <a:rPr lang="en-US" sz="3700" b="1" cap="small" dirty="0">
                <a:solidFill>
                  <a:srgbClr val="216964">
                    <a:lumMod val="75000"/>
                  </a:srgbClr>
                </a:solidFill>
              </a:rPr>
              <a:t> to use Pearson's correlation coefficient?</a:t>
            </a:r>
            <a:endParaRPr lang="en-US" sz="3700" b="1" dirty="0">
              <a:solidFill>
                <a:srgbClr val="216964">
                  <a:lumMod val="75000"/>
                </a:srgbClr>
              </a:solidFill>
            </a:endParaRPr>
          </a:p>
          <a:p>
            <a:pPr>
              <a:spcAft>
                <a:spcPts val="1243"/>
              </a:spcAft>
            </a:pPr>
            <a:r>
              <a:rPr lang="en-US" sz="3700" dirty="0"/>
              <a:t>When you have</a:t>
            </a:r>
          </a:p>
          <a:p>
            <a:pPr lvl="1">
              <a:buFont typeface="Arial" pitchFamily="34" charset="0"/>
              <a:buChar char="•"/>
            </a:pPr>
            <a:r>
              <a:rPr lang="en-US" sz="3700" dirty="0"/>
              <a:t>a non-linear relationship</a:t>
            </a:r>
          </a:p>
          <a:p>
            <a:pPr lvl="1">
              <a:buFont typeface="Arial" pitchFamily="34" charset="0"/>
              <a:buChar char="•"/>
            </a:pPr>
            <a:r>
              <a:rPr lang="en-US" sz="3700" dirty="0"/>
              <a:t>outliers</a:t>
            </a:r>
          </a:p>
          <a:p>
            <a:pPr lvl="1">
              <a:buFont typeface="Arial" pitchFamily="34" charset="0"/>
              <a:buChar char="•"/>
            </a:pPr>
            <a:r>
              <a:rPr lang="en-US" sz="3700" dirty="0"/>
              <a:t>”</a:t>
            </a:r>
            <a:r>
              <a:rPr lang="en-US" sz="3700" b="1" dirty="0"/>
              <a:t>holes</a:t>
            </a:r>
            <a:r>
              <a:rPr lang="en-US" sz="3700" dirty="0"/>
              <a:t>” in the data</a:t>
            </a:r>
          </a:p>
          <a:p>
            <a:pPr lvl="1">
              <a:buFont typeface="Arial" pitchFamily="34" charset="0"/>
              <a:buChar char="•"/>
            </a:pPr>
            <a:r>
              <a:rPr lang="en-US" sz="3700" dirty="0"/>
              <a:t>samples from </a:t>
            </a:r>
            <a:r>
              <a:rPr lang="en-US" sz="3700" b="1" dirty="0"/>
              <a:t>different</a:t>
            </a:r>
            <a:r>
              <a:rPr lang="en-US" sz="3700" dirty="0"/>
              <a:t> groups</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84</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02692953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85</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40810042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86</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30139510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B784EB2-88F0-45BC-8AD3-DD736F8B7D16}" type="slidenum">
              <a:rPr lang="sv-SE" smtClean="0">
                <a:solidFill>
                  <a:prstClr val="black"/>
                </a:solidFill>
              </a:rPr>
              <a:pPr/>
              <a:t>87</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66519836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lnSpc>
                <a:spcPct val="150000"/>
              </a:lnSpc>
              <a:spcBef>
                <a:spcPct val="0"/>
              </a:spcBef>
              <a:spcAft>
                <a:spcPts val="1658"/>
              </a:spcAft>
            </a:pPr>
            <a:r>
              <a:rPr lang="en-US" sz="1500" b="1" dirty="0"/>
              <a:t>The idea</a:t>
            </a:r>
            <a:r>
              <a:rPr lang="en-US" sz="1500" dirty="0"/>
              <a:t>: assume a mathematical model that reflects the reality. Based on this, we want to predict a variable Y from one (or several) variable X that are known. </a:t>
            </a:r>
          </a:p>
          <a:p>
            <a:pPr eaLnBrk="1" hangingPunct="1">
              <a:lnSpc>
                <a:spcPct val="150000"/>
              </a:lnSpc>
              <a:spcBef>
                <a:spcPct val="0"/>
              </a:spcBef>
            </a:pPr>
            <a:r>
              <a:rPr lang="en-US" sz="1500" dirty="0"/>
              <a:t>Several types of questions can be answered by using regression:</a:t>
            </a:r>
          </a:p>
          <a:p>
            <a:pPr lvl="1" eaLnBrk="1" hangingPunct="1">
              <a:lnSpc>
                <a:spcPct val="150000"/>
              </a:lnSpc>
              <a:spcBef>
                <a:spcPct val="0"/>
              </a:spcBef>
              <a:spcAft>
                <a:spcPts val="622"/>
              </a:spcAft>
            </a:pPr>
            <a:r>
              <a:rPr lang="en-US" sz="1500" dirty="0"/>
              <a:t>Has the incidence of autism increased over the past 2 decades?</a:t>
            </a:r>
          </a:p>
          <a:p>
            <a:pPr lvl="1" eaLnBrk="1" hangingPunct="1">
              <a:lnSpc>
                <a:spcPct val="150000"/>
              </a:lnSpc>
              <a:spcBef>
                <a:spcPct val="0"/>
              </a:spcBef>
              <a:spcAft>
                <a:spcPts val="622"/>
              </a:spcAft>
            </a:pPr>
            <a:r>
              <a:rPr lang="en-US" sz="1500" dirty="0"/>
              <a:t>Does a new drug treat allergy, or on the contrary, results in more adverse events?</a:t>
            </a:r>
          </a:p>
          <a:p>
            <a:pPr lvl="1" eaLnBrk="1" hangingPunct="1">
              <a:lnSpc>
                <a:spcPct val="150000"/>
              </a:lnSpc>
              <a:spcBef>
                <a:spcPct val="0"/>
              </a:spcBef>
              <a:spcAft>
                <a:spcPts val="622"/>
              </a:spcAft>
            </a:pPr>
            <a:r>
              <a:rPr lang="en-US" sz="1500" dirty="0"/>
              <a:t>What is the risk of car accidents during a certain period?</a:t>
            </a:r>
          </a:p>
          <a:p>
            <a:pPr lvl="1" eaLnBrk="1" hangingPunct="1">
              <a:lnSpc>
                <a:spcPct val="150000"/>
              </a:lnSpc>
              <a:spcBef>
                <a:spcPct val="0"/>
              </a:spcBef>
              <a:spcAft>
                <a:spcPts val="622"/>
              </a:spcAft>
            </a:pPr>
            <a:r>
              <a:rPr lang="en-US" sz="1500" dirty="0"/>
              <a:t>…</a:t>
            </a:r>
          </a:p>
          <a:p>
            <a:pPr eaLnBrk="1" hangingPunct="1">
              <a:lnSpc>
                <a:spcPct val="150000"/>
              </a:lnSpc>
              <a:spcBef>
                <a:spcPct val="0"/>
              </a:spcBef>
            </a:pPr>
            <a:endParaRPr lang="en-US" sz="1500" dirty="0"/>
          </a:p>
          <a:p>
            <a:endParaRPr lang="en-US" sz="1500"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88</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78302130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fontScale="92500" lnSpcReduction="10000"/>
          </a:bodyPr>
          <a:lstStyle/>
          <a:p>
            <a:pPr>
              <a:spcBef>
                <a:spcPts val="622"/>
              </a:spcBef>
              <a:spcAft>
                <a:spcPts val="622"/>
              </a:spcAft>
            </a:pPr>
            <a:r>
              <a:rPr lang="en-US" sz="2500" dirty="0"/>
              <a:t>Simple linear equation:</a:t>
            </a:r>
            <a:r>
              <a:rPr lang="en-US" sz="2500" i="1" dirty="0"/>
              <a:t> Y </a:t>
            </a:r>
            <a:r>
              <a:rPr lang="en-US" sz="2500" dirty="0"/>
              <a:t>= </a:t>
            </a:r>
            <a:r>
              <a:rPr lang="en-US" sz="2500" i="1" dirty="0">
                <a:latin typeface="Cambria" pitchFamily="18" charset="0"/>
              </a:rPr>
              <a:t>α </a:t>
            </a:r>
            <a:r>
              <a:rPr lang="en-US" sz="2500" dirty="0"/>
              <a:t>+ </a:t>
            </a:r>
            <a:r>
              <a:rPr lang="en-US" sz="2500" i="1" dirty="0">
                <a:latin typeface="Cambria" pitchFamily="18" charset="0"/>
              </a:rPr>
              <a:t>β</a:t>
            </a:r>
            <a:r>
              <a:rPr lang="en-US" sz="2500" dirty="0"/>
              <a:t>*</a:t>
            </a:r>
            <a:r>
              <a:rPr lang="en-US" sz="2500" i="1" dirty="0"/>
              <a:t>X</a:t>
            </a:r>
          </a:p>
          <a:p>
            <a:pPr>
              <a:spcBef>
                <a:spcPts val="622"/>
              </a:spcBef>
              <a:spcAft>
                <a:spcPts val="622"/>
              </a:spcAft>
            </a:pPr>
            <a:r>
              <a:rPr lang="en-US" sz="2500" dirty="0"/>
              <a:t>Parameters </a:t>
            </a:r>
            <a:r>
              <a:rPr lang="en-US" sz="2500" i="1" dirty="0">
                <a:latin typeface="Cambria" pitchFamily="18" charset="0"/>
              </a:rPr>
              <a:t>α</a:t>
            </a:r>
            <a:r>
              <a:rPr lang="en-US" sz="2500" dirty="0"/>
              <a:t> and </a:t>
            </a:r>
            <a:r>
              <a:rPr lang="en-US" sz="2500" i="1" dirty="0">
                <a:latin typeface="Cambria" pitchFamily="18" charset="0"/>
              </a:rPr>
              <a:t>β</a:t>
            </a:r>
          </a:p>
          <a:p>
            <a:pPr lvl="1">
              <a:spcBef>
                <a:spcPts val="622"/>
              </a:spcBef>
              <a:spcAft>
                <a:spcPts val="1243"/>
              </a:spcAft>
            </a:pPr>
            <a:r>
              <a:rPr lang="en-US" sz="2500" i="1" dirty="0">
                <a:latin typeface="Cambria" pitchFamily="18" charset="0"/>
              </a:rPr>
              <a:t>α</a:t>
            </a:r>
            <a:r>
              <a:rPr lang="en-US" sz="2500" dirty="0"/>
              <a:t> is called the </a:t>
            </a:r>
            <a:r>
              <a:rPr lang="en-US" sz="2500" b="1" dirty="0"/>
              <a:t>intercept</a:t>
            </a:r>
            <a:r>
              <a:rPr lang="en-US" sz="2500" dirty="0"/>
              <a:t> (the value of </a:t>
            </a:r>
            <a:r>
              <a:rPr lang="en-US" sz="2500" i="1" dirty="0"/>
              <a:t>Y</a:t>
            </a:r>
            <a:r>
              <a:rPr lang="en-US" sz="2500" dirty="0"/>
              <a:t> when </a:t>
            </a:r>
            <a:r>
              <a:rPr lang="en-US" sz="2500" i="1" dirty="0"/>
              <a:t>X </a:t>
            </a:r>
            <a:r>
              <a:rPr lang="en-US" sz="2500" dirty="0"/>
              <a:t>= 0)</a:t>
            </a:r>
          </a:p>
          <a:p>
            <a:pPr lvl="1">
              <a:spcBef>
                <a:spcPts val="622"/>
              </a:spcBef>
              <a:spcAft>
                <a:spcPts val="1243"/>
              </a:spcAft>
            </a:pPr>
            <a:r>
              <a:rPr lang="en-US" sz="2500" i="1" dirty="0">
                <a:latin typeface="Cambria" pitchFamily="18" charset="0"/>
              </a:rPr>
              <a:t>β</a:t>
            </a:r>
            <a:r>
              <a:rPr lang="en-US" sz="2500" dirty="0"/>
              <a:t> is called the </a:t>
            </a:r>
            <a:r>
              <a:rPr lang="en-US" sz="2500" b="1" dirty="0"/>
              <a:t>slope</a:t>
            </a:r>
            <a:r>
              <a:rPr lang="en-US" sz="2500" dirty="0"/>
              <a:t> of the line</a:t>
            </a:r>
          </a:p>
          <a:p>
            <a:pPr lvl="2">
              <a:spcBef>
                <a:spcPts val="622"/>
              </a:spcBef>
              <a:spcAft>
                <a:spcPts val="1243"/>
              </a:spcAft>
            </a:pPr>
            <a:r>
              <a:rPr lang="en-US" dirty="0"/>
              <a:t>One unit increase in </a:t>
            </a:r>
            <a:r>
              <a:rPr lang="en-US" i="1" dirty="0"/>
              <a:t>X</a:t>
            </a:r>
            <a:r>
              <a:rPr lang="en-US" dirty="0"/>
              <a:t> → </a:t>
            </a:r>
            <a:r>
              <a:rPr lang="en-US" i="1" dirty="0">
                <a:latin typeface="Cambria" pitchFamily="18" charset="0"/>
              </a:rPr>
              <a:t>β</a:t>
            </a:r>
            <a:r>
              <a:rPr lang="en-US" dirty="0"/>
              <a:t> units increase in </a:t>
            </a:r>
            <a:r>
              <a:rPr lang="en-US" i="1" dirty="0"/>
              <a:t>Y</a:t>
            </a:r>
          </a:p>
          <a:p>
            <a:pPr>
              <a:spcBef>
                <a:spcPts val="622"/>
              </a:spcBef>
              <a:spcAft>
                <a:spcPts val="622"/>
              </a:spcAft>
            </a:pPr>
            <a:r>
              <a:rPr lang="en-US" sz="2500" i="1" dirty="0">
                <a:latin typeface="Cambria" pitchFamily="18" charset="0"/>
              </a:rPr>
              <a:t>α</a:t>
            </a:r>
            <a:r>
              <a:rPr lang="en-US" sz="2500" dirty="0"/>
              <a:t> and </a:t>
            </a:r>
            <a:r>
              <a:rPr lang="en-US" sz="2500" i="1" dirty="0">
                <a:latin typeface="Cambria" pitchFamily="18" charset="0"/>
              </a:rPr>
              <a:t>β</a:t>
            </a:r>
            <a:r>
              <a:rPr lang="en-US" sz="2500" dirty="0"/>
              <a:t> denote the values for the population</a:t>
            </a:r>
          </a:p>
          <a:p>
            <a:pPr>
              <a:spcBef>
                <a:spcPts val="622"/>
              </a:spcBef>
              <a:spcAft>
                <a:spcPts val="1243"/>
              </a:spcAft>
            </a:pPr>
            <a:r>
              <a:rPr lang="en-US" sz="2500" i="1" dirty="0"/>
              <a:t>a</a:t>
            </a:r>
            <a:r>
              <a:rPr lang="en-US" sz="2500" dirty="0"/>
              <a:t> and </a:t>
            </a:r>
            <a:r>
              <a:rPr lang="en-US" sz="2500" i="1" dirty="0"/>
              <a:t>b</a:t>
            </a:r>
            <a:r>
              <a:rPr lang="en-US" sz="2500" dirty="0"/>
              <a:t> denotes the sample specific estimates of </a:t>
            </a:r>
            <a:r>
              <a:rPr lang="en-US" sz="2500" i="1" dirty="0">
                <a:latin typeface="Cambria" pitchFamily="18" charset="0"/>
              </a:rPr>
              <a:t>α</a:t>
            </a:r>
            <a:r>
              <a:rPr lang="en-US" sz="2500" dirty="0"/>
              <a:t> and </a:t>
            </a:r>
            <a:r>
              <a:rPr lang="en-US" sz="2500" i="1" dirty="0">
                <a:latin typeface="Cambria" pitchFamily="18" charset="0"/>
              </a:rPr>
              <a:t>β</a:t>
            </a:r>
            <a:r>
              <a:rPr lang="en-US" sz="2500" dirty="0"/>
              <a:t> </a:t>
            </a:r>
          </a:p>
          <a:p>
            <a:endParaRPr lang="sv-SE" sz="2500" dirty="0"/>
          </a:p>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89</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30267215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spcAft>
                <a:spcPts val="622"/>
              </a:spcAft>
            </a:pPr>
            <a:r>
              <a:rPr lang="en-US" sz="3300" dirty="0">
                <a:latin typeface="Calibri" panose="020F0502020204030204" pitchFamily="34" charset="0"/>
              </a:rPr>
              <a:t>Heel-rise = 1.062 – 0.009*Age</a:t>
            </a:r>
          </a:p>
          <a:p>
            <a:pPr>
              <a:spcBef>
                <a:spcPts val="622"/>
              </a:spcBef>
              <a:spcAft>
                <a:spcPts val="1243"/>
              </a:spcAft>
            </a:pPr>
            <a:r>
              <a:rPr lang="en-US" sz="2700" dirty="0"/>
              <a:t>1 unit increase in Age → 0.009 units  decrease(because of negative sign) in expected Heel-rise</a:t>
            </a:r>
          </a:p>
          <a:p>
            <a:pPr>
              <a:spcBef>
                <a:spcPts val="622"/>
              </a:spcBef>
              <a:spcAft>
                <a:spcPts val="1243"/>
              </a:spcAft>
            </a:pPr>
            <a:r>
              <a:rPr lang="en-US" sz="2700" dirty="0"/>
              <a:t>Expected Heel-rise is age = 0 years </a:t>
            </a:r>
            <a:r>
              <a:rPr lang="en-US" sz="2700" dirty="0">
                <a:sym typeface="Wingdings" panose="05000000000000000000" pitchFamily="2" charset="2"/>
              </a:rPr>
              <a:t> 1.062</a:t>
            </a:r>
            <a:endParaRPr lang="en-US" sz="2700" dirty="0"/>
          </a:p>
          <a:p>
            <a:pPr>
              <a:spcBef>
                <a:spcPts val="622"/>
              </a:spcBef>
              <a:spcAft>
                <a:spcPts val="1243"/>
              </a:spcAft>
            </a:pPr>
            <a:r>
              <a:rPr lang="en-US" sz="2700" dirty="0"/>
              <a:t>No data in that area (nobody with Age = 0), and </a:t>
            </a:r>
            <a:r>
              <a:rPr lang="en-US" sz="2700" i="1" dirty="0"/>
              <a:t>extrapolation</a:t>
            </a:r>
            <a:r>
              <a:rPr lang="en-US" sz="2700" dirty="0"/>
              <a:t> can give unrealistic results</a:t>
            </a:r>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90</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02667632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622"/>
              </a:spcBef>
              <a:spcAft>
                <a:spcPts val="1243"/>
              </a:spcAft>
            </a:pPr>
            <a:r>
              <a:rPr lang="en-US" dirty="0"/>
              <a:t>The linear regression produces valid results only if some assumptions about the data are true:</a:t>
            </a:r>
          </a:p>
          <a:p>
            <a:pPr>
              <a:spcBef>
                <a:spcPts val="622"/>
              </a:spcBef>
              <a:spcAft>
                <a:spcPts val="1243"/>
              </a:spcAft>
            </a:pPr>
            <a:r>
              <a:rPr lang="en-US" dirty="0"/>
              <a:t>The outcome variable is continuous </a:t>
            </a:r>
          </a:p>
          <a:p>
            <a:pPr>
              <a:spcBef>
                <a:spcPts val="622"/>
              </a:spcBef>
              <a:spcAft>
                <a:spcPts val="1243"/>
              </a:spcAft>
            </a:pPr>
            <a:r>
              <a:rPr lang="en-US" dirty="0"/>
              <a:t>Linear relationship between </a:t>
            </a:r>
            <a:r>
              <a:rPr lang="en-US" i="1" dirty="0"/>
              <a:t>X</a:t>
            </a:r>
            <a:r>
              <a:rPr lang="en-US" dirty="0"/>
              <a:t> and </a:t>
            </a:r>
            <a:r>
              <a:rPr lang="en-US" i="1" dirty="0"/>
              <a:t>Y</a:t>
            </a:r>
            <a:r>
              <a:rPr lang="en-US" dirty="0"/>
              <a:t>  </a:t>
            </a:r>
          </a:p>
          <a:p>
            <a:pPr>
              <a:lnSpc>
                <a:spcPct val="150000"/>
              </a:lnSpc>
              <a:spcBef>
                <a:spcPts val="622"/>
              </a:spcBef>
              <a:spcAft>
                <a:spcPts val="1243"/>
              </a:spcAft>
            </a:pPr>
            <a:r>
              <a:rPr lang="en-US" dirty="0"/>
              <a:t>The residuals are independent (same way as saying that for each value of X, the Y’s are independent)</a:t>
            </a:r>
          </a:p>
          <a:p>
            <a:pPr>
              <a:lnSpc>
                <a:spcPct val="150000"/>
              </a:lnSpc>
              <a:spcBef>
                <a:spcPts val="622"/>
              </a:spcBef>
              <a:spcAft>
                <a:spcPts val="1243"/>
              </a:spcAft>
            </a:pPr>
            <a:r>
              <a:rPr lang="en-US" dirty="0"/>
              <a:t>The residuals are normally distributed with mean </a:t>
            </a:r>
            <a:r>
              <a:rPr lang="en-US" i="1" dirty="0"/>
              <a:t>0</a:t>
            </a:r>
            <a:r>
              <a:rPr lang="en-US" dirty="0"/>
              <a:t> and constant deviation, for </a:t>
            </a:r>
            <a:r>
              <a:rPr lang="en-US" u="sng" dirty="0"/>
              <a:t>all</a:t>
            </a:r>
            <a:r>
              <a:rPr lang="en-US" dirty="0"/>
              <a:t> values of </a:t>
            </a:r>
            <a:r>
              <a:rPr lang="en-US" i="1" dirty="0"/>
              <a:t>X</a:t>
            </a:r>
            <a:r>
              <a:rPr lang="en-US" dirty="0"/>
              <a:t>.</a:t>
            </a:r>
          </a:p>
          <a:p>
            <a:pPr>
              <a:spcBef>
                <a:spcPts val="622"/>
              </a:spcBef>
              <a:spcAft>
                <a:spcPts val="1243"/>
              </a:spcAft>
              <a:buFont typeface="Wingdings" pitchFamily="2" charset="2"/>
              <a:buChar char="§"/>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91</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12032810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lvl="1">
              <a:lnSpc>
                <a:spcPct val="150000"/>
              </a:lnSpc>
              <a:spcAft>
                <a:spcPts val="1243"/>
              </a:spcAft>
            </a:pPr>
            <a:r>
              <a:rPr lang="en-US" sz="3100" dirty="0"/>
              <a:t>Both correlation and linear regression assumes </a:t>
            </a:r>
            <a:r>
              <a:rPr lang="en-US" sz="3100" b="1" dirty="0"/>
              <a:t>independent</a:t>
            </a:r>
            <a:r>
              <a:rPr lang="en-US" sz="3100" dirty="0"/>
              <a:t> observations. </a:t>
            </a:r>
          </a:p>
          <a:p>
            <a:pPr lvl="1">
              <a:spcAft>
                <a:spcPts val="1243"/>
              </a:spcAft>
            </a:pPr>
            <a:r>
              <a:rPr lang="en-US" sz="3100" dirty="0"/>
              <a:t>Independence of observations from each other</a:t>
            </a:r>
          </a:p>
          <a:p>
            <a:pPr lvl="1">
              <a:spcAft>
                <a:spcPts val="1243"/>
              </a:spcAft>
            </a:pPr>
            <a:r>
              <a:rPr lang="en-US" sz="3100" dirty="0"/>
              <a:t>Only one measurement per individual</a:t>
            </a:r>
          </a:p>
          <a:p>
            <a:pPr lvl="1">
              <a:lnSpc>
                <a:spcPct val="150000"/>
              </a:lnSpc>
              <a:spcAft>
                <a:spcPts val="1243"/>
              </a:spcAft>
            </a:pPr>
            <a:r>
              <a:rPr lang="en-US" sz="3100" dirty="0"/>
              <a:t>Independent random sample - all individuals are equally likely to participate in the study </a:t>
            </a:r>
          </a:p>
          <a:p>
            <a:endParaRPr lang="en-US" dirty="0"/>
          </a:p>
        </p:txBody>
      </p:sp>
      <p:sp>
        <p:nvSpPr>
          <p:cNvPr id="4" name="Slide Number Placeholder 3"/>
          <p:cNvSpPr>
            <a:spLocks noGrp="1"/>
          </p:cNvSpPr>
          <p:nvPr>
            <p:ph type="sldNum" sz="quarter" idx="10"/>
          </p:nvPr>
        </p:nvSpPr>
        <p:spPr/>
        <p:txBody>
          <a:bodyPr/>
          <a:lstStyle/>
          <a:p>
            <a:fld id="{7B784EB2-88F0-45BC-8AD3-DD736F8B7D16}" type="slidenum">
              <a:rPr lang="sv-SE" smtClean="0">
                <a:solidFill>
                  <a:prstClr val="black"/>
                </a:solidFill>
              </a:rPr>
              <a:pPr/>
              <a:t>92</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46184308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a:bodyPr>
          <a:lstStyle/>
          <a:p>
            <a:pPr>
              <a:lnSpc>
                <a:spcPct val="150000"/>
              </a:lnSpc>
              <a:spcBef>
                <a:spcPts val="124"/>
              </a:spcBef>
              <a:buFont typeface="Wingdings" panose="05000000000000000000" pitchFamily="2" charset="2"/>
              <a:buChar char="Ø"/>
            </a:pPr>
            <a:r>
              <a:rPr lang="sv-SE" sz="1500" b="1" dirty="0">
                <a:solidFill>
                  <a:srgbClr val="000000"/>
                </a:solidFill>
                <a:latin typeface="Times New Roman" panose="02020603050405020304" pitchFamily="18" charset="0"/>
                <a:cs typeface="Times New Roman" panose="02020603050405020304" pitchFamily="18" charset="0"/>
              </a:rPr>
              <a:t>Explorative</a:t>
            </a:r>
          </a:p>
          <a:p>
            <a:pPr lvl="1">
              <a:lnSpc>
                <a:spcPct val="150000"/>
              </a:lnSpc>
              <a:spcBef>
                <a:spcPts val="124"/>
              </a:spcBef>
              <a:buFont typeface="Wingdings" panose="05000000000000000000" pitchFamily="2" charset="2"/>
              <a:buChar char="v"/>
            </a:pPr>
            <a:r>
              <a:rPr lang="sv-SE" sz="1500" dirty="0" err="1">
                <a:solidFill>
                  <a:srgbClr val="000000"/>
                </a:solidFill>
                <a:latin typeface="Times New Roman" panose="02020603050405020304" pitchFamily="18" charset="0"/>
                <a:cs typeface="Times New Roman" panose="02020603050405020304" pitchFamily="18" charset="0"/>
              </a:rPr>
              <a:t>Which</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variables</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are</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related</a:t>
            </a:r>
            <a:r>
              <a:rPr lang="sv-SE" sz="1500" dirty="0">
                <a:solidFill>
                  <a:srgbClr val="000000"/>
                </a:solidFill>
                <a:latin typeface="Times New Roman" panose="02020603050405020304" pitchFamily="18" charset="0"/>
                <a:cs typeface="Times New Roman" panose="02020603050405020304" pitchFamily="18" charset="0"/>
              </a:rPr>
              <a:t>/</a:t>
            </a:r>
            <a:r>
              <a:rPr lang="sv-SE" sz="1500" dirty="0" err="1">
                <a:solidFill>
                  <a:srgbClr val="000000"/>
                </a:solidFill>
                <a:latin typeface="Times New Roman" panose="02020603050405020304" pitchFamily="18" charset="0"/>
                <a:cs typeface="Times New Roman" panose="02020603050405020304" pitchFamily="18" charset="0"/>
              </a:rPr>
              <a:t>associated</a:t>
            </a:r>
            <a:r>
              <a:rPr lang="sv-SE" sz="1500" dirty="0">
                <a:solidFill>
                  <a:srgbClr val="000000"/>
                </a:solidFill>
                <a:latin typeface="Times New Roman" panose="02020603050405020304" pitchFamily="18" charset="0"/>
                <a:cs typeface="Times New Roman" panose="02020603050405020304" pitchFamily="18" charset="0"/>
              </a:rPr>
              <a:t> to </a:t>
            </a:r>
            <a:r>
              <a:rPr lang="sv-SE" sz="1500" dirty="0" err="1">
                <a:solidFill>
                  <a:srgbClr val="000000"/>
                </a:solidFill>
                <a:latin typeface="Times New Roman" panose="02020603050405020304" pitchFamily="18" charset="0"/>
                <a:cs typeface="Times New Roman" panose="02020603050405020304" pitchFamily="18" charset="0"/>
              </a:rPr>
              <a:t>outcome</a:t>
            </a:r>
            <a:endParaRPr lang="sv-SE" sz="1500"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124"/>
              </a:spcBef>
              <a:buFont typeface="Wingdings" panose="05000000000000000000" pitchFamily="2" charset="2"/>
              <a:buChar char="Ø"/>
            </a:pPr>
            <a:r>
              <a:rPr lang="sv-SE" sz="1500" b="1" dirty="0" err="1">
                <a:solidFill>
                  <a:srgbClr val="000000"/>
                </a:solidFill>
                <a:latin typeface="Times New Roman" panose="02020603050405020304" pitchFamily="18" charset="0"/>
                <a:cs typeface="Times New Roman" panose="02020603050405020304" pitchFamily="18" charset="0"/>
              </a:rPr>
              <a:t>Adjustment</a:t>
            </a:r>
            <a:endParaRPr lang="sv-SE" sz="1500" b="1" dirty="0">
              <a:solidFill>
                <a:srgbClr val="000000"/>
              </a:solidFill>
              <a:latin typeface="Times New Roman" panose="02020603050405020304" pitchFamily="18" charset="0"/>
              <a:cs typeface="Times New Roman" panose="02020603050405020304" pitchFamily="18" charset="0"/>
            </a:endParaRPr>
          </a:p>
          <a:p>
            <a:pPr lvl="1">
              <a:lnSpc>
                <a:spcPct val="150000"/>
              </a:lnSpc>
              <a:spcBef>
                <a:spcPts val="124"/>
              </a:spcBef>
              <a:buFont typeface="Wingdings" panose="05000000000000000000" pitchFamily="2" charset="2"/>
              <a:buChar char="v"/>
            </a:pPr>
            <a:r>
              <a:rPr lang="sv-SE" sz="1500" dirty="0" err="1">
                <a:solidFill>
                  <a:srgbClr val="000000"/>
                </a:solidFill>
                <a:latin typeface="Times New Roman" panose="02020603050405020304" pitchFamily="18" charset="0"/>
                <a:cs typeface="Times New Roman" panose="02020603050405020304" pitchFamily="18" charset="0"/>
              </a:rPr>
              <a:t>Adjusting</a:t>
            </a:r>
            <a:r>
              <a:rPr lang="sv-SE" sz="1500" dirty="0">
                <a:solidFill>
                  <a:srgbClr val="000000"/>
                </a:solidFill>
                <a:latin typeface="Times New Roman" panose="02020603050405020304" pitchFamily="18" charset="0"/>
                <a:cs typeface="Times New Roman" panose="02020603050405020304" pitchFamily="18" charset="0"/>
              </a:rPr>
              <a:t> for </a:t>
            </a:r>
            <a:r>
              <a:rPr lang="sv-SE" sz="1500" dirty="0" err="1">
                <a:solidFill>
                  <a:srgbClr val="000000"/>
                </a:solidFill>
                <a:latin typeface="Times New Roman" panose="02020603050405020304" pitchFamily="18" charset="0"/>
                <a:cs typeface="Times New Roman" panose="02020603050405020304" pitchFamily="18" charset="0"/>
              </a:rPr>
              <a:t>confounding</a:t>
            </a:r>
            <a:r>
              <a:rPr lang="sv-SE" sz="1500" dirty="0">
                <a:solidFill>
                  <a:srgbClr val="000000"/>
                </a:solidFill>
                <a:latin typeface="Times New Roman" panose="02020603050405020304" pitchFamily="18" charset="0"/>
                <a:cs typeface="Times New Roman" panose="02020603050405020304" pitchFamily="18" charset="0"/>
              </a:rPr>
              <a:t>/</a:t>
            </a:r>
            <a:r>
              <a:rPr lang="sv-SE" sz="1500" dirty="0" err="1">
                <a:solidFill>
                  <a:srgbClr val="000000"/>
                </a:solidFill>
                <a:latin typeface="Times New Roman" panose="02020603050405020304" pitchFamily="18" charset="0"/>
                <a:cs typeface="Times New Roman" panose="02020603050405020304" pitchFamily="18" charset="0"/>
              </a:rPr>
              <a:t>background</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variables</a:t>
            </a:r>
            <a:endParaRPr lang="sv-SE" sz="1500"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124"/>
              </a:spcBef>
              <a:buFont typeface="Wingdings" panose="05000000000000000000" pitchFamily="2" charset="2"/>
              <a:buChar char="Ø"/>
            </a:pPr>
            <a:r>
              <a:rPr lang="sv-SE" sz="1500" b="1" dirty="0" err="1">
                <a:solidFill>
                  <a:srgbClr val="000000"/>
                </a:solidFill>
                <a:latin typeface="Times New Roman" panose="02020603050405020304" pitchFamily="18" charset="0"/>
                <a:cs typeface="Times New Roman" panose="02020603050405020304" pitchFamily="18" charset="0"/>
              </a:rPr>
              <a:t>Outcome</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variables</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Continuous</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Binary</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Time</a:t>
            </a:r>
            <a:r>
              <a:rPr lang="sv-SE" sz="1500" dirty="0">
                <a:solidFill>
                  <a:srgbClr val="000000"/>
                </a:solidFill>
                <a:latin typeface="Times New Roman" panose="02020603050405020304" pitchFamily="18" charset="0"/>
                <a:cs typeface="Times New Roman" panose="02020603050405020304" pitchFamily="18" charset="0"/>
              </a:rPr>
              <a:t> to event</a:t>
            </a:r>
          </a:p>
          <a:p>
            <a:pPr>
              <a:lnSpc>
                <a:spcPct val="150000"/>
              </a:lnSpc>
              <a:spcBef>
                <a:spcPts val="124"/>
              </a:spcBef>
              <a:buFont typeface="Wingdings" panose="05000000000000000000" pitchFamily="2" charset="2"/>
              <a:buChar char="Ø"/>
            </a:pPr>
            <a:r>
              <a:rPr lang="sv-SE" sz="1500" b="1" dirty="0" err="1">
                <a:solidFill>
                  <a:srgbClr val="000000"/>
                </a:solidFill>
                <a:latin typeface="Times New Roman" panose="02020603050405020304" pitchFamily="18" charset="0"/>
                <a:cs typeface="Times New Roman" panose="02020603050405020304" pitchFamily="18" charset="0"/>
              </a:rPr>
              <a:t>Predictor</a:t>
            </a:r>
            <a:r>
              <a:rPr lang="sv-SE" sz="1500" b="1" dirty="0">
                <a:solidFill>
                  <a:srgbClr val="000000"/>
                </a:solidFill>
                <a:latin typeface="Times New Roman" panose="02020603050405020304" pitchFamily="18" charset="0"/>
                <a:cs typeface="Times New Roman" panose="02020603050405020304" pitchFamily="18" charset="0"/>
              </a:rPr>
              <a:t>/</a:t>
            </a:r>
            <a:r>
              <a:rPr lang="sv-SE" sz="1500" b="1" dirty="0" err="1">
                <a:solidFill>
                  <a:srgbClr val="000000"/>
                </a:solidFill>
                <a:latin typeface="Times New Roman" panose="02020603050405020304" pitchFamily="18" charset="0"/>
                <a:cs typeface="Times New Roman" panose="02020603050405020304" pitchFamily="18" charset="0"/>
              </a:rPr>
              <a:t>Explanatory</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any</a:t>
            </a:r>
            <a:r>
              <a:rPr lang="sv-SE" sz="1500" dirty="0">
                <a:solidFill>
                  <a:srgbClr val="000000"/>
                </a:solidFill>
                <a:latin typeface="Times New Roman" panose="02020603050405020304" pitchFamily="18" charset="0"/>
                <a:cs typeface="Times New Roman" panose="02020603050405020304" pitchFamily="18" charset="0"/>
              </a:rPr>
              <a:t> combination </a:t>
            </a:r>
            <a:r>
              <a:rPr lang="sv-SE" sz="1500" dirty="0" err="1">
                <a:solidFill>
                  <a:srgbClr val="000000"/>
                </a:solidFill>
                <a:latin typeface="Times New Roman" panose="02020603050405020304" pitchFamily="18" charset="0"/>
                <a:cs typeface="Times New Roman" panose="02020603050405020304" pitchFamily="18" charset="0"/>
              </a:rPr>
              <a:t>of</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Continuous</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Binary</a:t>
            </a:r>
            <a:r>
              <a:rPr lang="sv-SE" sz="1500" dirty="0">
                <a:solidFill>
                  <a:srgbClr val="000000"/>
                </a:solidFill>
                <a:latin typeface="Times New Roman" panose="02020603050405020304" pitchFamily="18" charset="0"/>
                <a:cs typeface="Times New Roman" panose="02020603050405020304" pitchFamily="18" charset="0"/>
              </a:rPr>
              <a:t>, </a:t>
            </a:r>
            <a:r>
              <a:rPr lang="sv-SE" sz="1500" dirty="0" err="1">
                <a:solidFill>
                  <a:srgbClr val="000000"/>
                </a:solidFill>
                <a:latin typeface="Times New Roman" panose="02020603050405020304" pitchFamily="18" charset="0"/>
                <a:cs typeface="Times New Roman" panose="02020603050405020304" pitchFamily="18" charset="0"/>
              </a:rPr>
              <a:t>categorical</a:t>
            </a:r>
            <a:endParaRPr lang="sv-SE" sz="1500" i="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124"/>
              </a:spcBef>
            </a:pPr>
            <a:endParaRPr lang="sv-SE" sz="1500" dirty="0">
              <a:solidFill>
                <a:srgbClr val="000000"/>
              </a:solidFill>
              <a:latin typeface="Times New Roman" panose="02020603050405020304" pitchFamily="18" charset="0"/>
              <a:cs typeface="Times New Roman" panose="02020603050405020304" pitchFamily="18" charset="0"/>
            </a:endParaRPr>
          </a:p>
          <a:p>
            <a:pPr marL="223798" lvl="1">
              <a:lnSpc>
                <a:spcPct val="150000"/>
              </a:lnSpc>
              <a:spcBef>
                <a:spcPts val="124"/>
              </a:spcBef>
            </a:pPr>
            <a:endParaRPr lang="en-US" sz="1500" dirty="0">
              <a:solidFill>
                <a:srgbClr val="000000"/>
              </a:solidFill>
              <a:latin typeface="Times New Roman" panose="02020603050405020304" pitchFamily="18" charset="0"/>
              <a:cs typeface="Times New Roman" panose="02020603050405020304" pitchFamily="18" charset="0"/>
            </a:endParaRPr>
          </a:p>
          <a:p>
            <a:endParaRPr lang="en-GB" sz="1500" b="1" dirty="0">
              <a:solidFill>
                <a:srgbClr val="000000"/>
              </a:solidFill>
              <a:latin typeface="Times New Roman" panose="02020603050405020304" pitchFamily="18" charset="0"/>
              <a:cs typeface="Times New Roman" panose="02020603050405020304" pitchFamily="18" charset="0"/>
            </a:endParaRPr>
          </a:p>
          <a:p>
            <a:endParaRPr lang="en-GB" sz="1500" b="1" dirty="0">
              <a:solidFill>
                <a:srgbClr val="000000"/>
              </a:solidFill>
              <a:latin typeface="Times New Roman" panose="02020603050405020304" pitchFamily="18" charset="0"/>
              <a:cs typeface="Times New Roman" panose="02020603050405020304" pitchFamily="18" charset="0"/>
            </a:endParaRPr>
          </a:p>
          <a:p>
            <a:endParaRPr lang="en-GB" sz="1500" b="1" dirty="0">
              <a:solidFill>
                <a:srgbClr val="000000"/>
              </a:solidFill>
              <a:latin typeface="Times New Roman" panose="02020603050405020304" pitchFamily="18" charset="0"/>
              <a:cs typeface="Times New Roman" panose="02020603050405020304" pitchFamily="18" charset="0"/>
            </a:endParaRPr>
          </a:p>
          <a:p>
            <a:endParaRPr lang="en-US" sz="1500"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93</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63428967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fontScale="32500" lnSpcReduction="20000"/>
          </a:bodyPr>
          <a:lstStyle/>
          <a:p>
            <a:pPr defTabSz="473705">
              <a:lnSpc>
                <a:spcPct val="150000"/>
              </a:lnSpc>
              <a:spcAft>
                <a:spcPts val="1243"/>
              </a:spcAft>
            </a:pPr>
            <a:r>
              <a:rPr lang="en-US" sz="3700" dirty="0"/>
              <a:t>https://en.wikipedia.org/wiki/Simpson%27s_paradox</a:t>
            </a:r>
          </a:p>
          <a:p>
            <a:pPr defTabSz="473705">
              <a:lnSpc>
                <a:spcPct val="150000"/>
              </a:lnSpc>
              <a:spcAft>
                <a:spcPts val="1243"/>
              </a:spcAft>
            </a:pPr>
            <a:endParaRPr lang="en-US" sz="3700" dirty="0"/>
          </a:p>
          <a:p>
            <a:pPr defTabSz="473705">
              <a:lnSpc>
                <a:spcPct val="150000"/>
              </a:lnSpc>
              <a:spcAft>
                <a:spcPts val="1243"/>
              </a:spcAft>
            </a:pPr>
            <a:r>
              <a:rPr lang="en-US" sz="5400" b="1" dirty="0"/>
              <a:t>Scatterplot of correlation between two continuous variables</a:t>
            </a:r>
            <a:r>
              <a:rPr lang="en-US" sz="5400" dirty="0"/>
              <a:t> </a:t>
            </a:r>
            <a:r>
              <a:rPr lang="en-US" sz="5400" b="1" i="1" dirty="0"/>
              <a:t>X</a:t>
            </a:r>
            <a:r>
              <a:rPr lang="en-US" sz="5400" dirty="0"/>
              <a:t> </a:t>
            </a:r>
            <a:r>
              <a:rPr lang="en-US" sz="5400" b="1" dirty="0"/>
              <a:t>and</a:t>
            </a:r>
            <a:r>
              <a:rPr lang="en-US" sz="5400" dirty="0"/>
              <a:t> </a:t>
            </a:r>
            <a:r>
              <a:rPr lang="en-US" sz="5400" b="1" i="1" dirty="0"/>
              <a:t>Y</a:t>
            </a:r>
            <a:r>
              <a:rPr lang="en-US" sz="5400" dirty="0"/>
              <a:t> </a:t>
            </a:r>
            <a:r>
              <a:rPr lang="en-US" sz="5400" b="1" dirty="0"/>
              <a:t>, grouped by a nominal variable</a:t>
            </a:r>
            <a:r>
              <a:rPr lang="en-US" sz="5400" dirty="0"/>
              <a:t> </a:t>
            </a:r>
            <a:r>
              <a:rPr lang="en-US" sz="5400" b="1" i="1" dirty="0"/>
              <a:t>Z</a:t>
            </a:r>
            <a:r>
              <a:rPr lang="en-US" sz="5400" dirty="0"/>
              <a:t> </a:t>
            </a:r>
            <a:r>
              <a:rPr lang="en-US" sz="5400" b="1" dirty="0"/>
              <a:t>.</a:t>
            </a:r>
            <a:r>
              <a:rPr lang="en-US" sz="5400" dirty="0"/>
              <a:t> </a:t>
            </a:r>
            <a:r>
              <a:rPr lang="en-US" sz="5400"/>
              <a:t>Different colors represent different levels of </a:t>
            </a:r>
            <a:r>
              <a:rPr lang="en-US" sz="5400" i="1"/>
              <a:t>Z</a:t>
            </a:r>
            <a:r>
              <a:rPr lang="en-US" sz="5400"/>
              <a:t>.</a:t>
            </a:r>
            <a:endParaRPr lang="en-US" sz="3700" dirty="0"/>
          </a:p>
          <a:p>
            <a:pPr defTabSz="473705">
              <a:lnSpc>
                <a:spcPct val="150000"/>
              </a:lnSpc>
              <a:spcAft>
                <a:spcPts val="1243"/>
              </a:spcAft>
            </a:pPr>
            <a:endParaRPr lang="sv-SE" sz="3700" dirty="0"/>
          </a:p>
          <a:p>
            <a:pPr marL="0" marR="0" lvl="0" indent="0" algn="l" defTabSz="473705" rtl="0" eaLnBrk="0" fontAlgn="base" latinLnBrk="0" hangingPunct="0">
              <a:lnSpc>
                <a:spcPct val="150000"/>
              </a:lnSpc>
              <a:spcBef>
                <a:spcPct val="30000"/>
              </a:spcBef>
              <a:spcAft>
                <a:spcPts val="1243"/>
              </a:spcAft>
              <a:buClrTx/>
              <a:buSzTx/>
              <a:buFontTx/>
              <a:buNone/>
              <a:tabLst/>
              <a:defRPr/>
            </a:pPr>
            <a:r>
              <a:rPr lang="en-US" sz="4000" b="1" dirty="0"/>
              <a:t>Simpson's paradox</a:t>
            </a:r>
          </a:p>
          <a:p>
            <a:pPr defTabSz="473705">
              <a:lnSpc>
                <a:spcPct val="150000"/>
              </a:lnSpc>
              <a:spcAft>
                <a:spcPts val="1243"/>
              </a:spcAft>
            </a:pPr>
            <a:r>
              <a:rPr lang="en-US" sz="4000" dirty="0"/>
              <a:t>a trend appears in several different groups of data but disappears or reverses when these groups are combined. </a:t>
            </a:r>
            <a:endParaRPr lang="en-US" sz="3700"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94</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38931029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95</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53582524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96</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96186720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97</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11431594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1"/>
          </p:nvPr>
        </p:nvSpPr>
        <p:spPr/>
        <p:txBody>
          <a:bodyPr/>
          <a:lstStyle/>
          <a:p>
            <a:pPr>
              <a:defRPr/>
            </a:pPr>
            <a:fld id="{B7A5680B-5CFF-5C46-8A8E-F880F761868B}" type="slidenum">
              <a:rPr lang="sv-SE" smtClean="0"/>
              <a:pPr>
                <a:defRPr/>
              </a:pPr>
              <a:t>98</a:t>
            </a:fld>
            <a:endParaRPr lang="sv-SE"/>
          </a:p>
        </p:txBody>
      </p:sp>
      <p:sp>
        <p:nvSpPr>
          <p:cNvPr id="6" name="Date Placeholder 5"/>
          <p:cNvSpPr>
            <a:spLocks noGrp="1"/>
          </p:cNvSpPr>
          <p:nvPr>
            <p:ph type="dt" idx="12"/>
          </p:nvPr>
        </p:nvSpPr>
        <p:spPr/>
        <p:txBody>
          <a:bodyPr/>
          <a:lstStyle/>
          <a:p>
            <a:pPr>
              <a:defRPr/>
            </a:pPr>
            <a:endParaRPr lang="sv-SE"/>
          </a:p>
        </p:txBody>
      </p:sp>
    </p:spTree>
    <p:extLst>
      <p:ext uri="{BB962C8B-B14F-4D97-AF65-F5344CB8AC3E}">
        <p14:creationId xmlns:p14="http://schemas.microsoft.com/office/powerpoint/2010/main" val="256619299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dirty="0"/>
          </a:p>
        </p:txBody>
      </p:sp>
      <p:sp>
        <p:nvSpPr>
          <p:cNvPr id="4" name="Platshållare för bildnummer 3"/>
          <p:cNvSpPr>
            <a:spLocks noGrp="1"/>
          </p:cNvSpPr>
          <p:nvPr>
            <p:ph type="sldNum" sz="quarter" idx="10"/>
          </p:nvPr>
        </p:nvSpPr>
        <p:spPr/>
        <p:txBody>
          <a:bodyPr/>
          <a:lstStyle/>
          <a:p>
            <a:pPr>
              <a:defRPr/>
            </a:pPr>
            <a:fld id="{B7A5680B-5CFF-5C46-8A8E-F880F761868B}" type="slidenum">
              <a:rPr lang="sv-SE" smtClean="0"/>
              <a:pPr>
                <a:defRPr/>
              </a:pPr>
              <a:t>99</a:t>
            </a:fld>
            <a:endParaRPr lang="sv-SE" dirty="0"/>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07263077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normAutofit fontScale="92500" lnSpcReduction="20000"/>
              </a:bodyPr>
              <a:lstStyle/>
              <a:p>
                <a:pPr>
                  <a:lnSpc>
                    <a:spcPct val="150000"/>
                  </a:lnSpc>
                  <a:spcBef>
                    <a:spcPts val="622"/>
                  </a:spcBef>
                  <a:spcAft>
                    <a:spcPts val="622"/>
                  </a:spcAft>
                </a:pPr>
                <a:r>
                  <a:rPr lang="en-US" dirty="0">
                    <a:solidFill>
                      <a:srgbClr val="000000"/>
                    </a:solidFill>
                  </a:rPr>
                  <a:t>The </a:t>
                </a:r>
                <a:r>
                  <a:rPr lang="en-US" b="1" dirty="0">
                    <a:solidFill>
                      <a:srgbClr val="000000"/>
                    </a:solidFill>
                  </a:rPr>
                  <a:t>risk difference </a:t>
                </a:r>
                <a:r>
                  <a:rPr lang="en-US" dirty="0">
                    <a:solidFill>
                      <a:srgbClr val="000000"/>
                    </a:solidFill>
                  </a:rPr>
                  <a:t>(or absolute risk reduction) answers the question: </a:t>
                </a:r>
              </a:p>
              <a:p>
                <a:pPr>
                  <a:lnSpc>
                    <a:spcPct val="150000"/>
                  </a:lnSpc>
                  <a:spcBef>
                    <a:spcPts val="622"/>
                  </a:spcBef>
                  <a:spcAft>
                    <a:spcPts val="622"/>
                  </a:spcAft>
                </a:pPr>
                <a:r>
                  <a:rPr lang="en-US" dirty="0">
                    <a:solidFill>
                      <a:srgbClr val="000000"/>
                    </a:solidFill>
                  </a:rPr>
                  <a:t>How many fewer cases can be expected if we give this specific treatment to e.g. 100 patients?</a:t>
                </a:r>
              </a:p>
              <a:p>
                <a:pPr>
                  <a:lnSpc>
                    <a:spcPct val="150000"/>
                  </a:lnSpc>
                  <a:spcBef>
                    <a:spcPts val="622"/>
                  </a:spcBef>
                  <a:spcAft>
                    <a:spcPts val="622"/>
                  </a:spcAft>
                </a:pPr>
                <a:r>
                  <a:rPr lang="en-US" dirty="0">
                    <a:solidFill>
                      <a:srgbClr val="000000"/>
                    </a:solidFill>
                  </a:rPr>
                  <a:t>The formula for a 95% CI for the risk difference is:</a:t>
                </a:r>
              </a:p>
              <a:p>
                <a:pPr>
                  <a:spcBef>
                    <a:spcPts val="622"/>
                  </a:spcBef>
                  <a:spcAft>
                    <a:spcPts val="1243"/>
                  </a:spcAft>
                </a:pPr>
                <a14:m>
                  <m:oMathPara xmlns:m="http://schemas.openxmlformats.org/officeDocument/2006/math">
                    <m:oMathParaPr>
                      <m:jc m:val="centerGroup"/>
                    </m:oMathParaPr>
                    <m:oMath xmlns:m="http://schemas.openxmlformats.org/officeDocument/2006/math">
                      <m:r>
                        <a:rPr lang="sv-SE" i="1">
                          <a:solidFill>
                            <a:srgbClr val="000000"/>
                          </a:solidFill>
                          <a:latin typeface="Cambria Math"/>
                        </a:rPr>
                        <m:t>𝐷</m:t>
                      </m:r>
                      <m:r>
                        <a:rPr lang="sv-SE" i="1">
                          <a:solidFill>
                            <a:srgbClr val="000000"/>
                          </a:solidFill>
                          <a:latin typeface="Cambria Math"/>
                          <a:ea typeface="Cambria Math"/>
                        </a:rPr>
                        <m:t>±</m:t>
                      </m:r>
                      <m:r>
                        <a:rPr lang="sv-SE" i="1">
                          <a:solidFill>
                            <a:srgbClr val="000000"/>
                          </a:solidFill>
                          <a:latin typeface="Cambria Math"/>
                          <a:ea typeface="Cambria Math"/>
                        </a:rPr>
                        <m:t>𝑘</m:t>
                      </m:r>
                      <m:rad>
                        <m:radPr>
                          <m:degHide m:val="on"/>
                          <m:ctrlPr>
                            <a:rPr lang="sv-SE" i="1">
                              <a:solidFill>
                                <a:srgbClr val="000000"/>
                              </a:solidFill>
                              <a:latin typeface="Cambria Math" panose="02040503050406030204" pitchFamily="18" charset="0"/>
                              <a:ea typeface="Cambria Math"/>
                            </a:rPr>
                          </m:ctrlPr>
                        </m:radPr>
                        <m:deg/>
                        <m:e>
                          <m:f>
                            <m:fPr>
                              <m:ctrlPr>
                                <a:rPr lang="sv-SE" i="1">
                                  <a:solidFill>
                                    <a:srgbClr val="000000"/>
                                  </a:solidFill>
                                  <a:latin typeface="Cambria Math" panose="02040503050406030204" pitchFamily="18" charset="0"/>
                                  <a:ea typeface="Cambria Math"/>
                                </a:rPr>
                              </m:ctrlPr>
                            </m:fPr>
                            <m:num>
                              <m:sSub>
                                <m:sSubPr>
                                  <m:ctrlPr>
                                    <a:rPr lang="sv-SE" i="1">
                                      <a:solidFill>
                                        <a:srgbClr val="000000"/>
                                      </a:solidFill>
                                      <a:latin typeface="Cambria Math" panose="02040503050406030204" pitchFamily="18" charset="0"/>
                                      <a:ea typeface="Cambria Math"/>
                                    </a:rPr>
                                  </m:ctrlPr>
                                </m:sSubPr>
                                <m:e>
                                  <m:r>
                                    <a:rPr lang="sv-SE" i="1">
                                      <a:solidFill>
                                        <a:srgbClr val="000000"/>
                                      </a:solidFill>
                                      <a:latin typeface="Cambria Math"/>
                                      <a:ea typeface="Cambria Math"/>
                                    </a:rPr>
                                    <m:t>𝑞</m:t>
                                  </m:r>
                                </m:e>
                                <m:sub>
                                  <m:r>
                                    <a:rPr lang="sv-SE" i="1">
                                      <a:solidFill>
                                        <a:srgbClr val="000000"/>
                                      </a:solidFill>
                                      <a:latin typeface="Cambria Math"/>
                                      <a:ea typeface="Cambria Math"/>
                                    </a:rPr>
                                    <m:t>1</m:t>
                                  </m:r>
                                </m:sub>
                              </m:sSub>
                              <m:d>
                                <m:dPr>
                                  <m:ctrlPr>
                                    <a:rPr lang="sv-SE" i="1">
                                      <a:solidFill>
                                        <a:srgbClr val="000000"/>
                                      </a:solidFill>
                                      <a:latin typeface="Cambria Math" panose="02040503050406030204" pitchFamily="18" charset="0"/>
                                      <a:ea typeface="Cambria Math"/>
                                    </a:rPr>
                                  </m:ctrlPr>
                                </m:dPr>
                                <m:e>
                                  <m:r>
                                    <a:rPr lang="sv-SE" i="1">
                                      <a:solidFill>
                                        <a:srgbClr val="000000"/>
                                      </a:solidFill>
                                      <a:latin typeface="Cambria Math"/>
                                      <a:ea typeface="Cambria Math"/>
                                    </a:rPr>
                                    <m:t>1−</m:t>
                                  </m:r>
                                  <m:sSub>
                                    <m:sSubPr>
                                      <m:ctrlPr>
                                        <a:rPr lang="sv-SE" i="1">
                                          <a:solidFill>
                                            <a:srgbClr val="000000"/>
                                          </a:solidFill>
                                          <a:latin typeface="Cambria Math" panose="02040503050406030204" pitchFamily="18" charset="0"/>
                                          <a:ea typeface="Cambria Math"/>
                                        </a:rPr>
                                      </m:ctrlPr>
                                    </m:sSubPr>
                                    <m:e>
                                      <m:r>
                                        <a:rPr lang="sv-SE" i="1">
                                          <a:solidFill>
                                            <a:srgbClr val="000000"/>
                                          </a:solidFill>
                                          <a:latin typeface="Cambria Math"/>
                                          <a:ea typeface="Cambria Math"/>
                                        </a:rPr>
                                        <m:t>𝑞</m:t>
                                      </m:r>
                                    </m:e>
                                    <m:sub>
                                      <m:r>
                                        <a:rPr lang="sv-SE" i="1">
                                          <a:solidFill>
                                            <a:srgbClr val="000000"/>
                                          </a:solidFill>
                                          <a:latin typeface="Cambria Math"/>
                                          <a:ea typeface="Cambria Math"/>
                                        </a:rPr>
                                        <m:t>1</m:t>
                                      </m:r>
                                    </m:sub>
                                  </m:sSub>
                                </m:e>
                              </m:d>
                            </m:num>
                            <m:den>
                              <m:sSub>
                                <m:sSubPr>
                                  <m:ctrlPr>
                                    <a:rPr lang="sv-SE" i="1">
                                      <a:solidFill>
                                        <a:srgbClr val="000000"/>
                                      </a:solidFill>
                                      <a:latin typeface="Cambria Math" panose="02040503050406030204" pitchFamily="18" charset="0"/>
                                      <a:ea typeface="Cambria Math"/>
                                    </a:rPr>
                                  </m:ctrlPr>
                                </m:sSubPr>
                                <m:e>
                                  <m:r>
                                    <a:rPr lang="sv-SE" i="1">
                                      <a:solidFill>
                                        <a:srgbClr val="000000"/>
                                      </a:solidFill>
                                      <a:latin typeface="Cambria Math"/>
                                      <a:ea typeface="Cambria Math"/>
                                    </a:rPr>
                                    <m:t>𝑛</m:t>
                                  </m:r>
                                </m:e>
                                <m:sub>
                                  <m:r>
                                    <a:rPr lang="sv-SE" i="1">
                                      <a:solidFill>
                                        <a:srgbClr val="000000"/>
                                      </a:solidFill>
                                      <a:latin typeface="Cambria Math"/>
                                      <a:ea typeface="Cambria Math"/>
                                    </a:rPr>
                                    <m:t>1</m:t>
                                  </m:r>
                                </m:sub>
                              </m:sSub>
                            </m:den>
                          </m:f>
                          <m:r>
                            <a:rPr lang="sv-SE" i="1">
                              <a:solidFill>
                                <a:srgbClr val="000000"/>
                              </a:solidFill>
                              <a:latin typeface="Cambria Math"/>
                              <a:ea typeface="Cambria Math"/>
                            </a:rPr>
                            <m:t>+</m:t>
                          </m:r>
                          <m:f>
                            <m:fPr>
                              <m:ctrlPr>
                                <a:rPr lang="sv-SE" i="1">
                                  <a:solidFill>
                                    <a:srgbClr val="000000"/>
                                  </a:solidFill>
                                  <a:latin typeface="Cambria Math" panose="02040503050406030204" pitchFamily="18" charset="0"/>
                                  <a:ea typeface="Cambria Math"/>
                                </a:rPr>
                              </m:ctrlPr>
                            </m:fPr>
                            <m:num>
                              <m:sSub>
                                <m:sSubPr>
                                  <m:ctrlPr>
                                    <a:rPr lang="sv-SE" i="1">
                                      <a:solidFill>
                                        <a:srgbClr val="000000"/>
                                      </a:solidFill>
                                      <a:latin typeface="Cambria Math" panose="02040503050406030204" pitchFamily="18" charset="0"/>
                                      <a:ea typeface="Cambria Math"/>
                                    </a:rPr>
                                  </m:ctrlPr>
                                </m:sSubPr>
                                <m:e>
                                  <m:r>
                                    <a:rPr lang="sv-SE" i="1">
                                      <a:solidFill>
                                        <a:srgbClr val="000000"/>
                                      </a:solidFill>
                                      <a:latin typeface="Cambria Math"/>
                                      <a:ea typeface="Cambria Math"/>
                                    </a:rPr>
                                    <m:t>𝑞</m:t>
                                  </m:r>
                                </m:e>
                                <m:sub>
                                  <m:r>
                                    <a:rPr lang="sv-SE" i="1">
                                      <a:solidFill>
                                        <a:srgbClr val="000000"/>
                                      </a:solidFill>
                                      <a:latin typeface="Cambria Math"/>
                                      <a:ea typeface="Cambria Math"/>
                                    </a:rPr>
                                    <m:t>2</m:t>
                                  </m:r>
                                </m:sub>
                              </m:sSub>
                              <m:d>
                                <m:dPr>
                                  <m:ctrlPr>
                                    <a:rPr lang="sv-SE" i="1">
                                      <a:solidFill>
                                        <a:srgbClr val="000000"/>
                                      </a:solidFill>
                                      <a:latin typeface="Cambria Math" panose="02040503050406030204" pitchFamily="18" charset="0"/>
                                      <a:ea typeface="Cambria Math"/>
                                    </a:rPr>
                                  </m:ctrlPr>
                                </m:dPr>
                                <m:e>
                                  <m:r>
                                    <a:rPr lang="sv-SE" i="1">
                                      <a:solidFill>
                                        <a:srgbClr val="000000"/>
                                      </a:solidFill>
                                      <a:latin typeface="Cambria Math"/>
                                      <a:ea typeface="Cambria Math"/>
                                    </a:rPr>
                                    <m:t>1−</m:t>
                                  </m:r>
                                  <m:sSub>
                                    <m:sSubPr>
                                      <m:ctrlPr>
                                        <a:rPr lang="sv-SE" i="1">
                                          <a:solidFill>
                                            <a:srgbClr val="000000"/>
                                          </a:solidFill>
                                          <a:latin typeface="Cambria Math" panose="02040503050406030204" pitchFamily="18" charset="0"/>
                                          <a:ea typeface="Cambria Math"/>
                                        </a:rPr>
                                      </m:ctrlPr>
                                    </m:sSubPr>
                                    <m:e>
                                      <m:r>
                                        <a:rPr lang="sv-SE" i="1">
                                          <a:solidFill>
                                            <a:srgbClr val="000000"/>
                                          </a:solidFill>
                                          <a:latin typeface="Cambria Math"/>
                                          <a:ea typeface="Cambria Math"/>
                                        </a:rPr>
                                        <m:t>𝑞</m:t>
                                      </m:r>
                                    </m:e>
                                    <m:sub>
                                      <m:r>
                                        <a:rPr lang="sv-SE" i="1">
                                          <a:solidFill>
                                            <a:srgbClr val="000000"/>
                                          </a:solidFill>
                                          <a:latin typeface="Cambria Math"/>
                                          <a:ea typeface="Cambria Math"/>
                                        </a:rPr>
                                        <m:t>2</m:t>
                                      </m:r>
                                    </m:sub>
                                  </m:sSub>
                                </m:e>
                              </m:d>
                            </m:num>
                            <m:den>
                              <m:sSub>
                                <m:sSubPr>
                                  <m:ctrlPr>
                                    <a:rPr lang="sv-SE" i="1">
                                      <a:solidFill>
                                        <a:srgbClr val="000000"/>
                                      </a:solidFill>
                                      <a:latin typeface="Cambria Math" panose="02040503050406030204" pitchFamily="18" charset="0"/>
                                      <a:ea typeface="Cambria Math"/>
                                    </a:rPr>
                                  </m:ctrlPr>
                                </m:sSubPr>
                                <m:e>
                                  <m:r>
                                    <a:rPr lang="sv-SE" i="1">
                                      <a:solidFill>
                                        <a:srgbClr val="000000"/>
                                      </a:solidFill>
                                      <a:latin typeface="Cambria Math"/>
                                      <a:ea typeface="Cambria Math"/>
                                    </a:rPr>
                                    <m:t>𝑛</m:t>
                                  </m:r>
                                </m:e>
                                <m:sub>
                                  <m:r>
                                    <a:rPr lang="sv-SE" i="1">
                                      <a:solidFill>
                                        <a:srgbClr val="000000"/>
                                      </a:solidFill>
                                      <a:latin typeface="Cambria Math"/>
                                      <a:ea typeface="Cambria Math"/>
                                    </a:rPr>
                                    <m:t>2</m:t>
                                  </m:r>
                                </m:sub>
                              </m:sSub>
                            </m:den>
                          </m:f>
                        </m:e>
                      </m:rad>
                    </m:oMath>
                  </m:oMathPara>
                </a14:m>
                <a:endParaRPr lang="sv-SE" i="1" dirty="0">
                  <a:solidFill>
                    <a:srgbClr val="000000"/>
                  </a:solidFill>
                  <a:latin typeface="Cambria Math"/>
                  <a:ea typeface="Cambria Math"/>
                </a:endParaRPr>
              </a:p>
              <a:p>
                <a:pPr>
                  <a:lnSpc>
                    <a:spcPct val="150000"/>
                  </a:lnSpc>
                  <a:spcAft>
                    <a:spcPts val="622"/>
                  </a:spcAft>
                </a:pPr>
                <a:r>
                  <a:rPr lang="en-US" dirty="0">
                    <a:solidFill>
                      <a:srgbClr val="000000"/>
                    </a:solidFill>
                  </a:rPr>
                  <a:t>where  </a:t>
                </a:r>
                <a:r>
                  <a:rPr lang="en-US" i="1" dirty="0">
                    <a:solidFill>
                      <a:srgbClr val="000000"/>
                    </a:solidFill>
                    <a:latin typeface="Cambria" pitchFamily="18" charset="0"/>
                  </a:rPr>
                  <a:t>q</a:t>
                </a:r>
                <a:r>
                  <a:rPr lang="en-US" baseline="-25000" dirty="0">
                    <a:solidFill>
                      <a:srgbClr val="000000"/>
                    </a:solidFill>
                  </a:rPr>
                  <a:t>1</a:t>
                </a:r>
                <a:r>
                  <a:rPr lang="en-US" dirty="0">
                    <a:solidFill>
                      <a:srgbClr val="000000"/>
                    </a:solidFill>
                  </a:rPr>
                  <a:t>  and </a:t>
                </a:r>
                <a:r>
                  <a:rPr lang="en-US" i="1" dirty="0">
                    <a:solidFill>
                      <a:srgbClr val="000000"/>
                    </a:solidFill>
                    <a:latin typeface="Cambria" pitchFamily="18" charset="0"/>
                  </a:rPr>
                  <a:t>q</a:t>
                </a:r>
                <a:r>
                  <a:rPr lang="en-US" baseline="-25000" dirty="0">
                    <a:solidFill>
                      <a:srgbClr val="000000"/>
                    </a:solidFill>
                  </a:rPr>
                  <a:t>2</a:t>
                </a:r>
                <a:r>
                  <a:rPr lang="en-US" dirty="0">
                    <a:solidFill>
                      <a:srgbClr val="000000"/>
                    </a:solidFill>
                  </a:rPr>
                  <a:t> are the proportions of disease free survivors (DFS), </a:t>
                </a:r>
                <a:r>
                  <a:rPr lang="en-US" i="1" dirty="0">
                    <a:solidFill>
                      <a:srgbClr val="000000"/>
                    </a:solidFill>
                    <a:latin typeface="Cambria" pitchFamily="18" charset="0"/>
                  </a:rPr>
                  <a:t>n</a:t>
                </a:r>
                <a:r>
                  <a:rPr lang="en-US" baseline="-25000" dirty="0">
                    <a:solidFill>
                      <a:srgbClr val="000000"/>
                    </a:solidFill>
                  </a:rPr>
                  <a:t>1</a:t>
                </a:r>
                <a:r>
                  <a:rPr lang="en-US" dirty="0">
                    <a:solidFill>
                      <a:srgbClr val="000000"/>
                    </a:solidFill>
                  </a:rPr>
                  <a:t> and </a:t>
                </a:r>
                <a:r>
                  <a:rPr lang="en-US" i="1" dirty="0">
                    <a:solidFill>
                      <a:srgbClr val="000000"/>
                    </a:solidFill>
                    <a:latin typeface="Cambria" pitchFamily="18" charset="0"/>
                  </a:rPr>
                  <a:t>n</a:t>
                </a:r>
                <a:r>
                  <a:rPr lang="en-US" baseline="-25000" dirty="0">
                    <a:solidFill>
                      <a:srgbClr val="000000"/>
                    </a:solidFill>
                  </a:rPr>
                  <a:t>2</a:t>
                </a:r>
                <a:r>
                  <a:rPr lang="en-US" dirty="0">
                    <a:solidFill>
                      <a:srgbClr val="000000"/>
                    </a:solidFill>
                  </a:rPr>
                  <a:t> the group sizes.</a:t>
                </a:r>
              </a:p>
              <a:p>
                <a:pPr>
                  <a:lnSpc>
                    <a:spcPct val="120000"/>
                  </a:lnSpc>
                  <a:spcAft>
                    <a:spcPts val="1243"/>
                  </a:spcAft>
                </a:pPr>
                <a:endParaRPr lang="en-US" b="1" i="1" dirty="0">
                  <a:solidFill>
                    <a:srgbClr val="000000"/>
                  </a:solidFill>
                </a:endParaRPr>
              </a:p>
              <a:p>
                <a:pPr>
                  <a:lnSpc>
                    <a:spcPct val="120000"/>
                  </a:lnSpc>
                  <a:spcAft>
                    <a:spcPts val="1243"/>
                  </a:spcAft>
                </a:pPr>
                <a:r>
                  <a:rPr lang="en-US" b="1" i="1" dirty="0">
                    <a:solidFill>
                      <a:srgbClr val="000000"/>
                    </a:solidFill>
                  </a:rPr>
                  <a:t>Relative risk </a:t>
                </a:r>
                <a:r>
                  <a:rPr lang="en-US" b="1" dirty="0">
                    <a:solidFill>
                      <a:srgbClr val="000000"/>
                    </a:solidFill>
                  </a:rPr>
                  <a:t>(or </a:t>
                </a:r>
                <a:r>
                  <a:rPr lang="en-US" b="1" i="1" dirty="0">
                    <a:solidFill>
                      <a:srgbClr val="000000"/>
                    </a:solidFill>
                  </a:rPr>
                  <a:t>risk ratio</a:t>
                </a:r>
                <a:r>
                  <a:rPr lang="en-US" b="1" dirty="0">
                    <a:solidFill>
                      <a:srgbClr val="000000"/>
                    </a:solidFill>
                  </a:rPr>
                  <a:t>) </a:t>
                </a:r>
                <a:r>
                  <a:rPr lang="en-US" dirty="0">
                    <a:solidFill>
                      <a:srgbClr val="000000"/>
                    </a:solidFill>
                  </a:rPr>
                  <a:t>is a ratio of the risk of an event (e.g. disease or relapse) occurring in two different groups. It answers the question:</a:t>
                </a:r>
              </a:p>
              <a:p>
                <a:pPr>
                  <a:lnSpc>
                    <a:spcPct val="120000"/>
                  </a:lnSpc>
                  <a:spcAft>
                    <a:spcPts val="829"/>
                  </a:spcAft>
                </a:pPr>
                <a:r>
                  <a:rPr lang="en-US" dirty="0">
                    <a:solidFill>
                      <a:srgbClr val="000000"/>
                    </a:solidFill>
                  </a:rPr>
                  <a:t>How much more </a:t>
                </a:r>
                <a:r>
                  <a:rPr lang="en-US" b="1" dirty="0">
                    <a:solidFill>
                      <a:srgbClr val="000000"/>
                    </a:solidFill>
                  </a:rPr>
                  <a:t>likely</a:t>
                </a:r>
                <a:r>
                  <a:rPr lang="en-US" dirty="0">
                    <a:solidFill>
                      <a:srgbClr val="000000"/>
                    </a:solidFill>
                  </a:rPr>
                  <a:t> are patients to (e.g.) relapse if they get the less successful treatment?</a:t>
                </a:r>
              </a:p>
              <a:p>
                <a:pPr>
                  <a:lnSpc>
                    <a:spcPct val="150000"/>
                  </a:lnSpc>
                  <a:spcAft>
                    <a:spcPts val="829"/>
                  </a:spcAft>
                </a:pPr>
                <a:r>
                  <a:rPr lang="en-US" dirty="0">
                    <a:solidFill>
                      <a:srgbClr val="000000"/>
                    </a:solidFill>
                  </a:rPr>
                  <a:t>Formula for: </a:t>
                </a:r>
                <a14:m>
                  <m:oMath xmlns:m="http://schemas.openxmlformats.org/officeDocument/2006/math">
                    <m:r>
                      <a:rPr lang="sv-SE">
                        <a:solidFill>
                          <a:srgbClr val="000000"/>
                        </a:solidFill>
                        <a:latin typeface="Cambria Math"/>
                      </a:rPr>
                      <m:t>  </m:t>
                    </m:r>
                    <m:r>
                      <a:rPr lang="sv-SE" b="1" i="1">
                        <a:solidFill>
                          <a:srgbClr val="000000"/>
                        </a:solidFill>
                        <a:latin typeface="Cambria Math"/>
                      </a:rPr>
                      <m:t>𝑹𝑹</m:t>
                    </m:r>
                    <m:r>
                      <a:rPr lang="sv-SE" b="1" i="1">
                        <a:solidFill>
                          <a:srgbClr val="000000"/>
                        </a:solidFill>
                        <a:latin typeface="Cambria Math"/>
                      </a:rPr>
                      <m:t>=</m:t>
                    </m:r>
                    <m:f>
                      <m:fPr>
                        <m:ctrlPr>
                          <a:rPr lang="sv-SE" b="1" i="1">
                            <a:solidFill>
                              <a:srgbClr val="000000"/>
                            </a:solidFill>
                            <a:latin typeface="Cambria Math" panose="02040503050406030204" pitchFamily="18" charset="0"/>
                          </a:rPr>
                        </m:ctrlPr>
                      </m:fPr>
                      <m:num>
                        <m:sSub>
                          <m:sSubPr>
                            <m:ctrlPr>
                              <a:rPr lang="sv-SE" b="1" i="1">
                                <a:solidFill>
                                  <a:srgbClr val="000000"/>
                                </a:solidFill>
                                <a:latin typeface="Cambria Math" panose="02040503050406030204" pitchFamily="18" charset="0"/>
                              </a:rPr>
                            </m:ctrlPr>
                          </m:sSubPr>
                          <m:e>
                            <m:r>
                              <a:rPr lang="sv-SE" b="1" i="1">
                                <a:solidFill>
                                  <a:srgbClr val="000000"/>
                                </a:solidFill>
                                <a:latin typeface="Cambria Math"/>
                              </a:rPr>
                              <m:t>𝒒</m:t>
                            </m:r>
                          </m:e>
                          <m:sub>
                            <m:r>
                              <a:rPr lang="sv-SE" b="1" i="1">
                                <a:solidFill>
                                  <a:srgbClr val="000000"/>
                                </a:solidFill>
                                <a:latin typeface="Cambria Math"/>
                              </a:rPr>
                              <m:t>𝟐</m:t>
                            </m:r>
                          </m:sub>
                        </m:sSub>
                      </m:num>
                      <m:den>
                        <m:sSub>
                          <m:sSubPr>
                            <m:ctrlPr>
                              <a:rPr lang="sv-SE" b="1" i="1">
                                <a:solidFill>
                                  <a:srgbClr val="000000"/>
                                </a:solidFill>
                                <a:latin typeface="Cambria Math" panose="02040503050406030204" pitchFamily="18" charset="0"/>
                              </a:rPr>
                            </m:ctrlPr>
                          </m:sSubPr>
                          <m:e>
                            <m:r>
                              <a:rPr lang="sv-SE" b="1" i="1">
                                <a:solidFill>
                                  <a:srgbClr val="000000"/>
                                </a:solidFill>
                                <a:latin typeface="Cambria Math"/>
                              </a:rPr>
                              <m:t>𝒒</m:t>
                            </m:r>
                          </m:e>
                          <m:sub>
                            <m:r>
                              <a:rPr lang="sv-SE" b="1" i="1">
                                <a:solidFill>
                                  <a:srgbClr val="000000"/>
                                </a:solidFill>
                                <a:latin typeface="Cambria Math"/>
                              </a:rPr>
                              <m:t>𝟏</m:t>
                            </m:r>
                          </m:sub>
                        </m:sSub>
                      </m:den>
                    </m:f>
                  </m:oMath>
                </a14:m>
                <a:endParaRPr lang="sv-SE" b="1" i="1" dirty="0">
                  <a:solidFill>
                    <a:srgbClr val="000000"/>
                  </a:solidFill>
                  <a:latin typeface="Cambria Math"/>
                  <a:ea typeface="Cambria Math"/>
                </a:endParaRPr>
              </a:p>
              <a:p>
                <a:pPr>
                  <a:lnSpc>
                    <a:spcPct val="150000"/>
                  </a:lnSpc>
                  <a:spcAft>
                    <a:spcPts val="829"/>
                  </a:spcAft>
                </a:pPr>
                <a:r>
                  <a:rPr lang="en-US" dirty="0">
                    <a:solidFill>
                      <a:srgbClr val="000000"/>
                    </a:solidFill>
                  </a:rPr>
                  <a:t>where  </a:t>
                </a:r>
                <a:r>
                  <a:rPr lang="en-US" i="1" dirty="0" err="1">
                    <a:solidFill>
                      <a:srgbClr val="000000"/>
                    </a:solidFill>
                    <a:latin typeface="Cambria" pitchFamily="18" charset="0"/>
                  </a:rPr>
                  <a:t>q</a:t>
                </a:r>
                <a:r>
                  <a:rPr lang="en-US" baseline="-25000" dirty="0" err="1">
                    <a:solidFill>
                      <a:srgbClr val="000000"/>
                    </a:solidFill>
                  </a:rPr>
                  <a:t>1</a:t>
                </a:r>
                <a:r>
                  <a:rPr lang="en-US" dirty="0">
                    <a:solidFill>
                      <a:srgbClr val="000000"/>
                    </a:solidFill>
                  </a:rPr>
                  <a:t>  and </a:t>
                </a:r>
                <a:r>
                  <a:rPr lang="en-US" i="1" dirty="0" err="1">
                    <a:solidFill>
                      <a:srgbClr val="000000"/>
                    </a:solidFill>
                    <a:latin typeface="Cambria" pitchFamily="18" charset="0"/>
                  </a:rPr>
                  <a:t>q</a:t>
                </a:r>
                <a:r>
                  <a:rPr lang="en-US" baseline="-25000" dirty="0" err="1">
                    <a:solidFill>
                      <a:srgbClr val="000000"/>
                    </a:solidFill>
                  </a:rPr>
                  <a:t>2</a:t>
                </a:r>
                <a:r>
                  <a:rPr lang="en-US" dirty="0">
                    <a:solidFill>
                      <a:srgbClr val="000000"/>
                    </a:solidFill>
                  </a:rPr>
                  <a:t> is the proportions of relapses in group 1 and 2, respectively. </a:t>
                </a:r>
              </a:p>
              <a:p>
                <a:endParaRPr lang="en-US" dirty="0"/>
              </a:p>
              <a:p>
                <a:endParaRPr lang="sv-SE" dirty="0"/>
              </a:p>
            </p:txBody>
          </p:sp>
        </mc:Choice>
        <mc:Fallback xmlns="">
          <p:sp>
            <p:nvSpPr>
              <p:cNvPr id="3" name="Notes Placeholder 2"/>
              <p:cNvSpPr>
                <a:spLocks noGrp="1"/>
              </p:cNvSpPr>
              <p:nvPr>
                <p:ph type="body" idx="1"/>
              </p:nvPr>
            </p:nvSpPr>
            <p:spPr/>
            <p:txBody>
              <a:bodyPr>
                <a:normAutofit fontScale="92500" lnSpcReduction="20000"/>
              </a:bodyPr>
              <a:lstStyle/>
              <a:p>
                <a:pPr>
                  <a:lnSpc>
                    <a:spcPct val="150000"/>
                  </a:lnSpc>
                  <a:spcBef>
                    <a:spcPts val="622"/>
                  </a:spcBef>
                  <a:spcAft>
                    <a:spcPts val="622"/>
                  </a:spcAft>
                </a:pPr>
                <a:r>
                  <a:rPr lang="en-US" dirty="0">
                    <a:solidFill>
                      <a:srgbClr val="000000"/>
                    </a:solidFill>
                  </a:rPr>
                  <a:t>The </a:t>
                </a:r>
                <a:r>
                  <a:rPr lang="en-US" b="1" dirty="0">
                    <a:solidFill>
                      <a:srgbClr val="000000"/>
                    </a:solidFill>
                  </a:rPr>
                  <a:t>risk difference </a:t>
                </a:r>
                <a:r>
                  <a:rPr lang="en-US" dirty="0">
                    <a:solidFill>
                      <a:srgbClr val="000000"/>
                    </a:solidFill>
                  </a:rPr>
                  <a:t>(or absolute risk reduction) answers the question: </a:t>
                </a:r>
              </a:p>
              <a:p>
                <a:pPr>
                  <a:lnSpc>
                    <a:spcPct val="150000"/>
                  </a:lnSpc>
                  <a:spcBef>
                    <a:spcPts val="622"/>
                  </a:spcBef>
                  <a:spcAft>
                    <a:spcPts val="622"/>
                  </a:spcAft>
                </a:pPr>
                <a:r>
                  <a:rPr lang="en-US" dirty="0">
                    <a:solidFill>
                      <a:srgbClr val="000000"/>
                    </a:solidFill>
                  </a:rPr>
                  <a:t>How many fewer cases can be expected if we give this specific treatment to e.g. 100 patients?</a:t>
                </a:r>
              </a:p>
              <a:p>
                <a:pPr>
                  <a:lnSpc>
                    <a:spcPct val="150000"/>
                  </a:lnSpc>
                  <a:spcBef>
                    <a:spcPts val="622"/>
                  </a:spcBef>
                  <a:spcAft>
                    <a:spcPts val="622"/>
                  </a:spcAft>
                </a:pPr>
                <a:r>
                  <a:rPr lang="en-US" dirty="0">
                    <a:solidFill>
                      <a:srgbClr val="000000"/>
                    </a:solidFill>
                  </a:rPr>
                  <a:t>The formula for a 95% CI for the risk difference is:</a:t>
                </a:r>
              </a:p>
              <a:p>
                <a:pPr>
                  <a:spcBef>
                    <a:spcPts val="622"/>
                  </a:spcBef>
                  <a:spcAft>
                    <a:spcPts val="1243"/>
                  </a:spcAft>
                </a:pPr>
                <a:r>
                  <a:rPr lang="sv-SE" i="0">
                    <a:solidFill>
                      <a:srgbClr val="000000"/>
                    </a:solidFill>
                    <a:latin typeface="Cambria Math"/>
                  </a:rPr>
                  <a:t>𝐷</a:t>
                </a:r>
                <a:r>
                  <a:rPr lang="sv-SE" i="0">
                    <a:solidFill>
                      <a:srgbClr val="000000"/>
                    </a:solidFill>
                    <a:latin typeface="Cambria Math"/>
                    <a:ea typeface="Cambria Math"/>
                  </a:rPr>
                  <a:t>±𝑘</a:t>
                </a:r>
                <a:r>
                  <a:rPr lang="sv-SE" i="0">
                    <a:solidFill>
                      <a:srgbClr val="000000"/>
                    </a:solidFill>
                    <a:latin typeface="Cambria Math" panose="02040503050406030204" pitchFamily="18" charset="0"/>
                    <a:ea typeface="Cambria Math"/>
                  </a:rPr>
                  <a:t>√((</a:t>
                </a:r>
                <a:r>
                  <a:rPr lang="sv-SE" i="0">
                    <a:solidFill>
                      <a:srgbClr val="000000"/>
                    </a:solidFill>
                    <a:latin typeface="Cambria Math"/>
                    <a:ea typeface="Cambria Math"/>
                  </a:rPr>
                  <a:t>𝑞</a:t>
                </a:r>
                <a:r>
                  <a:rPr lang="sv-SE" i="0">
                    <a:solidFill>
                      <a:srgbClr val="000000"/>
                    </a:solidFill>
                    <a:latin typeface="Cambria Math" panose="02040503050406030204" pitchFamily="18" charset="0"/>
                    <a:ea typeface="Cambria Math"/>
                  </a:rPr>
                  <a:t>_</a:t>
                </a:r>
                <a:r>
                  <a:rPr lang="sv-SE" i="0">
                    <a:solidFill>
                      <a:srgbClr val="000000"/>
                    </a:solidFill>
                    <a:latin typeface="Cambria Math"/>
                    <a:ea typeface="Cambria Math"/>
                  </a:rPr>
                  <a:t>1</a:t>
                </a:r>
                <a:r>
                  <a:rPr lang="sv-SE" i="0">
                    <a:solidFill>
                      <a:srgbClr val="000000"/>
                    </a:solidFill>
                    <a:latin typeface="Cambria Math" panose="02040503050406030204" pitchFamily="18" charset="0"/>
                    <a:ea typeface="Cambria Math"/>
                  </a:rPr>
                  <a:t> (</a:t>
                </a:r>
                <a:r>
                  <a:rPr lang="sv-SE" i="0">
                    <a:solidFill>
                      <a:srgbClr val="000000"/>
                    </a:solidFill>
                    <a:latin typeface="Cambria Math"/>
                    <a:ea typeface="Cambria Math"/>
                  </a:rPr>
                  <a:t>1−𝑞</a:t>
                </a:r>
                <a:r>
                  <a:rPr lang="sv-SE" i="0">
                    <a:solidFill>
                      <a:srgbClr val="000000"/>
                    </a:solidFill>
                    <a:latin typeface="Cambria Math" panose="02040503050406030204" pitchFamily="18" charset="0"/>
                    <a:ea typeface="Cambria Math"/>
                  </a:rPr>
                  <a:t>_</a:t>
                </a:r>
                <a:r>
                  <a:rPr lang="sv-SE" i="0">
                    <a:solidFill>
                      <a:srgbClr val="000000"/>
                    </a:solidFill>
                    <a:latin typeface="Cambria Math"/>
                    <a:ea typeface="Cambria Math"/>
                  </a:rPr>
                  <a:t>1</a:t>
                </a:r>
                <a:r>
                  <a:rPr lang="sv-SE" i="0">
                    <a:solidFill>
                      <a:srgbClr val="000000"/>
                    </a:solidFill>
                    <a:latin typeface="Cambria Math" panose="02040503050406030204" pitchFamily="18" charset="0"/>
                    <a:ea typeface="Cambria Math"/>
                  </a:rPr>
                  <a:t> ))/</a:t>
                </a:r>
                <a:r>
                  <a:rPr lang="sv-SE" i="0">
                    <a:solidFill>
                      <a:srgbClr val="000000"/>
                    </a:solidFill>
                    <a:latin typeface="Cambria Math"/>
                    <a:ea typeface="Cambria Math"/>
                  </a:rPr>
                  <a:t>𝑛</a:t>
                </a:r>
                <a:r>
                  <a:rPr lang="sv-SE" i="0">
                    <a:solidFill>
                      <a:srgbClr val="000000"/>
                    </a:solidFill>
                    <a:latin typeface="Cambria Math" panose="02040503050406030204" pitchFamily="18" charset="0"/>
                    <a:ea typeface="Cambria Math"/>
                  </a:rPr>
                  <a:t>_</a:t>
                </a:r>
                <a:r>
                  <a:rPr lang="sv-SE" i="0">
                    <a:solidFill>
                      <a:srgbClr val="000000"/>
                    </a:solidFill>
                    <a:latin typeface="Cambria Math"/>
                    <a:ea typeface="Cambria Math"/>
                  </a:rPr>
                  <a:t>1</a:t>
                </a:r>
                <a:r>
                  <a:rPr lang="sv-SE" i="0">
                    <a:solidFill>
                      <a:srgbClr val="000000"/>
                    </a:solidFill>
                    <a:latin typeface="Cambria Math" panose="02040503050406030204" pitchFamily="18" charset="0"/>
                    <a:ea typeface="Cambria Math"/>
                  </a:rPr>
                  <a:t> </a:t>
                </a:r>
                <a:r>
                  <a:rPr lang="sv-SE" i="0">
                    <a:solidFill>
                      <a:srgbClr val="000000"/>
                    </a:solidFill>
                    <a:latin typeface="Cambria Math"/>
                    <a:ea typeface="Cambria Math"/>
                  </a:rPr>
                  <a:t>+</a:t>
                </a:r>
                <a:r>
                  <a:rPr lang="sv-SE" i="0">
                    <a:solidFill>
                      <a:srgbClr val="000000"/>
                    </a:solidFill>
                    <a:latin typeface="Cambria Math" panose="02040503050406030204" pitchFamily="18" charset="0"/>
                    <a:ea typeface="Cambria Math"/>
                  </a:rPr>
                  <a:t>(</a:t>
                </a:r>
                <a:r>
                  <a:rPr lang="sv-SE" i="0">
                    <a:solidFill>
                      <a:srgbClr val="000000"/>
                    </a:solidFill>
                    <a:latin typeface="Cambria Math"/>
                    <a:ea typeface="Cambria Math"/>
                  </a:rPr>
                  <a:t>𝑞</a:t>
                </a:r>
                <a:r>
                  <a:rPr lang="sv-SE" i="0">
                    <a:solidFill>
                      <a:srgbClr val="000000"/>
                    </a:solidFill>
                    <a:latin typeface="Cambria Math" panose="02040503050406030204" pitchFamily="18" charset="0"/>
                    <a:ea typeface="Cambria Math"/>
                  </a:rPr>
                  <a:t>_</a:t>
                </a:r>
                <a:r>
                  <a:rPr lang="sv-SE" i="0">
                    <a:solidFill>
                      <a:srgbClr val="000000"/>
                    </a:solidFill>
                    <a:latin typeface="Cambria Math"/>
                    <a:ea typeface="Cambria Math"/>
                  </a:rPr>
                  <a:t>2</a:t>
                </a:r>
                <a:r>
                  <a:rPr lang="sv-SE" i="0">
                    <a:solidFill>
                      <a:srgbClr val="000000"/>
                    </a:solidFill>
                    <a:latin typeface="Cambria Math" panose="02040503050406030204" pitchFamily="18" charset="0"/>
                    <a:ea typeface="Cambria Math"/>
                  </a:rPr>
                  <a:t> (</a:t>
                </a:r>
                <a:r>
                  <a:rPr lang="sv-SE" i="0">
                    <a:solidFill>
                      <a:srgbClr val="000000"/>
                    </a:solidFill>
                    <a:latin typeface="Cambria Math"/>
                    <a:ea typeface="Cambria Math"/>
                  </a:rPr>
                  <a:t>1−𝑞</a:t>
                </a:r>
                <a:r>
                  <a:rPr lang="sv-SE" i="0">
                    <a:solidFill>
                      <a:srgbClr val="000000"/>
                    </a:solidFill>
                    <a:latin typeface="Cambria Math" panose="02040503050406030204" pitchFamily="18" charset="0"/>
                    <a:ea typeface="Cambria Math"/>
                  </a:rPr>
                  <a:t>_</a:t>
                </a:r>
                <a:r>
                  <a:rPr lang="sv-SE" i="0">
                    <a:solidFill>
                      <a:srgbClr val="000000"/>
                    </a:solidFill>
                    <a:latin typeface="Cambria Math"/>
                    <a:ea typeface="Cambria Math"/>
                  </a:rPr>
                  <a:t>2</a:t>
                </a:r>
                <a:r>
                  <a:rPr lang="sv-SE" i="0">
                    <a:solidFill>
                      <a:srgbClr val="000000"/>
                    </a:solidFill>
                    <a:latin typeface="Cambria Math" panose="02040503050406030204" pitchFamily="18" charset="0"/>
                    <a:ea typeface="Cambria Math"/>
                  </a:rPr>
                  <a:t> ))/</a:t>
                </a:r>
                <a:r>
                  <a:rPr lang="sv-SE" i="0">
                    <a:solidFill>
                      <a:srgbClr val="000000"/>
                    </a:solidFill>
                    <a:latin typeface="Cambria Math"/>
                    <a:ea typeface="Cambria Math"/>
                  </a:rPr>
                  <a:t>𝑛</a:t>
                </a:r>
                <a:r>
                  <a:rPr lang="sv-SE" i="0">
                    <a:solidFill>
                      <a:srgbClr val="000000"/>
                    </a:solidFill>
                    <a:latin typeface="Cambria Math" panose="02040503050406030204" pitchFamily="18" charset="0"/>
                    <a:ea typeface="Cambria Math"/>
                  </a:rPr>
                  <a:t>_</a:t>
                </a:r>
                <a:r>
                  <a:rPr lang="sv-SE" i="0">
                    <a:solidFill>
                      <a:srgbClr val="000000"/>
                    </a:solidFill>
                    <a:latin typeface="Cambria Math"/>
                    <a:ea typeface="Cambria Math"/>
                  </a:rPr>
                  <a:t>2</a:t>
                </a:r>
                <a:r>
                  <a:rPr lang="sv-SE" i="0">
                    <a:solidFill>
                      <a:srgbClr val="000000"/>
                    </a:solidFill>
                    <a:latin typeface="Cambria Math" panose="02040503050406030204" pitchFamily="18" charset="0"/>
                    <a:ea typeface="Cambria Math"/>
                  </a:rPr>
                  <a:t> )</a:t>
                </a:r>
                <a:endParaRPr lang="sv-SE" i="1" dirty="0">
                  <a:solidFill>
                    <a:srgbClr val="000000"/>
                  </a:solidFill>
                  <a:latin typeface="Cambria Math"/>
                  <a:ea typeface="Cambria Math"/>
                </a:endParaRPr>
              </a:p>
              <a:p>
                <a:pPr>
                  <a:lnSpc>
                    <a:spcPct val="150000"/>
                  </a:lnSpc>
                  <a:spcAft>
                    <a:spcPts val="622"/>
                  </a:spcAft>
                </a:pPr>
                <a:r>
                  <a:rPr lang="en-US" dirty="0">
                    <a:solidFill>
                      <a:srgbClr val="000000"/>
                    </a:solidFill>
                  </a:rPr>
                  <a:t>where  </a:t>
                </a:r>
                <a:r>
                  <a:rPr lang="en-US" i="1" dirty="0">
                    <a:solidFill>
                      <a:srgbClr val="000000"/>
                    </a:solidFill>
                    <a:latin typeface="Cambria" pitchFamily="18" charset="0"/>
                  </a:rPr>
                  <a:t>q</a:t>
                </a:r>
                <a:r>
                  <a:rPr lang="en-US" baseline="-25000" dirty="0">
                    <a:solidFill>
                      <a:srgbClr val="000000"/>
                    </a:solidFill>
                  </a:rPr>
                  <a:t>1</a:t>
                </a:r>
                <a:r>
                  <a:rPr lang="en-US" dirty="0">
                    <a:solidFill>
                      <a:srgbClr val="000000"/>
                    </a:solidFill>
                  </a:rPr>
                  <a:t>  and </a:t>
                </a:r>
                <a:r>
                  <a:rPr lang="en-US" i="1" dirty="0">
                    <a:solidFill>
                      <a:srgbClr val="000000"/>
                    </a:solidFill>
                    <a:latin typeface="Cambria" pitchFamily="18" charset="0"/>
                  </a:rPr>
                  <a:t>q</a:t>
                </a:r>
                <a:r>
                  <a:rPr lang="en-US" baseline="-25000" dirty="0">
                    <a:solidFill>
                      <a:srgbClr val="000000"/>
                    </a:solidFill>
                  </a:rPr>
                  <a:t>2</a:t>
                </a:r>
                <a:r>
                  <a:rPr lang="en-US" dirty="0">
                    <a:solidFill>
                      <a:srgbClr val="000000"/>
                    </a:solidFill>
                  </a:rPr>
                  <a:t> are the proportions of disease free survivors (DFS), </a:t>
                </a:r>
                <a:r>
                  <a:rPr lang="en-US" i="1" dirty="0">
                    <a:solidFill>
                      <a:srgbClr val="000000"/>
                    </a:solidFill>
                    <a:latin typeface="Cambria" pitchFamily="18" charset="0"/>
                  </a:rPr>
                  <a:t>n</a:t>
                </a:r>
                <a:r>
                  <a:rPr lang="en-US" baseline="-25000" dirty="0">
                    <a:solidFill>
                      <a:srgbClr val="000000"/>
                    </a:solidFill>
                  </a:rPr>
                  <a:t>1</a:t>
                </a:r>
                <a:r>
                  <a:rPr lang="en-US" dirty="0">
                    <a:solidFill>
                      <a:srgbClr val="000000"/>
                    </a:solidFill>
                  </a:rPr>
                  <a:t> and </a:t>
                </a:r>
                <a:r>
                  <a:rPr lang="en-US" i="1" dirty="0">
                    <a:solidFill>
                      <a:srgbClr val="000000"/>
                    </a:solidFill>
                    <a:latin typeface="Cambria" pitchFamily="18" charset="0"/>
                  </a:rPr>
                  <a:t>n</a:t>
                </a:r>
                <a:r>
                  <a:rPr lang="en-US" baseline="-25000" dirty="0">
                    <a:solidFill>
                      <a:srgbClr val="000000"/>
                    </a:solidFill>
                  </a:rPr>
                  <a:t>2</a:t>
                </a:r>
                <a:r>
                  <a:rPr lang="en-US" dirty="0">
                    <a:solidFill>
                      <a:srgbClr val="000000"/>
                    </a:solidFill>
                  </a:rPr>
                  <a:t> the group sizes.</a:t>
                </a:r>
              </a:p>
              <a:p>
                <a:pPr>
                  <a:lnSpc>
                    <a:spcPct val="120000"/>
                  </a:lnSpc>
                  <a:spcAft>
                    <a:spcPts val="1243"/>
                  </a:spcAft>
                </a:pPr>
                <a:endParaRPr lang="en-US" b="1" i="1" dirty="0">
                  <a:solidFill>
                    <a:srgbClr val="000000"/>
                  </a:solidFill>
                </a:endParaRPr>
              </a:p>
              <a:p>
                <a:pPr>
                  <a:lnSpc>
                    <a:spcPct val="120000"/>
                  </a:lnSpc>
                  <a:spcAft>
                    <a:spcPts val="1243"/>
                  </a:spcAft>
                </a:pPr>
                <a:r>
                  <a:rPr lang="en-US" b="1" i="1" dirty="0">
                    <a:solidFill>
                      <a:srgbClr val="000000"/>
                    </a:solidFill>
                  </a:rPr>
                  <a:t>Relative risk </a:t>
                </a:r>
                <a:r>
                  <a:rPr lang="en-US" b="1" dirty="0">
                    <a:solidFill>
                      <a:srgbClr val="000000"/>
                    </a:solidFill>
                  </a:rPr>
                  <a:t>(or </a:t>
                </a:r>
                <a:r>
                  <a:rPr lang="en-US" b="1" i="1" dirty="0">
                    <a:solidFill>
                      <a:srgbClr val="000000"/>
                    </a:solidFill>
                  </a:rPr>
                  <a:t>risk ratio</a:t>
                </a:r>
                <a:r>
                  <a:rPr lang="en-US" b="1" dirty="0">
                    <a:solidFill>
                      <a:srgbClr val="000000"/>
                    </a:solidFill>
                  </a:rPr>
                  <a:t>) </a:t>
                </a:r>
                <a:r>
                  <a:rPr lang="en-US" dirty="0">
                    <a:solidFill>
                      <a:srgbClr val="000000"/>
                    </a:solidFill>
                  </a:rPr>
                  <a:t>is a ratio of the risk of an event (e.g. disease or relapse) occurring in two different groups. It answers the question:</a:t>
                </a:r>
              </a:p>
              <a:p>
                <a:pPr>
                  <a:lnSpc>
                    <a:spcPct val="120000"/>
                  </a:lnSpc>
                  <a:spcAft>
                    <a:spcPts val="829"/>
                  </a:spcAft>
                </a:pPr>
                <a:r>
                  <a:rPr lang="en-US" dirty="0">
                    <a:solidFill>
                      <a:srgbClr val="000000"/>
                    </a:solidFill>
                  </a:rPr>
                  <a:t>How much more </a:t>
                </a:r>
                <a:r>
                  <a:rPr lang="en-US" b="1" dirty="0">
                    <a:solidFill>
                      <a:srgbClr val="000000"/>
                    </a:solidFill>
                  </a:rPr>
                  <a:t>likely</a:t>
                </a:r>
                <a:r>
                  <a:rPr lang="en-US" dirty="0">
                    <a:solidFill>
                      <a:srgbClr val="000000"/>
                    </a:solidFill>
                  </a:rPr>
                  <a:t> are patients to (e.g.) relapse if they get the less successful treatment?</a:t>
                </a:r>
              </a:p>
              <a:p>
                <a:pPr>
                  <a:lnSpc>
                    <a:spcPct val="150000"/>
                  </a:lnSpc>
                  <a:spcAft>
                    <a:spcPts val="829"/>
                  </a:spcAft>
                </a:pPr>
                <a:r>
                  <a:rPr lang="en-US" dirty="0">
                    <a:solidFill>
                      <a:srgbClr val="000000"/>
                    </a:solidFill>
                  </a:rPr>
                  <a:t>Formula for: </a:t>
                </a:r>
                <a:r>
                  <a:rPr lang="sv-SE" i="0">
                    <a:solidFill>
                      <a:srgbClr val="000000"/>
                    </a:solidFill>
                    <a:latin typeface="Cambria Math"/>
                  </a:rPr>
                  <a:t>  </a:t>
                </a:r>
                <a:r>
                  <a:rPr lang="sv-SE" b="1" i="0">
                    <a:solidFill>
                      <a:srgbClr val="000000"/>
                    </a:solidFill>
                    <a:latin typeface="Cambria Math"/>
                  </a:rPr>
                  <a:t>𝑹𝑹=𝒒</a:t>
                </a:r>
                <a:r>
                  <a:rPr lang="sv-SE" b="1" i="0">
                    <a:solidFill>
                      <a:srgbClr val="000000"/>
                    </a:solidFill>
                    <a:latin typeface="Cambria Math" panose="02040503050406030204" pitchFamily="18" charset="0"/>
                  </a:rPr>
                  <a:t>_</a:t>
                </a:r>
                <a:r>
                  <a:rPr lang="sv-SE" b="1" i="0">
                    <a:solidFill>
                      <a:srgbClr val="000000"/>
                    </a:solidFill>
                    <a:latin typeface="Cambria Math"/>
                  </a:rPr>
                  <a:t>𝟐</a:t>
                </a:r>
                <a:r>
                  <a:rPr lang="sv-SE" b="1" i="0">
                    <a:solidFill>
                      <a:srgbClr val="000000"/>
                    </a:solidFill>
                    <a:latin typeface="Cambria Math" panose="02040503050406030204" pitchFamily="18" charset="0"/>
                  </a:rPr>
                  <a:t>/</a:t>
                </a:r>
                <a:r>
                  <a:rPr lang="sv-SE" b="1" i="0">
                    <a:solidFill>
                      <a:srgbClr val="000000"/>
                    </a:solidFill>
                    <a:latin typeface="Cambria Math"/>
                  </a:rPr>
                  <a:t>𝒒</a:t>
                </a:r>
                <a:r>
                  <a:rPr lang="sv-SE" b="1" i="0">
                    <a:solidFill>
                      <a:srgbClr val="000000"/>
                    </a:solidFill>
                    <a:latin typeface="Cambria Math" panose="02040503050406030204" pitchFamily="18" charset="0"/>
                  </a:rPr>
                  <a:t>_</a:t>
                </a:r>
                <a:r>
                  <a:rPr lang="sv-SE" b="1" i="0">
                    <a:solidFill>
                      <a:srgbClr val="000000"/>
                    </a:solidFill>
                    <a:latin typeface="Cambria Math"/>
                  </a:rPr>
                  <a:t>𝟏</a:t>
                </a:r>
                <a:r>
                  <a:rPr lang="sv-SE" b="1" i="0">
                    <a:solidFill>
                      <a:srgbClr val="000000"/>
                    </a:solidFill>
                    <a:latin typeface="Cambria Math" panose="02040503050406030204" pitchFamily="18" charset="0"/>
                  </a:rPr>
                  <a:t> </a:t>
                </a:r>
                <a:endParaRPr lang="sv-SE" b="1" i="1" dirty="0">
                  <a:solidFill>
                    <a:srgbClr val="000000"/>
                  </a:solidFill>
                  <a:latin typeface="Cambria Math"/>
                  <a:ea typeface="Cambria Math"/>
                </a:endParaRPr>
              </a:p>
              <a:p>
                <a:pPr>
                  <a:lnSpc>
                    <a:spcPct val="150000"/>
                  </a:lnSpc>
                  <a:spcAft>
                    <a:spcPts val="829"/>
                  </a:spcAft>
                </a:pPr>
                <a:r>
                  <a:rPr lang="en-US" dirty="0">
                    <a:solidFill>
                      <a:srgbClr val="000000"/>
                    </a:solidFill>
                  </a:rPr>
                  <a:t>where  </a:t>
                </a:r>
                <a:r>
                  <a:rPr lang="en-US" i="1" dirty="0" err="1">
                    <a:solidFill>
                      <a:srgbClr val="000000"/>
                    </a:solidFill>
                    <a:latin typeface="Cambria" pitchFamily="18" charset="0"/>
                  </a:rPr>
                  <a:t>q</a:t>
                </a:r>
                <a:r>
                  <a:rPr lang="en-US" baseline="-25000" dirty="0" err="1">
                    <a:solidFill>
                      <a:srgbClr val="000000"/>
                    </a:solidFill>
                  </a:rPr>
                  <a:t>1</a:t>
                </a:r>
                <a:r>
                  <a:rPr lang="en-US" dirty="0">
                    <a:solidFill>
                      <a:srgbClr val="000000"/>
                    </a:solidFill>
                  </a:rPr>
                  <a:t>  and </a:t>
                </a:r>
                <a:r>
                  <a:rPr lang="en-US" i="1" dirty="0" err="1">
                    <a:solidFill>
                      <a:srgbClr val="000000"/>
                    </a:solidFill>
                    <a:latin typeface="Cambria" pitchFamily="18" charset="0"/>
                  </a:rPr>
                  <a:t>q</a:t>
                </a:r>
                <a:r>
                  <a:rPr lang="en-US" baseline="-25000" dirty="0" err="1">
                    <a:solidFill>
                      <a:srgbClr val="000000"/>
                    </a:solidFill>
                  </a:rPr>
                  <a:t>2</a:t>
                </a:r>
                <a:r>
                  <a:rPr lang="en-US" dirty="0">
                    <a:solidFill>
                      <a:srgbClr val="000000"/>
                    </a:solidFill>
                  </a:rPr>
                  <a:t> is the proportions of relapses in group 1 and 2, respectively. </a:t>
                </a:r>
              </a:p>
              <a:p>
                <a:endParaRPr lang="en-US" dirty="0"/>
              </a:p>
              <a:p>
                <a:endParaRPr lang="sv-SE" dirty="0"/>
              </a:p>
            </p:txBody>
          </p:sp>
        </mc:Fallback>
      </mc:AlternateContent>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100</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02874996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228600" indent="-228600">
              <a:buFont typeface="+mj-lt"/>
              <a:buAutoNum type="arabicPeriod"/>
            </a:pPr>
            <a:endParaRPr lang="sv-SE" baseline="0" dirty="0"/>
          </a:p>
        </p:txBody>
      </p:sp>
      <p:sp>
        <p:nvSpPr>
          <p:cNvPr id="4" name="Platshållare för bildnummer 3"/>
          <p:cNvSpPr>
            <a:spLocks noGrp="1"/>
          </p:cNvSpPr>
          <p:nvPr>
            <p:ph type="sldNum" sz="quarter" idx="10"/>
          </p:nvPr>
        </p:nvSpPr>
        <p:spPr/>
        <p:txBody>
          <a:bodyPr/>
          <a:lstStyle/>
          <a:p>
            <a:fld id="{83711BFA-E4B7-4BC8-B19B-EB457AB273AA}" type="slidenum">
              <a:rPr lang="sv-SE" smtClean="0">
                <a:solidFill>
                  <a:prstClr val="black"/>
                </a:solidFill>
              </a:rPr>
              <a:pPr/>
              <a:t>101</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7553654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228600" indent="-228600">
              <a:buFont typeface="+mj-lt"/>
              <a:buAutoNum type="arabicPeriod"/>
            </a:pPr>
            <a:endParaRPr lang="sv-SE" baseline="0" dirty="0"/>
          </a:p>
        </p:txBody>
      </p:sp>
      <p:sp>
        <p:nvSpPr>
          <p:cNvPr id="4" name="Platshållare för bildnummer 3"/>
          <p:cNvSpPr>
            <a:spLocks noGrp="1"/>
          </p:cNvSpPr>
          <p:nvPr>
            <p:ph type="sldNum" sz="quarter" idx="10"/>
          </p:nvPr>
        </p:nvSpPr>
        <p:spPr/>
        <p:txBody>
          <a:bodyPr/>
          <a:lstStyle/>
          <a:p>
            <a:fld id="{83711BFA-E4B7-4BC8-B19B-EB457AB273AA}" type="slidenum">
              <a:rPr lang="sv-SE" smtClean="0">
                <a:solidFill>
                  <a:prstClr val="black"/>
                </a:solidFill>
              </a:rPr>
              <a:pPr/>
              <a:t>102</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54881651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83711BFA-E4B7-4BC8-B19B-EB457AB273AA}" type="slidenum">
              <a:rPr lang="sv-SE" smtClean="0">
                <a:solidFill>
                  <a:prstClr val="black"/>
                </a:solidFill>
              </a:rPr>
              <a:pPr/>
              <a:t>103</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63574086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baseline="0" dirty="0"/>
              <a:t>Patients </a:t>
            </a:r>
            <a:r>
              <a:rPr lang="sv-SE" baseline="0" dirty="0" err="1"/>
              <a:t>diagnosed</a:t>
            </a:r>
            <a:r>
              <a:rPr lang="sv-SE" baseline="0" dirty="0"/>
              <a:t> </a:t>
            </a:r>
            <a:r>
              <a:rPr lang="sv-SE" baseline="0" dirty="0" err="1"/>
              <a:t>with</a:t>
            </a:r>
            <a:r>
              <a:rPr lang="sv-SE" baseline="0" dirty="0"/>
              <a:t> UTI </a:t>
            </a:r>
            <a:r>
              <a:rPr lang="sv-SE" baseline="0" dirty="0" err="1"/>
              <a:t>are</a:t>
            </a:r>
            <a:r>
              <a:rPr lang="sv-SE" baseline="0" dirty="0"/>
              <a:t> </a:t>
            </a:r>
            <a:r>
              <a:rPr lang="sv-SE" baseline="0" dirty="0" err="1"/>
              <a:t>divided</a:t>
            </a:r>
            <a:r>
              <a:rPr lang="sv-SE" baseline="0" dirty="0"/>
              <a:t> in </a:t>
            </a:r>
            <a:r>
              <a:rPr lang="sv-SE" baseline="0" dirty="0" err="1"/>
              <a:t>two</a:t>
            </a:r>
            <a:r>
              <a:rPr lang="sv-SE" baseline="0" dirty="0"/>
              <a:t> </a:t>
            </a:r>
            <a:r>
              <a:rPr lang="sv-SE" baseline="0" dirty="0" err="1"/>
              <a:t>groups</a:t>
            </a:r>
            <a:endParaRPr lang="sv-SE" baseline="0" dirty="0"/>
          </a:p>
          <a:p>
            <a:pPr marL="228600" indent="-228600">
              <a:buFont typeface="+mj-lt"/>
              <a:buAutoNum type="arabicPeriod"/>
            </a:pPr>
            <a:r>
              <a:rPr lang="sv-SE" baseline="0" dirty="0"/>
              <a:t>	got </a:t>
            </a:r>
            <a:r>
              <a:rPr lang="sv-SE" baseline="0" dirty="0" err="1"/>
              <a:t>single</a:t>
            </a:r>
            <a:r>
              <a:rPr lang="sv-SE" baseline="0" dirty="0"/>
              <a:t> </a:t>
            </a:r>
            <a:r>
              <a:rPr lang="sv-SE" baseline="0" dirty="0" err="1"/>
              <a:t>dose</a:t>
            </a:r>
            <a:r>
              <a:rPr lang="sv-SE" baseline="0" dirty="0"/>
              <a:t> </a:t>
            </a:r>
            <a:r>
              <a:rPr lang="sv-SE" baseline="0" dirty="0" err="1"/>
              <a:t>of</a:t>
            </a:r>
            <a:r>
              <a:rPr lang="sv-SE" baseline="0" dirty="0"/>
              <a:t> antibiotic</a:t>
            </a:r>
          </a:p>
          <a:p>
            <a:pPr marL="228600" marR="0" lvl="0" indent="-228600" algn="l" defTabSz="457200" rtl="0" eaLnBrk="0" fontAlgn="base" latinLnBrk="0" hangingPunct="0">
              <a:lnSpc>
                <a:spcPct val="100000"/>
              </a:lnSpc>
              <a:spcBef>
                <a:spcPct val="30000"/>
              </a:spcBef>
              <a:spcAft>
                <a:spcPct val="0"/>
              </a:spcAft>
              <a:buClrTx/>
              <a:buSzTx/>
              <a:buFont typeface="+mj-lt"/>
              <a:buAutoNum type="arabicPeriod"/>
              <a:tabLst/>
              <a:defRPr/>
            </a:pPr>
            <a:r>
              <a:rPr lang="sv-SE" baseline="0" dirty="0"/>
              <a:t>	got </a:t>
            </a:r>
            <a:r>
              <a:rPr lang="sv-SE" baseline="0" dirty="0" err="1"/>
              <a:t>multiple</a:t>
            </a:r>
            <a:r>
              <a:rPr lang="sv-SE" baseline="0" dirty="0"/>
              <a:t> </a:t>
            </a:r>
            <a:r>
              <a:rPr lang="sv-SE" baseline="0" dirty="0" err="1"/>
              <a:t>doses</a:t>
            </a:r>
            <a:r>
              <a:rPr lang="sv-SE" baseline="0" dirty="0"/>
              <a:t> </a:t>
            </a:r>
            <a:r>
              <a:rPr lang="sv-SE" baseline="0" dirty="0" err="1"/>
              <a:t>of</a:t>
            </a:r>
            <a:r>
              <a:rPr lang="sv-SE" baseline="0" dirty="0"/>
              <a:t> antibiotic</a:t>
            </a:r>
          </a:p>
          <a:p>
            <a:pPr marL="228600" indent="-228600">
              <a:buFont typeface="+mj-lt"/>
              <a:buAutoNum type="arabicPeriod"/>
            </a:pPr>
            <a:endParaRPr lang="sv-SE" baseline="0" dirty="0"/>
          </a:p>
        </p:txBody>
      </p:sp>
      <p:sp>
        <p:nvSpPr>
          <p:cNvPr id="4" name="Platshållare för bildnummer 3"/>
          <p:cNvSpPr>
            <a:spLocks noGrp="1"/>
          </p:cNvSpPr>
          <p:nvPr>
            <p:ph type="sldNum" sz="quarter" idx="10"/>
          </p:nvPr>
        </p:nvSpPr>
        <p:spPr/>
        <p:txBody>
          <a:bodyPr/>
          <a:lstStyle/>
          <a:p>
            <a:fld id="{83711BFA-E4B7-4BC8-B19B-EB457AB273AA}" type="slidenum">
              <a:rPr lang="sv-SE" smtClean="0">
                <a:solidFill>
                  <a:prstClr val="black"/>
                </a:solidFill>
              </a:rPr>
              <a:pPr/>
              <a:t>104</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32193269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indent="0">
              <a:buFont typeface="+mj-lt"/>
              <a:buNone/>
            </a:pPr>
            <a:r>
              <a:rPr lang="en-US" sz="1200" dirty="0">
                <a:solidFill>
                  <a:srgbClr val="000000"/>
                </a:solidFill>
                <a:latin typeface="+mn-lt"/>
                <a:ea typeface="Verdana" panose="020B0604030504040204" pitchFamily="34" charset="0"/>
              </a:rPr>
              <a:t>A difference to be called or assumed  “</a:t>
            </a:r>
            <a:r>
              <a:rPr lang="en-US" sz="1200" b="1" dirty="0">
                <a:solidFill>
                  <a:srgbClr val="000000"/>
                </a:solidFill>
                <a:latin typeface="+mn-lt"/>
                <a:ea typeface="Verdana" panose="020B0604030504040204" pitchFamily="34" charset="0"/>
              </a:rPr>
              <a:t>Large enough” </a:t>
            </a:r>
            <a:r>
              <a:rPr lang="en-US" sz="1200" b="0" dirty="0">
                <a:solidFill>
                  <a:srgbClr val="000000"/>
                </a:solidFill>
                <a:latin typeface="+mn-lt"/>
                <a:ea typeface="Verdana" panose="020B0604030504040204" pitchFamily="34" charset="0"/>
              </a:rPr>
              <a:t>is different for different scenarios. E.g., number of levels of predictor and/or outcome variable. Sample size etc.</a:t>
            </a:r>
            <a:endParaRPr lang="sv-SE" b="0" baseline="0" dirty="0"/>
          </a:p>
        </p:txBody>
      </p:sp>
      <p:sp>
        <p:nvSpPr>
          <p:cNvPr id="4" name="Platshållare för bildnummer 3"/>
          <p:cNvSpPr>
            <a:spLocks noGrp="1"/>
          </p:cNvSpPr>
          <p:nvPr>
            <p:ph type="sldNum" sz="quarter" idx="10"/>
          </p:nvPr>
        </p:nvSpPr>
        <p:spPr/>
        <p:txBody>
          <a:bodyPr/>
          <a:lstStyle/>
          <a:p>
            <a:fld id="{83711BFA-E4B7-4BC8-B19B-EB457AB273AA}" type="slidenum">
              <a:rPr lang="sv-SE" smtClean="0">
                <a:solidFill>
                  <a:prstClr val="black"/>
                </a:solidFill>
              </a:rPr>
              <a:pPr/>
              <a:t>105</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15766004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baseline="0" dirty="0"/>
          </a:p>
        </p:txBody>
      </p:sp>
      <p:sp>
        <p:nvSpPr>
          <p:cNvPr id="4" name="Platshållare för bildnummer 3"/>
          <p:cNvSpPr>
            <a:spLocks noGrp="1"/>
          </p:cNvSpPr>
          <p:nvPr>
            <p:ph type="sldNum" sz="quarter" idx="10"/>
          </p:nvPr>
        </p:nvSpPr>
        <p:spPr/>
        <p:txBody>
          <a:bodyPr/>
          <a:lstStyle/>
          <a:p>
            <a:fld id="{83711BFA-E4B7-4BC8-B19B-EB457AB273AA}" type="slidenum">
              <a:rPr lang="sv-SE" smtClean="0">
                <a:solidFill>
                  <a:prstClr val="black"/>
                </a:solidFill>
              </a:rPr>
              <a:pPr/>
              <a:t>106</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03290052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baseline="0" dirty="0"/>
              <a:t>Patients </a:t>
            </a:r>
            <a:r>
              <a:rPr lang="sv-SE" baseline="0" dirty="0" err="1"/>
              <a:t>diagnosed</a:t>
            </a:r>
            <a:r>
              <a:rPr lang="sv-SE" baseline="0" dirty="0"/>
              <a:t> </a:t>
            </a:r>
            <a:r>
              <a:rPr lang="sv-SE" baseline="0" dirty="0" err="1"/>
              <a:t>with</a:t>
            </a:r>
            <a:r>
              <a:rPr lang="sv-SE" baseline="0" dirty="0"/>
              <a:t> UTI </a:t>
            </a:r>
            <a:r>
              <a:rPr lang="sv-SE" baseline="0" dirty="0" err="1"/>
              <a:t>are</a:t>
            </a:r>
            <a:r>
              <a:rPr lang="sv-SE" baseline="0" dirty="0"/>
              <a:t> </a:t>
            </a:r>
            <a:r>
              <a:rPr lang="sv-SE" baseline="0" dirty="0" err="1"/>
              <a:t>divided</a:t>
            </a:r>
            <a:r>
              <a:rPr lang="sv-SE" baseline="0" dirty="0"/>
              <a:t> in </a:t>
            </a:r>
            <a:r>
              <a:rPr lang="sv-SE" baseline="0" dirty="0" err="1"/>
              <a:t>two</a:t>
            </a:r>
            <a:r>
              <a:rPr lang="sv-SE" baseline="0" dirty="0"/>
              <a:t> </a:t>
            </a:r>
            <a:r>
              <a:rPr lang="sv-SE" baseline="0" dirty="0" err="1"/>
              <a:t>groups</a:t>
            </a:r>
            <a:endParaRPr lang="sv-SE" baseline="0" dirty="0"/>
          </a:p>
          <a:p>
            <a:pPr marL="228600" indent="-228600">
              <a:buFont typeface="+mj-lt"/>
              <a:buAutoNum type="arabicPeriod"/>
            </a:pPr>
            <a:r>
              <a:rPr lang="sv-SE" baseline="0" dirty="0"/>
              <a:t>	got </a:t>
            </a:r>
            <a:r>
              <a:rPr lang="sv-SE" baseline="0" dirty="0" err="1"/>
              <a:t>single</a:t>
            </a:r>
            <a:r>
              <a:rPr lang="sv-SE" baseline="0" dirty="0"/>
              <a:t> </a:t>
            </a:r>
            <a:r>
              <a:rPr lang="sv-SE" baseline="0" dirty="0" err="1"/>
              <a:t>dose</a:t>
            </a:r>
            <a:r>
              <a:rPr lang="sv-SE" baseline="0" dirty="0"/>
              <a:t> </a:t>
            </a:r>
            <a:r>
              <a:rPr lang="sv-SE" baseline="0" dirty="0" err="1"/>
              <a:t>of</a:t>
            </a:r>
            <a:r>
              <a:rPr lang="sv-SE" baseline="0" dirty="0"/>
              <a:t> antibiotic</a:t>
            </a:r>
          </a:p>
          <a:p>
            <a:pPr marL="228600" marR="0" lvl="0" indent="-228600" algn="l" defTabSz="457200" rtl="0" eaLnBrk="0" fontAlgn="base" latinLnBrk="0" hangingPunct="0">
              <a:lnSpc>
                <a:spcPct val="100000"/>
              </a:lnSpc>
              <a:spcBef>
                <a:spcPct val="30000"/>
              </a:spcBef>
              <a:spcAft>
                <a:spcPct val="0"/>
              </a:spcAft>
              <a:buClrTx/>
              <a:buSzTx/>
              <a:buFont typeface="+mj-lt"/>
              <a:buAutoNum type="arabicPeriod"/>
              <a:tabLst/>
              <a:defRPr/>
            </a:pPr>
            <a:r>
              <a:rPr lang="sv-SE" baseline="0" dirty="0"/>
              <a:t>	got </a:t>
            </a:r>
            <a:r>
              <a:rPr lang="sv-SE" baseline="0" dirty="0" err="1"/>
              <a:t>multiple</a:t>
            </a:r>
            <a:r>
              <a:rPr lang="sv-SE" baseline="0" dirty="0"/>
              <a:t> </a:t>
            </a:r>
            <a:r>
              <a:rPr lang="sv-SE" baseline="0" dirty="0" err="1"/>
              <a:t>doses</a:t>
            </a:r>
            <a:r>
              <a:rPr lang="sv-SE" baseline="0" dirty="0"/>
              <a:t> </a:t>
            </a:r>
            <a:r>
              <a:rPr lang="sv-SE" baseline="0" dirty="0" err="1"/>
              <a:t>of</a:t>
            </a:r>
            <a:r>
              <a:rPr lang="sv-SE" baseline="0" dirty="0"/>
              <a:t> antibiotic</a:t>
            </a:r>
          </a:p>
          <a:p>
            <a:pPr marL="228600" indent="-228600">
              <a:buFont typeface="+mj-lt"/>
              <a:buAutoNum type="arabicPeriod"/>
            </a:pPr>
            <a:endParaRPr lang="sv-SE" baseline="0" dirty="0"/>
          </a:p>
        </p:txBody>
      </p:sp>
      <p:sp>
        <p:nvSpPr>
          <p:cNvPr id="4" name="Platshållare för bildnummer 3"/>
          <p:cNvSpPr>
            <a:spLocks noGrp="1"/>
          </p:cNvSpPr>
          <p:nvPr>
            <p:ph type="sldNum" sz="quarter" idx="10"/>
          </p:nvPr>
        </p:nvSpPr>
        <p:spPr/>
        <p:txBody>
          <a:bodyPr/>
          <a:lstStyle/>
          <a:p>
            <a:fld id="{83711BFA-E4B7-4BC8-B19B-EB457AB273AA}" type="slidenum">
              <a:rPr lang="sv-SE" smtClean="0">
                <a:solidFill>
                  <a:prstClr val="black"/>
                </a:solidFill>
              </a:rPr>
              <a:pPr/>
              <a:t>107</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45056550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baseline="0" dirty="0"/>
              <a:t>Patients </a:t>
            </a:r>
            <a:r>
              <a:rPr lang="sv-SE" baseline="0" dirty="0" err="1"/>
              <a:t>diagnosed</a:t>
            </a:r>
            <a:r>
              <a:rPr lang="sv-SE" baseline="0" dirty="0"/>
              <a:t> </a:t>
            </a:r>
            <a:r>
              <a:rPr lang="sv-SE" baseline="0" dirty="0" err="1"/>
              <a:t>with</a:t>
            </a:r>
            <a:r>
              <a:rPr lang="sv-SE" baseline="0" dirty="0"/>
              <a:t> UTI </a:t>
            </a:r>
            <a:r>
              <a:rPr lang="sv-SE" baseline="0" dirty="0" err="1"/>
              <a:t>are</a:t>
            </a:r>
            <a:r>
              <a:rPr lang="sv-SE" baseline="0" dirty="0"/>
              <a:t> </a:t>
            </a:r>
            <a:r>
              <a:rPr lang="sv-SE" baseline="0" dirty="0" err="1"/>
              <a:t>divided</a:t>
            </a:r>
            <a:r>
              <a:rPr lang="sv-SE" baseline="0" dirty="0"/>
              <a:t> in </a:t>
            </a:r>
            <a:r>
              <a:rPr lang="sv-SE" baseline="0" dirty="0" err="1"/>
              <a:t>two</a:t>
            </a:r>
            <a:r>
              <a:rPr lang="sv-SE" baseline="0" dirty="0"/>
              <a:t> </a:t>
            </a:r>
            <a:r>
              <a:rPr lang="sv-SE" baseline="0" dirty="0" err="1"/>
              <a:t>groups</a:t>
            </a:r>
            <a:endParaRPr lang="sv-SE" baseline="0" dirty="0"/>
          </a:p>
          <a:p>
            <a:pPr marL="228600" indent="-228600">
              <a:buFont typeface="+mj-lt"/>
              <a:buAutoNum type="arabicPeriod"/>
            </a:pPr>
            <a:r>
              <a:rPr lang="sv-SE" baseline="0" dirty="0"/>
              <a:t>	got </a:t>
            </a:r>
            <a:r>
              <a:rPr lang="sv-SE" baseline="0" dirty="0" err="1"/>
              <a:t>single</a:t>
            </a:r>
            <a:r>
              <a:rPr lang="sv-SE" baseline="0" dirty="0"/>
              <a:t> </a:t>
            </a:r>
            <a:r>
              <a:rPr lang="sv-SE" baseline="0" dirty="0" err="1"/>
              <a:t>dose</a:t>
            </a:r>
            <a:r>
              <a:rPr lang="sv-SE" baseline="0" dirty="0"/>
              <a:t> </a:t>
            </a:r>
            <a:r>
              <a:rPr lang="sv-SE" baseline="0" dirty="0" err="1"/>
              <a:t>of</a:t>
            </a:r>
            <a:r>
              <a:rPr lang="sv-SE" baseline="0" dirty="0"/>
              <a:t> antibiotic</a:t>
            </a:r>
          </a:p>
          <a:p>
            <a:pPr marL="228600" marR="0" lvl="0" indent="-228600" algn="l" defTabSz="457200" rtl="0" eaLnBrk="0" fontAlgn="base" latinLnBrk="0" hangingPunct="0">
              <a:lnSpc>
                <a:spcPct val="100000"/>
              </a:lnSpc>
              <a:spcBef>
                <a:spcPct val="30000"/>
              </a:spcBef>
              <a:spcAft>
                <a:spcPct val="0"/>
              </a:spcAft>
              <a:buClrTx/>
              <a:buSzTx/>
              <a:buFont typeface="+mj-lt"/>
              <a:buAutoNum type="arabicPeriod"/>
              <a:tabLst/>
              <a:defRPr/>
            </a:pPr>
            <a:r>
              <a:rPr lang="sv-SE" baseline="0" dirty="0"/>
              <a:t>	got </a:t>
            </a:r>
            <a:r>
              <a:rPr lang="sv-SE" baseline="0" dirty="0" err="1"/>
              <a:t>multiple</a:t>
            </a:r>
            <a:r>
              <a:rPr lang="sv-SE" baseline="0" dirty="0"/>
              <a:t> </a:t>
            </a:r>
            <a:r>
              <a:rPr lang="sv-SE" baseline="0" dirty="0" err="1"/>
              <a:t>doses</a:t>
            </a:r>
            <a:r>
              <a:rPr lang="sv-SE" baseline="0" dirty="0"/>
              <a:t> </a:t>
            </a:r>
            <a:r>
              <a:rPr lang="sv-SE" baseline="0" dirty="0" err="1"/>
              <a:t>of</a:t>
            </a:r>
            <a:r>
              <a:rPr lang="sv-SE" baseline="0" dirty="0"/>
              <a:t> antibiotic</a:t>
            </a:r>
          </a:p>
          <a:p>
            <a:pPr marL="228600" indent="-228600">
              <a:buFont typeface="+mj-lt"/>
              <a:buAutoNum type="arabicPeriod"/>
            </a:pPr>
            <a:endParaRPr lang="sv-SE" baseline="0" dirty="0"/>
          </a:p>
        </p:txBody>
      </p:sp>
      <p:sp>
        <p:nvSpPr>
          <p:cNvPr id="4" name="Platshållare för bildnummer 3"/>
          <p:cNvSpPr>
            <a:spLocks noGrp="1"/>
          </p:cNvSpPr>
          <p:nvPr>
            <p:ph type="sldNum" sz="quarter" idx="10"/>
          </p:nvPr>
        </p:nvSpPr>
        <p:spPr/>
        <p:txBody>
          <a:bodyPr/>
          <a:lstStyle/>
          <a:p>
            <a:fld id="{83711BFA-E4B7-4BC8-B19B-EB457AB273AA}" type="slidenum">
              <a:rPr lang="sv-SE" smtClean="0">
                <a:solidFill>
                  <a:prstClr val="black"/>
                </a:solidFill>
              </a:rPr>
              <a:pPr/>
              <a:t>108</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94456808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Some</a:t>
            </a:r>
            <a:r>
              <a:rPr lang="sv-SE" dirty="0"/>
              <a:t> </a:t>
            </a:r>
            <a:r>
              <a:rPr lang="sv-SE" dirty="0" err="1"/>
              <a:t>sitautions</a:t>
            </a:r>
            <a:r>
              <a:rPr lang="sv-SE" baseline="0" dirty="0"/>
              <a:t> in </a:t>
            </a:r>
            <a:r>
              <a:rPr lang="sv-SE" baseline="0" dirty="0" err="1"/>
              <a:t>which</a:t>
            </a:r>
            <a:r>
              <a:rPr lang="sv-SE" baseline="0" dirty="0"/>
              <a:t> </a:t>
            </a:r>
            <a:r>
              <a:rPr lang="sv-SE" baseline="0" dirty="0" err="1"/>
              <a:t>Logistic</a:t>
            </a:r>
            <a:r>
              <a:rPr lang="sv-SE" baseline="0" dirty="0"/>
              <a:t> regression </a:t>
            </a:r>
            <a:r>
              <a:rPr lang="sv-SE" baseline="0" dirty="0" err="1"/>
              <a:t>analysis</a:t>
            </a:r>
            <a:r>
              <a:rPr lang="sv-SE" baseline="0" dirty="0"/>
              <a:t> is </a:t>
            </a:r>
            <a:r>
              <a:rPr lang="sv-SE" baseline="0" dirty="0" err="1"/>
              <a:t>needed</a:t>
            </a:r>
            <a:endParaRPr lang="sv-SE" baseline="0" dirty="0"/>
          </a:p>
          <a:p>
            <a:endParaRPr lang="sv-SE" baseline="0" dirty="0"/>
          </a:p>
          <a:p>
            <a:r>
              <a:rPr lang="sv-SE" b="1" baseline="0" dirty="0" err="1"/>
              <a:t>Sugegsted</a:t>
            </a:r>
            <a:r>
              <a:rPr lang="sv-SE" b="1" baseline="0" dirty="0"/>
              <a:t> </a:t>
            </a:r>
            <a:r>
              <a:rPr lang="sv-SE" b="1" baseline="0" dirty="0" err="1"/>
              <a:t>readings</a:t>
            </a:r>
            <a:r>
              <a:rPr lang="sv-SE" b="1" baseline="0" dirty="0"/>
              <a:t>.</a:t>
            </a:r>
          </a:p>
          <a:p>
            <a:endParaRPr lang="sv-SE" baseline="0" dirty="0"/>
          </a:p>
          <a:p>
            <a:pPr marL="355279" lvl="2" indent="-355279">
              <a:buFont typeface="+mj-lt"/>
              <a:buAutoNum type="arabicPeriod"/>
            </a:pPr>
            <a:r>
              <a:rPr lang="en-US" b="1" dirty="0">
                <a:latin typeface="Times New Roman" panose="02020603050405020304" pitchFamily="18" charset="0"/>
                <a:cs typeface="Times New Roman" panose="02020603050405020304" pitchFamily="18" charset="0"/>
              </a:rPr>
              <a:t>Simple – short</a:t>
            </a:r>
          </a:p>
          <a:p>
            <a:pPr marL="0" lvl="2"/>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Campbell. M.. Machin. D.. &amp; Walters. S. (2010). </a:t>
            </a:r>
            <a:r>
              <a:rPr lang="en-US" i="1" dirty="0">
                <a:latin typeface="Times New Roman" panose="02020603050405020304" pitchFamily="18" charset="0"/>
                <a:cs typeface="Times New Roman" panose="02020603050405020304" pitchFamily="18" charset="0"/>
              </a:rPr>
              <a:t>Section 9.6 Logistic 	Regression. </a:t>
            </a:r>
            <a:r>
              <a:rPr lang="en-US" dirty="0">
                <a:latin typeface="Times New Roman" panose="02020603050405020304" pitchFamily="18" charset="0"/>
                <a:cs typeface="Times New Roman" panose="02020603050405020304" pitchFamily="18" charset="0"/>
              </a:rPr>
              <a:t>Medical Statistics : A Textbook for the Health Sciences. New 	York: John Wiley &amp; Sons</a:t>
            </a:r>
          </a:p>
          <a:p>
            <a:pPr marL="0" lvl="2"/>
            <a:endParaRPr lang="en-US" dirty="0">
              <a:latin typeface="Times New Roman" panose="02020603050405020304" pitchFamily="18" charset="0"/>
              <a:cs typeface="Times New Roman" panose="02020603050405020304" pitchFamily="18" charset="0"/>
            </a:endParaRPr>
          </a:p>
          <a:p>
            <a:pPr marL="0" lvl="2"/>
            <a:r>
              <a:rPr lang="en-US" b="1" dirty="0">
                <a:latin typeface="Times New Roman" panose="02020603050405020304" pitchFamily="18" charset="0"/>
                <a:cs typeface="Times New Roman" panose="02020603050405020304" pitchFamily="18" charset="0"/>
              </a:rPr>
              <a:t>2.	A gentle &amp; detail introduction to Logistic regression with Stata</a:t>
            </a:r>
            <a:r>
              <a:rPr lang="en-US" dirty="0">
                <a:latin typeface="Times New Roman" panose="02020603050405020304" pitchFamily="18" charset="0"/>
                <a:cs typeface="Times New Roman" panose="02020603050405020304" pitchFamily="18" charset="0"/>
              </a:rPr>
              <a:t>	</a:t>
            </a:r>
          </a:p>
          <a:p>
            <a:pPr marL="0" lvl="2"/>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Vittinghoff</a:t>
            </a:r>
            <a:r>
              <a:rPr lang="en-US" dirty="0">
                <a:latin typeface="Times New Roman" panose="02020603050405020304" pitchFamily="18" charset="0"/>
                <a:cs typeface="Times New Roman" panose="02020603050405020304" pitchFamily="18" charset="0"/>
              </a:rPr>
              <a:t>. E.. Glidden. D.. </a:t>
            </a:r>
            <a:r>
              <a:rPr lang="en-US" dirty="0" err="1">
                <a:latin typeface="Times New Roman" panose="02020603050405020304" pitchFamily="18" charset="0"/>
                <a:cs typeface="Times New Roman" panose="02020603050405020304" pitchFamily="18" charset="0"/>
              </a:rPr>
              <a:t>Shiboski</a:t>
            </a:r>
            <a:r>
              <a:rPr lang="en-US" dirty="0">
                <a:latin typeface="Times New Roman" panose="02020603050405020304" pitchFamily="18" charset="0"/>
                <a:cs typeface="Times New Roman" panose="02020603050405020304" pitchFamily="18" charset="0"/>
              </a:rPr>
              <a:t>. S.. &amp; McCulloch. C. (2012). </a:t>
            </a:r>
            <a:r>
              <a:rPr lang="en-US" i="1" dirty="0">
                <a:latin typeface="Times New Roman" panose="02020603050405020304" pitchFamily="18" charset="0"/>
                <a:cs typeface="Times New Roman" panose="02020603050405020304" pitchFamily="18" charset="0"/>
              </a:rPr>
              <a:t>Chapter 	5. Logistic Regression. </a:t>
            </a:r>
            <a:r>
              <a:rPr lang="en-US" dirty="0">
                <a:latin typeface="Times New Roman" panose="02020603050405020304" pitchFamily="18" charset="0"/>
                <a:cs typeface="Times New Roman" panose="02020603050405020304" pitchFamily="18" charset="0"/>
              </a:rPr>
              <a:t>Regression Methods in Biostatistics (Statistics for 	Biology and Health). Boston. MA: Springer US.  </a:t>
            </a:r>
            <a:r>
              <a:rPr lang="en-US" dirty="0">
                <a:latin typeface="Times New Roman" panose="02020603050405020304" pitchFamily="18" charset="0"/>
                <a:cs typeface="Times New Roman" panose="02020603050405020304" pitchFamily="18" charset="0"/>
                <a:hlinkClick r:id="rId3"/>
              </a:rPr>
              <a:t>https://ebookcentral-proquest-com.ezproxy.ub.gu.se/lib/gu/detail.action?docID=973179</a:t>
            </a:r>
            <a:r>
              <a:rPr lang="en-US" dirty="0">
                <a:latin typeface="Times New Roman" panose="02020603050405020304" pitchFamily="18" charset="0"/>
                <a:cs typeface="Times New Roman" panose="02020603050405020304" pitchFamily="18" charset="0"/>
              </a:rPr>
              <a:t> </a:t>
            </a:r>
          </a:p>
          <a:p>
            <a:endParaRPr lang="sv-SE"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109</a:t>
            </a:fld>
            <a:endParaRPr lang="sv-SE" dirty="0">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61599744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110</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89927206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Platshållare för anteckningar 2"/>
              <p:cNvSpPr>
                <a:spLocks noGrp="1"/>
              </p:cNvSpPr>
              <p:nvPr>
                <p:ph type="body" idx="1"/>
              </p:nvPr>
            </p:nvSpPr>
            <p:spPr/>
            <p:txBody>
              <a:bodyPr>
                <a:normAutofit/>
              </a:bodyPr>
              <a:lstStyle/>
              <a:p>
                <a:pPr>
                  <a:lnSpc>
                    <a:spcPct val="80000"/>
                  </a:lnSpc>
                  <a:spcBef>
                    <a:spcPts val="622"/>
                  </a:spcBef>
                  <a:spcAft>
                    <a:spcPts val="622"/>
                  </a:spcAft>
                </a:pPr>
                <a:r>
                  <a:rPr lang="en-US" altLang="en-US" sz="1500" dirty="0"/>
                  <a:t>More than one independent (predictor/explanatory) variable (</a:t>
                </a:r>
                <a:r>
                  <a:rPr lang="en-US" sz="1500" b="1" dirty="0">
                    <a:cs typeface="Times New Roman" panose="02020603050405020304" pitchFamily="18" charset="0"/>
                  </a:rPr>
                  <a:t>Multi-predictor</a:t>
                </a:r>
                <a:r>
                  <a:rPr lang="en-US" sz="1500" dirty="0">
                    <a:cs typeface="Times New Roman" panose="02020603050405020304" pitchFamily="18" charset="0"/>
                  </a:rPr>
                  <a:t> </a:t>
                </a:r>
                <a:r>
                  <a:rPr lang="en-US" sz="1500" b="1" dirty="0">
                    <a:cs typeface="Times New Roman" panose="02020603050405020304" pitchFamily="18" charset="0"/>
                  </a:rPr>
                  <a:t>Model)</a:t>
                </a:r>
                <a:endParaRPr lang="en-US" altLang="en-US" sz="1500" dirty="0"/>
              </a:p>
              <a:p>
                <a:pPr lvl="1">
                  <a:lnSpc>
                    <a:spcPct val="120000"/>
                  </a:lnSpc>
                  <a:spcAft>
                    <a:spcPts val="1243"/>
                  </a:spcAft>
                </a:pPr>
                <a:r>
                  <a:rPr lang="en-US" altLang="en-US" sz="1500" dirty="0"/>
                  <a:t>Dichotomous. ordinal. nominal. continuous …</a:t>
                </a:r>
              </a:p>
              <a:p>
                <a:pPr>
                  <a:lnSpc>
                    <a:spcPct val="80000"/>
                  </a:lnSpc>
                </a:pPr>
                <a14:m>
                  <m:oMathPara xmlns:m="http://schemas.openxmlformats.org/officeDocument/2006/math">
                    <m:oMathParaPr>
                      <m:jc m:val="centerGroup"/>
                    </m:oMathParaPr>
                    <m:oMath xmlns:m="http://schemas.openxmlformats.org/officeDocument/2006/math">
                      <m:func>
                        <m:funcPr>
                          <m:ctrlPr>
                            <a:rPr lang="en-US" altLang="en-US" sz="1500" i="1">
                              <a:latin typeface="Cambria Math" panose="02040503050406030204" pitchFamily="18" charset="0"/>
                            </a:rPr>
                          </m:ctrlPr>
                        </m:funcPr>
                        <m:fName>
                          <m:r>
                            <m:rPr>
                              <m:sty m:val="p"/>
                            </m:rPr>
                            <a:rPr lang="en-US" altLang="en-US" sz="1500">
                              <a:latin typeface="Cambria Math" panose="02040503050406030204" pitchFamily="18" charset="0"/>
                            </a:rPr>
                            <m:t>ln</m:t>
                          </m:r>
                        </m:fName>
                        <m:e>
                          <m:d>
                            <m:dPr>
                              <m:ctrlPr>
                                <a:rPr lang="en-US" altLang="en-US" sz="1500" i="1">
                                  <a:latin typeface="Cambria Math" panose="02040503050406030204" pitchFamily="18" charset="0"/>
                                </a:rPr>
                              </m:ctrlPr>
                            </m:dPr>
                            <m:e>
                              <m:f>
                                <m:fPr>
                                  <m:ctrlPr>
                                    <a:rPr lang="en-US" altLang="en-US" sz="1500" i="1">
                                      <a:latin typeface="Cambria Math" panose="02040503050406030204" pitchFamily="18" charset="0"/>
                                    </a:rPr>
                                  </m:ctrlPr>
                                </m:fPr>
                                <m:num>
                                  <m:r>
                                    <a:rPr lang="en-US" altLang="en-US" sz="1500" i="1">
                                      <a:latin typeface="Cambria Math" panose="02040503050406030204" pitchFamily="18" charset="0"/>
                                    </a:rPr>
                                    <m:t>𝑝</m:t>
                                  </m:r>
                                </m:num>
                                <m:den>
                                  <m:r>
                                    <a:rPr lang="en-US" altLang="en-US" sz="1500" i="1">
                                      <a:latin typeface="Cambria Math" panose="02040503050406030204" pitchFamily="18" charset="0"/>
                                    </a:rPr>
                                    <m:t>1−</m:t>
                                  </m:r>
                                  <m:r>
                                    <a:rPr lang="en-US" altLang="en-US" sz="1500" i="1">
                                      <a:latin typeface="Cambria Math" panose="02040503050406030204" pitchFamily="18" charset="0"/>
                                    </a:rPr>
                                    <m:t>𝑝</m:t>
                                  </m:r>
                                </m:den>
                              </m:f>
                            </m:e>
                          </m:d>
                          <m:r>
                            <a:rPr lang="en-US" altLang="en-US" sz="1500" i="1">
                              <a:latin typeface="Cambria Math" panose="02040503050406030204" pitchFamily="18" charset="0"/>
                            </a:rPr>
                            <m:t>=</m:t>
                          </m:r>
                          <m:r>
                            <a:rPr lang="en-US" altLang="en-US" sz="1500" i="1">
                              <a:latin typeface="Cambria Math" panose="02040503050406030204" pitchFamily="18" charset="0"/>
                            </a:rPr>
                            <m:t>𝛼</m:t>
                          </m:r>
                          <m:r>
                            <a:rPr lang="en-US" altLang="en-US" sz="1500" i="1">
                              <a:latin typeface="Cambria Math" panose="02040503050406030204" pitchFamily="18" charset="0"/>
                            </a:rPr>
                            <m:t>+</m:t>
                          </m:r>
                          <m:sSub>
                            <m:sSubPr>
                              <m:ctrlPr>
                                <a:rPr lang="en-US" altLang="en-US" sz="1500" i="1">
                                  <a:latin typeface="Cambria Math" panose="02040503050406030204" pitchFamily="18" charset="0"/>
                                </a:rPr>
                              </m:ctrlPr>
                            </m:sSubPr>
                            <m:e>
                              <m:r>
                                <a:rPr lang="en-US" altLang="en-US" sz="1500" i="1">
                                  <a:latin typeface="Cambria Math" panose="02040503050406030204" pitchFamily="18" charset="0"/>
                                </a:rPr>
                                <m:t>𝛽</m:t>
                              </m:r>
                            </m:e>
                            <m:sub>
                              <m:r>
                                <a:rPr lang="en-US" altLang="en-US" sz="1500" i="1">
                                  <a:latin typeface="Cambria Math" panose="02040503050406030204" pitchFamily="18" charset="0"/>
                                </a:rPr>
                                <m:t>1</m:t>
                              </m:r>
                            </m:sub>
                          </m:sSub>
                          <m:sSub>
                            <m:sSubPr>
                              <m:ctrlPr>
                                <a:rPr lang="en-US" altLang="en-US" sz="1500" i="1">
                                  <a:latin typeface="Cambria Math" panose="02040503050406030204" pitchFamily="18" charset="0"/>
                                </a:rPr>
                              </m:ctrlPr>
                            </m:sSubPr>
                            <m:e>
                              <m:r>
                                <a:rPr lang="en-US" altLang="en-US" sz="1500" i="1">
                                  <a:latin typeface="Cambria Math" panose="02040503050406030204" pitchFamily="18" charset="0"/>
                                </a:rPr>
                                <m:t>𝑥</m:t>
                              </m:r>
                            </m:e>
                            <m:sub>
                              <m:r>
                                <a:rPr lang="en-US" altLang="en-US" sz="1500" i="1">
                                  <a:latin typeface="Cambria Math" panose="02040503050406030204" pitchFamily="18" charset="0"/>
                                </a:rPr>
                                <m:t>1</m:t>
                              </m:r>
                            </m:sub>
                          </m:sSub>
                          <m:r>
                            <a:rPr lang="en-US" altLang="en-US" sz="1500" i="1">
                              <a:latin typeface="Cambria Math" panose="02040503050406030204" pitchFamily="18" charset="0"/>
                            </a:rPr>
                            <m:t>+</m:t>
                          </m:r>
                          <m:sSub>
                            <m:sSubPr>
                              <m:ctrlPr>
                                <a:rPr lang="en-US" altLang="en-US" sz="1500" i="1">
                                  <a:latin typeface="Cambria Math" panose="02040503050406030204" pitchFamily="18" charset="0"/>
                                </a:rPr>
                              </m:ctrlPr>
                            </m:sSubPr>
                            <m:e>
                              <m:r>
                                <a:rPr lang="en-US" altLang="en-US" sz="1500" i="1">
                                  <a:latin typeface="Cambria Math" panose="02040503050406030204" pitchFamily="18" charset="0"/>
                                </a:rPr>
                                <m:t>𝛽</m:t>
                              </m:r>
                            </m:e>
                            <m:sub>
                              <m:r>
                                <a:rPr lang="en-US" altLang="en-US" sz="1500" i="1">
                                  <a:latin typeface="Cambria Math" panose="02040503050406030204" pitchFamily="18" charset="0"/>
                                </a:rPr>
                                <m:t>2</m:t>
                              </m:r>
                            </m:sub>
                          </m:sSub>
                          <m:sSub>
                            <m:sSubPr>
                              <m:ctrlPr>
                                <a:rPr lang="en-US" altLang="en-US" sz="1500" i="1">
                                  <a:latin typeface="Cambria Math" panose="02040503050406030204" pitchFamily="18" charset="0"/>
                                </a:rPr>
                              </m:ctrlPr>
                            </m:sSubPr>
                            <m:e>
                              <m:r>
                                <a:rPr lang="en-US" altLang="en-US" sz="1500" i="1">
                                  <a:latin typeface="Cambria Math" panose="02040503050406030204" pitchFamily="18" charset="0"/>
                                </a:rPr>
                                <m:t>𝑥</m:t>
                              </m:r>
                            </m:e>
                            <m:sub>
                              <m:r>
                                <a:rPr lang="en-US" altLang="en-US" sz="1500" i="1">
                                  <a:latin typeface="Cambria Math" panose="02040503050406030204" pitchFamily="18" charset="0"/>
                                </a:rPr>
                                <m:t>2</m:t>
                              </m:r>
                            </m:sub>
                          </m:sSub>
                          <m:r>
                            <a:rPr lang="en-US" altLang="en-US" sz="1500" i="1">
                              <a:latin typeface="Cambria Math" panose="02040503050406030204" pitchFamily="18" charset="0"/>
                            </a:rPr>
                            <m:t>+…+</m:t>
                          </m:r>
                          <m:sSub>
                            <m:sSubPr>
                              <m:ctrlPr>
                                <a:rPr lang="en-US" altLang="en-US" sz="1500" i="1">
                                  <a:latin typeface="Cambria Math" panose="02040503050406030204" pitchFamily="18" charset="0"/>
                                </a:rPr>
                              </m:ctrlPr>
                            </m:sSubPr>
                            <m:e>
                              <m:r>
                                <a:rPr lang="en-US" altLang="en-US" sz="1500" i="1">
                                  <a:latin typeface="Cambria Math" panose="02040503050406030204" pitchFamily="18" charset="0"/>
                                </a:rPr>
                                <m:t>𝛽</m:t>
                              </m:r>
                            </m:e>
                            <m:sub>
                              <m:r>
                                <a:rPr lang="sv-SE" altLang="en-US" sz="1500" i="1">
                                  <a:latin typeface="Cambria Math" panose="02040503050406030204" pitchFamily="18" charset="0"/>
                                </a:rPr>
                                <m:t>𝑛</m:t>
                              </m:r>
                            </m:sub>
                          </m:sSub>
                          <m:sSub>
                            <m:sSubPr>
                              <m:ctrlPr>
                                <a:rPr lang="en-US" altLang="en-US" sz="1500" i="1">
                                  <a:latin typeface="Cambria Math" panose="02040503050406030204" pitchFamily="18" charset="0"/>
                                </a:rPr>
                              </m:ctrlPr>
                            </m:sSubPr>
                            <m:e>
                              <m:r>
                                <a:rPr lang="en-US" altLang="en-US" sz="1500" i="1">
                                  <a:latin typeface="Cambria Math" panose="02040503050406030204" pitchFamily="18" charset="0"/>
                                </a:rPr>
                                <m:t>𝑥</m:t>
                              </m:r>
                            </m:e>
                            <m:sub>
                              <m:r>
                                <a:rPr lang="sv-SE" altLang="en-US" sz="1500" i="1">
                                  <a:latin typeface="Cambria Math" panose="02040503050406030204" pitchFamily="18" charset="0"/>
                                </a:rPr>
                                <m:t>𝑛</m:t>
                              </m:r>
                            </m:sub>
                          </m:sSub>
                        </m:e>
                      </m:func>
                    </m:oMath>
                  </m:oMathPara>
                </a14:m>
                <a:endParaRPr lang="en-US" altLang="en-US" sz="1500" dirty="0"/>
              </a:p>
              <a:p>
                <a:pPr>
                  <a:spcBef>
                    <a:spcPts val="622"/>
                  </a:spcBef>
                  <a:spcAft>
                    <a:spcPts val="622"/>
                  </a:spcAft>
                </a:pPr>
                <a:r>
                  <a:rPr lang="en-US" altLang="en-US" sz="1500" dirty="0"/>
                  <a:t>Interpretation of </a:t>
                </a:r>
                <a14:m>
                  <m:oMath xmlns:m="http://schemas.openxmlformats.org/officeDocument/2006/math">
                    <m:sSub>
                      <m:sSubPr>
                        <m:ctrlPr>
                          <a:rPr lang="en-US" altLang="en-US" sz="1500" i="1">
                            <a:latin typeface="Cambria Math" panose="02040503050406030204" pitchFamily="18" charset="0"/>
                          </a:rPr>
                        </m:ctrlPr>
                      </m:sSubPr>
                      <m:e>
                        <m:r>
                          <a:rPr lang="en-US" altLang="en-US" sz="1500" i="1">
                            <a:latin typeface="Cambria Math" panose="02040503050406030204" pitchFamily="18" charset="0"/>
                          </a:rPr>
                          <m:t>𝛽</m:t>
                        </m:r>
                      </m:e>
                      <m:sub>
                        <m:r>
                          <a:rPr lang="sv-SE" altLang="en-US" sz="1500" i="1">
                            <a:latin typeface="Cambria Math" panose="02040503050406030204" pitchFamily="18" charset="0"/>
                          </a:rPr>
                          <m:t>1</m:t>
                        </m:r>
                      </m:sub>
                    </m:sSub>
                  </m:oMath>
                </a14:m>
                <a:r>
                  <a:rPr lang="en-US" altLang="en-US" sz="1500" b="1" dirty="0"/>
                  <a:t> </a:t>
                </a:r>
              </a:p>
              <a:p>
                <a:pPr lvl="1">
                  <a:lnSpc>
                    <a:spcPct val="110000"/>
                  </a:lnSpc>
                  <a:spcBef>
                    <a:spcPts val="622"/>
                  </a:spcBef>
                  <a:spcAft>
                    <a:spcPts val="622"/>
                  </a:spcAft>
                </a:pPr>
                <a:r>
                  <a:rPr lang="en-US" altLang="en-US" sz="1500" dirty="0"/>
                  <a:t>Increase in </a:t>
                </a:r>
                <a:r>
                  <a:rPr lang="en-US" altLang="en-US" sz="1500" b="1" dirty="0"/>
                  <a:t>log-odds</a:t>
                </a:r>
                <a:r>
                  <a:rPr lang="en-US" altLang="en-US" sz="1500" dirty="0"/>
                  <a:t> for  </a:t>
                </a:r>
                <a:r>
                  <a:rPr lang="en-US" altLang="en-US" sz="1500" b="1" dirty="0"/>
                  <a:t>one unit </a:t>
                </a:r>
                <a:r>
                  <a:rPr lang="en-US" altLang="en-US" sz="1500" dirty="0"/>
                  <a:t>increase in </a:t>
                </a:r>
                <a:r>
                  <a:rPr lang="en-US" altLang="en-US" sz="1500" b="1" i="1" dirty="0">
                    <a:ea typeface="Cambria Math" panose="02040503050406030204" pitchFamily="18" charset="0"/>
                  </a:rPr>
                  <a:t>x</a:t>
                </a:r>
                <a:r>
                  <a:rPr lang="en-US" altLang="en-US" sz="1500" b="1" i="1" baseline="-25000" dirty="0">
                    <a:ea typeface="Cambria Math" panose="02040503050406030204" pitchFamily="18" charset="0"/>
                  </a:rPr>
                  <a:t>1</a:t>
                </a:r>
                <a:r>
                  <a:rPr lang="en-US" altLang="en-US" sz="1500" baseline="-25000" dirty="0"/>
                  <a:t> </a:t>
                </a:r>
                <a:r>
                  <a:rPr lang="en-US" altLang="en-US" sz="1500" dirty="0"/>
                  <a:t>with all the other </a:t>
                </a:r>
                <a:r>
                  <a:rPr lang="en-US" altLang="en-US" sz="1500" i="1" dirty="0">
                    <a:ea typeface="Cambria Math" panose="02040503050406030204" pitchFamily="18" charset="0"/>
                  </a:rPr>
                  <a:t>x</a:t>
                </a:r>
                <a:r>
                  <a:rPr lang="en-US" altLang="en-US" sz="1500" i="1" baseline="-25000" dirty="0">
                    <a:ea typeface="Cambria Math" panose="02040503050406030204" pitchFamily="18" charset="0"/>
                  </a:rPr>
                  <a:t>i</a:t>
                </a:r>
                <a:r>
                  <a:rPr lang="en-US" altLang="en-US" sz="1500" dirty="0"/>
                  <a:t>  </a:t>
                </a:r>
                <a:r>
                  <a:rPr lang="en-US" altLang="en-US" sz="1500" b="1" dirty="0"/>
                  <a:t>constant</a:t>
                </a:r>
                <a:r>
                  <a:rPr lang="en-US" altLang="en-US" sz="1500" dirty="0"/>
                  <a:t> (</a:t>
                </a:r>
                <a:r>
                  <a:rPr lang="en-US" altLang="en-US" sz="1500" dirty="0" err="1"/>
                  <a:t>i</a:t>
                </a:r>
                <a:r>
                  <a:rPr lang="en-US" altLang="en-US" sz="1500" dirty="0"/>
                  <a:t>=2,….,n)</a:t>
                </a:r>
              </a:p>
              <a:p>
                <a:pPr lvl="1">
                  <a:spcBef>
                    <a:spcPts val="622"/>
                  </a:spcBef>
                  <a:spcAft>
                    <a:spcPts val="622"/>
                  </a:spcAft>
                </a:pPr>
                <a:r>
                  <a:rPr lang="en-US" altLang="en-US" sz="1500" dirty="0"/>
                  <a:t>Measures association between </a:t>
                </a:r>
                <a:r>
                  <a:rPr lang="en-US" altLang="en-US" sz="1500" b="1" i="1" dirty="0">
                    <a:ea typeface="Cambria Math" panose="02040503050406030204" pitchFamily="18" charset="0"/>
                  </a:rPr>
                  <a:t>x</a:t>
                </a:r>
                <a:r>
                  <a:rPr lang="en-US" altLang="en-US" sz="1500" b="1" i="1" baseline="-25000" dirty="0">
                    <a:ea typeface="Cambria Math" panose="02040503050406030204" pitchFamily="18" charset="0"/>
                  </a:rPr>
                  <a:t>1</a:t>
                </a:r>
                <a:r>
                  <a:rPr lang="en-US" altLang="en-US" sz="1500" i="1" baseline="-25000" dirty="0">
                    <a:ea typeface="Cambria Math" panose="02040503050406030204" pitchFamily="18" charset="0"/>
                  </a:rPr>
                  <a:t> </a:t>
                </a:r>
                <a:r>
                  <a:rPr lang="en-US" altLang="en-US" sz="1500" dirty="0"/>
                  <a:t>and log-odds adjusted for all other </a:t>
                </a:r>
                <a:r>
                  <a:rPr lang="en-US" altLang="en-US" sz="1500" i="1" dirty="0">
                    <a:ea typeface="Cambria Math" panose="02040503050406030204" pitchFamily="18" charset="0"/>
                  </a:rPr>
                  <a:t>x</a:t>
                </a:r>
                <a:r>
                  <a:rPr lang="en-US" altLang="en-US" sz="1500" i="1" baseline="-25000" dirty="0">
                    <a:ea typeface="Cambria Math" panose="02040503050406030204" pitchFamily="18" charset="0"/>
                  </a:rPr>
                  <a:t>i   </a:t>
                </a:r>
                <a:r>
                  <a:rPr lang="en-US" altLang="en-US" sz="1500" dirty="0"/>
                  <a:t>(</a:t>
                </a:r>
                <a:r>
                  <a:rPr lang="en-US" altLang="en-US" sz="1500" i="1" dirty="0" err="1"/>
                  <a:t>i</a:t>
                </a:r>
                <a:r>
                  <a:rPr lang="en-US" altLang="en-US" sz="1500" dirty="0"/>
                  <a:t> = 2,….,n)</a:t>
                </a:r>
              </a:p>
              <a:p>
                <a:endParaRPr lang="en-US" sz="1500" dirty="0"/>
              </a:p>
            </p:txBody>
          </p:sp>
        </mc:Choice>
        <mc:Fallback xmlns="">
          <p:sp>
            <p:nvSpPr>
              <p:cNvPr id="3" name="Platshållare för anteckningar 2"/>
              <p:cNvSpPr>
                <a:spLocks noGrp="1"/>
              </p:cNvSpPr>
              <p:nvPr>
                <p:ph type="body" idx="1"/>
              </p:nvPr>
            </p:nvSpPr>
            <p:spPr/>
            <p:txBody>
              <a:bodyPr>
                <a:normAutofit/>
              </a:bodyPr>
              <a:lstStyle/>
              <a:p>
                <a:pPr>
                  <a:lnSpc>
                    <a:spcPct val="80000"/>
                  </a:lnSpc>
                  <a:spcBef>
                    <a:spcPts val="622"/>
                  </a:spcBef>
                  <a:spcAft>
                    <a:spcPts val="622"/>
                  </a:spcAft>
                </a:pPr>
                <a:r>
                  <a:rPr lang="en-US" altLang="en-US" sz="1500" dirty="0"/>
                  <a:t>More than one independent (predictor/explanatory) variable (</a:t>
                </a:r>
                <a:r>
                  <a:rPr lang="en-US" sz="1500" b="1" dirty="0">
                    <a:cs typeface="Times New Roman" panose="02020603050405020304" pitchFamily="18" charset="0"/>
                  </a:rPr>
                  <a:t>Multi-predictor</a:t>
                </a:r>
                <a:r>
                  <a:rPr lang="en-US" sz="1500" dirty="0">
                    <a:cs typeface="Times New Roman" panose="02020603050405020304" pitchFamily="18" charset="0"/>
                  </a:rPr>
                  <a:t> </a:t>
                </a:r>
                <a:r>
                  <a:rPr lang="en-US" sz="1500" b="1" dirty="0">
                    <a:cs typeface="Times New Roman" panose="02020603050405020304" pitchFamily="18" charset="0"/>
                  </a:rPr>
                  <a:t>Model)</a:t>
                </a:r>
                <a:endParaRPr lang="en-US" altLang="en-US" sz="1500" dirty="0"/>
              </a:p>
              <a:p>
                <a:pPr lvl="1">
                  <a:lnSpc>
                    <a:spcPct val="120000"/>
                  </a:lnSpc>
                  <a:spcAft>
                    <a:spcPts val="1243"/>
                  </a:spcAft>
                </a:pPr>
                <a:r>
                  <a:rPr lang="en-US" altLang="en-US" sz="1500" dirty="0"/>
                  <a:t>Dichotomous. ordinal. nominal. continuous …</a:t>
                </a:r>
              </a:p>
              <a:p>
                <a:pPr>
                  <a:lnSpc>
                    <a:spcPct val="80000"/>
                  </a:lnSpc>
                </a:pPr>
                <a:r>
                  <a:rPr lang="en-US" altLang="en-US" sz="1500" i="0">
                    <a:latin typeface="Cambria Math" panose="02040503050406030204" pitchFamily="18" charset="0"/>
                  </a:rPr>
                  <a:t>ln⁡〖(𝑝/(1−𝑝))</a:t>
                </a:r>
                <a:r>
                  <a:rPr lang="en-US" altLang="en-US" sz="1500" i="0">
                    <a:latin typeface="Cambria Math" panose="02040503050406030204" pitchFamily="18" charset="0"/>
                  </a:rPr>
                  <a:t>=𝛼+𝛽_1 𝑥_1+𝛽_2 𝑥_2+…+𝛽_</a:t>
                </a:r>
                <a:r>
                  <a:rPr lang="sv-SE" altLang="en-US" sz="1500" i="0">
                    <a:latin typeface="Cambria Math" panose="02040503050406030204" pitchFamily="18" charset="0"/>
                  </a:rPr>
                  <a:t>𝑛</a:t>
                </a:r>
                <a:r>
                  <a:rPr lang="en-US" altLang="en-US" sz="1500" i="0">
                    <a:latin typeface="Cambria Math" panose="02040503050406030204" pitchFamily="18" charset="0"/>
                  </a:rPr>
                  <a:t> 𝑥_</a:t>
                </a:r>
                <a:r>
                  <a:rPr lang="sv-SE" altLang="en-US" sz="1500" i="0">
                    <a:latin typeface="Cambria Math" panose="02040503050406030204" pitchFamily="18" charset="0"/>
                  </a:rPr>
                  <a:t>𝑛 </a:t>
                </a:r>
                <a:r>
                  <a:rPr lang="en-US" altLang="en-US" sz="1500" i="0">
                    <a:latin typeface="Cambria Math" panose="02040503050406030204" pitchFamily="18" charset="0"/>
                  </a:rPr>
                  <a:t>〗</a:t>
                </a:r>
                <a:endParaRPr lang="en-US" altLang="en-US" sz="1500" dirty="0"/>
              </a:p>
              <a:p>
                <a:pPr>
                  <a:spcBef>
                    <a:spcPts val="622"/>
                  </a:spcBef>
                  <a:spcAft>
                    <a:spcPts val="622"/>
                  </a:spcAft>
                </a:pPr>
                <a:r>
                  <a:rPr lang="en-US" altLang="en-US" sz="1500" dirty="0"/>
                  <a:t>Interpretation of </a:t>
                </a:r>
                <a:r>
                  <a:rPr lang="en-US" altLang="en-US" sz="1500" i="0">
                    <a:latin typeface="Cambria Math" panose="02040503050406030204" pitchFamily="18" charset="0"/>
                  </a:rPr>
                  <a:t>𝛽_</a:t>
                </a:r>
                <a:r>
                  <a:rPr lang="sv-SE" altLang="en-US" sz="1500" i="0">
                    <a:latin typeface="Cambria Math" panose="02040503050406030204" pitchFamily="18" charset="0"/>
                  </a:rPr>
                  <a:t>1</a:t>
                </a:r>
                <a:r>
                  <a:rPr lang="en-US" altLang="en-US" sz="1500" b="1" dirty="0"/>
                  <a:t> </a:t>
                </a:r>
              </a:p>
              <a:p>
                <a:pPr lvl="1">
                  <a:lnSpc>
                    <a:spcPct val="110000"/>
                  </a:lnSpc>
                  <a:spcBef>
                    <a:spcPts val="622"/>
                  </a:spcBef>
                  <a:spcAft>
                    <a:spcPts val="622"/>
                  </a:spcAft>
                </a:pPr>
                <a:r>
                  <a:rPr lang="en-US" altLang="en-US" sz="1500" dirty="0"/>
                  <a:t>Increase in </a:t>
                </a:r>
                <a:r>
                  <a:rPr lang="en-US" altLang="en-US" sz="1500" b="1" dirty="0"/>
                  <a:t>log-odds</a:t>
                </a:r>
                <a:r>
                  <a:rPr lang="en-US" altLang="en-US" sz="1500" dirty="0"/>
                  <a:t> for  </a:t>
                </a:r>
                <a:r>
                  <a:rPr lang="en-US" altLang="en-US" sz="1500" b="1" dirty="0"/>
                  <a:t>one unit </a:t>
                </a:r>
                <a:r>
                  <a:rPr lang="en-US" altLang="en-US" sz="1500" dirty="0"/>
                  <a:t>increase in </a:t>
                </a:r>
                <a:r>
                  <a:rPr lang="en-US" altLang="en-US" sz="1500" b="1" i="1" dirty="0">
                    <a:ea typeface="Cambria Math" panose="02040503050406030204" pitchFamily="18" charset="0"/>
                  </a:rPr>
                  <a:t>x</a:t>
                </a:r>
                <a:r>
                  <a:rPr lang="en-US" altLang="en-US" sz="1500" b="1" i="1" baseline="-25000" dirty="0">
                    <a:ea typeface="Cambria Math" panose="02040503050406030204" pitchFamily="18" charset="0"/>
                  </a:rPr>
                  <a:t>1</a:t>
                </a:r>
                <a:r>
                  <a:rPr lang="en-US" altLang="en-US" sz="1500" baseline="-25000" dirty="0"/>
                  <a:t> </a:t>
                </a:r>
                <a:r>
                  <a:rPr lang="en-US" altLang="en-US" sz="1500" dirty="0"/>
                  <a:t>with all the other </a:t>
                </a:r>
                <a:r>
                  <a:rPr lang="en-US" altLang="en-US" sz="1500" i="1" dirty="0">
                    <a:ea typeface="Cambria Math" panose="02040503050406030204" pitchFamily="18" charset="0"/>
                  </a:rPr>
                  <a:t>x</a:t>
                </a:r>
                <a:r>
                  <a:rPr lang="en-US" altLang="en-US" sz="1500" i="1" baseline="-25000" dirty="0">
                    <a:ea typeface="Cambria Math" panose="02040503050406030204" pitchFamily="18" charset="0"/>
                  </a:rPr>
                  <a:t>i</a:t>
                </a:r>
                <a:r>
                  <a:rPr lang="en-US" altLang="en-US" sz="1500" dirty="0"/>
                  <a:t>  </a:t>
                </a:r>
                <a:r>
                  <a:rPr lang="en-US" altLang="en-US" sz="1500" b="1" dirty="0"/>
                  <a:t>constant</a:t>
                </a:r>
                <a:r>
                  <a:rPr lang="en-US" altLang="en-US" sz="1500" dirty="0"/>
                  <a:t> (</a:t>
                </a:r>
                <a:r>
                  <a:rPr lang="en-US" altLang="en-US" sz="1500" dirty="0" err="1"/>
                  <a:t>i</a:t>
                </a:r>
                <a:r>
                  <a:rPr lang="en-US" altLang="en-US" sz="1500" dirty="0"/>
                  <a:t>=2,….,n)</a:t>
                </a:r>
              </a:p>
              <a:p>
                <a:pPr lvl="1">
                  <a:spcBef>
                    <a:spcPts val="622"/>
                  </a:spcBef>
                  <a:spcAft>
                    <a:spcPts val="622"/>
                  </a:spcAft>
                </a:pPr>
                <a:r>
                  <a:rPr lang="en-US" altLang="en-US" sz="1500" dirty="0"/>
                  <a:t>Measures association between </a:t>
                </a:r>
                <a:r>
                  <a:rPr lang="en-US" altLang="en-US" sz="1500" b="1" i="1" dirty="0">
                    <a:ea typeface="Cambria Math" panose="02040503050406030204" pitchFamily="18" charset="0"/>
                  </a:rPr>
                  <a:t>x</a:t>
                </a:r>
                <a:r>
                  <a:rPr lang="en-US" altLang="en-US" sz="1500" b="1" i="1" baseline="-25000" dirty="0">
                    <a:ea typeface="Cambria Math" panose="02040503050406030204" pitchFamily="18" charset="0"/>
                  </a:rPr>
                  <a:t>1</a:t>
                </a:r>
                <a:r>
                  <a:rPr lang="en-US" altLang="en-US" sz="1500" i="1" baseline="-25000" dirty="0">
                    <a:ea typeface="Cambria Math" panose="02040503050406030204" pitchFamily="18" charset="0"/>
                  </a:rPr>
                  <a:t> </a:t>
                </a:r>
                <a:r>
                  <a:rPr lang="en-US" altLang="en-US" sz="1500" dirty="0"/>
                  <a:t>and log-odds adjusted for all other </a:t>
                </a:r>
                <a:r>
                  <a:rPr lang="en-US" altLang="en-US" sz="1500" i="1" dirty="0">
                    <a:ea typeface="Cambria Math" panose="02040503050406030204" pitchFamily="18" charset="0"/>
                  </a:rPr>
                  <a:t>x</a:t>
                </a:r>
                <a:r>
                  <a:rPr lang="en-US" altLang="en-US" sz="1500" i="1" baseline="-25000" dirty="0">
                    <a:ea typeface="Cambria Math" panose="02040503050406030204" pitchFamily="18" charset="0"/>
                  </a:rPr>
                  <a:t>i   </a:t>
                </a:r>
                <a:r>
                  <a:rPr lang="en-US" altLang="en-US" sz="1500" dirty="0"/>
                  <a:t>(</a:t>
                </a:r>
                <a:r>
                  <a:rPr lang="en-US" altLang="en-US" sz="1500" i="1" dirty="0" err="1"/>
                  <a:t>i</a:t>
                </a:r>
                <a:r>
                  <a:rPr lang="en-US" altLang="en-US" sz="1500" dirty="0"/>
                  <a:t> = 2</a:t>
                </a:r>
                <a:r>
                  <a:rPr lang="en-US" altLang="en-US" sz="1500" dirty="0"/>
                  <a:t>,….,n)</a:t>
                </a:r>
              </a:p>
              <a:p>
                <a:pPr lvl="1">
                  <a:lnSpc>
                    <a:spcPct val="110000"/>
                  </a:lnSpc>
                  <a:spcBef>
                    <a:spcPts val="622"/>
                  </a:spcBef>
                  <a:spcAft>
                    <a:spcPts val="622"/>
                  </a:spcAft>
                </a:pPr>
                <a:endParaRPr lang="en-US" altLang="en-US" sz="1500" dirty="0"/>
              </a:p>
              <a:p>
                <a:pPr>
                  <a:lnSpc>
                    <a:spcPct val="80000"/>
                  </a:lnSpc>
                </a:pPr>
                <a:endParaRPr lang="en-US" altLang="en-US" sz="1500" dirty="0"/>
              </a:p>
              <a:p>
                <a:endParaRPr lang="en-US" sz="1500" dirty="0"/>
              </a:p>
            </p:txBody>
          </p:sp>
        </mc:Fallback>
      </mc:AlternateContent>
      <p:sp>
        <p:nvSpPr>
          <p:cNvPr id="4" name="Platshållare för bildnummer 3"/>
          <p:cNvSpPr>
            <a:spLocks noGrp="1"/>
          </p:cNvSpPr>
          <p:nvPr>
            <p:ph type="sldNum" sz="quarter" idx="10"/>
          </p:nvPr>
        </p:nvSpPr>
        <p:spPr/>
        <p:txBody>
          <a:bodyPr/>
          <a:lstStyle/>
          <a:p>
            <a:fld id="{CECB7405-4276-4FEB-8EA2-369570AA649A}" type="slidenum">
              <a:rPr lang="sv-SE" smtClean="0"/>
              <a:pPr/>
              <a:t>111</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58728954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pPr>
              <a:defRPr/>
            </a:pPr>
            <a:fld id="{E2296650-2E2C-4972-BF52-9F62FD96D473}" type="slidenum">
              <a:rPr lang="sv-SE" smtClean="0"/>
              <a:pPr>
                <a:defRPr/>
              </a:pPr>
              <a:t>112</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658576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90719">
              <a:defRPr/>
            </a:pPr>
            <a:r>
              <a:rPr lang="sv-SE" dirty="0"/>
              <a:t>In </a:t>
            </a:r>
            <a:r>
              <a:rPr lang="sv-SE" dirty="0" err="1"/>
              <a:t>cross-sectional</a:t>
            </a:r>
            <a:r>
              <a:rPr lang="sv-SE" dirty="0"/>
              <a:t> studies the </a:t>
            </a:r>
            <a:r>
              <a:rPr lang="sv-SE" err="1"/>
              <a:t>calculated</a:t>
            </a:r>
            <a:r>
              <a:rPr lang="sv-SE"/>
              <a:t> </a:t>
            </a:r>
            <a:r>
              <a:rPr lang="en-GB" altLang="en-US"/>
              <a:t>proportion </a:t>
            </a:r>
            <a:r>
              <a:rPr lang="en-GB" altLang="en-US" dirty="0"/>
              <a:t>of binary(categorical) </a:t>
            </a:r>
            <a:r>
              <a:rPr lang="en-GB" altLang="en-US"/>
              <a:t>outcome are called Prevalences</a:t>
            </a:r>
            <a:r>
              <a:rPr lang="en-GB" altLang="en-US" baseline="0"/>
              <a:t> and their ratios Prevalence Ratios and their differences Prevalence difference (Difference in proportion)</a:t>
            </a:r>
          </a:p>
          <a:p>
            <a:r>
              <a:rPr lang="en-GB" altLang="en-US" baseline="0" dirty="0"/>
              <a:t>.</a:t>
            </a:r>
          </a:p>
          <a:p>
            <a:r>
              <a:rPr lang="en-GB" altLang="en-US" baseline="0" dirty="0"/>
              <a:t>Meanwhile in Cohort(Follow-up) studies</a:t>
            </a:r>
            <a:r>
              <a:rPr lang="en-GB" altLang="en-US" dirty="0"/>
              <a:t> </a:t>
            </a:r>
            <a:r>
              <a:rPr lang="sv-SE"/>
              <a:t>the calculated </a:t>
            </a:r>
            <a:r>
              <a:rPr lang="en-GB" altLang="en-US"/>
              <a:t>proportion of binary(categorical) outcome are called Risks</a:t>
            </a:r>
            <a:r>
              <a:rPr lang="en-GB" altLang="en-US" baseline="0"/>
              <a:t> and their ratios Relative Risks and their differences Risk Differences</a:t>
            </a:r>
          </a:p>
          <a:p>
            <a:endParaRPr lang="en-GB" altLang="en-US" baseline="0"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113</a:t>
            </a:fld>
            <a:endParaRPr lang="sv-SE" dirty="0">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85915878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114</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32261405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pPr>
              <a:defRPr/>
            </a:pPr>
            <a:fld id="{752BA5AF-4536-4B01-8A4A-E424607E7C5D}" type="slidenum">
              <a:rPr lang="en-US" smtClean="0"/>
              <a:pPr>
                <a:defRPr/>
              </a:pPr>
              <a:t>115</a:t>
            </a:fld>
            <a:endParaRPr lang="en-US"/>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03256711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pPr>
              <a:defRPr/>
            </a:pPr>
            <a:fld id="{752BA5AF-4536-4B01-8A4A-E424607E7C5D}" type="slidenum">
              <a:rPr lang="en-US" smtClean="0"/>
              <a:pPr>
                <a:defRPr/>
              </a:pPr>
              <a:t>116</a:t>
            </a:fld>
            <a:endParaRPr lang="en-US"/>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51620802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pPr>
              <a:defRPr/>
            </a:pPr>
            <a:fld id="{752BA5AF-4536-4B01-8A4A-E424607E7C5D}" type="slidenum">
              <a:rPr lang="en-US" smtClean="0"/>
              <a:pPr>
                <a:defRPr/>
              </a:pPr>
              <a:t>117</a:t>
            </a:fld>
            <a:endParaRPr lang="en-US"/>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75007588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118</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55003743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119</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96075811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120</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29155520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ヒラギノ角ゴ Pro W3"/>
                <a:cs typeface="ヒラギノ角ゴ Pro W3"/>
              </a:defRPr>
            </a:lvl1pPr>
            <a:lvl2pPr marL="776140" indent="-298517">
              <a:defRPr>
                <a:solidFill>
                  <a:schemeClr val="tx1"/>
                </a:solidFill>
                <a:latin typeface="Verdana" panose="020B0604030504040204" pitchFamily="34" charset="0"/>
                <a:ea typeface="ヒラギノ角ゴ Pro W3"/>
                <a:cs typeface="ヒラギノ角ゴ Pro W3"/>
              </a:defRPr>
            </a:lvl2pPr>
            <a:lvl3pPr marL="1194063" indent="-238812">
              <a:defRPr>
                <a:solidFill>
                  <a:schemeClr val="tx1"/>
                </a:solidFill>
                <a:latin typeface="Verdana" panose="020B0604030504040204" pitchFamily="34" charset="0"/>
                <a:ea typeface="ヒラギノ角ゴ Pro W3"/>
                <a:cs typeface="ヒラギノ角ゴ Pro W3"/>
              </a:defRPr>
            </a:lvl3pPr>
            <a:lvl4pPr marL="1671689" indent="-238812">
              <a:defRPr>
                <a:solidFill>
                  <a:schemeClr val="tx1"/>
                </a:solidFill>
                <a:latin typeface="Verdana" panose="020B0604030504040204" pitchFamily="34" charset="0"/>
                <a:ea typeface="ヒラギノ角ゴ Pro W3"/>
                <a:cs typeface="ヒラギノ角ゴ Pro W3"/>
              </a:defRPr>
            </a:lvl4pPr>
            <a:lvl5pPr marL="2149314" indent="-238812">
              <a:defRPr>
                <a:solidFill>
                  <a:schemeClr val="tx1"/>
                </a:solidFill>
                <a:latin typeface="Verdana" panose="020B0604030504040204" pitchFamily="34" charset="0"/>
                <a:ea typeface="ヒラギノ角ゴ Pro W3"/>
                <a:cs typeface="ヒラギノ角ゴ Pro W3"/>
              </a:defRPr>
            </a:lvl5pPr>
            <a:lvl6pPr marL="2626939" indent="-238812" fontAlgn="base">
              <a:spcBef>
                <a:spcPct val="0"/>
              </a:spcBef>
              <a:spcAft>
                <a:spcPct val="0"/>
              </a:spcAft>
              <a:defRPr>
                <a:solidFill>
                  <a:schemeClr val="tx1"/>
                </a:solidFill>
                <a:latin typeface="Verdana" panose="020B0604030504040204" pitchFamily="34" charset="0"/>
                <a:ea typeface="ヒラギノ角ゴ Pro W3"/>
                <a:cs typeface="ヒラギノ角ゴ Pro W3"/>
              </a:defRPr>
            </a:lvl6pPr>
            <a:lvl7pPr marL="3104565" indent="-238812" fontAlgn="base">
              <a:spcBef>
                <a:spcPct val="0"/>
              </a:spcBef>
              <a:spcAft>
                <a:spcPct val="0"/>
              </a:spcAft>
              <a:defRPr>
                <a:solidFill>
                  <a:schemeClr val="tx1"/>
                </a:solidFill>
                <a:latin typeface="Verdana" panose="020B0604030504040204" pitchFamily="34" charset="0"/>
                <a:ea typeface="ヒラギノ角ゴ Pro W3"/>
                <a:cs typeface="ヒラギノ角ゴ Pro W3"/>
              </a:defRPr>
            </a:lvl7pPr>
            <a:lvl8pPr marL="3582190" indent="-238812" fontAlgn="base">
              <a:spcBef>
                <a:spcPct val="0"/>
              </a:spcBef>
              <a:spcAft>
                <a:spcPct val="0"/>
              </a:spcAft>
              <a:defRPr>
                <a:solidFill>
                  <a:schemeClr val="tx1"/>
                </a:solidFill>
                <a:latin typeface="Verdana" panose="020B0604030504040204" pitchFamily="34" charset="0"/>
                <a:ea typeface="ヒラギノ角ゴ Pro W3"/>
                <a:cs typeface="ヒラギノ角ゴ Pro W3"/>
              </a:defRPr>
            </a:lvl8pPr>
            <a:lvl9pPr marL="4059815" indent="-238812" fontAlgn="base">
              <a:spcBef>
                <a:spcPct val="0"/>
              </a:spcBef>
              <a:spcAft>
                <a:spcPct val="0"/>
              </a:spcAft>
              <a:defRPr>
                <a:solidFill>
                  <a:schemeClr val="tx1"/>
                </a:solidFill>
                <a:latin typeface="Verdana" panose="020B0604030504040204" pitchFamily="34" charset="0"/>
                <a:ea typeface="ヒラギノ角ゴ Pro W3"/>
                <a:cs typeface="ヒラギノ角ゴ Pro W3"/>
              </a:defRPr>
            </a:lvl9pPr>
          </a:lstStyle>
          <a:p>
            <a:fld id="{118AF287-11B2-4192-A22F-E2078EC02C50}" type="slidenum">
              <a:rPr lang="en-GB" altLang="sv-SE">
                <a:latin typeface="Tahoma" panose="020B0604030504040204" pitchFamily="34" charset="0"/>
              </a:rPr>
              <a:pPr/>
              <a:t>121</a:t>
            </a:fld>
            <a:endParaRPr lang="en-GB" altLang="sv-SE">
              <a:latin typeface="Tahoma" panose="020B0604030504040204" pitchFamily="34" charset="0"/>
            </a:endParaRPr>
          </a:p>
        </p:txBody>
      </p:sp>
      <p:sp>
        <p:nvSpPr>
          <p:cNvPr id="317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GB" altLang="sv-SE" dirty="0"/>
          </a:p>
        </p:txBody>
      </p:sp>
      <p:sp>
        <p:nvSpPr>
          <p:cNvPr id="3" name="Date Placeholder 2"/>
          <p:cNvSpPr>
            <a:spLocks noGrp="1"/>
          </p:cNvSpPr>
          <p:nvPr>
            <p:ph type="dt" idx="10"/>
          </p:nvPr>
        </p:nvSpPr>
        <p:spPr/>
        <p:txBody>
          <a:bodyPr/>
          <a:lstStyle/>
          <a:p>
            <a:pPr>
              <a:defRPr/>
            </a:pPr>
            <a:endParaRPr lang="sv-SE"/>
          </a:p>
        </p:txBody>
      </p:sp>
    </p:spTree>
    <p:extLst>
      <p:ext uri="{BB962C8B-B14F-4D97-AF65-F5344CB8AC3E}">
        <p14:creationId xmlns:p14="http://schemas.microsoft.com/office/powerpoint/2010/main" val="313549972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dirty="0"/>
              <a:t>https://www.atsu.edu/research/pdfs/campbell_syllabus.pdf</a:t>
            </a:r>
          </a:p>
          <a:p>
            <a:endParaRPr lang="en-US" dirty="0"/>
          </a:p>
          <a:p>
            <a:r>
              <a:rPr lang="en-US" dirty="0"/>
              <a:t>The FINER criteria for a good research question </a:t>
            </a:r>
          </a:p>
          <a:p>
            <a:r>
              <a:rPr lang="en-US" dirty="0"/>
              <a:t>• Feasible:  Adequate number of subjects, Adequate technical expertise, Affordable in time and money, Manageable in scope </a:t>
            </a:r>
          </a:p>
          <a:p>
            <a:r>
              <a:rPr lang="en-US" dirty="0"/>
              <a:t>• Interesting, Interesting to the investigator </a:t>
            </a:r>
          </a:p>
          <a:p>
            <a:r>
              <a:rPr lang="en-US" dirty="0"/>
              <a:t> • Novel: Confirms or refutes previous findings, Extends previous findings,</a:t>
            </a:r>
            <a:r>
              <a:rPr lang="en-US" baseline="0" dirty="0"/>
              <a:t> Pr</a:t>
            </a:r>
            <a:r>
              <a:rPr lang="en-US" dirty="0"/>
              <a:t>ovides new findings </a:t>
            </a:r>
          </a:p>
          <a:p>
            <a:r>
              <a:rPr lang="en-US" dirty="0"/>
              <a:t>• Ethical </a:t>
            </a:r>
          </a:p>
          <a:p>
            <a:r>
              <a:rPr lang="en-US" dirty="0"/>
              <a:t>• Relevant: To scientific knowledge, To clinical and health policy, To future research directions </a:t>
            </a: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122</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93623019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fontAlgn="auto">
              <a:spcBef>
                <a:spcPts val="0"/>
              </a:spcBef>
              <a:spcAft>
                <a:spcPts val="0"/>
              </a:spcAft>
              <a:defRPr/>
            </a:pPr>
            <a:endParaRPr lang="en-GB" dirty="0"/>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ヒラギノ角ゴ Pro W3"/>
                <a:cs typeface="ヒラギノ角ゴ Pro W3"/>
              </a:defRPr>
            </a:lvl1pPr>
            <a:lvl2pPr marL="776140" indent="-298517">
              <a:defRPr>
                <a:solidFill>
                  <a:schemeClr val="tx1"/>
                </a:solidFill>
                <a:latin typeface="Verdana" panose="020B0604030504040204" pitchFamily="34" charset="0"/>
                <a:ea typeface="ヒラギノ角ゴ Pro W3"/>
                <a:cs typeface="ヒラギノ角ゴ Pro W3"/>
              </a:defRPr>
            </a:lvl2pPr>
            <a:lvl3pPr marL="1194063" indent="-238812">
              <a:defRPr>
                <a:solidFill>
                  <a:schemeClr val="tx1"/>
                </a:solidFill>
                <a:latin typeface="Verdana" panose="020B0604030504040204" pitchFamily="34" charset="0"/>
                <a:ea typeface="ヒラギノ角ゴ Pro W3"/>
                <a:cs typeface="ヒラギノ角ゴ Pro W3"/>
              </a:defRPr>
            </a:lvl3pPr>
            <a:lvl4pPr marL="1671689" indent="-238812">
              <a:defRPr>
                <a:solidFill>
                  <a:schemeClr val="tx1"/>
                </a:solidFill>
                <a:latin typeface="Verdana" panose="020B0604030504040204" pitchFamily="34" charset="0"/>
                <a:ea typeface="ヒラギノ角ゴ Pro W3"/>
                <a:cs typeface="ヒラギノ角ゴ Pro W3"/>
              </a:defRPr>
            </a:lvl4pPr>
            <a:lvl5pPr marL="2149314" indent="-238812">
              <a:defRPr>
                <a:solidFill>
                  <a:schemeClr val="tx1"/>
                </a:solidFill>
                <a:latin typeface="Verdana" panose="020B0604030504040204" pitchFamily="34" charset="0"/>
                <a:ea typeface="ヒラギノ角ゴ Pro W3"/>
                <a:cs typeface="ヒラギノ角ゴ Pro W3"/>
              </a:defRPr>
            </a:lvl5pPr>
            <a:lvl6pPr marL="2626939" indent="-238812" fontAlgn="base">
              <a:spcBef>
                <a:spcPct val="0"/>
              </a:spcBef>
              <a:spcAft>
                <a:spcPct val="0"/>
              </a:spcAft>
              <a:defRPr>
                <a:solidFill>
                  <a:schemeClr val="tx1"/>
                </a:solidFill>
                <a:latin typeface="Verdana" panose="020B0604030504040204" pitchFamily="34" charset="0"/>
                <a:ea typeface="ヒラギノ角ゴ Pro W3"/>
                <a:cs typeface="ヒラギノ角ゴ Pro W3"/>
              </a:defRPr>
            </a:lvl6pPr>
            <a:lvl7pPr marL="3104565" indent="-238812" fontAlgn="base">
              <a:spcBef>
                <a:spcPct val="0"/>
              </a:spcBef>
              <a:spcAft>
                <a:spcPct val="0"/>
              </a:spcAft>
              <a:defRPr>
                <a:solidFill>
                  <a:schemeClr val="tx1"/>
                </a:solidFill>
                <a:latin typeface="Verdana" panose="020B0604030504040204" pitchFamily="34" charset="0"/>
                <a:ea typeface="ヒラギノ角ゴ Pro W3"/>
                <a:cs typeface="ヒラギノ角ゴ Pro W3"/>
              </a:defRPr>
            </a:lvl7pPr>
            <a:lvl8pPr marL="3582190" indent="-238812" fontAlgn="base">
              <a:spcBef>
                <a:spcPct val="0"/>
              </a:spcBef>
              <a:spcAft>
                <a:spcPct val="0"/>
              </a:spcAft>
              <a:defRPr>
                <a:solidFill>
                  <a:schemeClr val="tx1"/>
                </a:solidFill>
                <a:latin typeface="Verdana" panose="020B0604030504040204" pitchFamily="34" charset="0"/>
                <a:ea typeface="ヒラギノ角ゴ Pro W3"/>
                <a:cs typeface="ヒラギノ角ゴ Pro W3"/>
              </a:defRPr>
            </a:lvl8pPr>
            <a:lvl9pPr marL="4059815" indent="-238812" fontAlgn="base">
              <a:spcBef>
                <a:spcPct val="0"/>
              </a:spcBef>
              <a:spcAft>
                <a:spcPct val="0"/>
              </a:spcAft>
              <a:defRPr>
                <a:solidFill>
                  <a:schemeClr val="tx1"/>
                </a:solidFill>
                <a:latin typeface="Verdana" panose="020B0604030504040204" pitchFamily="34" charset="0"/>
                <a:ea typeface="ヒラギノ角ゴ Pro W3"/>
                <a:cs typeface="ヒラギノ角ゴ Pro W3"/>
              </a:defRPr>
            </a:lvl9pPr>
          </a:lstStyle>
          <a:p>
            <a:fld id="{C16EC647-E90B-4790-B65C-3FDA1465A1DB}" type="slidenum">
              <a:rPr lang="en-GB" altLang="sv-SE">
                <a:latin typeface="Tahoma" panose="020B0604030504040204" pitchFamily="34" charset="0"/>
              </a:rPr>
              <a:pPr/>
              <a:t>123</a:t>
            </a:fld>
            <a:endParaRPr lang="en-GB" altLang="sv-SE">
              <a:latin typeface="Tahoma" panose="020B0604030504040204" pitchFamily="34" charset="0"/>
            </a:endParaRPr>
          </a:p>
        </p:txBody>
      </p:sp>
      <p:sp>
        <p:nvSpPr>
          <p:cNvPr id="4" name="Date Placeholder 3"/>
          <p:cNvSpPr>
            <a:spLocks noGrp="1"/>
          </p:cNvSpPr>
          <p:nvPr>
            <p:ph type="dt" idx="10"/>
          </p:nvPr>
        </p:nvSpPr>
        <p:spPr/>
        <p:txBody>
          <a:bodyPr/>
          <a:lstStyle/>
          <a:p>
            <a:pPr>
              <a:defRPr/>
            </a:pPr>
            <a:endParaRPr lang="sv-SE"/>
          </a:p>
        </p:txBody>
      </p:sp>
    </p:spTree>
    <p:extLst>
      <p:ext uri="{BB962C8B-B14F-4D97-AF65-F5344CB8AC3E}">
        <p14:creationId xmlns:p14="http://schemas.microsoft.com/office/powerpoint/2010/main" val="147308156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a:spcAft>
                <a:spcPts val="1243"/>
              </a:spcAft>
            </a:pPr>
            <a:r>
              <a:rPr lang="en-GB" altLang="sv-SE" sz="2900" b="1" dirty="0"/>
              <a:t>PICO</a:t>
            </a:r>
            <a:endParaRPr lang="en-GB" altLang="sv-SE" sz="2900" dirty="0"/>
          </a:p>
          <a:p>
            <a:pPr lvl="1">
              <a:buFontTx/>
              <a:buNone/>
            </a:pPr>
            <a:r>
              <a:rPr lang="en-US" altLang="sv-SE" sz="2600" b="1" dirty="0"/>
              <a:t>P</a:t>
            </a:r>
            <a:r>
              <a:rPr lang="en-US" altLang="sv-SE" sz="2600" dirty="0"/>
              <a:t> - Who are the </a:t>
            </a:r>
            <a:r>
              <a:rPr lang="en-US" altLang="sv-SE" sz="2600" b="1" dirty="0"/>
              <a:t>p</a:t>
            </a:r>
            <a:r>
              <a:rPr lang="en-US" altLang="sv-SE" sz="2600" dirty="0"/>
              <a:t>atients / What’s the </a:t>
            </a:r>
            <a:r>
              <a:rPr lang="en-US" altLang="sv-SE" sz="2600" b="1" dirty="0"/>
              <a:t>p</a:t>
            </a:r>
            <a:r>
              <a:rPr lang="en-US" altLang="sv-SE" sz="2600" dirty="0"/>
              <a:t>roblem?</a:t>
            </a:r>
          </a:p>
          <a:p>
            <a:pPr lvl="1">
              <a:buFontTx/>
              <a:buNone/>
            </a:pPr>
            <a:r>
              <a:rPr lang="en-US" altLang="sv-SE" sz="2600" b="1" dirty="0"/>
              <a:t>I</a:t>
            </a:r>
            <a:r>
              <a:rPr lang="en-US" altLang="sv-SE" sz="2600" dirty="0"/>
              <a:t>  - What is the </a:t>
            </a:r>
            <a:r>
              <a:rPr lang="en-US" altLang="sv-SE" sz="2600" b="1" dirty="0"/>
              <a:t>i</a:t>
            </a:r>
            <a:r>
              <a:rPr lang="en-US" altLang="sv-SE" sz="2600" dirty="0"/>
              <a:t>ntervention (or exposure)?</a:t>
            </a:r>
          </a:p>
          <a:p>
            <a:pPr lvl="1">
              <a:buFontTx/>
              <a:buNone/>
            </a:pPr>
            <a:r>
              <a:rPr lang="en-US" altLang="sv-SE" sz="2600" b="1" dirty="0"/>
              <a:t>C</a:t>
            </a:r>
            <a:r>
              <a:rPr lang="en-US" altLang="sv-SE" sz="2600" dirty="0"/>
              <a:t> – What is the </a:t>
            </a:r>
            <a:r>
              <a:rPr lang="en-US" altLang="sv-SE" sz="2600" b="1" dirty="0"/>
              <a:t>c</a:t>
            </a:r>
            <a:r>
              <a:rPr lang="en-US" altLang="sv-SE" sz="2600" dirty="0"/>
              <a:t>ontrol group?</a:t>
            </a:r>
          </a:p>
          <a:p>
            <a:pPr lvl="1">
              <a:buFontTx/>
              <a:buNone/>
            </a:pPr>
            <a:r>
              <a:rPr lang="en-US" altLang="sv-SE" sz="2600" b="1" dirty="0"/>
              <a:t>O</a:t>
            </a:r>
            <a:r>
              <a:rPr lang="en-US" altLang="sv-SE" sz="2600" dirty="0"/>
              <a:t> - What is the </a:t>
            </a:r>
            <a:r>
              <a:rPr lang="en-US" altLang="sv-SE" sz="2600" b="1" dirty="0"/>
              <a:t>o</a:t>
            </a:r>
            <a:r>
              <a:rPr lang="en-US" altLang="sv-SE" sz="2600" dirty="0"/>
              <a:t>utcome?</a:t>
            </a:r>
            <a:endParaRPr lang="en-GB" altLang="sv-SE" sz="2600"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124</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54828587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125</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441395264"/>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126</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1100978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9212" cy="3598863"/>
          </a:xfrm>
        </p:spPr>
      </p:sp>
      <p:sp>
        <p:nvSpPr>
          <p:cNvPr id="3" name="Notes Placeholder 2"/>
          <p:cNvSpPr>
            <a:spLocks noGrp="1"/>
          </p:cNvSpPr>
          <p:nvPr>
            <p:ph type="body" idx="1"/>
          </p:nvPr>
        </p:nvSpPr>
        <p:spPr/>
        <p:txBody>
          <a:bodyPr/>
          <a:lstStyle/>
          <a:p>
            <a:r>
              <a:rPr lang="en-US" dirty="0"/>
              <a:t>The choice of a certain design depends on the research question and other conditions (ethical issues, financial, </a:t>
            </a:r>
            <a:r>
              <a:rPr lang="en-US" dirty="0" err="1"/>
              <a:t>etc</a:t>
            </a:r>
            <a:r>
              <a:rPr lang="en-US" dirty="0"/>
              <a:t>).</a:t>
            </a:r>
          </a:p>
          <a:p>
            <a:endParaRPr lang="en-US" dirty="0"/>
          </a:p>
          <a:p>
            <a:r>
              <a:rPr lang="en-US" dirty="0"/>
              <a:t>Cohort = </a:t>
            </a:r>
            <a:r>
              <a:rPr lang="en-US" i="1" dirty="0"/>
              <a:t>“any designated group of individuals who are followed or traced over a period of time” </a:t>
            </a:r>
          </a:p>
          <a:p>
            <a:r>
              <a:rPr lang="sv-SE" dirty="0"/>
              <a:t>A </a:t>
            </a:r>
            <a:r>
              <a:rPr lang="en-GB" noProof="0" dirty="0"/>
              <a:t>dictionary</a:t>
            </a:r>
            <a:r>
              <a:rPr lang="sv-SE" dirty="0"/>
              <a:t> </a:t>
            </a:r>
            <a:r>
              <a:rPr lang="sv-SE" dirty="0" err="1"/>
              <a:t>of</a:t>
            </a:r>
            <a:r>
              <a:rPr lang="sv-SE" dirty="0"/>
              <a:t> </a:t>
            </a:r>
            <a:r>
              <a:rPr lang="sv-SE" dirty="0" err="1"/>
              <a:t>Epidemiology</a:t>
            </a:r>
            <a:r>
              <a:rPr lang="sv-SE" dirty="0"/>
              <a:t> - Oxford University Press </a:t>
            </a:r>
          </a:p>
          <a:p>
            <a:r>
              <a:rPr lang="sv-SE" dirty="0"/>
              <a:t>Print ISBN-13: 9780195314496 DOI: 10.1093/</a:t>
            </a:r>
            <a:r>
              <a:rPr lang="sv-SE" dirty="0" err="1"/>
              <a:t>acref</a:t>
            </a:r>
            <a:r>
              <a:rPr lang="sv-SE" dirty="0"/>
              <a:t>/9780195314496.001.0001</a:t>
            </a:r>
            <a:endParaRPr lang="en-US" i="1"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127</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1423536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128</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32912237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129</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580462615"/>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130</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114220777"/>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131</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231954923"/>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dirty="0"/>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132</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59893094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133</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439034204"/>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9212" cy="3598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134</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98974543"/>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dirty="0"/>
              <a:t>Different definition</a:t>
            </a:r>
            <a:r>
              <a:rPr lang="en-US" baseline="0" dirty="0"/>
              <a:t> of </a:t>
            </a:r>
            <a:r>
              <a:rPr lang="en-US" altLang="sv-SE" sz="1200" b="1" dirty="0">
                <a:latin typeface="Verdana" panose="020B0604030504040204" pitchFamily="34" charset="0"/>
                <a:ea typeface="Verdana" panose="020B0604030504040204" pitchFamily="34" charset="0"/>
              </a:rPr>
              <a:t>Retrospective</a:t>
            </a:r>
            <a:r>
              <a:rPr lang="en-US" altLang="sv-SE" sz="1200" dirty="0">
                <a:latin typeface="Verdana" panose="020B0604030504040204" pitchFamily="34" charset="0"/>
                <a:ea typeface="Verdana" panose="020B0604030504040204" pitchFamily="34" charset="0"/>
              </a:rPr>
              <a:t> or </a:t>
            </a:r>
            <a:r>
              <a:rPr lang="en-US" altLang="sv-SE" sz="1200" b="1" dirty="0">
                <a:latin typeface="Verdana" panose="020B0604030504040204" pitchFamily="34" charset="0"/>
                <a:ea typeface="Verdana" panose="020B0604030504040204" pitchFamily="34" charset="0"/>
              </a:rPr>
              <a:t>prospective</a:t>
            </a:r>
            <a:r>
              <a:rPr lang="en-US" altLang="sv-SE" sz="1200" dirty="0">
                <a:latin typeface="Verdana" panose="020B0604030504040204" pitchFamily="34" charset="0"/>
                <a:ea typeface="Verdana" panose="020B0604030504040204" pitchFamily="34" charset="0"/>
              </a:rPr>
              <a:t> </a:t>
            </a:r>
            <a:r>
              <a:rPr lang="en-US" altLang="sv-SE" sz="1200" baseline="0" dirty="0">
                <a:latin typeface="+mn-lt"/>
                <a:ea typeface="ＭＳ Ｐゴシック" pitchFamily="-65" charset="-128"/>
              </a:rPr>
              <a:t> exists in </a:t>
            </a:r>
            <a:r>
              <a:rPr lang="en-US" altLang="sv-SE" sz="1200" baseline="0" dirty="0" err="1">
                <a:latin typeface="+mn-lt"/>
                <a:ea typeface="ＭＳ Ｐゴシック" pitchFamily="-65" charset="-128"/>
              </a:rPr>
              <a:t>litterature</a:t>
            </a:r>
            <a:endParaRPr lang="en-US" altLang="sv-SE" sz="1200" dirty="0">
              <a:latin typeface="Verdana" panose="020B0604030504040204" pitchFamily="34" charset="0"/>
              <a:ea typeface="Verdana" panose="020B0604030504040204" pitchFamily="34" charset="0"/>
            </a:endParaRPr>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135</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89349379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5151">
              <a:defRPr sz="2500">
                <a:solidFill>
                  <a:schemeClr val="tx1"/>
                </a:solidFill>
                <a:latin typeface="Times New Roman" panose="02020603050405020304" pitchFamily="18" charset="0"/>
              </a:defRPr>
            </a:lvl1pPr>
            <a:lvl2pPr marL="776140" indent="-298517" defTabSz="975151">
              <a:defRPr sz="2500">
                <a:solidFill>
                  <a:schemeClr val="tx1"/>
                </a:solidFill>
                <a:latin typeface="Times New Roman" panose="02020603050405020304" pitchFamily="18" charset="0"/>
              </a:defRPr>
            </a:lvl2pPr>
            <a:lvl3pPr marL="1194063" indent="-238812" defTabSz="975151">
              <a:defRPr sz="2500">
                <a:solidFill>
                  <a:schemeClr val="tx1"/>
                </a:solidFill>
                <a:latin typeface="Times New Roman" panose="02020603050405020304" pitchFamily="18" charset="0"/>
              </a:defRPr>
            </a:lvl3pPr>
            <a:lvl4pPr marL="1671689" indent="-238812" defTabSz="975151">
              <a:defRPr sz="2500">
                <a:solidFill>
                  <a:schemeClr val="tx1"/>
                </a:solidFill>
                <a:latin typeface="Times New Roman" panose="02020603050405020304" pitchFamily="18" charset="0"/>
              </a:defRPr>
            </a:lvl4pPr>
            <a:lvl5pPr marL="2149314" indent="-238812" defTabSz="975151">
              <a:defRPr sz="2500">
                <a:solidFill>
                  <a:schemeClr val="tx1"/>
                </a:solidFill>
                <a:latin typeface="Times New Roman" panose="02020603050405020304" pitchFamily="18" charset="0"/>
              </a:defRPr>
            </a:lvl5pPr>
            <a:lvl6pPr marL="2626939" indent="-238812" defTabSz="975151" eaLnBrk="0" fontAlgn="base" hangingPunct="0">
              <a:spcBef>
                <a:spcPct val="0"/>
              </a:spcBef>
              <a:spcAft>
                <a:spcPct val="0"/>
              </a:spcAft>
              <a:defRPr sz="2500">
                <a:solidFill>
                  <a:schemeClr val="tx1"/>
                </a:solidFill>
                <a:latin typeface="Times New Roman" panose="02020603050405020304" pitchFamily="18" charset="0"/>
              </a:defRPr>
            </a:lvl6pPr>
            <a:lvl7pPr marL="3104565" indent="-238812" defTabSz="975151" eaLnBrk="0" fontAlgn="base" hangingPunct="0">
              <a:spcBef>
                <a:spcPct val="0"/>
              </a:spcBef>
              <a:spcAft>
                <a:spcPct val="0"/>
              </a:spcAft>
              <a:defRPr sz="2500">
                <a:solidFill>
                  <a:schemeClr val="tx1"/>
                </a:solidFill>
                <a:latin typeface="Times New Roman" panose="02020603050405020304" pitchFamily="18" charset="0"/>
              </a:defRPr>
            </a:lvl7pPr>
            <a:lvl8pPr marL="3582190" indent="-238812" defTabSz="975151" eaLnBrk="0" fontAlgn="base" hangingPunct="0">
              <a:spcBef>
                <a:spcPct val="0"/>
              </a:spcBef>
              <a:spcAft>
                <a:spcPct val="0"/>
              </a:spcAft>
              <a:defRPr sz="2500">
                <a:solidFill>
                  <a:schemeClr val="tx1"/>
                </a:solidFill>
                <a:latin typeface="Times New Roman" panose="02020603050405020304" pitchFamily="18" charset="0"/>
              </a:defRPr>
            </a:lvl8pPr>
            <a:lvl9pPr marL="4059815" indent="-238812" defTabSz="975151" eaLnBrk="0" fontAlgn="base" hangingPunct="0">
              <a:spcBef>
                <a:spcPct val="0"/>
              </a:spcBef>
              <a:spcAft>
                <a:spcPct val="0"/>
              </a:spcAft>
              <a:defRPr sz="2500">
                <a:solidFill>
                  <a:schemeClr val="tx1"/>
                </a:solidFill>
                <a:latin typeface="Times New Roman" panose="02020603050405020304" pitchFamily="18" charset="0"/>
              </a:defRPr>
            </a:lvl9pPr>
          </a:lstStyle>
          <a:p>
            <a:fld id="{1660F0F2-4E95-4F6A-A7E9-EAC0DF90BC72}" type="slidenum">
              <a:rPr lang="en-US" altLang="sv-SE" sz="1000"/>
              <a:pPr/>
              <a:t>136</a:t>
            </a:fld>
            <a:endParaRPr lang="en-US" altLang="sv-SE" sz="100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sv-SE"/>
              <a:t>Cross-sectional studies involve point prevalence, not incidence.  For very infrequent diseases they are of  limited utility</a:t>
            </a:r>
          </a:p>
        </p:txBody>
      </p:sp>
      <p:sp>
        <p:nvSpPr>
          <p:cNvPr id="3" name="Date Placeholder 2"/>
          <p:cNvSpPr>
            <a:spLocks noGrp="1"/>
          </p:cNvSpPr>
          <p:nvPr>
            <p:ph type="dt" idx="10"/>
          </p:nvPr>
        </p:nvSpPr>
        <p:spPr/>
        <p:txBody>
          <a:bodyPr/>
          <a:lstStyle/>
          <a:p>
            <a:pPr>
              <a:defRPr/>
            </a:pPr>
            <a:endParaRPr lang="sv-SE"/>
          </a:p>
        </p:txBody>
      </p:sp>
    </p:spTree>
    <p:extLst>
      <p:ext uri="{BB962C8B-B14F-4D97-AF65-F5344CB8AC3E}">
        <p14:creationId xmlns:p14="http://schemas.microsoft.com/office/powerpoint/2010/main" val="232063985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fld id="{CECB7405-4276-4FEB-8EA2-369570AA649A}" type="slidenum">
              <a:rPr lang="sv-SE" smtClean="0"/>
              <a:pPr/>
              <a:t>137</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098197505"/>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9212" cy="3598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138</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91656571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139</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04093011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9212" cy="3598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140</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98383432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141</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2431839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142</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22022512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143</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677732173"/>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144</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013629795"/>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Chapter 1-3 contains basic information about data, scales and presentation. </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a:effectLst/>
              </a:rPr>
              <a:t>The material is</a:t>
            </a:r>
            <a:r>
              <a:rPr lang="en-US" dirty="0">
                <a:effectLst/>
              </a:rPr>
              <a:t> vital for the understanding of statistics</a:t>
            </a:r>
            <a:r>
              <a:rPr lang="sv-SE" baseline="0" dirty="0">
                <a:effectLst/>
              </a:rPr>
              <a:t> and </a:t>
            </a:r>
            <a:r>
              <a:rPr lang="en-US" baseline="0" dirty="0">
                <a:effectLst/>
              </a:rPr>
              <a:t>might be familiar for many of you from previous courses.</a:t>
            </a:r>
            <a:endParaRPr lang="sv-SE"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145</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470442663"/>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300" dirty="0"/>
          </a:p>
          <a:p>
            <a:r>
              <a:rPr lang="en-US" sz="1300" dirty="0"/>
              <a:t>All the bold letter are statistical terms, </a:t>
            </a:r>
          </a:p>
          <a:p>
            <a:r>
              <a:rPr lang="en-US" sz="1300" dirty="0"/>
              <a:t>Statistics is useful and necessary in situations when we expect a variation in result. What does it mean to have “To have a variation in the results” ?</a:t>
            </a:r>
          </a:p>
          <a:p>
            <a:endParaRPr lang="en-US" sz="1300" dirty="0"/>
          </a:p>
          <a:p>
            <a:pPr defTabSz="473705">
              <a:defRPr/>
            </a:pPr>
            <a:r>
              <a:rPr lang="en-US" sz="1300" dirty="0"/>
              <a:t>Knowledge in Statistics also helps us to critically analyze results from other researchers projects.</a:t>
            </a:r>
          </a:p>
          <a:p>
            <a:endParaRPr lang="en-US" sz="1300" dirty="0"/>
          </a:p>
          <a:p>
            <a:r>
              <a:rPr lang="en-US" sz="1300" dirty="0"/>
              <a:t>Sample surveys are used to infer about a large population by analyzing data from a smaller part of the population. </a:t>
            </a:r>
          </a:p>
          <a:p>
            <a:r>
              <a:rPr lang="en-US" sz="1300" dirty="0"/>
              <a:t>Using samples causes some degree of statistical uncertainty! Maybe results we observe may be due to chance.</a:t>
            </a:r>
          </a:p>
          <a:p>
            <a:endParaRPr lang="en-US" sz="1300" dirty="0"/>
          </a:p>
          <a:p>
            <a:r>
              <a:rPr lang="en-US" sz="1300" dirty="0"/>
              <a:t>What we observe in a sample (the mean height, the improvement of a condition due to a treatment) does not automatically reflect what happens in the general population, unless the sample is well chosen (in which case is called representative of the population).</a:t>
            </a:r>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146</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524140807"/>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population parameters often are denoted by Greek-letter, while Latin-letters often are used for sample statistics.</a:t>
            </a:r>
            <a:r>
              <a:rPr lang="en-US" baseline="0" dirty="0"/>
              <a:t> </a:t>
            </a:r>
          </a:p>
          <a:p>
            <a:endParaRPr lang="en-US" baseline="0" dirty="0"/>
          </a:p>
          <a:p>
            <a:pPr defTabSz="477870"/>
            <a:r>
              <a:rPr lang="en-US" dirty="0"/>
              <a:t>A common aim of statistical analysis is to produce information or deduce about some chosen population</a:t>
            </a:r>
            <a:r>
              <a:rPr lang="en-US" baseline="0" dirty="0"/>
              <a:t> based on sample based characteristics</a:t>
            </a:r>
          </a:p>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147</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77234252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Quantitative data</a:t>
            </a:r>
            <a:r>
              <a:rPr lang="en-US" dirty="0"/>
              <a:t>: is based on data that can be </a:t>
            </a:r>
            <a:r>
              <a:rPr lang="en-US" b="1" dirty="0"/>
              <a:t>measured</a:t>
            </a:r>
            <a:r>
              <a:rPr lang="en-US" dirty="0"/>
              <a:t>. </a:t>
            </a:r>
          </a:p>
          <a:p>
            <a:r>
              <a:rPr lang="en-US" b="1" dirty="0"/>
              <a:t>E.g.</a:t>
            </a:r>
            <a:r>
              <a:rPr lang="en-US" dirty="0"/>
              <a:t> blood pressure measurements. number of pregnancies. body weight</a:t>
            </a:r>
          </a:p>
          <a:p>
            <a:endParaRPr lang="en-US" b="1" dirty="0"/>
          </a:p>
          <a:p>
            <a:r>
              <a:rPr lang="en-US" b="1" dirty="0"/>
              <a:t>   Continuous</a:t>
            </a:r>
            <a:r>
              <a:rPr lang="en-US" dirty="0"/>
              <a:t>: possible values are infinite (</a:t>
            </a:r>
            <a:r>
              <a:rPr lang="en-US" dirty="0" err="1"/>
              <a:t>Sv</a:t>
            </a:r>
            <a:r>
              <a:rPr lang="en-US" dirty="0"/>
              <a:t>: </a:t>
            </a:r>
            <a:r>
              <a:rPr lang="en-US" dirty="0" err="1"/>
              <a:t>obegränsat</a:t>
            </a:r>
            <a:r>
              <a:rPr lang="en-US" dirty="0"/>
              <a:t>) </a:t>
            </a:r>
          </a:p>
          <a:p>
            <a:pPr defTabSz="947182">
              <a:defRPr/>
            </a:pPr>
            <a:r>
              <a:rPr lang="en-US" b="1" dirty="0"/>
              <a:t>   Discrete</a:t>
            </a:r>
            <a:r>
              <a:rPr lang="en-US" dirty="0"/>
              <a:t>: there is a finite number of possible values (one can calculate the number of possible values) – All examples are counts of events For example: number 	of pregnancies</a:t>
            </a:r>
          </a:p>
          <a:p>
            <a:endParaRPr lang="en-US" dirty="0"/>
          </a:p>
          <a:p>
            <a:r>
              <a:rPr lang="en-US" b="1" dirty="0"/>
              <a:t>Qualitative/Categorical data </a:t>
            </a:r>
            <a:r>
              <a:rPr lang="en-US" dirty="0"/>
              <a:t>is based on data that can be described. </a:t>
            </a:r>
          </a:p>
          <a:p>
            <a:r>
              <a:rPr lang="en-US" b="1" dirty="0"/>
              <a:t>E.g.</a:t>
            </a:r>
            <a:r>
              <a:rPr lang="en-US" dirty="0"/>
              <a:t> quality of sleep (bad/acceptable/very good). smoking status (yes/ no)   </a:t>
            </a:r>
          </a:p>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148</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833809280"/>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Qualitative/Categorical data </a:t>
            </a:r>
            <a:r>
              <a:rPr lang="en-US" dirty="0"/>
              <a:t>is based on data that can be described. And are on</a:t>
            </a:r>
          </a:p>
          <a:p>
            <a:r>
              <a:rPr lang="en-US" dirty="0"/>
              <a:t>Nominal scale: </a:t>
            </a:r>
            <a:r>
              <a:rPr lang="en-US" u="sng" dirty="0"/>
              <a:t>No particular order</a:t>
            </a:r>
          </a:p>
          <a:p>
            <a:r>
              <a:rPr lang="en-US" dirty="0"/>
              <a:t>Ordinal scale:  </a:t>
            </a:r>
            <a:r>
              <a:rPr lang="en-US" u="sng" dirty="0"/>
              <a:t>Has a natural order</a:t>
            </a:r>
          </a:p>
          <a:p>
            <a:endParaRPr lang="en-US" dirty="0"/>
          </a:p>
          <a:p>
            <a:r>
              <a:rPr lang="en-US" b="1" dirty="0"/>
              <a:t>Quantitative data</a:t>
            </a:r>
            <a:r>
              <a:rPr lang="en-US" dirty="0"/>
              <a:t>: is based on data that can be </a:t>
            </a:r>
            <a:r>
              <a:rPr lang="en-US" b="1" dirty="0"/>
              <a:t>measured</a:t>
            </a:r>
            <a:r>
              <a:rPr lang="en-US" dirty="0"/>
              <a:t>. </a:t>
            </a:r>
          </a:p>
          <a:p>
            <a:r>
              <a:rPr lang="en-US" b="1" dirty="0"/>
              <a:t>E.g.</a:t>
            </a:r>
            <a:r>
              <a:rPr lang="en-US" dirty="0"/>
              <a:t> blood pressure measurements. number of pregnancies. body weight</a:t>
            </a:r>
          </a:p>
          <a:p>
            <a:endParaRPr lang="en-US" dirty="0"/>
          </a:p>
          <a:p>
            <a:r>
              <a:rPr lang="en-US" dirty="0"/>
              <a:t>Interval scale: </a:t>
            </a:r>
            <a:r>
              <a:rPr lang="en-US" u="sng" dirty="0"/>
              <a:t>Has an natural order </a:t>
            </a:r>
            <a:r>
              <a:rPr lang="en-US" b="1" dirty="0"/>
              <a:t>and</a:t>
            </a:r>
            <a:r>
              <a:rPr lang="en-US" dirty="0"/>
              <a:t> a defined “distance”</a:t>
            </a:r>
          </a:p>
          <a:p>
            <a:r>
              <a:rPr lang="en-US" dirty="0"/>
              <a:t>Ratio scale: </a:t>
            </a:r>
            <a:r>
              <a:rPr lang="en-US" u="sng" dirty="0"/>
              <a:t>Has an natural order</a:t>
            </a:r>
            <a:r>
              <a:rPr lang="en-US" dirty="0"/>
              <a:t> </a:t>
            </a:r>
            <a:r>
              <a:rPr lang="en-US" b="1" dirty="0"/>
              <a:t>and</a:t>
            </a:r>
            <a:r>
              <a:rPr lang="en-US" dirty="0"/>
              <a:t> “distance” </a:t>
            </a:r>
            <a:r>
              <a:rPr lang="en-US" b="1" dirty="0"/>
              <a:t>and</a:t>
            </a:r>
            <a:r>
              <a:rPr lang="en-US" dirty="0"/>
              <a:t> a “Zero-value”</a:t>
            </a:r>
          </a:p>
          <a:p>
            <a:pPr defTabSz="947182" eaLnBrk="1" fontAlgn="auto" hangingPunct="1">
              <a:spcBef>
                <a:spcPts val="0"/>
              </a:spcBef>
              <a:spcAft>
                <a:spcPts val="0"/>
              </a:spcAft>
              <a:defRPr/>
            </a:pP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149</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174439297"/>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500" dirty="0"/>
              <a:t>Note: The interval scale has also a zero-value as the ratio scale.  And can take negative and positive values</a:t>
            </a:r>
          </a:p>
          <a:p>
            <a:r>
              <a:rPr lang="en-US" sz="1500" dirty="0"/>
              <a:t>The difference is that a variable on the </a:t>
            </a:r>
            <a:r>
              <a:rPr lang="en-US" sz="1500" b="1" dirty="0"/>
              <a:t>interval scale </a:t>
            </a:r>
            <a:r>
              <a:rPr lang="en-US" sz="1500" dirty="0"/>
              <a:t>can have values to the left and right of the zero-value;  </a:t>
            </a:r>
          </a:p>
          <a:p>
            <a:endParaRPr lang="en-US" sz="1500" dirty="0"/>
          </a:p>
          <a:p>
            <a:r>
              <a:rPr lang="en-US" sz="1500" dirty="0"/>
              <a:t>Variables on a ratio scale can’t take values lower than the zero-value. Only Positives</a:t>
            </a:r>
          </a:p>
          <a:p>
            <a:endParaRPr lang="en-US" sz="1500" dirty="0"/>
          </a:p>
          <a:p>
            <a:r>
              <a:rPr lang="en-US" sz="1500" dirty="0"/>
              <a:t>If ratios of 2 measurements has a meaning and makes sense then Ratio scale.</a:t>
            </a:r>
          </a:p>
          <a:p>
            <a:endParaRPr lang="en-US" sz="1500" dirty="0"/>
          </a:p>
          <a:p>
            <a:r>
              <a:rPr lang="en-US" sz="1500" dirty="0"/>
              <a:t> Does “Zero” has a meaning? </a:t>
            </a:r>
            <a:r>
              <a:rPr lang="en-US" dirty="0"/>
              <a:t>Zero kelvin (−273.15 °C) is defined as absolute zero.</a:t>
            </a:r>
            <a:endParaRPr lang="en-US" sz="1500" dirty="0"/>
          </a:p>
          <a:p>
            <a:r>
              <a:rPr lang="en-US" sz="1500" dirty="0"/>
              <a:t>https</a:t>
            </a:r>
            <a:r>
              <a:rPr lang="en-US" sz="1500"/>
              <a:t>://en.wikipedia.org/wiki/Absolute_zero</a:t>
            </a:r>
            <a:endParaRPr lang="en-US" sz="1500" dirty="0"/>
          </a:p>
          <a:p>
            <a:r>
              <a:rPr lang="en-US" sz="1500" dirty="0"/>
              <a:t>What do you think about </a:t>
            </a:r>
            <a:r>
              <a:rPr lang="en-US" sz="1500" b="1" dirty="0"/>
              <a:t>“Degree of pain”? </a:t>
            </a:r>
            <a:r>
              <a:rPr lang="en-US" sz="1500" dirty="0"/>
              <a:t>Scale? </a:t>
            </a:r>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150</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506205585"/>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kern="1200" noProof="0" dirty="0">
                <a:solidFill>
                  <a:schemeClr val="tx1"/>
                </a:solidFill>
                <a:latin typeface="+mn-lt"/>
                <a:ea typeface="+mn-ea"/>
                <a:cs typeface="+mn-cs"/>
              </a:rPr>
              <a:t>Any statistic is classified as being either descriptive or analytical.</a:t>
            </a:r>
          </a:p>
          <a:p>
            <a:endParaRPr lang="en-US" sz="1400" kern="1200" noProof="0" dirty="0">
              <a:solidFill>
                <a:schemeClr val="tx1"/>
              </a:solidFill>
              <a:latin typeface="+mn-lt"/>
              <a:ea typeface="+mn-ea"/>
              <a:cs typeface="+mn-cs"/>
            </a:endParaRPr>
          </a:p>
          <a:p>
            <a:r>
              <a:rPr lang="en-US" sz="1400" b="1" noProof="0" dirty="0"/>
              <a:t>Descriptive</a:t>
            </a:r>
            <a:r>
              <a:rPr lang="en-US" sz="1400" b="1" baseline="0" noProof="0" dirty="0"/>
              <a:t> statistics</a:t>
            </a:r>
            <a:r>
              <a:rPr lang="en-US" sz="1400" baseline="0" noProof="0" dirty="0"/>
              <a:t> gives, as it’s name reveals, a description of the data sample. This include for example graphs, mean values, median values and different measurements of variation (how far or close values are from the mean, for example). </a:t>
            </a:r>
          </a:p>
          <a:p>
            <a:r>
              <a:rPr lang="en-US" sz="1400" baseline="0" noProof="0" dirty="0"/>
              <a:t>The purpose of </a:t>
            </a:r>
            <a:r>
              <a:rPr lang="en-US" sz="1400" b="1" baseline="0" noProof="0" dirty="0"/>
              <a:t>descriptive statistics</a:t>
            </a:r>
            <a:r>
              <a:rPr lang="en-US" sz="1400" baseline="0" noProof="0" dirty="0"/>
              <a:t> is to summarize or describe a data set. Researchers use these statistics to describe or characterize the population or sample being studied.</a:t>
            </a:r>
          </a:p>
          <a:p>
            <a:endParaRPr lang="sv-SE" sz="1400" baseline="0" dirty="0"/>
          </a:p>
          <a:p>
            <a:r>
              <a:rPr lang="en-US" sz="1400" baseline="0" noProof="0" dirty="0"/>
              <a:t>To do an analysis, </a:t>
            </a:r>
            <a:r>
              <a:rPr lang="en-US" sz="1400" b="1" baseline="0" noProof="0" dirty="0"/>
              <a:t>analytical statistics</a:t>
            </a:r>
            <a:r>
              <a:rPr lang="en-US" sz="1400" baseline="0" noProof="0" dirty="0"/>
              <a:t>, or </a:t>
            </a:r>
            <a:r>
              <a:rPr lang="en-US" sz="1400" b="1" baseline="0" noProof="0" dirty="0"/>
              <a:t>inferential</a:t>
            </a:r>
            <a:r>
              <a:rPr lang="en-US" sz="1400" baseline="0" noProof="0" dirty="0"/>
              <a:t> statistics, is needed. </a:t>
            </a:r>
            <a:r>
              <a:rPr lang="en-US" sz="1400" noProof="0" dirty="0"/>
              <a:t>The aim</a:t>
            </a:r>
            <a:r>
              <a:rPr lang="en-US" sz="1400" baseline="0" noProof="0" dirty="0"/>
              <a:t> of analytical statistics is</a:t>
            </a:r>
            <a:r>
              <a:rPr lang="en-US" sz="1400" noProof="0" dirty="0"/>
              <a:t> to draw conclusions about a population based on</a:t>
            </a:r>
            <a:r>
              <a:rPr lang="en-US" sz="1400" baseline="0" noProof="0" dirty="0"/>
              <a:t> the data</a:t>
            </a:r>
            <a:r>
              <a:rPr lang="en-US" sz="1400" noProof="0" dirty="0"/>
              <a:t> at hand. For example if a </a:t>
            </a:r>
            <a:r>
              <a:rPr lang="en-US" sz="1400" dirty="0">
                <a:effectLst/>
              </a:rPr>
              <a:t>difference between</a:t>
            </a:r>
            <a:r>
              <a:rPr lang="en-US" sz="1400" baseline="0" dirty="0">
                <a:effectLst/>
              </a:rPr>
              <a:t> two groups </a:t>
            </a:r>
            <a:r>
              <a:rPr lang="en-US" sz="1400" dirty="0">
                <a:effectLst/>
              </a:rPr>
              <a:t>is statistically significant, i.e. if the difference is larger than could be expect to</a:t>
            </a:r>
            <a:r>
              <a:rPr lang="en-US" sz="1400" baseline="0" dirty="0">
                <a:effectLst/>
              </a:rPr>
              <a:t> </a:t>
            </a:r>
            <a:r>
              <a:rPr lang="en-US" sz="1400" dirty="0">
                <a:effectLst/>
              </a:rPr>
              <a:t>occur randomly.</a:t>
            </a:r>
            <a:endParaRPr lang="en-US" sz="1400" baseline="0" noProof="0" dirty="0"/>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pPr>
                <a:defRPr/>
              </a:pPr>
              <a:t>151</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669515800"/>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sz="1600" dirty="0" err="1"/>
              <a:t>Numerical</a:t>
            </a:r>
            <a:r>
              <a:rPr lang="sv-SE" sz="1600" baseline="0" dirty="0"/>
              <a:t> </a:t>
            </a:r>
            <a:r>
              <a:rPr lang="sv-SE" sz="1600" baseline="0" dirty="0" err="1"/>
              <a:t>characteristics</a:t>
            </a:r>
            <a:r>
              <a:rPr lang="sv-SE" sz="1600" baseline="0" dirty="0"/>
              <a:t> /parameters </a:t>
            </a:r>
            <a:r>
              <a:rPr lang="sv-SE" sz="1600" baseline="0" dirty="0" err="1"/>
              <a:t>of</a:t>
            </a:r>
            <a:r>
              <a:rPr lang="sv-SE" sz="1600" baseline="0" dirty="0"/>
              <a:t> the population </a:t>
            </a:r>
            <a:r>
              <a:rPr lang="sv-SE" sz="1600" baseline="0" dirty="0" err="1"/>
              <a:t>that</a:t>
            </a:r>
            <a:r>
              <a:rPr lang="sv-SE" sz="1600" baseline="0" dirty="0"/>
              <a:t> </a:t>
            </a:r>
            <a:r>
              <a:rPr lang="sv-SE" sz="1600" baseline="0" dirty="0" err="1"/>
              <a:t>will</a:t>
            </a:r>
            <a:r>
              <a:rPr lang="sv-SE" sz="1600" baseline="0" dirty="0"/>
              <a:t> be estimated from the </a:t>
            </a:r>
            <a:r>
              <a:rPr lang="sv-SE" sz="1600" baseline="0" dirty="0" err="1"/>
              <a:t>sample</a:t>
            </a:r>
            <a:r>
              <a:rPr lang="sv-SE" sz="1600" baseline="0" dirty="0"/>
              <a:t> </a:t>
            </a:r>
            <a:r>
              <a:rPr lang="sv-SE" sz="1600" baseline="0" dirty="0" err="1"/>
              <a:t>values</a:t>
            </a:r>
            <a:r>
              <a:rPr lang="sv-SE" sz="1600" baseline="0" dirty="0"/>
              <a:t>.</a:t>
            </a:r>
          </a:p>
          <a:p>
            <a:endParaRPr lang="sv-SE" sz="1600" baseline="0" dirty="0"/>
          </a:p>
          <a:p>
            <a:r>
              <a:rPr lang="sv-SE" sz="1600" baseline="0" dirty="0"/>
              <a:t>The </a:t>
            </a:r>
            <a:r>
              <a:rPr lang="sv-SE" sz="1600" baseline="0" dirty="0" err="1"/>
              <a:t>most</a:t>
            </a:r>
            <a:r>
              <a:rPr lang="sv-SE" sz="1600" baseline="0" dirty="0"/>
              <a:t> common is the </a:t>
            </a:r>
            <a:r>
              <a:rPr lang="sv-SE" sz="1600" baseline="0" dirty="0" err="1"/>
              <a:t>arthimatic</a:t>
            </a:r>
            <a:r>
              <a:rPr lang="sv-SE" sz="1600" baseline="0" dirty="0"/>
              <a:t> </a:t>
            </a:r>
            <a:r>
              <a:rPr lang="sv-SE" sz="1600" baseline="0" dirty="0" err="1"/>
              <a:t>mean</a:t>
            </a:r>
            <a:r>
              <a:rPr lang="sv-SE" sz="1600" baseline="0" dirty="0"/>
              <a:t>/</a:t>
            </a:r>
            <a:r>
              <a:rPr lang="sv-SE" sz="1600" baseline="0" dirty="0" err="1"/>
              <a:t>average</a:t>
            </a:r>
            <a:r>
              <a:rPr lang="sv-SE" sz="1600" baseline="0" dirty="0"/>
              <a:t> = </a:t>
            </a:r>
            <a:r>
              <a:rPr lang="sv-SE" sz="1600" baseline="0" dirty="0" err="1"/>
              <a:t>sum</a:t>
            </a:r>
            <a:r>
              <a:rPr lang="sv-SE" sz="1600" baseline="0" dirty="0"/>
              <a:t>(x1, x2, …</a:t>
            </a:r>
            <a:r>
              <a:rPr lang="sv-SE" sz="1600" baseline="0" dirty="0" err="1"/>
              <a:t>xn</a:t>
            </a:r>
            <a:r>
              <a:rPr lang="sv-SE" sz="1600" baseline="0" dirty="0"/>
              <a:t>)/n</a:t>
            </a:r>
          </a:p>
          <a:p>
            <a:endParaRPr lang="sv-SE" sz="1600" baseline="0" dirty="0"/>
          </a:p>
          <a:p>
            <a:r>
              <a:rPr lang="sv-SE" sz="1600" baseline="0" dirty="0"/>
              <a:t>If </a:t>
            </a:r>
            <a:r>
              <a:rPr lang="sv-SE" sz="1600" baseline="0" dirty="0" err="1"/>
              <a:t>sample</a:t>
            </a:r>
            <a:r>
              <a:rPr lang="sv-SE" sz="1600" baseline="0" dirty="0"/>
              <a:t> </a:t>
            </a:r>
            <a:r>
              <a:rPr lang="sv-SE" sz="1600" baseline="0" dirty="0" err="1"/>
              <a:t>size</a:t>
            </a:r>
            <a:r>
              <a:rPr lang="sv-SE" sz="1600" baseline="0" dirty="0"/>
              <a:t> is </a:t>
            </a:r>
            <a:r>
              <a:rPr lang="sv-SE" sz="1600" baseline="0" dirty="0" err="1"/>
              <a:t>odd</a:t>
            </a:r>
            <a:r>
              <a:rPr lang="sv-SE" sz="1600" baseline="0" dirty="0"/>
              <a:t> </a:t>
            </a:r>
            <a:r>
              <a:rPr lang="sv-SE" sz="1600" baseline="0" dirty="0" err="1"/>
              <a:t>then</a:t>
            </a:r>
            <a:r>
              <a:rPr lang="sv-SE" sz="1600" baseline="0" dirty="0"/>
              <a:t> median is the </a:t>
            </a:r>
            <a:r>
              <a:rPr lang="sv-SE" sz="1600" baseline="0" dirty="0" err="1"/>
              <a:t>middle</a:t>
            </a:r>
            <a:r>
              <a:rPr lang="sv-SE" sz="1600" baseline="0" dirty="0"/>
              <a:t> </a:t>
            </a:r>
            <a:r>
              <a:rPr lang="sv-SE" sz="1600" baseline="0" dirty="0" err="1"/>
              <a:t>value</a:t>
            </a:r>
            <a:r>
              <a:rPr lang="sv-SE" sz="1600" baseline="0" dirty="0"/>
              <a:t> </a:t>
            </a:r>
            <a:r>
              <a:rPr lang="sv-SE" sz="1600" baseline="0" dirty="0" err="1"/>
              <a:t>of</a:t>
            </a:r>
            <a:r>
              <a:rPr lang="sv-SE" sz="1600" baseline="0" dirty="0"/>
              <a:t> the </a:t>
            </a:r>
            <a:r>
              <a:rPr lang="sv-SE" sz="1600" baseline="0" dirty="0" err="1"/>
              <a:t>ordered</a:t>
            </a:r>
            <a:r>
              <a:rPr lang="sv-SE" sz="1600" baseline="0" dirty="0"/>
              <a:t> observation; in </a:t>
            </a:r>
            <a:r>
              <a:rPr lang="sv-SE" sz="1600" baseline="0" dirty="0" err="1"/>
              <a:t>samples</a:t>
            </a:r>
            <a:r>
              <a:rPr lang="sv-SE" sz="1600" baseline="0" dirty="0"/>
              <a:t> </a:t>
            </a:r>
            <a:r>
              <a:rPr lang="sv-SE" sz="1600" baseline="0" dirty="0" err="1"/>
              <a:t>with</a:t>
            </a:r>
            <a:r>
              <a:rPr lang="sv-SE" sz="1600" baseline="0" dirty="0"/>
              <a:t> </a:t>
            </a:r>
            <a:r>
              <a:rPr lang="sv-SE" sz="1600" baseline="0" dirty="0" err="1"/>
              <a:t>even</a:t>
            </a:r>
            <a:r>
              <a:rPr lang="sv-SE" sz="1600" baseline="0" dirty="0"/>
              <a:t> </a:t>
            </a:r>
            <a:r>
              <a:rPr lang="sv-SE" sz="1600" baseline="0" dirty="0" err="1"/>
              <a:t>numbers</a:t>
            </a:r>
            <a:r>
              <a:rPr lang="sv-SE" sz="1600" baseline="0" dirty="0"/>
              <a:t> </a:t>
            </a:r>
            <a:r>
              <a:rPr lang="sv-SE" sz="1600" baseline="0" dirty="0" err="1"/>
              <a:t>of</a:t>
            </a:r>
            <a:r>
              <a:rPr lang="sv-SE" sz="1600" baseline="0" dirty="0"/>
              <a:t> observations the </a:t>
            </a:r>
            <a:r>
              <a:rPr lang="sv-SE" sz="1600" baseline="0" dirty="0" err="1"/>
              <a:t>average</a:t>
            </a:r>
            <a:r>
              <a:rPr lang="sv-SE" sz="1600" baseline="0" dirty="0"/>
              <a:t> </a:t>
            </a:r>
            <a:r>
              <a:rPr lang="sv-SE" sz="1600" baseline="0" dirty="0" err="1"/>
              <a:t>of</a:t>
            </a:r>
            <a:r>
              <a:rPr lang="sv-SE" sz="1600" baseline="0" dirty="0"/>
              <a:t> the 2 </a:t>
            </a:r>
            <a:r>
              <a:rPr lang="sv-SE" sz="1600" baseline="0" dirty="0" err="1"/>
              <a:t>middle</a:t>
            </a:r>
            <a:r>
              <a:rPr lang="sv-SE" sz="1600" baseline="0" dirty="0"/>
              <a:t> </a:t>
            </a:r>
            <a:r>
              <a:rPr lang="sv-SE" sz="1600" baseline="0" dirty="0" err="1"/>
              <a:t>values</a:t>
            </a:r>
            <a:r>
              <a:rPr lang="sv-SE" sz="1600" baseline="0" dirty="0"/>
              <a:t> gives the median. Median is robust (</a:t>
            </a:r>
            <a:r>
              <a:rPr lang="sv-SE" sz="1600" baseline="0" dirty="0" err="1"/>
              <a:t>insensitive</a:t>
            </a:r>
            <a:r>
              <a:rPr lang="sv-SE" sz="1600" baseline="0" dirty="0"/>
              <a:t> </a:t>
            </a:r>
            <a:r>
              <a:rPr lang="sv-SE" sz="1600" baseline="0" dirty="0" err="1"/>
              <a:t>to</a:t>
            </a:r>
            <a:r>
              <a:rPr lang="sv-SE" sz="1600" baseline="0" dirty="0"/>
              <a:t> </a:t>
            </a:r>
            <a:r>
              <a:rPr lang="sv-SE" sz="1600" baseline="0" dirty="0" err="1"/>
              <a:t>outliers</a:t>
            </a:r>
            <a:r>
              <a:rPr lang="sv-SE" sz="1600" baseline="0" dirty="0"/>
              <a:t>)</a:t>
            </a:r>
          </a:p>
          <a:p>
            <a:endParaRPr lang="sv-SE" baseline="0" dirty="0"/>
          </a:p>
          <a:p>
            <a:endParaRPr lang="sv-SE" dirty="0"/>
          </a:p>
        </p:txBody>
      </p:sp>
      <p:sp>
        <p:nvSpPr>
          <p:cNvPr id="4" name="Platshållare för bildnummer 3"/>
          <p:cNvSpPr>
            <a:spLocks noGrp="1"/>
          </p:cNvSpPr>
          <p:nvPr>
            <p:ph type="sldNum" sz="quarter" idx="10"/>
          </p:nvPr>
        </p:nvSpPr>
        <p:spPr/>
        <p:txBody>
          <a:bodyPr/>
          <a:lstStyle/>
          <a:p>
            <a:pPr>
              <a:defRPr/>
            </a:pPr>
            <a:fld id="{E2296650-2E2C-4972-BF52-9F62FD96D473}" type="slidenum">
              <a:rPr lang="sv-SE" smtClean="0"/>
              <a:pPr>
                <a:defRPr/>
              </a:pPr>
              <a:t>152</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8291086"/>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a:p>
            <a:endParaRPr lang="sv-SE" dirty="0"/>
          </a:p>
        </p:txBody>
      </p:sp>
      <p:sp>
        <p:nvSpPr>
          <p:cNvPr id="4" name="Platshållare för bildnumm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153</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3804667113"/>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normAutofit lnSpcReduction="10000"/>
          </a:bodyPr>
          <a:lstStyle/>
          <a:p>
            <a:r>
              <a:rPr lang="en-US" dirty="0"/>
              <a:t>This is a guide to choose which statistical test to use to answer an specific research question.</a:t>
            </a:r>
          </a:p>
          <a:p>
            <a:endParaRPr lang="en-US" dirty="0"/>
          </a:p>
          <a:p>
            <a:r>
              <a:rPr lang="en-US" dirty="0"/>
              <a:t>Discovering Statistics Using IBM SPSS Statistics</a:t>
            </a:r>
          </a:p>
          <a:p>
            <a:r>
              <a:rPr lang="en-US" dirty="0"/>
              <a:t>5</a:t>
            </a:r>
            <a:r>
              <a:rPr lang="en-US" baseline="30000" dirty="0"/>
              <a:t>th</a:t>
            </a:r>
            <a:r>
              <a:rPr lang="en-US" dirty="0"/>
              <a:t> Edition page: 1072</a:t>
            </a:r>
          </a:p>
          <a:p>
            <a:r>
              <a:rPr lang="en-US" dirty="0"/>
              <a:t>ISBN-13:978-1-5264-1952-1</a:t>
            </a:r>
          </a:p>
          <a:p>
            <a:endParaRPr lang="en-US" dirty="0"/>
          </a:p>
          <a:p>
            <a:r>
              <a:rPr lang="en-US" dirty="0"/>
              <a:t>How to select the correct statistical test for a research project. clinical trial. or other investigation. The first step is to decide</a:t>
            </a:r>
          </a:p>
          <a:p>
            <a:r>
              <a:rPr lang="en-US" dirty="0"/>
              <a:t>in what scale of measurement your data are as this will affect your decision—nominal. ordinal. or interval. </a:t>
            </a:r>
          </a:p>
          <a:p>
            <a:r>
              <a:rPr lang="en-US" dirty="0"/>
              <a:t>The next stage is to consider the purpose of the analysis—for example. are you comparing independent or paired groups? </a:t>
            </a:r>
          </a:p>
          <a:p>
            <a:endParaRPr lang="en-US" dirty="0"/>
          </a:p>
          <a:p>
            <a:r>
              <a:rPr lang="en-US" sz="1500" dirty="0"/>
              <a:t>If an incorrect test is used. then invalid results and misleading conclusions may be drawn from the study.</a:t>
            </a:r>
          </a:p>
          <a:p>
            <a:br>
              <a:rPr lang="en-US" sz="1500" dirty="0"/>
            </a:br>
            <a:r>
              <a:rPr lang="en-US" sz="1700" dirty="0"/>
              <a:t>Scale of measurements; Parametric Assumption; Paired or un-paired data; </a:t>
            </a:r>
            <a:endParaRPr lang="en-US" sz="1500" dirty="0"/>
          </a:p>
          <a:p>
            <a:endParaRPr lang="en-US" dirty="0"/>
          </a:p>
        </p:txBody>
      </p:sp>
      <p:sp>
        <p:nvSpPr>
          <p:cNvPr id="4" name="Platshållare för bildnummer 3"/>
          <p:cNvSpPr>
            <a:spLocks noGrp="1"/>
          </p:cNvSpPr>
          <p:nvPr>
            <p:ph type="sldNum" sz="quarter" idx="10"/>
          </p:nvPr>
        </p:nvSpPr>
        <p:spPr/>
        <p:txBody>
          <a:bodyPr/>
          <a:lstStyle/>
          <a:p>
            <a:pPr>
              <a:defRPr/>
            </a:pPr>
            <a:fld id="{E2296650-2E2C-4972-BF52-9F62FD96D473}" type="slidenum">
              <a:rPr lang="sv-SE" smtClean="0"/>
              <a:pPr>
                <a:defRPr/>
              </a:pPr>
              <a:t>154</a:t>
            </a:fld>
            <a:endParaRPr lang="sv-SE"/>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1698199716"/>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2296650-2E2C-4972-BF52-9F62FD96D473}" type="slidenum">
              <a:rPr lang="sv-SE" smtClean="0">
                <a:solidFill>
                  <a:prstClr val="black"/>
                </a:solidFill>
              </a:rPr>
              <a:pPr>
                <a:defRPr/>
              </a:pPr>
              <a:t>155</a:t>
            </a:fld>
            <a:endParaRPr lang="sv-SE">
              <a:solidFill>
                <a:prstClr val="black"/>
              </a:solidFill>
            </a:endParaRPr>
          </a:p>
        </p:txBody>
      </p:sp>
      <p:sp>
        <p:nvSpPr>
          <p:cNvPr id="6" name="Date Placeholder 5"/>
          <p:cNvSpPr>
            <a:spLocks noGrp="1"/>
          </p:cNvSpPr>
          <p:nvPr>
            <p:ph type="dt" idx="11"/>
          </p:nvPr>
        </p:nvSpPr>
        <p:spPr/>
        <p:txBody>
          <a:bodyPr/>
          <a:lstStyle/>
          <a:p>
            <a:pPr>
              <a:defRPr/>
            </a:pPr>
            <a:endParaRPr lang="sv-SE"/>
          </a:p>
        </p:txBody>
      </p:sp>
    </p:spTree>
    <p:extLst>
      <p:ext uri="{BB962C8B-B14F-4D97-AF65-F5344CB8AC3E}">
        <p14:creationId xmlns:p14="http://schemas.microsoft.com/office/powerpoint/2010/main" val="24130606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sida A vit">
    <p:spTree>
      <p:nvGrpSpPr>
        <p:cNvPr id="1" name=""/>
        <p:cNvGrpSpPr/>
        <p:nvPr/>
      </p:nvGrpSpPr>
      <p:grpSpPr>
        <a:xfrm>
          <a:off x="0" y="0"/>
          <a:ext cx="0" cy="0"/>
          <a:chOff x="0" y="0"/>
          <a:chExt cx="0" cy="0"/>
        </a:xfrm>
      </p:grpSpPr>
      <p:sp>
        <p:nvSpPr>
          <p:cNvPr id="2" name="Rubrik 1"/>
          <p:cNvSpPr>
            <a:spLocks noGrp="1"/>
          </p:cNvSpPr>
          <p:nvPr>
            <p:ph type="ctrTitle" hasCustomPrompt="1"/>
          </p:nvPr>
        </p:nvSpPr>
        <p:spPr>
          <a:xfrm>
            <a:off x="684000" y="1706400"/>
            <a:ext cx="7848440" cy="857250"/>
          </a:xfrm>
        </p:spPr>
        <p:txBody>
          <a:bodyPr anchorCtr="0"/>
          <a:lstStyle>
            <a:lvl1pPr algn="l">
              <a:defRPr sz="4800" b="1" i="0" cap="all" baseline="0">
                <a:latin typeface="+mn-lt"/>
              </a:defRPr>
            </a:lvl1pPr>
          </a:lstStyle>
          <a:p>
            <a:r>
              <a:rPr lang="en-US" dirty="0"/>
              <a:t>PRESENTATIONENs </a:t>
            </a:r>
            <a:r>
              <a:rPr lang="en-US" dirty="0" err="1"/>
              <a:t>titEl</a:t>
            </a:r>
            <a:r>
              <a:rPr lang="en-US" dirty="0"/>
              <a:t> </a:t>
            </a:r>
            <a:r>
              <a:rPr lang="en-US" dirty="0" err="1"/>
              <a:t>Alternativ</a:t>
            </a:r>
            <a:r>
              <a:rPr lang="en-US" dirty="0"/>
              <a:t> A (VIT)</a:t>
            </a:r>
            <a:endParaRPr lang="sv-SE" dirty="0"/>
          </a:p>
        </p:txBody>
      </p:sp>
      <p:sp>
        <p:nvSpPr>
          <p:cNvPr id="13" name="Platshållare för text 12"/>
          <p:cNvSpPr>
            <a:spLocks noGrp="1"/>
          </p:cNvSpPr>
          <p:nvPr>
            <p:ph type="body" sz="quarter" idx="14" hasCustomPrompt="1"/>
          </p:nvPr>
        </p:nvSpPr>
        <p:spPr>
          <a:xfrm>
            <a:off x="684000" y="4522457"/>
            <a:ext cx="7920000" cy="162167"/>
          </a:xfrm>
        </p:spPr>
        <p:txBody>
          <a:bodyPr tIns="0" bIns="0" anchor="ctr"/>
          <a:lstStyle>
            <a:lvl1pPr marL="0" indent="0">
              <a:lnSpc>
                <a:spcPct val="100000"/>
              </a:lnSpc>
              <a:spcBef>
                <a:spcPts val="0"/>
              </a:spcBef>
              <a:buFontTx/>
              <a:buNone/>
              <a:defRPr sz="1200" b="0" i="0" cap="all" baseline="0">
                <a:latin typeface="+mj-lt"/>
              </a:defRPr>
            </a:lvl1pPr>
          </a:lstStyle>
          <a:p>
            <a:pPr lvl="0"/>
            <a:r>
              <a:rPr lang="sv-SE" dirty="0"/>
              <a:t>ADNAN NOOR BALOCH</a:t>
            </a:r>
          </a:p>
        </p:txBody>
      </p:sp>
      <p:sp>
        <p:nvSpPr>
          <p:cNvPr id="10" name="Platshållare för bild 7">
            <a:extLst>
              <a:ext uri="{FF2B5EF4-FFF2-40B4-BE49-F238E27FC236}">
                <a16:creationId xmlns:a16="http://schemas.microsoft.com/office/drawing/2014/main" id="{0D81FAAB-626C-A444-981E-C65477F5192E}"/>
              </a:ext>
            </a:extLst>
          </p:cNvPr>
          <p:cNvSpPr>
            <a:spLocks noGrp="1" noChangeAspect="1"/>
          </p:cNvSpPr>
          <p:nvPr>
            <p:ph type="pic" sz="quarter" idx="17" hasCustomPrompt="1"/>
          </p:nvPr>
        </p:nvSpPr>
        <p:spPr>
          <a:xfrm>
            <a:off x="684000" y="0"/>
            <a:ext cx="844481" cy="857250"/>
          </a:xfrm>
          <a:prstGeom prst="rect">
            <a:avLst/>
          </a:prstGeom>
          <a:blipFill rotWithShape="1">
            <a:blip r:embed="rId2" cstate="screen">
              <a:extLst>
                <a:ext uri="{28A0092B-C50C-407E-A947-70E740481C1C}">
                  <a14:useLocalDpi xmlns:a14="http://schemas.microsoft.com/office/drawing/2010/main"/>
                </a:ext>
              </a:extLst>
            </a:blip>
            <a:stretch>
              <a:fillRect/>
            </a:stretch>
          </a:blipFill>
        </p:spPr>
        <p:txBody>
          <a:bodyPr>
            <a:normAutofit/>
          </a:bodyPr>
          <a:lstStyle>
            <a:lvl1pPr marL="0" indent="0">
              <a:buNone/>
              <a:defRPr/>
            </a:lvl1pPr>
          </a:lstStyle>
          <a:p>
            <a:pPr lvl="0"/>
            <a:r>
              <a:rPr lang="sv-SE" noProof="0" dirty="0"/>
              <a:t> </a:t>
            </a:r>
          </a:p>
        </p:txBody>
      </p:sp>
      <p:sp>
        <p:nvSpPr>
          <p:cNvPr id="5" name="Platshållare för datum 4">
            <a:extLst>
              <a:ext uri="{FF2B5EF4-FFF2-40B4-BE49-F238E27FC236}">
                <a16:creationId xmlns:a16="http://schemas.microsoft.com/office/drawing/2014/main" id="{A2512509-058E-6340-B5DB-19C76E71D8C7}"/>
              </a:ext>
            </a:extLst>
          </p:cNvPr>
          <p:cNvSpPr>
            <a:spLocks noGrp="1"/>
          </p:cNvSpPr>
          <p:nvPr>
            <p:ph type="dt" sz="half" idx="18"/>
          </p:nvPr>
        </p:nvSpPr>
        <p:spPr/>
        <p:txBody>
          <a:bodyPr/>
          <a:lstStyle/>
          <a:p>
            <a:endParaRPr lang="sv-SE" dirty="0"/>
          </a:p>
        </p:txBody>
      </p:sp>
      <p:sp>
        <p:nvSpPr>
          <p:cNvPr id="24" name="Platshållare för bildnummer 23">
            <a:extLst>
              <a:ext uri="{FF2B5EF4-FFF2-40B4-BE49-F238E27FC236}">
                <a16:creationId xmlns:a16="http://schemas.microsoft.com/office/drawing/2014/main" id="{A73E69F8-58B5-6C47-87E6-F293CD36E999}"/>
              </a:ext>
            </a:extLst>
          </p:cNvPr>
          <p:cNvSpPr>
            <a:spLocks noGrp="1"/>
          </p:cNvSpPr>
          <p:nvPr>
            <p:ph type="sldNum" sz="quarter" idx="20"/>
          </p:nvPr>
        </p:nvSpPr>
        <p:spPr/>
        <p:txBody>
          <a:bodyPr/>
          <a:lstStyle/>
          <a:p>
            <a:pPr>
              <a:defRPr/>
            </a:pPr>
            <a:fld id="{9426A61E-93B8-384D-8975-0A89DB09A550}" type="slidenum">
              <a:rPr lang="sv-SE" smtClean="0"/>
              <a:pPr>
                <a:defRPr/>
              </a:pPr>
              <a:t>‹#›</a:t>
            </a:fld>
            <a:endParaRPr lang="sv-SE" dirty="0"/>
          </a:p>
        </p:txBody>
      </p:sp>
      <p:sp>
        <p:nvSpPr>
          <p:cNvPr id="9" name="Platshållare för sidfot 5">
            <a:extLst>
              <a:ext uri="{FF2B5EF4-FFF2-40B4-BE49-F238E27FC236}">
                <a16:creationId xmlns:a16="http://schemas.microsoft.com/office/drawing/2014/main" id="{AD6BCAF1-39A3-4F7E-8A49-6D1F411E3F68}"/>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2608923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sida B svart">
    <p:spTree>
      <p:nvGrpSpPr>
        <p:cNvPr id="1" name=""/>
        <p:cNvGrpSpPr/>
        <p:nvPr/>
      </p:nvGrpSpPr>
      <p:grpSpPr>
        <a:xfrm>
          <a:off x="0" y="0"/>
          <a:ext cx="0" cy="0"/>
          <a:chOff x="0" y="0"/>
          <a:chExt cx="0" cy="0"/>
        </a:xfrm>
      </p:grpSpPr>
      <p:sp>
        <p:nvSpPr>
          <p:cNvPr id="2" name="Rubrik 1"/>
          <p:cNvSpPr>
            <a:spLocks noGrp="1"/>
          </p:cNvSpPr>
          <p:nvPr>
            <p:ph type="ctrTitle" hasCustomPrompt="1"/>
          </p:nvPr>
        </p:nvSpPr>
        <p:spPr>
          <a:xfrm>
            <a:off x="684000" y="1706400"/>
            <a:ext cx="7848440" cy="857250"/>
          </a:xfrm>
        </p:spPr>
        <p:txBody>
          <a:bodyPr anchorCtr="0"/>
          <a:lstStyle>
            <a:lvl1pPr algn="l">
              <a:defRPr sz="4800" b="1" i="0" cap="all" baseline="0">
                <a:latin typeface="+mn-lt"/>
              </a:defRPr>
            </a:lvl1pPr>
          </a:lstStyle>
          <a:p>
            <a:r>
              <a:rPr lang="en-US" dirty="0"/>
              <a:t>PRESENTATIONENs </a:t>
            </a:r>
            <a:r>
              <a:rPr lang="en-US" dirty="0" err="1"/>
              <a:t>titEl</a:t>
            </a:r>
            <a:r>
              <a:rPr lang="en-US" dirty="0"/>
              <a:t> </a:t>
            </a:r>
            <a:r>
              <a:rPr lang="en-US" dirty="0" err="1"/>
              <a:t>Alternativ</a:t>
            </a:r>
            <a:r>
              <a:rPr lang="en-US" dirty="0"/>
              <a:t> B (SVART)</a:t>
            </a:r>
            <a:endParaRPr lang="sv-SE" dirty="0"/>
          </a:p>
        </p:txBody>
      </p:sp>
      <p:sp>
        <p:nvSpPr>
          <p:cNvPr id="13" name="Platshållare för text 12"/>
          <p:cNvSpPr>
            <a:spLocks noGrp="1"/>
          </p:cNvSpPr>
          <p:nvPr>
            <p:ph type="body" sz="quarter" idx="14" hasCustomPrompt="1"/>
          </p:nvPr>
        </p:nvSpPr>
        <p:spPr>
          <a:xfrm>
            <a:off x="684000" y="3071127"/>
            <a:ext cx="7920000" cy="162167"/>
          </a:xfrm>
        </p:spPr>
        <p:txBody>
          <a:bodyPr tIns="0" bIns="0" anchor="ctr"/>
          <a:lstStyle>
            <a:lvl1pPr marL="0" indent="0">
              <a:lnSpc>
                <a:spcPct val="100000"/>
              </a:lnSpc>
              <a:spcBef>
                <a:spcPts val="0"/>
              </a:spcBef>
              <a:buFontTx/>
              <a:buNone/>
              <a:defRPr sz="1200" b="0" i="0" cap="all" baseline="0">
                <a:latin typeface="+mn-lt"/>
              </a:defRPr>
            </a:lvl1pPr>
          </a:lstStyle>
          <a:p>
            <a:pPr lvl="0"/>
            <a:r>
              <a:rPr lang="sv-SE" dirty="0"/>
              <a:t>Klicka och Skriv in namn och titel</a:t>
            </a:r>
          </a:p>
        </p:txBody>
      </p:sp>
      <p:sp>
        <p:nvSpPr>
          <p:cNvPr id="17" name="Date Placeholder 1">
            <a:extLst>
              <a:ext uri="{FF2B5EF4-FFF2-40B4-BE49-F238E27FC236}">
                <a16:creationId xmlns:a16="http://schemas.microsoft.com/office/drawing/2014/main" id="{95F063C6-5B26-1446-9A97-3744FF2A557E}"/>
              </a:ext>
            </a:extLst>
          </p:cNvPr>
          <p:cNvSpPr>
            <a:spLocks noGrp="1"/>
          </p:cNvSpPr>
          <p:nvPr>
            <p:ph type="dt" sz="half" idx="2"/>
          </p:nvPr>
        </p:nvSpPr>
        <p:spPr>
          <a:xfrm>
            <a:off x="7749160" y="4901532"/>
            <a:ext cx="979200" cy="253773"/>
          </a:xfrm>
          <a:prstGeom prst="rect">
            <a:avLst/>
          </a:prstGeom>
        </p:spPr>
        <p:txBody>
          <a:bodyPr vert="horz" lIns="91440" tIns="45720" rIns="91440" bIns="45720" rtlCol="0" anchor="ctr"/>
          <a:lstStyle>
            <a:lvl1pPr algn="l">
              <a:defRPr sz="600">
                <a:solidFill>
                  <a:schemeClr val="bg1">
                    <a:lumMod val="50000"/>
                  </a:schemeClr>
                </a:solidFill>
              </a:defRPr>
            </a:lvl1pPr>
          </a:lstStyle>
          <a:p>
            <a:endParaRPr lang="sv-SE" dirty="0"/>
          </a:p>
        </p:txBody>
      </p:sp>
      <p:sp>
        <p:nvSpPr>
          <p:cNvPr id="18" name="Platshållare för bildnummer 2">
            <a:extLst>
              <a:ext uri="{FF2B5EF4-FFF2-40B4-BE49-F238E27FC236}">
                <a16:creationId xmlns:a16="http://schemas.microsoft.com/office/drawing/2014/main" id="{4A824648-D437-E340-9048-EA81543FEA1A}"/>
              </a:ext>
            </a:extLst>
          </p:cNvPr>
          <p:cNvSpPr>
            <a:spLocks noGrp="1"/>
          </p:cNvSpPr>
          <p:nvPr>
            <p:ph type="sldNum" sz="quarter" idx="4"/>
          </p:nvPr>
        </p:nvSpPr>
        <p:spPr>
          <a:xfrm>
            <a:off x="8780056" y="4901532"/>
            <a:ext cx="216024" cy="240856"/>
          </a:xfrm>
          <a:prstGeom prst="rect">
            <a:avLst/>
          </a:prstGeom>
        </p:spPr>
        <p:txBody>
          <a:bodyPr vert="horz" lIns="0" tIns="0" rIns="0" bIns="0" rtlCol="0" anchor="ctr"/>
          <a:lstStyle>
            <a:lvl1pPr algn="r">
              <a:defRPr sz="600">
                <a:solidFill>
                  <a:schemeClr val="bg1">
                    <a:lumMod val="50000"/>
                  </a:schemeClr>
                </a:solidFill>
              </a:defRPr>
            </a:lvl1pPr>
          </a:lstStyle>
          <a:p>
            <a:pPr>
              <a:defRPr/>
            </a:pPr>
            <a:fld id="{9426A61E-93B8-384D-8975-0A89DB09A550}" type="slidenum">
              <a:rPr lang="sv-SE" smtClean="0"/>
              <a:pPr>
                <a:defRPr/>
              </a:pPr>
              <a:t>‹#›</a:t>
            </a:fld>
            <a:endParaRPr lang="sv-SE" dirty="0"/>
          </a:p>
        </p:txBody>
      </p:sp>
      <p:sp>
        <p:nvSpPr>
          <p:cNvPr id="19" name="Platshållare för sidfot 5">
            <a:extLst>
              <a:ext uri="{FF2B5EF4-FFF2-40B4-BE49-F238E27FC236}">
                <a16:creationId xmlns:a16="http://schemas.microsoft.com/office/drawing/2014/main" id="{2BEA7A08-0CD9-344A-A049-7B6FCB1DB15F}"/>
              </a:ext>
            </a:extLst>
          </p:cNvPr>
          <p:cNvSpPr>
            <a:spLocks noGrp="1"/>
          </p:cNvSpPr>
          <p:nvPr>
            <p:ph type="ftr" sz="quarter" idx="3"/>
          </p:nvPr>
        </p:nvSpPr>
        <p:spPr>
          <a:xfrm>
            <a:off x="1619672" y="4982457"/>
            <a:ext cx="3816284" cy="107772"/>
          </a:xfrm>
          <a:prstGeom prst="rect">
            <a:avLst/>
          </a:prstGeom>
        </p:spPr>
        <p:txBody>
          <a:bodyPr lIns="0" tIns="0" rIns="0" bIns="0" anchor="t" anchorCtr="0">
            <a:noAutofit/>
          </a:bodyPr>
          <a:lstStyle>
            <a:lvl1pPr algn="l">
              <a:lnSpc>
                <a:spcPct val="100000"/>
              </a:lnSpc>
              <a:defRPr lang="sv-SE" sz="600" b="0" i="0" cap="none" baseline="0">
                <a:solidFill>
                  <a:schemeClr val="bg1">
                    <a:lumMod val="50000"/>
                  </a:schemeClr>
                </a:solidFill>
                <a:latin typeface="Arial" panose="020B0604020202020204" pitchFamily="34" charset="0"/>
                <a:ea typeface="ＭＳ Ｐゴシック" pitchFamily="-65" charset="-128"/>
                <a:cs typeface="Arial" panose="020B0604020202020204" pitchFamily="34" charset="0"/>
              </a:defRPr>
            </a:lvl1pPr>
          </a:lstStyle>
          <a:p>
            <a:pPr eaLnBrk="0" hangingPunct="0">
              <a:spcBef>
                <a:spcPts val="0"/>
              </a:spcBef>
              <a:buFont typeface="Arial" charset="0"/>
              <a:buNone/>
            </a:pPr>
            <a:endParaRPr lang="sv-SE" dirty="0"/>
          </a:p>
        </p:txBody>
      </p:sp>
      <p:sp>
        <p:nvSpPr>
          <p:cNvPr id="8" name="Platshållare för bild 7">
            <a:extLst>
              <a:ext uri="{FF2B5EF4-FFF2-40B4-BE49-F238E27FC236}">
                <a16:creationId xmlns:a16="http://schemas.microsoft.com/office/drawing/2014/main" id="{D3B186AF-8945-6A4E-A210-F9BB646DA209}"/>
              </a:ext>
            </a:extLst>
          </p:cNvPr>
          <p:cNvSpPr>
            <a:spLocks noGrp="1" noChangeAspect="1"/>
          </p:cNvSpPr>
          <p:nvPr>
            <p:ph type="pic" sz="quarter" idx="17" hasCustomPrompt="1"/>
          </p:nvPr>
        </p:nvSpPr>
        <p:spPr>
          <a:xfrm>
            <a:off x="684000" y="0"/>
            <a:ext cx="844481" cy="857250"/>
          </a:xfrm>
          <a:prstGeom prst="rect">
            <a:avLst/>
          </a:prstGeom>
          <a:blipFill rotWithShape="1">
            <a:blip r:embed="rId2" cstate="screen">
              <a:extLst>
                <a:ext uri="{28A0092B-C50C-407E-A947-70E740481C1C}">
                  <a14:useLocalDpi xmlns:a14="http://schemas.microsoft.com/office/drawing/2010/main"/>
                </a:ext>
              </a:extLst>
            </a:blip>
            <a:stretch>
              <a:fillRect/>
            </a:stretch>
          </a:blipFill>
        </p:spPr>
        <p:txBody>
          <a:bodyPr>
            <a:normAutofit/>
          </a:bodyPr>
          <a:lstStyle>
            <a:lvl1pPr marL="0" indent="0">
              <a:buNone/>
              <a:defRPr/>
            </a:lvl1pPr>
          </a:lstStyle>
          <a:p>
            <a:pPr lvl="0"/>
            <a:r>
              <a:rPr lang="sv-SE" noProof="0" dirty="0"/>
              <a:t> </a:t>
            </a:r>
          </a:p>
        </p:txBody>
      </p:sp>
    </p:spTree>
    <p:extLst>
      <p:ext uri="{BB962C8B-B14F-4D97-AF65-F5344CB8AC3E}">
        <p14:creationId xmlns:p14="http://schemas.microsoft.com/office/powerpoint/2010/main" val="22370703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rtsida C bild">
    <p:spTree>
      <p:nvGrpSpPr>
        <p:cNvPr id="1" name=""/>
        <p:cNvGrpSpPr/>
        <p:nvPr/>
      </p:nvGrpSpPr>
      <p:grpSpPr>
        <a:xfrm>
          <a:off x="0" y="0"/>
          <a:ext cx="0" cy="0"/>
          <a:chOff x="0" y="0"/>
          <a:chExt cx="0" cy="0"/>
        </a:xfrm>
      </p:grpSpPr>
      <p:sp>
        <p:nvSpPr>
          <p:cNvPr id="22" name="Platshållare för bild 8">
            <a:extLst>
              <a:ext uri="{FF2B5EF4-FFF2-40B4-BE49-F238E27FC236}">
                <a16:creationId xmlns:a16="http://schemas.microsoft.com/office/drawing/2014/main" id="{D5A31A2E-FB5E-B446-988F-734F9CE51852}"/>
              </a:ext>
            </a:extLst>
          </p:cNvPr>
          <p:cNvSpPr>
            <a:spLocks noGrp="1"/>
          </p:cNvSpPr>
          <p:nvPr>
            <p:ph type="pic" sz="quarter" idx="10" hasCustomPrompt="1"/>
          </p:nvPr>
        </p:nvSpPr>
        <p:spPr>
          <a:xfrm>
            <a:off x="0" y="0"/>
            <a:ext cx="9155967" cy="4901531"/>
          </a:xfrm>
          <a:prstGeom prst="rect">
            <a:avLst/>
          </a:prstGeom>
          <a:noFill/>
        </p:spPr>
        <p:txBody>
          <a:bodyPr vert="horz" lIns="0" tIns="0" rIns="0" bIns="0" rtlCol="0" anchor="ctr">
            <a:normAutofit/>
          </a:bodyPr>
          <a:lstStyle>
            <a:lvl1pPr marL="180000" indent="-180000" algn="ctr">
              <a:buNone/>
              <a:defRPr lang="sv-SE" sz="1600" noProof="0" dirty="0">
                <a:solidFill>
                  <a:schemeClr val="bg1"/>
                </a:solidFill>
              </a:defRPr>
            </a:lvl1pPr>
          </a:lstStyle>
          <a:p>
            <a:pPr marL="0" marR="0" lvl="0" indent="0" algn="ctr" latinLnBrk="0">
              <a:buClrTx/>
              <a:buSzTx/>
              <a:tabLst/>
            </a:pPr>
            <a:r>
              <a:rPr lang="sv-SE" noProof="0" dirty="0"/>
              <a:t>Klicka på ikonen</a:t>
            </a:r>
            <a:br>
              <a:rPr lang="sv-SE" noProof="0" dirty="0"/>
            </a:br>
            <a:br>
              <a:rPr lang="sv-SE" noProof="0" dirty="0"/>
            </a:br>
            <a:r>
              <a:rPr lang="sv-SE" noProof="0" dirty="0"/>
              <a:t>för att lägga till en bild</a:t>
            </a:r>
          </a:p>
        </p:txBody>
      </p:sp>
      <p:sp>
        <p:nvSpPr>
          <p:cNvPr id="2" name="Rubrik 1"/>
          <p:cNvSpPr>
            <a:spLocks noGrp="1"/>
          </p:cNvSpPr>
          <p:nvPr>
            <p:ph type="ctrTitle" hasCustomPrompt="1"/>
          </p:nvPr>
        </p:nvSpPr>
        <p:spPr>
          <a:xfrm>
            <a:off x="684000" y="1706400"/>
            <a:ext cx="7848440" cy="857250"/>
          </a:xfrm>
          <a:effectLst>
            <a:outerShdw blurRad="50800" dist="38100" dir="2700000" algn="tl" rotWithShape="0">
              <a:prstClr val="black">
                <a:alpha val="40000"/>
              </a:prstClr>
            </a:outerShdw>
          </a:effectLst>
        </p:spPr>
        <p:txBody>
          <a:bodyPr anchorCtr="0"/>
          <a:lstStyle>
            <a:lvl1pPr algn="l">
              <a:defRPr sz="4800" b="1" i="0" cap="all" baseline="0">
                <a:solidFill>
                  <a:schemeClr val="bg1"/>
                </a:solidFill>
                <a:effectLst/>
                <a:latin typeface="+mj-lt"/>
              </a:defRPr>
            </a:lvl1pPr>
          </a:lstStyle>
          <a:p>
            <a:r>
              <a:rPr lang="en-US" dirty="0"/>
              <a:t>PRESENTATIONENs </a:t>
            </a:r>
            <a:r>
              <a:rPr lang="en-US" dirty="0" err="1"/>
              <a:t>titEl</a:t>
            </a:r>
            <a:r>
              <a:rPr lang="en-US" dirty="0"/>
              <a:t> </a:t>
            </a:r>
            <a:r>
              <a:rPr lang="en-US" dirty="0" err="1"/>
              <a:t>Alternativ</a:t>
            </a:r>
            <a:r>
              <a:rPr lang="en-US" dirty="0"/>
              <a:t> C (</a:t>
            </a:r>
            <a:r>
              <a:rPr lang="en-US" dirty="0" err="1"/>
              <a:t>bild</a:t>
            </a:r>
            <a:r>
              <a:rPr lang="en-US" dirty="0"/>
              <a:t>)</a:t>
            </a:r>
            <a:endParaRPr lang="sv-SE" dirty="0"/>
          </a:p>
        </p:txBody>
      </p:sp>
      <p:sp>
        <p:nvSpPr>
          <p:cNvPr id="13" name="Platshållare för text 12"/>
          <p:cNvSpPr>
            <a:spLocks noGrp="1"/>
          </p:cNvSpPr>
          <p:nvPr>
            <p:ph type="body" sz="quarter" idx="14" hasCustomPrompt="1"/>
          </p:nvPr>
        </p:nvSpPr>
        <p:spPr>
          <a:xfrm>
            <a:off x="684000" y="3071127"/>
            <a:ext cx="7920000" cy="162167"/>
          </a:xfrm>
        </p:spPr>
        <p:txBody>
          <a:bodyPr tIns="0" bIns="0" anchor="ctr"/>
          <a:lstStyle>
            <a:lvl1pPr marL="0" indent="0">
              <a:lnSpc>
                <a:spcPct val="100000"/>
              </a:lnSpc>
              <a:spcBef>
                <a:spcPts val="0"/>
              </a:spcBef>
              <a:buFontTx/>
              <a:buNone/>
              <a:defRPr sz="1200" b="0" i="0" cap="all" baseline="0">
                <a:latin typeface="+mj-lt"/>
              </a:defRPr>
            </a:lvl1pPr>
          </a:lstStyle>
          <a:p>
            <a:pPr lvl="0"/>
            <a:r>
              <a:rPr lang="sv-SE" dirty="0"/>
              <a:t>Adnan </a:t>
            </a:r>
            <a:r>
              <a:rPr lang="sv-SE" dirty="0" err="1"/>
              <a:t>noor</a:t>
            </a:r>
            <a:r>
              <a:rPr lang="sv-SE" dirty="0"/>
              <a:t> </a:t>
            </a:r>
            <a:r>
              <a:rPr lang="sv-SE" dirty="0" err="1"/>
              <a:t>baloch</a:t>
            </a:r>
            <a:endParaRPr lang="sv-SE" dirty="0"/>
          </a:p>
        </p:txBody>
      </p:sp>
      <p:sp>
        <p:nvSpPr>
          <p:cNvPr id="3" name="Platshållare för datum 2">
            <a:extLst>
              <a:ext uri="{FF2B5EF4-FFF2-40B4-BE49-F238E27FC236}">
                <a16:creationId xmlns:a16="http://schemas.microsoft.com/office/drawing/2014/main" id="{4130A7BD-8EF0-EA42-ADB1-99B7EEBF735E}"/>
              </a:ext>
            </a:extLst>
          </p:cNvPr>
          <p:cNvSpPr>
            <a:spLocks noGrp="1"/>
          </p:cNvSpPr>
          <p:nvPr>
            <p:ph type="dt" sz="half" idx="18"/>
          </p:nvPr>
        </p:nvSpPr>
        <p:spPr/>
        <p:txBody>
          <a:bodyPr/>
          <a:lstStyle/>
          <a:p>
            <a:endParaRPr lang="sv-SE" dirty="0"/>
          </a:p>
        </p:txBody>
      </p:sp>
      <p:sp>
        <p:nvSpPr>
          <p:cNvPr id="5" name="Platshållare för bildnummer 4">
            <a:extLst>
              <a:ext uri="{FF2B5EF4-FFF2-40B4-BE49-F238E27FC236}">
                <a16:creationId xmlns:a16="http://schemas.microsoft.com/office/drawing/2014/main" id="{71DF5C71-CF7A-6547-849A-3312BE09B780}"/>
              </a:ext>
            </a:extLst>
          </p:cNvPr>
          <p:cNvSpPr>
            <a:spLocks noGrp="1"/>
          </p:cNvSpPr>
          <p:nvPr>
            <p:ph type="sldNum" sz="quarter" idx="20"/>
          </p:nvPr>
        </p:nvSpPr>
        <p:spPr/>
        <p:txBody>
          <a:bodyPr/>
          <a:lstStyle/>
          <a:p>
            <a:pPr>
              <a:defRPr/>
            </a:pPr>
            <a:fld id="{9426A61E-93B8-384D-8975-0A89DB09A550}" type="slidenum">
              <a:rPr lang="sv-SE" smtClean="0"/>
              <a:pPr>
                <a:defRPr/>
              </a:pPr>
              <a:t>‹#›</a:t>
            </a:fld>
            <a:endParaRPr lang="sv-SE" dirty="0"/>
          </a:p>
        </p:txBody>
      </p:sp>
      <p:sp>
        <p:nvSpPr>
          <p:cNvPr id="12" name="Platshållare för bild 7">
            <a:extLst>
              <a:ext uri="{FF2B5EF4-FFF2-40B4-BE49-F238E27FC236}">
                <a16:creationId xmlns:a16="http://schemas.microsoft.com/office/drawing/2014/main" id="{9B3FFBD8-7497-E04B-A1A6-9D7355D8CBC6}"/>
              </a:ext>
            </a:extLst>
          </p:cNvPr>
          <p:cNvSpPr>
            <a:spLocks noGrp="1" noChangeAspect="1"/>
          </p:cNvSpPr>
          <p:nvPr>
            <p:ph type="pic" sz="quarter" idx="17" hasCustomPrompt="1"/>
          </p:nvPr>
        </p:nvSpPr>
        <p:spPr>
          <a:xfrm>
            <a:off x="684000" y="0"/>
            <a:ext cx="844481" cy="857250"/>
          </a:xfrm>
          <a:prstGeom prst="rect">
            <a:avLst/>
          </a:prstGeom>
          <a:blipFill rotWithShape="1">
            <a:blip r:embed="rId2" cstate="screen">
              <a:extLst>
                <a:ext uri="{28A0092B-C50C-407E-A947-70E740481C1C}">
                  <a14:useLocalDpi xmlns:a14="http://schemas.microsoft.com/office/drawing/2010/main"/>
                </a:ext>
              </a:extLst>
            </a:blip>
            <a:stretch>
              <a:fillRect/>
            </a:stretch>
          </a:blipFill>
        </p:spPr>
        <p:txBody>
          <a:bodyPr>
            <a:normAutofit/>
          </a:bodyPr>
          <a:lstStyle>
            <a:lvl1pPr marL="0" indent="0">
              <a:buNone/>
              <a:defRPr/>
            </a:lvl1pPr>
          </a:lstStyle>
          <a:p>
            <a:pPr lvl="0"/>
            <a:r>
              <a:rPr lang="sv-SE" noProof="0" dirty="0"/>
              <a:t> </a:t>
            </a:r>
          </a:p>
        </p:txBody>
      </p:sp>
      <p:sp>
        <p:nvSpPr>
          <p:cNvPr id="10" name="Platshållare för sidfot 5">
            <a:extLst>
              <a:ext uri="{FF2B5EF4-FFF2-40B4-BE49-F238E27FC236}">
                <a16:creationId xmlns:a16="http://schemas.microsoft.com/office/drawing/2014/main" id="{E83F3689-8ED4-40D2-8981-6F250E67C70C}"/>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4974443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ytt avsnitt">
    <p:spTree>
      <p:nvGrpSpPr>
        <p:cNvPr id="1" name=""/>
        <p:cNvGrpSpPr/>
        <p:nvPr/>
      </p:nvGrpSpPr>
      <p:grpSpPr>
        <a:xfrm>
          <a:off x="0" y="0"/>
          <a:ext cx="0" cy="0"/>
          <a:chOff x="0" y="0"/>
          <a:chExt cx="0" cy="0"/>
        </a:xfrm>
      </p:grpSpPr>
      <p:sp>
        <p:nvSpPr>
          <p:cNvPr id="4" name="Rubrik 4"/>
          <p:cNvSpPr>
            <a:spLocks noGrp="1"/>
          </p:cNvSpPr>
          <p:nvPr>
            <p:ph type="title" hasCustomPrompt="1"/>
          </p:nvPr>
        </p:nvSpPr>
        <p:spPr>
          <a:xfrm>
            <a:off x="540000" y="1817100"/>
            <a:ext cx="8064000" cy="594000"/>
          </a:xfrm>
          <a:effectLst/>
        </p:spPr>
        <p:txBody>
          <a:bodyPr vert="horz" lIns="0" tIns="0" rIns="0" bIns="0" rtlCol="0" anchor="t" anchorCtr="0">
            <a:noAutofit/>
          </a:bodyPr>
          <a:lstStyle>
            <a:lvl1pPr marL="0" marR="0" indent="0" algn="ctr" defTabSz="457200" rtl="0" eaLnBrk="0" fontAlgn="base" latinLnBrk="0" hangingPunct="0">
              <a:lnSpc>
                <a:spcPct val="100000"/>
              </a:lnSpc>
              <a:spcBef>
                <a:spcPts val="0"/>
              </a:spcBef>
              <a:spcAft>
                <a:spcPct val="0"/>
              </a:spcAft>
              <a:buClrTx/>
              <a:buSzTx/>
              <a:buFontTx/>
              <a:buNone/>
              <a:tabLst/>
              <a:defRPr lang="sv-SE" sz="3600" i="0" cap="all" baseline="0" dirty="0">
                <a:solidFill>
                  <a:schemeClr val="tx1">
                    <a:lumMod val="50000"/>
                    <a:lumOff val="50000"/>
                  </a:schemeClr>
                </a:solidFill>
                <a:effectLst/>
                <a:latin typeface="+mj-lt"/>
              </a:defRPr>
            </a:lvl1pPr>
          </a:lstStyle>
          <a:p>
            <a:pPr marL="0" marR="0" lvl="0" indent="0" algn="ctr" defTabSz="457200" rtl="0" eaLnBrk="0" fontAlgn="base" latinLnBrk="0" hangingPunct="0">
              <a:lnSpc>
                <a:spcPct val="130000"/>
              </a:lnSpc>
              <a:spcBef>
                <a:spcPts val="0"/>
              </a:spcBef>
              <a:spcAft>
                <a:spcPct val="0"/>
              </a:spcAft>
              <a:buClrTx/>
              <a:buSzTx/>
              <a:buFontTx/>
              <a:buNone/>
              <a:tabLst/>
              <a:defRPr/>
            </a:pPr>
            <a:r>
              <a:rPr lang="sv-SE" dirty="0"/>
              <a:t>Avsnittsrubrik A (Vit)</a:t>
            </a:r>
          </a:p>
        </p:txBody>
      </p:sp>
      <p:sp>
        <p:nvSpPr>
          <p:cNvPr id="2" name="Platshållare för datum 1">
            <a:extLst>
              <a:ext uri="{FF2B5EF4-FFF2-40B4-BE49-F238E27FC236}">
                <a16:creationId xmlns:a16="http://schemas.microsoft.com/office/drawing/2014/main" id="{BD0DDAD0-F41D-1444-B2C2-CB32BB65D3B7}"/>
              </a:ext>
            </a:extLst>
          </p:cNvPr>
          <p:cNvSpPr>
            <a:spLocks noGrp="1"/>
          </p:cNvSpPr>
          <p:nvPr>
            <p:ph type="dt" sz="half" idx="10"/>
          </p:nvPr>
        </p:nvSpPr>
        <p:spPr/>
        <p:txBody>
          <a:bodyPr/>
          <a:lstStyle/>
          <a:p>
            <a:endParaRPr lang="sv-SE" dirty="0"/>
          </a:p>
        </p:txBody>
      </p:sp>
      <p:sp>
        <p:nvSpPr>
          <p:cNvPr id="6" name="Platshållare för bildnummer 5">
            <a:extLst>
              <a:ext uri="{FF2B5EF4-FFF2-40B4-BE49-F238E27FC236}">
                <a16:creationId xmlns:a16="http://schemas.microsoft.com/office/drawing/2014/main" id="{FBB55E1A-8AB4-0D48-A76F-86492F2216C3}"/>
              </a:ext>
            </a:extLst>
          </p:cNvPr>
          <p:cNvSpPr>
            <a:spLocks noGrp="1"/>
          </p:cNvSpPr>
          <p:nvPr>
            <p:ph type="sldNum" sz="quarter" idx="12"/>
          </p:nvPr>
        </p:nvSpPr>
        <p:spPr/>
        <p:txBody>
          <a:bodyPr/>
          <a:lstStyle/>
          <a:p>
            <a:pPr>
              <a:defRPr/>
            </a:pPr>
            <a:fld id="{9426A61E-93B8-384D-8975-0A89DB09A550}" type="slidenum">
              <a:rPr lang="sv-SE" smtClean="0"/>
              <a:pPr>
                <a:defRPr/>
              </a:pPr>
              <a:t>‹#›</a:t>
            </a:fld>
            <a:endParaRPr lang="sv-SE" dirty="0"/>
          </a:p>
        </p:txBody>
      </p:sp>
      <p:sp>
        <p:nvSpPr>
          <p:cNvPr id="8" name="Platshållare för sidfot 5">
            <a:extLst>
              <a:ext uri="{FF2B5EF4-FFF2-40B4-BE49-F238E27FC236}">
                <a16:creationId xmlns:a16="http://schemas.microsoft.com/office/drawing/2014/main" id="{3AB14CFF-674E-49A2-ACAE-4A726D375C1A}"/>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310235025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Nytt avsnitt">
    <p:spTree>
      <p:nvGrpSpPr>
        <p:cNvPr id="1" name=""/>
        <p:cNvGrpSpPr/>
        <p:nvPr/>
      </p:nvGrpSpPr>
      <p:grpSpPr>
        <a:xfrm>
          <a:off x="0" y="0"/>
          <a:ext cx="0" cy="0"/>
          <a:chOff x="0" y="0"/>
          <a:chExt cx="0" cy="0"/>
        </a:xfrm>
      </p:grpSpPr>
      <p:sp>
        <p:nvSpPr>
          <p:cNvPr id="4" name="Rubrik 4"/>
          <p:cNvSpPr>
            <a:spLocks noGrp="1"/>
          </p:cNvSpPr>
          <p:nvPr>
            <p:ph type="title" hasCustomPrompt="1"/>
          </p:nvPr>
        </p:nvSpPr>
        <p:spPr>
          <a:xfrm>
            <a:off x="540000" y="1817100"/>
            <a:ext cx="8064000" cy="594000"/>
          </a:xfrm>
          <a:effectLst>
            <a:outerShdw blurRad="50800" dist="38100" dir="2700000" algn="tl" rotWithShape="0">
              <a:prstClr val="black">
                <a:alpha val="40000"/>
              </a:prstClr>
            </a:outerShdw>
          </a:effectLst>
        </p:spPr>
        <p:txBody>
          <a:bodyPr vert="horz" lIns="0" tIns="0" rIns="0" bIns="0" rtlCol="0" anchor="t" anchorCtr="0">
            <a:noAutofit/>
          </a:bodyPr>
          <a:lstStyle>
            <a:lvl1pPr marL="0" marR="0" indent="0" algn="ctr" defTabSz="457200" rtl="0" eaLnBrk="0" fontAlgn="base" latinLnBrk="0" hangingPunct="0">
              <a:lnSpc>
                <a:spcPct val="100000"/>
              </a:lnSpc>
              <a:spcBef>
                <a:spcPts val="0"/>
              </a:spcBef>
              <a:spcAft>
                <a:spcPct val="0"/>
              </a:spcAft>
              <a:buClrTx/>
              <a:buSzTx/>
              <a:buFontTx/>
              <a:buNone/>
              <a:tabLst/>
              <a:defRPr lang="sv-SE" sz="3600" i="0" cap="all" baseline="0" dirty="0">
                <a:solidFill>
                  <a:schemeClr val="tx1"/>
                </a:solidFill>
                <a:effectLst/>
                <a:latin typeface="+mj-lt"/>
              </a:defRPr>
            </a:lvl1pPr>
          </a:lstStyle>
          <a:p>
            <a:pPr marL="0" marR="0" lvl="0" indent="0" algn="ctr" defTabSz="457200" rtl="0" eaLnBrk="0" fontAlgn="base" latinLnBrk="0" hangingPunct="0">
              <a:lnSpc>
                <a:spcPct val="130000"/>
              </a:lnSpc>
              <a:spcBef>
                <a:spcPts val="0"/>
              </a:spcBef>
              <a:spcAft>
                <a:spcPct val="0"/>
              </a:spcAft>
              <a:buClrTx/>
              <a:buSzTx/>
              <a:buFontTx/>
              <a:buNone/>
              <a:tabLst/>
              <a:defRPr/>
            </a:pPr>
            <a:r>
              <a:rPr lang="sv-SE" dirty="0"/>
              <a:t>Avsnittsrubrik B (svart)</a:t>
            </a:r>
          </a:p>
        </p:txBody>
      </p:sp>
      <p:sp>
        <p:nvSpPr>
          <p:cNvPr id="2" name="Platshållare för datum 1">
            <a:extLst>
              <a:ext uri="{FF2B5EF4-FFF2-40B4-BE49-F238E27FC236}">
                <a16:creationId xmlns:a16="http://schemas.microsoft.com/office/drawing/2014/main" id="{BCE65B00-AF50-8943-943A-AC8576F5871F}"/>
              </a:ext>
            </a:extLst>
          </p:cNvPr>
          <p:cNvSpPr>
            <a:spLocks noGrp="1"/>
          </p:cNvSpPr>
          <p:nvPr>
            <p:ph type="dt" sz="half" idx="10"/>
          </p:nvPr>
        </p:nvSpPr>
        <p:spPr/>
        <p:txBody>
          <a:bodyPr/>
          <a:lstStyle>
            <a:lvl1pPr>
              <a:defRPr>
                <a:latin typeface="+mn-lt"/>
              </a:defRPr>
            </a:lvl1pPr>
          </a:lstStyle>
          <a:p>
            <a:endParaRPr lang="sv-SE" dirty="0"/>
          </a:p>
        </p:txBody>
      </p:sp>
      <p:sp>
        <p:nvSpPr>
          <p:cNvPr id="15" name="Platshållare för bildnummer 14">
            <a:extLst>
              <a:ext uri="{FF2B5EF4-FFF2-40B4-BE49-F238E27FC236}">
                <a16:creationId xmlns:a16="http://schemas.microsoft.com/office/drawing/2014/main" id="{6F928D03-B761-2743-BF4A-3E53E6FF988A}"/>
              </a:ext>
            </a:extLst>
          </p:cNvPr>
          <p:cNvSpPr>
            <a:spLocks noGrp="1"/>
          </p:cNvSpPr>
          <p:nvPr>
            <p:ph type="sldNum" sz="quarter" idx="12"/>
          </p:nvPr>
        </p:nvSpPr>
        <p:spPr/>
        <p:txBody>
          <a:bodyPr/>
          <a:lstStyle>
            <a:lvl1pPr>
              <a:defRPr>
                <a:latin typeface="+mn-lt"/>
              </a:defRPr>
            </a:lvl1pPr>
          </a:lstStyle>
          <a:p>
            <a:pPr>
              <a:defRPr/>
            </a:pPr>
            <a:fld id="{9426A61E-93B8-384D-8975-0A89DB09A550}" type="slidenum">
              <a:rPr lang="sv-SE" smtClean="0"/>
              <a:pPr>
                <a:defRPr/>
              </a:pPr>
              <a:t>‹#›</a:t>
            </a:fld>
            <a:endParaRPr lang="sv-SE" dirty="0"/>
          </a:p>
        </p:txBody>
      </p:sp>
      <p:sp>
        <p:nvSpPr>
          <p:cNvPr id="7" name="Platshållare för sidfot 5">
            <a:extLst>
              <a:ext uri="{FF2B5EF4-FFF2-40B4-BE49-F238E27FC236}">
                <a16:creationId xmlns:a16="http://schemas.microsoft.com/office/drawing/2014/main" id="{AA7BB571-51CA-4929-B2C4-3A52FB9F258F}"/>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bg1"/>
                </a:solidFill>
                <a:latin typeface="+mj-lt"/>
              </a:defRPr>
            </a:lvl1pPr>
          </a:lstStyle>
          <a:p>
            <a:pPr eaLnBrk="0" hangingPunct="0">
              <a:spcBef>
                <a:spcPts val="0"/>
              </a:spcBef>
            </a:pPr>
            <a:endParaRPr lang="en-US" dirty="0"/>
          </a:p>
        </p:txBody>
      </p:sp>
    </p:spTree>
    <p:extLst>
      <p:ext uri="{BB962C8B-B14F-4D97-AF65-F5344CB8AC3E}">
        <p14:creationId xmlns:p14="http://schemas.microsoft.com/office/powerpoint/2010/main" val="5853467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Nytt avsnitt">
    <p:spTree>
      <p:nvGrpSpPr>
        <p:cNvPr id="1" name=""/>
        <p:cNvGrpSpPr/>
        <p:nvPr/>
      </p:nvGrpSpPr>
      <p:grpSpPr>
        <a:xfrm>
          <a:off x="0" y="0"/>
          <a:ext cx="0" cy="0"/>
          <a:chOff x="0" y="0"/>
          <a:chExt cx="0" cy="0"/>
        </a:xfrm>
      </p:grpSpPr>
      <p:sp>
        <p:nvSpPr>
          <p:cNvPr id="9" name="Platshållare för bild 8"/>
          <p:cNvSpPr>
            <a:spLocks noGrp="1"/>
          </p:cNvSpPr>
          <p:nvPr>
            <p:ph type="pic" sz="quarter" idx="10" hasCustomPrompt="1"/>
          </p:nvPr>
        </p:nvSpPr>
        <p:spPr>
          <a:xfrm>
            <a:off x="0" y="0"/>
            <a:ext cx="9155967" cy="4901531"/>
          </a:xfrm>
          <a:prstGeom prst="rect">
            <a:avLst/>
          </a:prstGeom>
          <a:noFill/>
        </p:spPr>
        <p:txBody>
          <a:bodyPr vert="horz" lIns="0" tIns="0" rIns="0" bIns="0" rtlCol="0" anchor="ctr">
            <a:normAutofit/>
          </a:bodyPr>
          <a:lstStyle>
            <a:lvl1pPr marL="180000" indent="-180000" algn="ctr">
              <a:buNone/>
              <a:defRPr lang="sv-SE" sz="1600" noProof="0" dirty="0">
                <a:solidFill>
                  <a:schemeClr val="bg1"/>
                </a:solidFill>
              </a:defRPr>
            </a:lvl1pPr>
          </a:lstStyle>
          <a:p>
            <a:pPr marL="0" marR="0" lvl="0" indent="0" algn="ctr" latinLnBrk="0">
              <a:buClrTx/>
              <a:buSzTx/>
              <a:tabLst/>
            </a:pPr>
            <a:r>
              <a:rPr lang="sv-SE" noProof="0" dirty="0"/>
              <a:t>Klicka på ikonen</a:t>
            </a:r>
            <a:br>
              <a:rPr lang="sv-SE" noProof="0" dirty="0"/>
            </a:br>
            <a:br>
              <a:rPr lang="sv-SE" noProof="0" dirty="0"/>
            </a:br>
            <a:r>
              <a:rPr lang="sv-SE" noProof="0" dirty="0"/>
              <a:t>för att lägga till en bild</a:t>
            </a:r>
          </a:p>
        </p:txBody>
      </p:sp>
      <p:sp>
        <p:nvSpPr>
          <p:cNvPr id="4" name="Rubrik 4"/>
          <p:cNvSpPr>
            <a:spLocks noGrp="1"/>
          </p:cNvSpPr>
          <p:nvPr>
            <p:ph type="title" hasCustomPrompt="1"/>
          </p:nvPr>
        </p:nvSpPr>
        <p:spPr>
          <a:xfrm>
            <a:off x="540000" y="1817100"/>
            <a:ext cx="8064000" cy="594000"/>
          </a:xfrm>
          <a:effectLst/>
        </p:spPr>
        <p:txBody>
          <a:bodyPr vert="horz" lIns="0" tIns="0" rIns="0" bIns="0" rtlCol="0" anchor="t" anchorCtr="0">
            <a:noAutofit/>
          </a:bodyPr>
          <a:lstStyle>
            <a:lvl1pPr marL="0" marR="0" indent="0" algn="ctr" defTabSz="457200" rtl="0" eaLnBrk="0" fontAlgn="base" latinLnBrk="0" hangingPunct="0">
              <a:lnSpc>
                <a:spcPct val="100000"/>
              </a:lnSpc>
              <a:spcBef>
                <a:spcPts val="0"/>
              </a:spcBef>
              <a:spcAft>
                <a:spcPct val="0"/>
              </a:spcAft>
              <a:buClrTx/>
              <a:buSzTx/>
              <a:buFontTx/>
              <a:buNone/>
              <a:tabLst/>
              <a:defRPr lang="sv-SE" sz="3600" i="0" cap="all" baseline="0" dirty="0">
                <a:solidFill>
                  <a:schemeClr val="bg1">
                    <a:lumMod val="95000"/>
                  </a:schemeClr>
                </a:solidFill>
                <a:effectLst>
                  <a:outerShdw blurRad="50800" dist="38100" dir="5400000" algn="t" rotWithShape="0">
                    <a:prstClr val="black">
                      <a:alpha val="40000"/>
                    </a:prstClr>
                  </a:outerShdw>
                </a:effectLst>
                <a:latin typeface="+mn-lt"/>
              </a:defRPr>
            </a:lvl1pPr>
          </a:lstStyle>
          <a:p>
            <a:pPr marL="0" marR="0" lvl="0" indent="0" algn="ctr" defTabSz="457200" rtl="0" eaLnBrk="0" fontAlgn="base" latinLnBrk="0" hangingPunct="0">
              <a:lnSpc>
                <a:spcPct val="130000"/>
              </a:lnSpc>
              <a:spcBef>
                <a:spcPts val="0"/>
              </a:spcBef>
              <a:spcAft>
                <a:spcPct val="0"/>
              </a:spcAft>
              <a:buClrTx/>
              <a:buSzTx/>
              <a:buFontTx/>
              <a:buNone/>
              <a:tabLst/>
              <a:defRPr/>
            </a:pPr>
            <a:r>
              <a:rPr lang="sv-SE" dirty="0"/>
              <a:t>Avsnittsrubrik C (bild)</a:t>
            </a:r>
          </a:p>
        </p:txBody>
      </p:sp>
      <p:sp>
        <p:nvSpPr>
          <p:cNvPr id="2" name="Platshållare för datum 1">
            <a:extLst>
              <a:ext uri="{FF2B5EF4-FFF2-40B4-BE49-F238E27FC236}">
                <a16:creationId xmlns:a16="http://schemas.microsoft.com/office/drawing/2014/main" id="{D2CC256A-91C5-5D49-9F38-9D84CA3E7C8D}"/>
              </a:ext>
            </a:extLst>
          </p:cNvPr>
          <p:cNvSpPr>
            <a:spLocks noGrp="1"/>
          </p:cNvSpPr>
          <p:nvPr>
            <p:ph type="dt" sz="half" idx="11"/>
          </p:nvPr>
        </p:nvSpPr>
        <p:spPr/>
        <p:txBody>
          <a:bodyPr/>
          <a:lstStyle/>
          <a:p>
            <a:endParaRPr lang="sv-SE" dirty="0"/>
          </a:p>
        </p:txBody>
      </p:sp>
      <p:sp>
        <p:nvSpPr>
          <p:cNvPr id="17" name="Platshållare för bildnummer 16">
            <a:extLst>
              <a:ext uri="{FF2B5EF4-FFF2-40B4-BE49-F238E27FC236}">
                <a16:creationId xmlns:a16="http://schemas.microsoft.com/office/drawing/2014/main" id="{144E5D64-BA7D-2D42-884F-C8AE63D88DC2}"/>
              </a:ext>
            </a:extLst>
          </p:cNvPr>
          <p:cNvSpPr>
            <a:spLocks noGrp="1"/>
          </p:cNvSpPr>
          <p:nvPr>
            <p:ph type="sldNum" sz="quarter" idx="13"/>
          </p:nvPr>
        </p:nvSpPr>
        <p:spPr/>
        <p:txBody>
          <a:bodyPr/>
          <a:lstStyle/>
          <a:p>
            <a:pPr>
              <a:defRPr/>
            </a:pPr>
            <a:fld id="{9426A61E-93B8-384D-8975-0A89DB09A550}" type="slidenum">
              <a:rPr lang="sv-SE" smtClean="0"/>
              <a:pPr>
                <a:defRPr/>
              </a:pPr>
              <a:t>‹#›</a:t>
            </a:fld>
            <a:endParaRPr lang="sv-SE" dirty="0"/>
          </a:p>
        </p:txBody>
      </p:sp>
      <p:sp>
        <p:nvSpPr>
          <p:cNvPr id="8" name="Platshållare för sidfot 5">
            <a:extLst>
              <a:ext uri="{FF2B5EF4-FFF2-40B4-BE49-F238E27FC236}">
                <a16:creationId xmlns:a16="http://schemas.microsoft.com/office/drawing/2014/main" id="{2EB39F05-18CF-4974-9486-C4ABB1CE30D5}"/>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2154652335"/>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Rubrik och innehåll">
    <p:spTree>
      <p:nvGrpSpPr>
        <p:cNvPr id="1" name=""/>
        <p:cNvGrpSpPr/>
        <p:nvPr/>
      </p:nvGrpSpPr>
      <p:grpSpPr>
        <a:xfrm>
          <a:off x="0" y="0"/>
          <a:ext cx="0" cy="0"/>
          <a:chOff x="0" y="0"/>
          <a:chExt cx="0" cy="0"/>
        </a:xfrm>
      </p:grpSpPr>
      <p:sp>
        <p:nvSpPr>
          <p:cNvPr id="6" name="Rubrik 5"/>
          <p:cNvSpPr>
            <a:spLocks noGrp="1"/>
          </p:cNvSpPr>
          <p:nvPr>
            <p:ph type="title"/>
          </p:nvPr>
        </p:nvSpPr>
        <p:spPr>
          <a:xfrm>
            <a:off x="684000" y="590400"/>
            <a:ext cx="7776432" cy="684000"/>
          </a:xfrm>
        </p:spPr>
        <p:txBody>
          <a:bodyPr/>
          <a:lstStyle>
            <a:lvl1pPr>
              <a:defRPr sz="4000"/>
            </a:lvl1pPr>
          </a:lstStyle>
          <a:p>
            <a:r>
              <a:rPr lang="en-US" dirty="0"/>
              <a:t>Click to edit Master title style</a:t>
            </a:r>
            <a:endParaRPr lang="sv-SE" dirty="0"/>
          </a:p>
        </p:txBody>
      </p:sp>
      <p:sp>
        <p:nvSpPr>
          <p:cNvPr id="7" name="Platshållare för innehåll 2"/>
          <p:cNvSpPr>
            <a:spLocks noGrp="1"/>
          </p:cNvSpPr>
          <p:nvPr>
            <p:ph sz="quarter" idx="12" hasCustomPrompt="1"/>
          </p:nvPr>
        </p:nvSpPr>
        <p:spPr>
          <a:xfrm>
            <a:off x="684001" y="1440000"/>
            <a:ext cx="7776431" cy="2880320"/>
          </a:xfrm>
        </p:spPr>
        <p:txBody>
          <a:bodyPr>
            <a:normAutofit/>
          </a:bodyPr>
          <a:lstStyle>
            <a:lvl1pPr marL="216000" indent="-216000">
              <a:defRPr sz="1800">
                <a:latin typeface="+mn-lt"/>
                <a:cs typeface="Arial" panose="020B0604020202020204" pitchFamily="34" charset="0"/>
              </a:defRPr>
            </a:lvl1pPr>
            <a:lvl2pPr marL="432000" indent="-216000">
              <a:defRPr sz="1600">
                <a:latin typeface="+mn-lt"/>
                <a:cs typeface="Arial" panose="020B0604020202020204" pitchFamily="34" charset="0"/>
              </a:defRPr>
            </a:lvl2pPr>
            <a:lvl3pPr marL="648000" indent="-216000">
              <a:defRPr sz="1600">
                <a:latin typeface="+mn-lt"/>
                <a:cs typeface="Arial" panose="020B0604020202020204" pitchFamily="34" charset="0"/>
              </a:defRPr>
            </a:lvl3pPr>
            <a:lvl4pPr marL="864000" indent="-216000">
              <a:defRPr sz="1600">
                <a:latin typeface="+mn-lt"/>
                <a:cs typeface="Arial" panose="020B0604020202020204" pitchFamily="34" charset="0"/>
              </a:defRPr>
            </a:lvl4pPr>
            <a:lvl5pPr marL="1080000" indent="-216000">
              <a:defRPr sz="1600">
                <a:latin typeface="+mn-lt"/>
                <a:cs typeface="Arial" panose="020B0604020202020204" pitchFamily="34" charset="0"/>
              </a:defRPr>
            </a:lvl5pPr>
          </a:lstStyle>
          <a:p>
            <a:pPr lvl="0"/>
            <a:r>
              <a:rPr lang="sv-SE" dirty="0"/>
              <a:t>Skriv in din text eller klicka på ikonerna nedan för att infoga objekt</a:t>
            </a:r>
          </a:p>
          <a:p>
            <a:pPr lvl="1"/>
            <a:r>
              <a:rPr lang="sv-SE" dirty="0"/>
              <a:t>Nivå två</a:t>
            </a:r>
          </a:p>
          <a:p>
            <a:pPr lvl="2"/>
            <a:r>
              <a:rPr lang="sv-SE" dirty="0"/>
              <a:t>Nivå tre</a:t>
            </a:r>
          </a:p>
          <a:p>
            <a:pPr lvl="3"/>
            <a:r>
              <a:rPr lang="sv-SE" dirty="0"/>
              <a:t>Nivå fyra</a:t>
            </a:r>
          </a:p>
          <a:p>
            <a:pPr lvl="4"/>
            <a:r>
              <a:rPr lang="sv-SE" dirty="0"/>
              <a:t>Nivå fem</a:t>
            </a:r>
          </a:p>
        </p:txBody>
      </p:sp>
      <p:sp>
        <p:nvSpPr>
          <p:cNvPr id="2" name="Platshållare för datum 1">
            <a:extLst>
              <a:ext uri="{FF2B5EF4-FFF2-40B4-BE49-F238E27FC236}">
                <a16:creationId xmlns:a16="http://schemas.microsoft.com/office/drawing/2014/main" id="{261A4F72-0ADC-154C-B685-D17A84AD1A0F}"/>
              </a:ext>
            </a:extLst>
          </p:cNvPr>
          <p:cNvSpPr>
            <a:spLocks noGrp="1"/>
          </p:cNvSpPr>
          <p:nvPr>
            <p:ph type="dt" sz="half" idx="13"/>
          </p:nvPr>
        </p:nvSpPr>
        <p:spPr/>
        <p:txBody>
          <a:bodyPr/>
          <a:lstStyle/>
          <a:p>
            <a:endParaRPr lang="sv-SE" dirty="0"/>
          </a:p>
        </p:txBody>
      </p:sp>
      <p:sp>
        <p:nvSpPr>
          <p:cNvPr id="4" name="Platshållare för bildnummer 3">
            <a:extLst>
              <a:ext uri="{FF2B5EF4-FFF2-40B4-BE49-F238E27FC236}">
                <a16:creationId xmlns:a16="http://schemas.microsoft.com/office/drawing/2014/main" id="{758F675D-2A63-4E41-ACC6-FC756694E925}"/>
              </a:ext>
            </a:extLst>
          </p:cNvPr>
          <p:cNvSpPr>
            <a:spLocks noGrp="1"/>
          </p:cNvSpPr>
          <p:nvPr>
            <p:ph type="sldNum" sz="quarter" idx="15"/>
          </p:nvPr>
        </p:nvSpPr>
        <p:spPr/>
        <p:txBody>
          <a:bodyPr/>
          <a:lstStyle/>
          <a:p>
            <a:pPr>
              <a:defRPr/>
            </a:pPr>
            <a:fld id="{9426A61E-93B8-384D-8975-0A89DB09A550}" type="slidenum">
              <a:rPr lang="sv-SE" smtClean="0"/>
              <a:pPr>
                <a:defRPr/>
              </a:pPr>
              <a:t>‹#›</a:t>
            </a:fld>
            <a:endParaRPr lang="sv-SE" dirty="0"/>
          </a:p>
        </p:txBody>
      </p:sp>
      <p:sp>
        <p:nvSpPr>
          <p:cNvPr id="10" name="Platshållare för sidfot 5">
            <a:extLst>
              <a:ext uri="{FF2B5EF4-FFF2-40B4-BE49-F238E27FC236}">
                <a16:creationId xmlns:a16="http://schemas.microsoft.com/office/drawing/2014/main" id="{5465E8B2-B3C2-4867-A30C-C810403D7F3E}"/>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22905377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Rubrik och numrerad lista">
    <p:spTree>
      <p:nvGrpSpPr>
        <p:cNvPr id="1" name=""/>
        <p:cNvGrpSpPr/>
        <p:nvPr/>
      </p:nvGrpSpPr>
      <p:grpSpPr>
        <a:xfrm>
          <a:off x="0" y="0"/>
          <a:ext cx="0" cy="0"/>
          <a:chOff x="0" y="0"/>
          <a:chExt cx="0" cy="0"/>
        </a:xfrm>
      </p:grpSpPr>
      <p:sp>
        <p:nvSpPr>
          <p:cNvPr id="5" name="Platshållare för innehåll 2"/>
          <p:cNvSpPr>
            <a:spLocks noGrp="1"/>
          </p:cNvSpPr>
          <p:nvPr>
            <p:ph idx="1" hasCustomPrompt="1"/>
          </p:nvPr>
        </p:nvSpPr>
        <p:spPr>
          <a:xfrm>
            <a:off x="684000" y="1440000"/>
            <a:ext cx="7776432" cy="2862000"/>
          </a:xfrm>
          <a:prstGeom prst="rect">
            <a:avLst/>
          </a:prstGeom>
        </p:spPr>
        <p:txBody>
          <a:bodyPr vert="horz" lIns="0" tIns="0" rIns="0" bIns="0" rtlCol="0">
            <a:normAutofit/>
          </a:bodyPr>
          <a:lstStyle>
            <a:lvl1pPr marL="360363" indent="-360363">
              <a:buFont typeface="+mj-lt"/>
              <a:buAutoNum type="arabicPeriod"/>
              <a:defRPr lang="sv-SE" sz="1800" dirty="0" smtClean="0"/>
            </a:lvl1pPr>
            <a:lvl2pPr marL="648000" indent="-288000">
              <a:buFont typeface="+mj-lt"/>
              <a:buAutoNum type="alphaLcPeriod"/>
              <a:defRPr sz="1600" baseline="0"/>
            </a:lvl2pPr>
            <a:lvl3pPr marL="936000" indent="-288000">
              <a:buFont typeface="+mj-lt"/>
              <a:buAutoNum type="romanLcPeriod"/>
              <a:defRPr sz="1600"/>
            </a:lvl3pPr>
            <a:lvl4pPr marL="1224000" indent="-288000">
              <a:buSzPct val="90000"/>
              <a:buFont typeface="Helvetica" panose="020B0604020202020204" pitchFamily="34" charset="0"/>
              <a:buChar char="»"/>
              <a:defRPr sz="1600"/>
            </a:lvl4pPr>
            <a:lvl5pPr marL="1566900" indent="-342900">
              <a:buSzPct val="80000"/>
              <a:buFont typeface="+mj-lt"/>
              <a:buAutoNum type="arabicPeriod"/>
              <a:defRPr sz="1600"/>
            </a:lvl5pPr>
          </a:lstStyle>
          <a:p>
            <a:pPr lvl="0"/>
            <a:r>
              <a:rPr lang="sv-SE" dirty="0"/>
              <a:t>Skriv in din text eller klicka på ikonerna nedan för att infoga objekt</a:t>
            </a:r>
          </a:p>
          <a:p>
            <a:pPr lvl="1"/>
            <a:r>
              <a:rPr lang="sv-SE" dirty="0"/>
              <a:t>Nivå 2</a:t>
            </a:r>
          </a:p>
          <a:p>
            <a:pPr lvl="2"/>
            <a:r>
              <a:rPr lang="sv-SE" dirty="0"/>
              <a:t>Nivå 3</a:t>
            </a:r>
          </a:p>
          <a:p>
            <a:pPr lvl="3"/>
            <a:r>
              <a:rPr lang="sv-SE" dirty="0"/>
              <a:t>Nivå 4</a:t>
            </a:r>
          </a:p>
          <a:p>
            <a:pPr lvl="4"/>
            <a:r>
              <a:rPr lang="sv-SE" dirty="0"/>
              <a:t>Nivå 5</a:t>
            </a:r>
          </a:p>
        </p:txBody>
      </p:sp>
      <p:sp>
        <p:nvSpPr>
          <p:cNvPr id="2" name="Platshållare för datum 1">
            <a:extLst>
              <a:ext uri="{FF2B5EF4-FFF2-40B4-BE49-F238E27FC236}">
                <a16:creationId xmlns:a16="http://schemas.microsoft.com/office/drawing/2014/main" id="{CF74374F-72BB-8940-97CF-CD56965F6568}"/>
              </a:ext>
            </a:extLst>
          </p:cNvPr>
          <p:cNvSpPr>
            <a:spLocks noGrp="1"/>
          </p:cNvSpPr>
          <p:nvPr>
            <p:ph type="dt" sz="half" idx="10"/>
          </p:nvPr>
        </p:nvSpPr>
        <p:spPr/>
        <p:txBody>
          <a:bodyPr/>
          <a:lstStyle/>
          <a:p>
            <a:endParaRPr lang="sv-SE" dirty="0"/>
          </a:p>
        </p:txBody>
      </p:sp>
      <p:sp>
        <p:nvSpPr>
          <p:cNvPr id="4" name="Platshållare för bildnummer 3">
            <a:extLst>
              <a:ext uri="{FF2B5EF4-FFF2-40B4-BE49-F238E27FC236}">
                <a16:creationId xmlns:a16="http://schemas.microsoft.com/office/drawing/2014/main" id="{D8EDA7C2-1CC2-034C-915E-4EB151906486}"/>
              </a:ext>
            </a:extLst>
          </p:cNvPr>
          <p:cNvSpPr>
            <a:spLocks noGrp="1"/>
          </p:cNvSpPr>
          <p:nvPr>
            <p:ph type="sldNum" sz="quarter" idx="12"/>
          </p:nvPr>
        </p:nvSpPr>
        <p:spPr/>
        <p:txBody>
          <a:bodyPr/>
          <a:lstStyle/>
          <a:p>
            <a:pPr>
              <a:defRPr/>
            </a:pPr>
            <a:fld id="{9426A61E-93B8-384D-8975-0A89DB09A550}" type="slidenum">
              <a:rPr lang="sv-SE" smtClean="0"/>
              <a:pPr>
                <a:defRPr/>
              </a:pPr>
              <a:t>‹#›</a:t>
            </a:fld>
            <a:endParaRPr lang="sv-SE" dirty="0"/>
          </a:p>
        </p:txBody>
      </p:sp>
      <p:sp>
        <p:nvSpPr>
          <p:cNvPr id="7" name="Rubrik 6">
            <a:extLst>
              <a:ext uri="{FF2B5EF4-FFF2-40B4-BE49-F238E27FC236}">
                <a16:creationId xmlns:a16="http://schemas.microsoft.com/office/drawing/2014/main" id="{85BA99DC-9823-894B-A413-D12CE618856C}"/>
              </a:ext>
            </a:extLst>
          </p:cNvPr>
          <p:cNvSpPr>
            <a:spLocks noGrp="1"/>
          </p:cNvSpPr>
          <p:nvPr>
            <p:ph type="title"/>
          </p:nvPr>
        </p:nvSpPr>
        <p:spPr/>
        <p:txBody>
          <a:bodyPr/>
          <a:lstStyle>
            <a:lvl1pPr>
              <a:defRPr sz="3200"/>
            </a:lvl1pPr>
          </a:lstStyle>
          <a:p>
            <a:r>
              <a:rPr lang="sv-SE" dirty="0"/>
              <a:t>Klicka här för att ändra mall för rubrikformat</a:t>
            </a:r>
          </a:p>
        </p:txBody>
      </p:sp>
      <p:sp>
        <p:nvSpPr>
          <p:cNvPr id="9" name="Platshållare för sidfot 5">
            <a:extLst>
              <a:ext uri="{FF2B5EF4-FFF2-40B4-BE49-F238E27FC236}">
                <a16:creationId xmlns:a16="http://schemas.microsoft.com/office/drawing/2014/main" id="{CB4B7987-08ED-42C0-9CDE-0D3FB37E7513}"/>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217308823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ubrik och två innehållsdelar">
    <p:spTree>
      <p:nvGrpSpPr>
        <p:cNvPr id="1" name=""/>
        <p:cNvGrpSpPr/>
        <p:nvPr/>
      </p:nvGrpSpPr>
      <p:grpSpPr>
        <a:xfrm>
          <a:off x="0" y="0"/>
          <a:ext cx="0" cy="0"/>
          <a:chOff x="0" y="0"/>
          <a:chExt cx="0" cy="0"/>
        </a:xfrm>
      </p:grpSpPr>
      <p:sp>
        <p:nvSpPr>
          <p:cNvPr id="6" name="Rubrik 5"/>
          <p:cNvSpPr>
            <a:spLocks noGrp="1"/>
          </p:cNvSpPr>
          <p:nvPr>
            <p:ph type="title"/>
          </p:nvPr>
        </p:nvSpPr>
        <p:spPr/>
        <p:txBody>
          <a:bodyPr/>
          <a:lstStyle/>
          <a:p>
            <a:r>
              <a:rPr lang="en-US" dirty="0"/>
              <a:t>Click to edit Master title style</a:t>
            </a:r>
            <a:endParaRPr lang="sv-SE" dirty="0"/>
          </a:p>
        </p:txBody>
      </p:sp>
      <p:sp>
        <p:nvSpPr>
          <p:cNvPr id="7" name="Platshållare för innehåll 2"/>
          <p:cNvSpPr>
            <a:spLocks noGrp="1"/>
          </p:cNvSpPr>
          <p:nvPr>
            <p:ph sz="quarter" idx="12" hasCustomPrompt="1"/>
          </p:nvPr>
        </p:nvSpPr>
        <p:spPr>
          <a:xfrm>
            <a:off x="684000" y="1440000"/>
            <a:ext cx="3816000" cy="2750400"/>
          </a:xfrm>
        </p:spPr>
        <p:txBody>
          <a:bodyPr/>
          <a:lstStyle>
            <a:lvl1pPr marL="216000" indent="-216000">
              <a:defRPr sz="1800"/>
            </a:lvl1pPr>
            <a:lvl2pPr marL="432000" indent="-216000">
              <a:defRPr sz="1600"/>
            </a:lvl2pPr>
            <a:lvl3pPr marL="648000" indent="-216000">
              <a:defRPr sz="1600"/>
            </a:lvl3pPr>
            <a:lvl4pPr marL="864000" indent="-216000">
              <a:defRPr sz="1600"/>
            </a:lvl4pPr>
            <a:lvl5pPr marL="1080000" indent="-216000">
              <a:defRPr sz="1600"/>
            </a:lvl5pPr>
          </a:lstStyle>
          <a:p>
            <a:pPr lvl="0"/>
            <a:r>
              <a:rPr lang="sv-SE" dirty="0"/>
              <a:t>Skriv in din text eller klicka på ikonerna nedan för att infoga objekt</a:t>
            </a:r>
          </a:p>
          <a:p>
            <a:pPr lvl="1"/>
            <a:r>
              <a:rPr lang="sv-SE" dirty="0"/>
              <a:t>Nivå två</a:t>
            </a:r>
          </a:p>
          <a:p>
            <a:pPr lvl="2"/>
            <a:r>
              <a:rPr lang="sv-SE" dirty="0"/>
              <a:t>Nivå tre</a:t>
            </a:r>
          </a:p>
          <a:p>
            <a:pPr lvl="3"/>
            <a:r>
              <a:rPr lang="sv-SE" dirty="0"/>
              <a:t>Nivå fyra</a:t>
            </a:r>
          </a:p>
          <a:p>
            <a:pPr lvl="4"/>
            <a:r>
              <a:rPr lang="sv-SE" dirty="0"/>
              <a:t>Nivå fem</a:t>
            </a:r>
          </a:p>
        </p:txBody>
      </p:sp>
      <p:sp>
        <p:nvSpPr>
          <p:cNvPr id="8" name="Platshållare för innehåll 3"/>
          <p:cNvSpPr>
            <a:spLocks noGrp="1"/>
          </p:cNvSpPr>
          <p:nvPr>
            <p:ph sz="quarter" idx="13" hasCustomPrompt="1"/>
          </p:nvPr>
        </p:nvSpPr>
        <p:spPr>
          <a:xfrm>
            <a:off x="4716016" y="1440000"/>
            <a:ext cx="3816000" cy="2750400"/>
          </a:xfrm>
        </p:spPr>
        <p:txBody>
          <a:bodyPr/>
          <a:lstStyle>
            <a:lvl1pPr marL="216000" indent="-216000">
              <a:defRPr sz="1800"/>
            </a:lvl1pPr>
            <a:lvl2pPr marL="432000" indent="-216000">
              <a:defRPr sz="1600"/>
            </a:lvl2pPr>
            <a:lvl3pPr marL="648000" indent="-216000">
              <a:defRPr sz="1600"/>
            </a:lvl3pPr>
            <a:lvl4pPr marL="864000" indent="-216000">
              <a:defRPr sz="1600"/>
            </a:lvl4pPr>
            <a:lvl5pPr marL="1080000" indent="-216000">
              <a:defRPr sz="1600"/>
            </a:lvl5pPr>
          </a:lstStyle>
          <a:p>
            <a:pPr lvl="0"/>
            <a:r>
              <a:rPr lang="sv-SE" dirty="0"/>
              <a:t>Skriv in din text eller klicka på ikonerna nedan för att infoga objekt</a:t>
            </a:r>
          </a:p>
          <a:p>
            <a:pPr lvl="1"/>
            <a:r>
              <a:rPr lang="sv-SE" dirty="0"/>
              <a:t>Nivå två</a:t>
            </a:r>
          </a:p>
          <a:p>
            <a:pPr lvl="2"/>
            <a:r>
              <a:rPr lang="sv-SE" dirty="0"/>
              <a:t>Nivå tre</a:t>
            </a:r>
          </a:p>
          <a:p>
            <a:pPr lvl="3"/>
            <a:r>
              <a:rPr lang="sv-SE" dirty="0"/>
              <a:t>Nivå fyra</a:t>
            </a:r>
          </a:p>
          <a:p>
            <a:pPr lvl="4"/>
            <a:r>
              <a:rPr lang="sv-SE" dirty="0"/>
              <a:t>Nivå fem</a:t>
            </a:r>
          </a:p>
        </p:txBody>
      </p:sp>
      <p:sp>
        <p:nvSpPr>
          <p:cNvPr id="3" name="Platshållare för datum 2">
            <a:extLst>
              <a:ext uri="{FF2B5EF4-FFF2-40B4-BE49-F238E27FC236}">
                <a16:creationId xmlns:a16="http://schemas.microsoft.com/office/drawing/2014/main" id="{3611A8AC-4C13-B14F-B14C-5BB47D5CB151}"/>
              </a:ext>
            </a:extLst>
          </p:cNvPr>
          <p:cNvSpPr>
            <a:spLocks noGrp="1"/>
          </p:cNvSpPr>
          <p:nvPr>
            <p:ph type="dt" sz="half" idx="14"/>
          </p:nvPr>
        </p:nvSpPr>
        <p:spPr/>
        <p:txBody>
          <a:bodyPr/>
          <a:lstStyle/>
          <a:p>
            <a:endParaRPr lang="sv-SE" dirty="0"/>
          </a:p>
        </p:txBody>
      </p:sp>
      <p:sp>
        <p:nvSpPr>
          <p:cNvPr id="21" name="Platshållare för bildnummer 20">
            <a:extLst>
              <a:ext uri="{FF2B5EF4-FFF2-40B4-BE49-F238E27FC236}">
                <a16:creationId xmlns:a16="http://schemas.microsoft.com/office/drawing/2014/main" id="{706E54E7-61AA-0F47-A71D-70884C29450A}"/>
              </a:ext>
            </a:extLst>
          </p:cNvPr>
          <p:cNvSpPr>
            <a:spLocks noGrp="1"/>
          </p:cNvSpPr>
          <p:nvPr>
            <p:ph type="sldNum" sz="quarter" idx="16"/>
          </p:nvPr>
        </p:nvSpPr>
        <p:spPr/>
        <p:txBody>
          <a:bodyPr/>
          <a:lstStyle/>
          <a:p>
            <a:pPr>
              <a:defRPr/>
            </a:pPr>
            <a:fld id="{9426A61E-93B8-384D-8975-0A89DB09A550}" type="slidenum">
              <a:rPr lang="sv-SE" smtClean="0"/>
              <a:pPr>
                <a:defRPr/>
              </a:pPr>
              <a:t>‹#›</a:t>
            </a:fld>
            <a:endParaRPr lang="sv-SE" dirty="0"/>
          </a:p>
        </p:txBody>
      </p:sp>
      <p:sp>
        <p:nvSpPr>
          <p:cNvPr id="10" name="Platshållare för sidfot 5">
            <a:extLst>
              <a:ext uri="{FF2B5EF4-FFF2-40B4-BE49-F238E27FC236}">
                <a16:creationId xmlns:a16="http://schemas.microsoft.com/office/drawing/2014/main" id="{6F2E6184-8C14-4DA7-B62D-7443242EBC0E}"/>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302062517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och bild (alt 1)">
    <p:spTree>
      <p:nvGrpSpPr>
        <p:cNvPr id="1" name=""/>
        <p:cNvGrpSpPr/>
        <p:nvPr/>
      </p:nvGrpSpPr>
      <p:grpSpPr>
        <a:xfrm>
          <a:off x="0" y="0"/>
          <a:ext cx="0" cy="0"/>
          <a:chOff x="0" y="0"/>
          <a:chExt cx="0" cy="0"/>
        </a:xfrm>
      </p:grpSpPr>
      <p:sp>
        <p:nvSpPr>
          <p:cNvPr id="2" name="Rubrik 1"/>
          <p:cNvSpPr>
            <a:spLocks noGrp="1"/>
          </p:cNvSpPr>
          <p:nvPr>
            <p:ph type="title"/>
          </p:nvPr>
        </p:nvSpPr>
        <p:spPr>
          <a:xfrm>
            <a:off x="3350203" y="269100"/>
            <a:ext cx="5184000" cy="684000"/>
          </a:xfrm>
        </p:spPr>
        <p:txBody>
          <a:bodyPr/>
          <a:lstStyle>
            <a:lvl1pPr>
              <a:defRPr sz="4000"/>
            </a:lvl1pPr>
          </a:lstStyle>
          <a:p>
            <a:r>
              <a:rPr lang="en-US" dirty="0"/>
              <a:t>Click to edit Master title style</a:t>
            </a:r>
            <a:endParaRPr lang="sv-SE" dirty="0"/>
          </a:p>
        </p:txBody>
      </p:sp>
      <p:sp>
        <p:nvSpPr>
          <p:cNvPr id="7" name="Platshållare för innehåll 2"/>
          <p:cNvSpPr>
            <a:spLocks noGrp="1"/>
          </p:cNvSpPr>
          <p:nvPr>
            <p:ph sz="quarter" idx="12" hasCustomPrompt="1"/>
          </p:nvPr>
        </p:nvSpPr>
        <p:spPr>
          <a:xfrm>
            <a:off x="3347864" y="1440000"/>
            <a:ext cx="5184000" cy="2750400"/>
          </a:xfrm>
        </p:spPr>
        <p:txBody>
          <a:bodyPr/>
          <a:lstStyle>
            <a:lvl1pPr marL="216000" indent="-216000">
              <a:defRPr sz="1800"/>
            </a:lvl1pPr>
            <a:lvl2pPr marL="432000" indent="-216000">
              <a:defRPr sz="1600"/>
            </a:lvl2pPr>
            <a:lvl3pPr marL="648000" indent="-216000">
              <a:defRPr sz="1600"/>
            </a:lvl3pPr>
            <a:lvl4pPr marL="864000" indent="-216000">
              <a:defRPr sz="1600"/>
            </a:lvl4pPr>
            <a:lvl5pPr marL="1080000" indent="-216000">
              <a:defRPr sz="1600"/>
            </a:lvl5pPr>
          </a:lstStyle>
          <a:p>
            <a:pPr lvl="0"/>
            <a:r>
              <a:rPr lang="sv-SE" dirty="0"/>
              <a:t>Skriv in din text</a:t>
            </a:r>
          </a:p>
          <a:p>
            <a:pPr lvl="1"/>
            <a:r>
              <a:rPr lang="sv-SE" dirty="0"/>
              <a:t>Nivå två</a:t>
            </a:r>
          </a:p>
          <a:p>
            <a:pPr lvl="2"/>
            <a:r>
              <a:rPr lang="sv-SE" dirty="0"/>
              <a:t>Nivå tre</a:t>
            </a:r>
          </a:p>
          <a:p>
            <a:pPr lvl="3"/>
            <a:r>
              <a:rPr lang="sv-SE" dirty="0"/>
              <a:t>Nivå fyra</a:t>
            </a:r>
          </a:p>
          <a:p>
            <a:pPr lvl="4"/>
            <a:r>
              <a:rPr lang="sv-SE" dirty="0"/>
              <a:t>Nivå fem</a:t>
            </a:r>
          </a:p>
        </p:txBody>
      </p:sp>
      <p:sp>
        <p:nvSpPr>
          <p:cNvPr id="15" name="Platshållare för bild 7"/>
          <p:cNvSpPr>
            <a:spLocks noGrp="1"/>
          </p:cNvSpPr>
          <p:nvPr>
            <p:ph type="pic" sz="quarter" idx="17" hasCustomPrompt="1"/>
          </p:nvPr>
        </p:nvSpPr>
        <p:spPr>
          <a:xfrm>
            <a:off x="0" y="-4302"/>
            <a:ext cx="2992081" cy="4905834"/>
          </a:xfrm>
          <a:prstGeom prst="rect">
            <a:avLst/>
          </a:prstGeom>
          <a:noFill/>
        </p:spPr>
        <p:txBody>
          <a:bodyPr vert="horz" lIns="0" tIns="0" rIns="0" bIns="0" rtlCol="0" anchor="ctr">
            <a:normAutofit/>
          </a:bodyPr>
          <a:lstStyle>
            <a:lvl1pPr marL="0" marR="0" indent="0" algn="ctr" defTabSz="457200" rtl="0" eaLnBrk="0" fontAlgn="base" latinLnBrk="0" hangingPunct="0">
              <a:lnSpc>
                <a:spcPct val="110000"/>
              </a:lnSpc>
              <a:spcBef>
                <a:spcPts val="800"/>
              </a:spcBef>
              <a:spcAft>
                <a:spcPct val="0"/>
              </a:spcAft>
              <a:buClrTx/>
              <a:buSzTx/>
              <a:buFont typeface="Arial" charset="0"/>
              <a:buNone/>
              <a:tabLst/>
              <a:defRPr lang="sv-SE" sz="1600" noProof="0"/>
            </a:lvl1pPr>
          </a:lstStyle>
          <a:p>
            <a:pPr marL="0" marR="0" lvl="0" indent="0" algn="ctr" defTabSz="457200" rtl="0" eaLnBrk="0" fontAlgn="base" latinLnBrk="0" hangingPunct="0">
              <a:lnSpc>
                <a:spcPct val="110000"/>
              </a:lnSpc>
              <a:spcBef>
                <a:spcPts val="800"/>
              </a:spcBef>
              <a:spcAft>
                <a:spcPct val="0"/>
              </a:spcAft>
              <a:buClrTx/>
              <a:buSzTx/>
              <a:buFont typeface="Arial" charset="0"/>
              <a:buNone/>
              <a:tabLst/>
              <a:defRPr/>
            </a:pPr>
            <a:r>
              <a:rPr lang="sv-SE" noProof="0" dirty="0"/>
              <a:t>Klicka på ikonen</a:t>
            </a:r>
            <a:br>
              <a:rPr lang="sv-SE" noProof="0" dirty="0"/>
            </a:br>
            <a:br>
              <a:rPr lang="sv-SE" noProof="0" dirty="0"/>
            </a:br>
            <a:r>
              <a:rPr lang="sv-SE" noProof="0" dirty="0"/>
              <a:t>för att lägga till en bild</a:t>
            </a:r>
          </a:p>
        </p:txBody>
      </p:sp>
      <p:sp>
        <p:nvSpPr>
          <p:cNvPr id="3" name="Platshållare för datum 2">
            <a:extLst>
              <a:ext uri="{FF2B5EF4-FFF2-40B4-BE49-F238E27FC236}">
                <a16:creationId xmlns:a16="http://schemas.microsoft.com/office/drawing/2014/main" id="{6EF64341-C2E0-534E-B80A-73454D73D2C7}"/>
              </a:ext>
            </a:extLst>
          </p:cNvPr>
          <p:cNvSpPr>
            <a:spLocks noGrp="1"/>
          </p:cNvSpPr>
          <p:nvPr>
            <p:ph type="dt" sz="half" idx="18"/>
          </p:nvPr>
        </p:nvSpPr>
        <p:spPr/>
        <p:txBody>
          <a:bodyPr/>
          <a:lstStyle/>
          <a:p>
            <a:endParaRPr lang="sv-SE" dirty="0"/>
          </a:p>
        </p:txBody>
      </p:sp>
      <p:sp>
        <p:nvSpPr>
          <p:cNvPr id="5" name="Platshållare för bildnummer 4">
            <a:extLst>
              <a:ext uri="{FF2B5EF4-FFF2-40B4-BE49-F238E27FC236}">
                <a16:creationId xmlns:a16="http://schemas.microsoft.com/office/drawing/2014/main" id="{F8424E00-2E58-8F40-A5E1-C5CC2E171476}"/>
              </a:ext>
            </a:extLst>
          </p:cNvPr>
          <p:cNvSpPr>
            <a:spLocks noGrp="1"/>
          </p:cNvSpPr>
          <p:nvPr>
            <p:ph type="sldNum" sz="quarter" idx="20"/>
          </p:nvPr>
        </p:nvSpPr>
        <p:spPr/>
        <p:txBody>
          <a:bodyPr/>
          <a:lstStyle/>
          <a:p>
            <a:pPr>
              <a:defRPr/>
            </a:pPr>
            <a:fld id="{9426A61E-93B8-384D-8975-0A89DB09A550}" type="slidenum">
              <a:rPr lang="sv-SE" smtClean="0"/>
              <a:pPr>
                <a:defRPr/>
              </a:pPr>
              <a:t>‹#›</a:t>
            </a:fld>
            <a:endParaRPr lang="sv-SE" dirty="0"/>
          </a:p>
        </p:txBody>
      </p:sp>
      <p:sp>
        <p:nvSpPr>
          <p:cNvPr id="9" name="Platshållare för sidfot 5">
            <a:extLst>
              <a:ext uri="{FF2B5EF4-FFF2-40B4-BE49-F238E27FC236}">
                <a16:creationId xmlns:a16="http://schemas.microsoft.com/office/drawing/2014/main" id="{C6014832-D01E-4D46-A9D6-69D87EFB378C}"/>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403675158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och bild (alt 2)">
    <p:spTree>
      <p:nvGrpSpPr>
        <p:cNvPr id="1" name=""/>
        <p:cNvGrpSpPr/>
        <p:nvPr/>
      </p:nvGrpSpPr>
      <p:grpSpPr>
        <a:xfrm>
          <a:off x="0" y="0"/>
          <a:ext cx="0" cy="0"/>
          <a:chOff x="0" y="0"/>
          <a:chExt cx="0" cy="0"/>
        </a:xfrm>
      </p:grpSpPr>
      <p:sp>
        <p:nvSpPr>
          <p:cNvPr id="3" name="Rubrik 2"/>
          <p:cNvSpPr>
            <a:spLocks noGrp="1"/>
          </p:cNvSpPr>
          <p:nvPr>
            <p:ph type="title"/>
          </p:nvPr>
        </p:nvSpPr>
        <p:spPr>
          <a:xfrm>
            <a:off x="4932448" y="248400"/>
            <a:ext cx="3672000" cy="684000"/>
          </a:xfrm>
        </p:spPr>
        <p:txBody>
          <a:bodyPr/>
          <a:lstStyle>
            <a:lvl1pPr>
              <a:defRPr sz="4000"/>
            </a:lvl1pPr>
          </a:lstStyle>
          <a:p>
            <a:r>
              <a:rPr lang="en-US" dirty="0"/>
              <a:t>Click to edit Master title style</a:t>
            </a:r>
            <a:endParaRPr lang="sv-SE" dirty="0"/>
          </a:p>
        </p:txBody>
      </p:sp>
      <p:sp>
        <p:nvSpPr>
          <p:cNvPr id="7" name="Platshållare för innehåll 2"/>
          <p:cNvSpPr>
            <a:spLocks noGrp="1"/>
          </p:cNvSpPr>
          <p:nvPr>
            <p:ph sz="quarter" idx="12" hasCustomPrompt="1"/>
          </p:nvPr>
        </p:nvSpPr>
        <p:spPr>
          <a:xfrm>
            <a:off x="4932448" y="1440000"/>
            <a:ext cx="3672000" cy="2750400"/>
          </a:xfrm>
        </p:spPr>
        <p:txBody>
          <a:bodyPr/>
          <a:lstStyle>
            <a:lvl1pPr marL="216000" indent="-216000">
              <a:defRPr sz="1800"/>
            </a:lvl1pPr>
            <a:lvl2pPr marL="432000" indent="-216000">
              <a:defRPr sz="1600"/>
            </a:lvl2pPr>
            <a:lvl3pPr marL="648000" indent="-216000">
              <a:defRPr sz="1600"/>
            </a:lvl3pPr>
            <a:lvl4pPr marL="864000" indent="-216000">
              <a:defRPr sz="1600"/>
            </a:lvl4pPr>
            <a:lvl5pPr marL="1080000" indent="-216000">
              <a:defRPr sz="1600"/>
            </a:lvl5pPr>
          </a:lstStyle>
          <a:p>
            <a:pPr lvl="0"/>
            <a:r>
              <a:rPr lang="sv-SE" dirty="0"/>
              <a:t>Skriv in din text</a:t>
            </a:r>
          </a:p>
          <a:p>
            <a:pPr lvl="1"/>
            <a:r>
              <a:rPr lang="sv-SE" dirty="0"/>
              <a:t>Nivå två</a:t>
            </a:r>
          </a:p>
          <a:p>
            <a:pPr lvl="2"/>
            <a:r>
              <a:rPr lang="sv-SE" dirty="0"/>
              <a:t>Nivå tre</a:t>
            </a:r>
          </a:p>
          <a:p>
            <a:pPr lvl="3"/>
            <a:r>
              <a:rPr lang="sv-SE" dirty="0"/>
              <a:t>Nivå fyra</a:t>
            </a:r>
          </a:p>
          <a:p>
            <a:pPr lvl="4"/>
            <a:r>
              <a:rPr lang="sv-SE" dirty="0"/>
              <a:t>Nivå fem</a:t>
            </a:r>
          </a:p>
        </p:txBody>
      </p:sp>
      <p:sp>
        <p:nvSpPr>
          <p:cNvPr id="15" name="Platshållare för bild 7"/>
          <p:cNvSpPr>
            <a:spLocks noGrp="1"/>
          </p:cNvSpPr>
          <p:nvPr>
            <p:ph type="pic" sz="quarter" idx="17" hasCustomPrompt="1"/>
          </p:nvPr>
        </p:nvSpPr>
        <p:spPr>
          <a:xfrm>
            <a:off x="0" y="0"/>
            <a:ext cx="4572001" cy="4901532"/>
          </a:xfrm>
          <a:prstGeom prst="rect">
            <a:avLst/>
          </a:prstGeom>
          <a:noFill/>
        </p:spPr>
        <p:txBody>
          <a:bodyPr vert="horz" lIns="0" tIns="0" rIns="0" bIns="0" rtlCol="0" anchor="ctr">
            <a:normAutofit/>
          </a:bodyPr>
          <a:lstStyle>
            <a:lvl1pPr marL="180000" indent="-180000" algn="ctr">
              <a:buNone/>
              <a:defRPr lang="sv-SE" sz="1600" noProof="0" dirty="0" smtClean="0"/>
            </a:lvl1pPr>
          </a:lstStyle>
          <a:p>
            <a:pPr marL="0" marR="0" lvl="0" indent="0" algn="ctr" latinLnBrk="0">
              <a:buClrTx/>
              <a:buSzTx/>
              <a:tabLst/>
            </a:pPr>
            <a:r>
              <a:rPr lang="sv-SE" noProof="0" dirty="0"/>
              <a:t>Klicka på ikonen</a:t>
            </a:r>
            <a:br>
              <a:rPr lang="sv-SE" noProof="0" dirty="0"/>
            </a:br>
            <a:br>
              <a:rPr lang="sv-SE" noProof="0" dirty="0"/>
            </a:br>
            <a:r>
              <a:rPr lang="sv-SE" noProof="0" dirty="0"/>
              <a:t>för att lägga till en bild</a:t>
            </a:r>
          </a:p>
        </p:txBody>
      </p:sp>
      <p:sp>
        <p:nvSpPr>
          <p:cNvPr id="2" name="Platshållare för datum 1">
            <a:extLst>
              <a:ext uri="{FF2B5EF4-FFF2-40B4-BE49-F238E27FC236}">
                <a16:creationId xmlns:a16="http://schemas.microsoft.com/office/drawing/2014/main" id="{377ED9F3-A6A0-5241-BDD7-09BDFB6C06C4}"/>
              </a:ext>
            </a:extLst>
          </p:cNvPr>
          <p:cNvSpPr>
            <a:spLocks noGrp="1"/>
          </p:cNvSpPr>
          <p:nvPr>
            <p:ph type="dt" sz="half" idx="18"/>
          </p:nvPr>
        </p:nvSpPr>
        <p:spPr/>
        <p:txBody>
          <a:bodyPr/>
          <a:lstStyle/>
          <a:p>
            <a:endParaRPr lang="sv-SE" dirty="0"/>
          </a:p>
        </p:txBody>
      </p:sp>
      <p:sp>
        <p:nvSpPr>
          <p:cNvPr id="6" name="Platshållare för bildnummer 5">
            <a:extLst>
              <a:ext uri="{FF2B5EF4-FFF2-40B4-BE49-F238E27FC236}">
                <a16:creationId xmlns:a16="http://schemas.microsoft.com/office/drawing/2014/main" id="{3ACD28FC-F82C-2644-96D2-6FAC48EB3E86}"/>
              </a:ext>
            </a:extLst>
          </p:cNvPr>
          <p:cNvSpPr>
            <a:spLocks noGrp="1"/>
          </p:cNvSpPr>
          <p:nvPr>
            <p:ph type="sldNum" sz="quarter" idx="20"/>
          </p:nvPr>
        </p:nvSpPr>
        <p:spPr/>
        <p:txBody>
          <a:bodyPr/>
          <a:lstStyle/>
          <a:p>
            <a:pPr>
              <a:defRPr/>
            </a:pPr>
            <a:fld id="{9426A61E-93B8-384D-8975-0A89DB09A550}" type="slidenum">
              <a:rPr lang="sv-SE" smtClean="0"/>
              <a:pPr>
                <a:defRPr/>
              </a:pPr>
              <a:t>‹#›</a:t>
            </a:fld>
            <a:endParaRPr lang="sv-SE" dirty="0"/>
          </a:p>
        </p:txBody>
      </p:sp>
      <p:sp>
        <p:nvSpPr>
          <p:cNvPr id="9" name="Platshållare för sidfot 5">
            <a:extLst>
              <a:ext uri="{FF2B5EF4-FFF2-40B4-BE49-F238E27FC236}">
                <a16:creationId xmlns:a16="http://schemas.microsoft.com/office/drawing/2014/main" id="{BE0A4402-9206-4C41-B1EF-701FDB569E0A}"/>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185787724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och två bilder">
    <p:spTree>
      <p:nvGrpSpPr>
        <p:cNvPr id="1" name=""/>
        <p:cNvGrpSpPr/>
        <p:nvPr/>
      </p:nvGrpSpPr>
      <p:grpSpPr>
        <a:xfrm>
          <a:off x="0" y="0"/>
          <a:ext cx="0" cy="0"/>
          <a:chOff x="0" y="0"/>
          <a:chExt cx="0" cy="0"/>
        </a:xfrm>
      </p:grpSpPr>
      <p:sp>
        <p:nvSpPr>
          <p:cNvPr id="5" name="Rubrik 4"/>
          <p:cNvSpPr>
            <a:spLocks noGrp="1"/>
          </p:cNvSpPr>
          <p:nvPr>
            <p:ph type="title"/>
          </p:nvPr>
        </p:nvSpPr>
        <p:spPr>
          <a:xfrm>
            <a:off x="684000" y="195486"/>
            <a:ext cx="5112000" cy="684000"/>
          </a:xfrm>
        </p:spPr>
        <p:txBody>
          <a:bodyPr/>
          <a:lstStyle>
            <a:lvl1pPr>
              <a:defRPr sz="4000"/>
            </a:lvl1pPr>
          </a:lstStyle>
          <a:p>
            <a:r>
              <a:rPr lang="en-US" dirty="0"/>
              <a:t>Click to edit Master title style</a:t>
            </a:r>
            <a:endParaRPr lang="sv-SE" dirty="0"/>
          </a:p>
        </p:txBody>
      </p:sp>
      <p:sp>
        <p:nvSpPr>
          <p:cNvPr id="8" name="Platshållare för innehåll 2"/>
          <p:cNvSpPr>
            <a:spLocks noGrp="1"/>
          </p:cNvSpPr>
          <p:nvPr>
            <p:ph sz="quarter" idx="12" hasCustomPrompt="1"/>
          </p:nvPr>
        </p:nvSpPr>
        <p:spPr>
          <a:xfrm>
            <a:off x="684000" y="1440000"/>
            <a:ext cx="5112000" cy="2750400"/>
          </a:xfrm>
        </p:spPr>
        <p:txBody>
          <a:bodyPr/>
          <a:lstStyle>
            <a:lvl1pPr marL="216000" indent="-216000">
              <a:defRPr sz="1800"/>
            </a:lvl1pPr>
            <a:lvl2pPr marL="432000" indent="-216000">
              <a:defRPr sz="1600"/>
            </a:lvl2pPr>
            <a:lvl3pPr marL="648000" indent="-216000">
              <a:defRPr sz="1600"/>
            </a:lvl3pPr>
            <a:lvl4pPr marL="864000" indent="-216000">
              <a:defRPr sz="1600"/>
            </a:lvl4pPr>
            <a:lvl5pPr marL="1080000" indent="-216000">
              <a:defRPr sz="1600"/>
            </a:lvl5pPr>
          </a:lstStyle>
          <a:p>
            <a:pPr lvl="0"/>
            <a:r>
              <a:rPr lang="sv-SE" dirty="0"/>
              <a:t>Skriv in din text</a:t>
            </a:r>
          </a:p>
          <a:p>
            <a:pPr lvl="1"/>
            <a:r>
              <a:rPr lang="sv-SE" dirty="0"/>
              <a:t>Nivå två</a:t>
            </a:r>
          </a:p>
          <a:p>
            <a:pPr lvl="2"/>
            <a:r>
              <a:rPr lang="sv-SE" dirty="0"/>
              <a:t>Nivå tre</a:t>
            </a:r>
          </a:p>
          <a:p>
            <a:pPr lvl="3"/>
            <a:r>
              <a:rPr lang="sv-SE" dirty="0"/>
              <a:t>Nivå fyra</a:t>
            </a:r>
          </a:p>
          <a:p>
            <a:pPr lvl="4"/>
            <a:r>
              <a:rPr lang="sv-SE" dirty="0"/>
              <a:t>Nivå fem</a:t>
            </a:r>
          </a:p>
        </p:txBody>
      </p:sp>
      <p:sp>
        <p:nvSpPr>
          <p:cNvPr id="14" name="Platshållare för bild 7"/>
          <p:cNvSpPr>
            <a:spLocks noGrp="1"/>
          </p:cNvSpPr>
          <p:nvPr>
            <p:ph type="pic" sz="quarter" idx="17" hasCustomPrompt="1"/>
          </p:nvPr>
        </p:nvSpPr>
        <p:spPr>
          <a:xfrm>
            <a:off x="5654769" y="-254274"/>
            <a:ext cx="3489231" cy="2527200"/>
          </a:xfrm>
          <a:custGeom>
            <a:avLst/>
            <a:gdLst>
              <a:gd name="connsiteX0" fmla="*/ 0 w 2992081"/>
              <a:gd name="connsiteY0" fmla="*/ 0 h 2527200"/>
              <a:gd name="connsiteX1" fmla="*/ 2992081 w 2992081"/>
              <a:gd name="connsiteY1" fmla="*/ 0 h 2527200"/>
              <a:gd name="connsiteX2" fmla="*/ 2992081 w 2992081"/>
              <a:gd name="connsiteY2" fmla="*/ 2527200 h 2527200"/>
              <a:gd name="connsiteX3" fmla="*/ 0 w 2992081"/>
              <a:gd name="connsiteY3" fmla="*/ 2527200 h 2527200"/>
              <a:gd name="connsiteX4" fmla="*/ 0 w 2992081"/>
              <a:gd name="connsiteY4" fmla="*/ 0 h 2527200"/>
              <a:gd name="connsiteX0" fmla="*/ 0 w 3489231"/>
              <a:gd name="connsiteY0" fmla="*/ 0 h 2527200"/>
              <a:gd name="connsiteX1" fmla="*/ 3489231 w 3489231"/>
              <a:gd name="connsiteY1" fmla="*/ 0 h 2527200"/>
              <a:gd name="connsiteX2" fmla="*/ 3489231 w 3489231"/>
              <a:gd name="connsiteY2" fmla="*/ 2527200 h 2527200"/>
              <a:gd name="connsiteX3" fmla="*/ 497150 w 3489231"/>
              <a:gd name="connsiteY3" fmla="*/ 2527200 h 2527200"/>
              <a:gd name="connsiteX4" fmla="*/ 0 w 3489231"/>
              <a:gd name="connsiteY4" fmla="*/ 0 h 2527200"/>
              <a:gd name="connsiteX0" fmla="*/ 0 w 3489231"/>
              <a:gd name="connsiteY0" fmla="*/ 0 h 2532366"/>
              <a:gd name="connsiteX1" fmla="*/ 3489231 w 3489231"/>
              <a:gd name="connsiteY1" fmla="*/ 0 h 2532366"/>
              <a:gd name="connsiteX2" fmla="*/ 3489231 w 3489231"/>
              <a:gd name="connsiteY2" fmla="*/ 2527200 h 2532366"/>
              <a:gd name="connsiteX3" fmla="*/ 352499 w 3489231"/>
              <a:gd name="connsiteY3" fmla="*/ 2532366 h 2532366"/>
              <a:gd name="connsiteX4" fmla="*/ 0 w 3489231"/>
              <a:gd name="connsiteY4" fmla="*/ 0 h 2532366"/>
              <a:gd name="connsiteX0" fmla="*/ 0 w 3489231"/>
              <a:gd name="connsiteY0" fmla="*/ 0 h 2527200"/>
              <a:gd name="connsiteX1" fmla="*/ 3489231 w 3489231"/>
              <a:gd name="connsiteY1" fmla="*/ 0 h 2527200"/>
              <a:gd name="connsiteX2" fmla="*/ 3489231 w 3489231"/>
              <a:gd name="connsiteY2" fmla="*/ 2527200 h 2527200"/>
              <a:gd name="connsiteX3" fmla="*/ 331835 w 3489231"/>
              <a:gd name="connsiteY3" fmla="*/ 2465206 h 2527200"/>
              <a:gd name="connsiteX4" fmla="*/ 0 w 3489231"/>
              <a:gd name="connsiteY4" fmla="*/ 0 h 2527200"/>
              <a:gd name="connsiteX0" fmla="*/ 0 w 3489231"/>
              <a:gd name="connsiteY0" fmla="*/ 0 h 2532366"/>
              <a:gd name="connsiteX1" fmla="*/ 3489231 w 3489231"/>
              <a:gd name="connsiteY1" fmla="*/ 0 h 2532366"/>
              <a:gd name="connsiteX2" fmla="*/ 3489231 w 3489231"/>
              <a:gd name="connsiteY2" fmla="*/ 2527200 h 2532366"/>
              <a:gd name="connsiteX3" fmla="*/ 347333 w 3489231"/>
              <a:gd name="connsiteY3" fmla="*/ 2532366 h 2532366"/>
              <a:gd name="connsiteX4" fmla="*/ 0 w 3489231"/>
              <a:gd name="connsiteY4" fmla="*/ 0 h 2532366"/>
              <a:gd name="connsiteX0" fmla="*/ 0 w 3489231"/>
              <a:gd name="connsiteY0" fmla="*/ 0 h 2527200"/>
              <a:gd name="connsiteX1" fmla="*/ 3489231 w 3489231"/>
              <a:gd name="connsiteY1" fmla="*/ 0 h 2527200"/>
              <a:gd name="connsiteX2" fmla="*/ 3489231 w 3489231"/>
              <a:gd name="connsiteY2" fmla="*/ 2527200 h 2527200"/>
              <a:gd name="connsiteX3" fmla="*/ 347333 w 3489231"/>
              <a:gd name="connsiteY3" fmla="*/ 2522033 h 2527200"/>
              <a:gd name="connsiteX4" fmla="*/ 0 w 3489231"/>
              <a:gd name="connsiteY4" fmla="*/ 0 h 252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9231" h="2527200">
                <a:moveTo>
                  <a:pt x="0" y="0"/>
                </a:moveTo>
                <a:lnTo>
                  <a:pt x="3489231" y="0"/>
                </a:lnTo>
                <a:lnTo>
                  <a:pt x="3489231" y="2527200"/>
                </a:lnTo>
                <a:lnTo>
                  <a:pt x="347333" y="2522033"/>
                </a:lnTo>
                <a:lnTo>
                  <a:pt x="0" y="0"/>
                </a:lnTo>
                <a:close/>
              </a:path>
            </a:pathLst>
          </a:custGeom>
          <a:noFill/>
        </p:spPr>
        <p:txBody>
          <a:bodyPr vert="horz" lIns="0" tIns="0" rIns="0" bIns="0" rtlCol="0" anchor="ctr">
            <a:normAutofit/>
          </a:bodyPr>
          <a:lstStyle>
            <a:lvl1pPr marL="0" marR="0" indent="0" algn="ctr" defTabSz="457200" rtl="0" eaLnBrk="0" fontAlgn="base" latinLnBrk="0" hangingPunct="0">
              <a:lnSpc>
                <a:spcPct val="110000"/>
              </a:lnSpc>
              <a:spcBef>
                <a:spcPts val="800"/>
              </a:spcBef>
              <a:spcAft>
                <a:spcPct val="0"/>
              </a:spcAft>
              <a:buClrTx/>
              <a:buSzTx/>
              <a:buFont typeface="Arial" charset="0"/>
              <a:buNone/>
              <a:tabLst/>
              <a:defRPr lang="sv-SE" sz="1600" noProof="0"/>
            </a:lvl1pPr>
          </a:lstStyle>
          <a:p>
            <a:pPr marL="0" marR="0" lvl="0" indent="0" algn="ctr" defTabSz="457200" rtl="0" eaLnBrk="0" fontAlgn="base" latinLnBrk="0" hangingPunct="0">
              <a:lnSpc>
                <a:spcPct val="110000"/>
              </a:lnSpc>
              <a:spcBef>
                <a:spcPts val="800"/>
              </a:spcBef>
              <a:spcAft>
                <a:spcPct val="0"/>
              </a:spcAft>
              <a:buClrTx/>
              <a:buSzTx/>
              <a:buFont typeface="Arial" charset="0"/>
              <a:buNone/>
              <a:tabLst/>
              <a:defRPr/>
            </a:pPr>
            <a:r>
              <a:rPr lang="sv-SE" noProof="0" dirty="0"/>
              <a:t>Klicka på ikonen</a:t>
            </a:r>
            <a:br>
              <a:rPr lang="sv-SE" noProof="0" dirty="0"/>
            </a:br>
            <a:br>
              <a:rPr lang="sv-SE" noProof="0" dirty="0"/>
            </a:br>
            <a:r>
              <a:rPr lang="sv-SE" noProof="0" dirty="0"/>
              <a:t>för att lägga till en bild</a:t>
            </a:r>
          </a:p>
        </p:txBody>
      </p:sp>
      <p:sp>
        <p:nvSpPr>
          <p:cNvPr id="10" name="Platshållare för bild 7"/>
          <p:cNvSpPr>
            <a:spLocks noGrp="1"/>
          </p:cNvSpPr>
          <p:nvPr>
            <p:ph type="pic" sz="quarter" idx="20" hasCustomPrompt="1"/>
          </p:nvPr>
        </p:nvSpPr>
        <p:spPr>
          <a:xfrm>
            <a:off x="6022766" y="2376919"/>
            <a:ext cx="3121234" cy="2527200"/>
          </a:xfrm>
          <a:custGeom>
            <a:avLst/>
            <a:gdLst>
              <a:gd name="connsiteX0" fmla="*/ 0 w 2992081"/>
              <a:gd name="connsiteY0" fmla="*/ 0 h 2527200"/>
              <a:gd name="connsiteX1" fmla="*/ 2992081 w 2992081"/>
              <a:gd name="connsiteY1" fmla="*/ 0 h 2527200"/>
              <a:gd name="connsiteX2" fmla="*/ 2992081 w 2992081"/>
              <a:gd name="connsiteY2" fmla="*/ 2527200 h 2527200"/>
              <a:gd name="connsiteX3" fmla="*/ 0 w 2992081"/>
              <a:gd name="connsiteY3" fmla="*/ 2527200 h 2527200"/>
              <a:gd name="connsiteX4" fmla="*/ 0 w 2992081"/>
              <a:gd name="connsiteY4" fmla="*/ 0 h 2527200"/>
              <a:gd name="connsiteX0" fmla="*/ 0 w 3121234"/>
              <a:gd name="connsiteY0" fmla="*/ 0 h 2527200"/>
              <a:gd name="connsiteX1" fmla="*/ 3121234 w 3121234"/>
              <a:gd name="connsiteY1" fmla="*/ 0 h 2527200"/>
              <a:gd name="connsiteX2" fmla="*/ 3121234 w 3121234"/>
              <a:gd name="connsiteY2" fmla="*/ 2527200 h 2527200"/>
              <a:gd name="connsiteX3" fmla="*/ 129153 w 3121234"/>
              <a:gd name="connsiteY3" fmla="*/ 2527200 h 2527200"/>
              <a:gd name="connsiteX4" fmla="*/ 0 w 3121234"/>
              <a:gd name="connsiteY4" fmla="*/ 0 h 2527200"/>
              <a:gd name="connsiteX0" fmla="*/ 0 w 3121234"/>
              <a:gd name="connsiteY0" fmla="*/ 0 h 2527200"/>
              <a:gd name="connsiteX1" fmla="*/ 3121234 w 3121234"/>
              <a:gd name="connsiteY1" fmla="*/ 0 h 2527200"/>
              <a:gd name="connsiteX2" fmla="*/ 3121234 w 3121234"/>
              <a:gd name="connsiteY2" fmla="*/ 2527200 h 2527200"/>
              <a:gd name="connsiteX3" fmla="*/ 361628 w 3121234"/>
              <a:gd name="connsiteY3" fmla="*/ 2527200 h 2527200"/>
              <a:gd name="connsiteX4" fmla="*/ 0 w 3121234"/>
              <a:gd name="connsiteY4" fmla="*/ 0 h 252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1234" h="2527200">
                <a:moveTo>
                  <a:pt x="0" y="0"/>
                </a:moveTo>
                <a:lnTo>
                  <a:pt x="3121234" y="0"/>
                </a:lnTo>
                <a:lnTo>
                  <a:pt x="3121234" y="2527200"/>
                </a:lnTo>
                <a:lnTo>
                  <a:pt x="361628" y="2527200"/>
                </a:lnTo>
                <a:lnTo>
                  <a:pt x="0" y="0"/>
                </a:lnTo>
                <a:close/>
              </a:path>
            </a:pathLst>
          </a:custGeom>
          <a:noFill/>
        </p:spPr>
        <p:txBody>
          <a:bodyPr vert="horz" lIns="0" tIns="0" rIns="0" bIns="0" rtlCol="0" anchor="ctr">
            <a:normAutofit/>
          </a:bodyPr>
          <a:lstStyle>
            <a:lvl1pPr marL="0" marR="0" indent="0" algn="ctr" defTabSz="457200" rtl="0" eaLnBrk="0" fontAlgn="base" latinLnBrk="0" hangingPunct="0">
              <a:lnSpc>
                <a:spcPct val="110000"/>
              </a:lnSpc>
              <a:spcBef>
                <a:spcPts val="800"/>
              </a:spcBef>
              <a:spcAft>
                <a:spcPct val="0"/>
              </a:spcAft>
              <a:buClrTx/>
              <a:buSzTx/>
              <a:buFont typeface="Arial" charset="0"/>
              <a:buNone/>
              <a:tabLst/>
              <a:defRPr lang="sv-SE" sz="1600" noProof="0"/>
            </a:lvl1pPr>
          </a:lstStyle>
          <a:p>
            <a:pPr marL="0" marR="0" lvl="0" indent="0" algn="ctr" defTabSz="457200" rtl="0" eaLnBrk="0" fontAlgn="base" latinLnBrk="0" hangingPunct="0">
              <a:lnSpc>
                <a:spcPct val="110000"/>
              </a:lnSpc>
              <a:spcBef>
                <a:spcPts val="800"/>
              </a:spcBef>
              <a:spcAft>
                <a:spcPct val="0"/>
              </a:spcAft>
              <a:buClrTx/>
              <a:buSzTx/>
              <a:buFont typeface="Arial" charset="0"/>
              <a:buNone/>
              <a:tabLst/>
              <a:defRPr/>
            </a:pPr>
            <a:r>
              <a:rPr lang="sv-SE" noProof="0" dirty="0"/>
              <a:t>Klicka på ikonen</a:t>
            </a:r>
            <a:br>
              <a:rPr lang="sv-SE" noProof="0" dirty="0"/>
            </a:br>
            <a:br>
              <a:rPr lang="sv-SE" noProof="0" dirty="0"/>
            </a:br>
            <a:r>
              <a:rPr lang="sv-SE" noProof="0" dirty="0"/>
              <a:t>för att lägga till en bild</a:t>
            </a:r>
          </a:p>
        </p:txBody>
      </p:sp>
      <p:sp>
        <p:nvSpPr>
          <p:cNvPr id="2" name="Platshållare för datum 1">
            <a:extLst>
              <a:ext uri="{FF2B5EF4-FFF2-40B4-BE49-F238E27FC236}">
                <a16:creationId xmlns:a16="http://schemas.microsoft.com/office/drawing/2014/main" id="{EFE56F4B-F502-0F4B-874E-630BAF00905E}"/>
              </a:ext>
            </a:extLst>
          </p:cNvPr>
          <p:cNvSpPr>
            <a:spLocks noGrp="1"/>
          </p:cNvSpPr>
          <p:nvPr>
            <p:ph type="dt" sz="half" idx="21"/>
          </p:nvPr>
        </p:nvSpPr>
        <p:spPr/>
        <p:txBody>
          <a:bodyPr/>
          <a:lstStyle/>
          <a:p>
            <a:endParaRPr lang="sv-SE" dirty="0"/>
          </a:p>
        </p:txBody>
      </p:sp>
      <p:sp>
        <p:nvSpPr>
          <p:cNvPr id="6" name="Platshållare för bildnummer 5">
            <a:extLst>
              <a:ext uri="{FF2B5EF4-FFF2-40B4-BE49-F238E27FC236}">
                <a16:creationId xmlns:a16="http://schemas.microsoft.com/office/drawing/2014/main" id="{E9D171E7-236E-0B41-8A61-106D119BFBE2}"/>
              </a:ext>
            </a:extLst>
          </p:cNvPr>
          <p:cNvSpPr>
            <a:spLocks noGrp="1"/>
          </p:cNvSpPr>
          <p:nvPr>
            <p:ph type="sldNum" sz="quarter" idx="23"/>
          </p:nvPr>
        </p:nvSpPr>
        <p:spPr/>
        <p:txBody>
          <a:bodyPr/>
          <a:lstStyle/>
          <a:p>
            <a:pPr>
              <a:defRPr/>
            </a:pPr>
            <a:fld id="{9426A61E-93B8-384D-8975-0A89DB09A550}" type="slidenum">
              <a:rPr lang="sv-SE" smtClean="0"/>
              <a:pPr>
                <a:defRPr/>
              </a:pPr>
              <a:t>‹#›</a:t>
            </a:fld>
            <a:endParaRPr lang="sv-SE" dirty="0"/>
          </a:p>
        </p:txBody>
      </p:sp>
      <p:sp>
        <p:nvSpPr>
          <p:cNvPr id="11" name="Platshållare för sidfot 5">
            <a:extLst>
              <a:ext uri="{FF2B5EF4-FFF2-40B4-BE49-F238E27FC236}">
                <a16:creationId xmlns:a16="http://schemas.microsoft.com/office/drawing/2014/main" id="{6AA279A1-093D-417B-AC65-BDDD83B10305}"/>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44257859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och tre bilder">
    <p:spTree>
      <p:nvGrpSpPr>
        <p:cNvPr id="1" name=""/>
        <p:cNvGrpSpPr/>
        <p:nvPr/>
      </p:nvGrpSpPr>
      <p:grpSpPr>
        <a:xfrm>
          <a:off x="0" y="0"/>
          <a:ext cx="0" cy="0"/>
          <a:chOff x="0" y="0"/>
          <a:chExt cx="0" cy="0"/>
        </a:xfrm>
      </p:grpSpPr>
      <p:sp>
        <p:nvSpPr>
          <p:cNvPr id="9" name="Platshållare för innehåll 2"/>
          <p:cNvSpPr>
            <a:spLocks noGrp="1"/>
          </p:cNvSpPr>
          <p:nvPr>
            <p:ph sz="quarter" idx="12" hasCustomPrompt="1"/>
          </p:nvPr>
        </p:nvSpPr>
        <p:spPr>
          <a:xfrm>
            <a:off x="684000" y="1440000"/>
            <a:ext cx="5112000" cy="2750400"/>
          </a:xfrm>
        </p:spPr>
        <p:txBody>
          <a:bodyPr/>
          <a:lstStyle>
            <a:lvl1pPr marL="216000" indent="-216000">
              <a:defRPr/>
            </a:lvl1pPr>
            <a:lvl2pPr marL="432000" indent="-216000">
              <a:defRPr/>
            </a:lvl2pPr>
            <a:lvl3pPr marL="648000" indent="-216000">
              <a:defRPr/>
            </a:lvl3pPr>
            <a:lvl4pPr marL="864000" indent="-216000">
              <a:defRPr/>
            </a:lvl4pPr>
            <a:lvl5pPr marL="1080000" indent="-216000">
              <a:defRPr/>
            </a:lvl5pPr>
          </a:lstStyle>
          <a:p>
            <a:pPr lvl="0"/>
            <a:r>
              <a:rPr lang="sv-SE" dirty="0"/>
              <a:t>Skriv in din text</a:t>
            </a:r>
          </a:p>
          <a:p>
            <a:pPr lvl="1"/>
            <a:r>
              <a:rPr lang="sv-SE" dirty="0"/>
              <a:t>Nivå två</a:t>
            </a:r>
          </a:p>
          <a:p>
            <a:pPr lvl="2"/>
            <a:r>
              <a:rPr lang="sv-SE" dirty="0"/>
              <a:t>Nivå tre</a:t>
            </a:r>
          </a:p>
          <a:p>
            <a:pPr lvl="3"/>
            <a:r>
              <a:rPr lang="sv-SE" dirty="0"/>
              <a:t>Nivå fyra</a:t>
            </a:r>
          </a:p>
          <a:p>
            <a:pPr lvl="4"/>
            <a:r>
              <a:rPr lang="sv-SE" dirty="0"/>
              <a:t>Nivå fem</a:t>
            </a:r>
          </a:p>
        </p:txBody>
      </p:sp>
      <p:sp>
        <p:nvSpPr>
          <p:cNvPr id="8" name="Platshållare för bild 7"/>
          <p:cNvSpPr>
            <a:spLocks noGrp="1"/>
          </p:cNvSpPr>
          <p:nvPr>
            <p:ph type="pic" sz="quarter" idx="17" hasCustomPrompt="1"/>
          </p:nvPr>
        </p:nvSpPr>
        <p:spPr>
          <a:xfrm>
            <a:off x="6151919" y="2912"/>
            <a:ext cx="2992081" cy="1394743"/>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200025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200025 w 2992081"/>
              <a:gd name="connsiteY4" fmla="*/ 0 h 1656000"/>
              <a:gd name="connsiteX0" fmla="*/ 163739 w 2992081"/>
              <a:gd name="connsiteY0" fmla="*/ 261257 h 1656000"/>
              <a:gd name="connsiteX1" fmla="*/ 2992081 w 2992081"/>
              <a:gd name="connsiteY1" fmla="*/ 0 h 1656000"/>
              <a:gd name="connsiteX2" fmla="*/ 2992081 w 2992081"/>
              <a:gd name="connsiteY2" fmla="*/ 1656000 h 1656000"/>
              <a:gd name="connsiteX3" fmla="*/ 0 w 2992081"/>
              <a:gd name="connsiteY3" fmla="*/ 1656000 h 1656000"/>
              <a:gd name="connsiteX4" fmla="*/ 163739 w 2992081"/>
              <a:gd name="connsiteY4" fmla="*/ 261257 h 1656000"/>
              <a:gd name="connsiteX0" fmla="*/ 163739 w 2992081"/>
              <a:gd name="connsiteY0" fmla="*/ 0 h 1394743"/>
              <a:gd name="connsiteX1" fmla="*/ 2992081 w 2992081"/>
              <a:gd name="connsiteY1" fmla="*/ 0 h 1394743"/>
              <a:gd name="connsiteX2" fmla="*/ 2992081 w 2992081"/>
              <a:gd name="connsiteY2" fmla="*/ 1394743 h 1394743"/>
              <a:gd name="connsiteX3" fmla="*/ 0 w 2992081"/>
              <a:gd name="connsiteY3" fmla="*/ 1394743 h 1394743"/>
              <a:gd name="connsiteX4" fmla="*/ 163739 w 2992081"/>
              <a:gd name="connsiteY4" fmla="*/ 0 h 1394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081" h="1394743">
                <a:moveTo>
                  <a:pt x="163739" y="0"/>
                </a:moveTo>
                <a:lnTo>
                  <a:pt x="2992081" y="0"/>
                </a:lnTo>
                <a:lnTo>
                  <a:pt x="2992081" y="1394743"/>
                </a:lnTo>
                <a:lnTo>
                  <a:pt x="0" y="1394743"/>
                </a:lnTo>
                <a:lnTo>
                  <a:pt x="163739" y="0"/>
                </a:lnTo>
                <a:close/>
              </a:path>
            </a:pathLst>
          </a:custGeom>
          <a:noFill/>
        </p:spPr>
        <p:txBody>
          <a:bodyPr vert="horz" lIns="0" tIns="0" rIns="0" bIns="0" rtlCol="0" anchor="ctr">
            <a:normAutofit/>
          </a:bodyPr>
          <a:lstStyle>
            <a:lvl1pPr marL="180000" indent="-180000" algn="ctr">
              <a:buNone/>
              <a:defRPr lang="sv-SE" sz="1600" noProof="0" dirty="0" smtClean="0"/>
            </a:lvl1pPr>
          </a:lstStyle>
          <a:p>
            <a:pPr marL="0" marR="0" lvl="0" indent="0" algn="ctr" latinLnBrk="0">
              <a:buClrTx/>
              <a:buSzTx/>
              <a:tabLst/>
            </a:pPr>
            <a:r>
              <a:rPr lang="sv-SE" noProof="0" dirty="0"/>
              <a:t>Klicka på ikonen</a:t>
            </a:r>
            <a:br>
              <a:rPr lang="sv-SE" noProof="0" dirty="0"/>
            </a:br>
            <a:br>
              <a:rPr lang="sv-SE" noProof="0" dirty="0"/>
            </a:br>
            <a:r>
              <a:rPr lang="sv-SE" noProof="0" dirty="0"/>
              <a:t>för att lägga till en bild</a:t>
            </a:r>
          </a:p>
        </p:txBody>
      </p:sp>
      <p:sp>
        <p:nvSpPr>
          <p:cNvPr id="6" name="Platshållare för bild 7"/>
          <p:cNvSpPr>
            <a:spLocks noGrp="1"/>
          </p:cNvSpPr>
          <p:nvPr>
            <p:ph type="pic" sz="quarter" idx="21" hasCustomPrompt="1"/>
          </p:nvPr>
        </p:nvSpPr>
        <p:spPr>
          <a:xfrm>
            <a:off x="5684211" y="3242168"/>
            <a:ext cx="3460264" cy="1675664"/>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471488 w 3463569"/>
              <a:gd name="connsiteY0" fmla="*/ 0 h 1670287"/>
              <a:gd name="connsiteX1" fmla="*/ 3463569 w 3463569"/>
              <a:gd name="connsiteY1" fmla="*/ 0 h 1670287"/>
              <a:gd name="connsiteX2" fmla="*/ 3463569 w 3463569"/>
              <a:gd name="connsiteY2" fmla="*/ 1656000 h 1670287"/>
              <a:gd name="connsiteX3" fmla="*/ 0 w 3463569"/>
              <a:gd name="connsiteY3" fmla="*/ 1670287 h 1670287"/>
              <a:gd name="connsiteX4" fmla="*/ 471488 w 3463569"/>
              <a:gd name="connsiteY4" fmla="*/ 0 h 1670287"/>
              <a:gd name="connsiteX0" fmla="*/ 228601 w 3463569"/>
              <a:gd name="connsiteY0" fmla="*/ 0 h 1677431"/>
              <a:gd name="connsiteX1" fmla="*/ 3463569 w 3463569"/>
              <a:gd name="connsiteY1" fmla="*/ 7144 h 1677431"/>
              <a:gd name="connsiteX2" fmla="*/ 3463569 w 3463569"/>
              <a:gd name="connsiteY2" fmla="*/ 1663144 h 1677431"/>
              <a:gd name="connsiteX3" fmla="*/ 0 w 3463569"/>
              <a:gd name="connsiteY3" fmla="*/ 1677431 h 1677431"/>
              <a:gd name="connsiteX4" fmla="*/ 228601 w 3463569"/>
              <a:gd name="connsiteY4" fmla="*/ 0 h 1677431"/>
              <a:gd name="connsiteX0" fmla="*/ 235745 w 3463569"/>
              <a:gd name="connsiteY0" fmla="*/ 7144 h 1670287"/>
              <a:gd name="connsiteX1" fmla="*/ 3463569 w 3463569"/>
              <a:gd name="connsiteY1" fmla="*/ 0 h 1670287"/>
              <a:gd name="connsiteX2" fmla="*/ 3463569 w 3463569"/>
              <a:gd name="connsiteY2" fmla="*/ 1656000 h 1670287"/>
              <a:gd name="connsiteX3" fmla="*/ 0 w 3463569"/>
              <a:gd name="connsiteY3" fmla="*/ 1670287 h 1670287"/>
              <a:gd name="connsiteX4" fmla="*/ 235745 w 3463569"/>
              <a:gd name="connsiteY4" fmla="*/ 7144 h 1670287"/>
              <a:gd name="connsiteX0" fmla="*/ 224410 w 3463569"/>
              <a:gd name="connsiteY0" fmla="*/ 0 h 1670700"/>
              <a:gd name="connsiteX1" fmla="*/ 3463569 w 3463569"/>
              <a:gd name="connsiteY1" fmla="*/ 413 h 1670700"/>
              <a:gd name="connsiteX2" fmla="*/ 3463569 w 3463569"/>
              <a:gd name="connsiteY2" fmla="*/ 1656413 h 1670700"/>
              <a:gd name="connsiteX3" fmla="*/ 0 w 3463569"/>
              <a:gd name="connsiteY3" fmla="*/ 1670700 h 1670700"/>
              <a:gd name="connsiteX4" fmla="*/ 224410 w 3463569"/>
              <a:gd name="connsiteY4" fmla="*/ 0 h 1670700"/>
              <a:gd name="connsiteX0" fmla="*/ 220632 w 3459791"/>
              <a:gd name="connsiteY0" fmla="*/ 0 h 1663143"/>
              <a:gd name="connsiteX1" fmla="*/ 3459791 w 3459791"/>
              <a:gd name="connsiteY1" fmla="*/ 413 h 1663143"/>
              <a:gd name="connsiteX2" fmla="*/ 3459791 w 3459791"/>
              <a:gd name="connsiteY2" fmla="*/ 1656413 h 1663143"/>
              <a:gd name="connsiteX3" fmla="*/ 0 w 3459791"/>
              <a:gd name="connsiteY3" fmla="*/ 1663143 h 1663143"/>
              <a:gd name="connsiteX4" fmla="*/ 220632 w 3459791"/>
              <a:gd name="connsiteY4" fmla="*/ 0 h 1663143"/>
              <a:gd name="connsiteX0" fmla="*/ 2206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220632 w 3459791"/>
              <a:gd name="connsiteY4" fmla="*/ 0 h 1659364"/>
              <a:gd name="connsiteX0" fmla="*/ 215716 w 3454875"/>
              <a:gd name="connsiteY0" fmla="*/ 0 h 1656413"/>
              <a:gd name="connsiteX1" fmla="*/ 3454875 w 3454875"/>
              <a:gd name="connsiteY1" fmla="*/ 413 h 1656413"/>
              <a:gd name="connsiteX2" fmla="*/ 3454875 w 3454875"/>
              <a:gd name="connsiteY2" fmla="*/ 1656413 h 1656413"/>
              <a:gd name="connsiteX3" fmla="*/ 0 w 3454875"/>
              <a:gd name="connsiteY3" fmla="*/ 1654447 h 1656413"/>
              <a:gd name="connsiteX4" fmla="*/ 215716 w 3454875"/>
              <a:gd name="connsiteY4" fmla="*/ 0 h 1656413"/>
              <a:gd name="connsiteX0" fmla="*/ 215716 w 3454875"/>
              <a:gd name="connsiteY0" fmla="*/ 0 h 1656413"/>
              <a:gd name="connsiteX1" fmla="*/ 3454875 w 3454875"/>
              <a:gd name="connsiteY1" fmla="*/ 413 h 1656413"/>
              <a:gd name="connsiteX2" fmla="*/ 3454875 w 3454875"/>
              <a:gd name="connsiteY2" fmla="*/ 1656413 h 1656413"/>
              <a:gd name="connsiteX3" fmla="*/ 0 w 3454875"/>
              <a:gd name="connsiteY3" fmla="*/ 1654447 h 1656413"/>
              <a:gd name="connsiteX4" fmla="*/ 215716 w 3454875"/>
              <a:gd name="connsiteY4" fmla="*/ 0 h 1656413"/>
              <a:gd name="connsiteX0" fmla="*/ 220632 w 3459791"/>
              <a:gd name="connsiteY0" fmla="*/ 0 h 1674117"/>
              <a:gd name="connsiteX1" fmla="*/ 3459791 w 3459791"/>
              <a:gd name="connsiteY1" fmla="*/ 413 h 1674117"/>
              <a:gd name="connsiteX2" fmla="*/ 3459791 w 3459791"/>
              <a:gd name="connsiteY2" fmla="*/ 1656413 h 1674117"/>
              <a:gd name="connsiteX3" fmla="*/ 0 w 3459791"/>
              <a:gd name="connsiteY3" fmla="*/ 1674117 h 1674117"/>
              <a:gd name="connsiteX4" fmla="*/ 220632 w 3459791"/>
              <a:gd name="connsiteY4" fmla="*/ 0 h 1674117"/>
              <a:gd name="connsiteX0" fmla="*/ 220632 w 3459791"/>
              <a:gd name="connsiteY0" fmla="*/ 0 h 1674117"/>
              <a:gd name="connsiteX1" fmla="*/ 3459791 w 3459791"/>
              <a:gd name="connsiteY1" fmla="*/ 413 h 1674117"/>
              <a:gd name="connsiteX2" fmla="*/ 3454875 w 3459791"/>
              <a:gd name="connsiteY2" fmla="*/ 1671164 h 1674117"/>
              <a:gd name="connsiteX3" fmla="*/ 0 w 3459791"/>
              <a:gd name="connsiteY3" fmla="*/ 1674117 h 1674117"/>
              <a:gd name="connsiteX4" fmla="*/ 220632 w 3459791"/>
              <a:gd name="connsiteY4" fmla="*/ 0 h 1674117"/>
              <a:gd name="connsiteX0" fmla="*/ 220632 w 3460264"/>
              <a:gd name="connsiteY0" fmla="*/ 0 h 1676081"/>
              <a:gd name="connsiteX1" fmla="*/ 3459791 w 3460264"/>
              <a:gd name="connsiteY1" fmla="*/ 413 h 1676081"/>
              <a:gd name="connsiteX2" fmla="*/ 3459791 w 3460264"/>
              <a:gd name="connsiteY2" fmla="*/ 1676081 h 1676081"/>
              <a:gd name="connsiteX3" fmla="*/ 0 w 3460264"/>
              <a:gd name="connsiteY3" fmla="*/ 1674117 h 1676081"/>
              <a:gd name="connsiteX4" fmla="*/ 220632 w 3460264"/>
              <a:gd name="connsiteY4" fmla="*/ 0 h 1676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0264" h="1676081">
                <a:moveTo>
                  <a:pt x="220632" y="0"/>
                </a:moveTo>
                <a:lnTo>
                  <a:pt x="3459791" y="413"/>
                </a:lnTo>
                <a:cubicBezTo>
                  <a:pt x="3458152" y="557330"/>
                  <a:pt x="3461430" y="1119164"/>
                  <a:pt x="3459791" y="1676081"/>
                </a:cubicBezTo>
                <a:lnTo>
                  <a:pt x="0" y="1674117"/>
                </a:lnTo>
                <a:lnTo>
                  <a:pt x="220632" y="0"/>
                </a:lnTo>
                <a:close/>
              </a:path>
            </a:pathLst>
          </a:custGeom>
          <a:noFill/>
        </p:spPr>
        <p:txBody>
          <a:bodyPr vert="horz" lIns="0" tIns="0" rIns="0" bIns="0" rtlCol="0" anchor="ctr">
            <a:normAutofit/>
          </a:bodyPr>
          <a:lstStyle>
            <a:lvl1pPr marL="180000" indent="-180000" algn="ctr">
              <a:buNone/>
              <a:defRPr lang="sv-SE" sz="1600" noProof="0"/>
            </a:lvl1pPr>
          </a:lstStyle>
          <a:p>
            <a:pPr marL="0" marR="0" lvl="0" indent="0" algn="ctr" latinLnBrk="0">
              <a:buClrTx/>
              <a:buSzTx/>
              <a:tabLst/>
            </a:pPr>
            <a:r>
              <a:rPr lang="sv-SE" noProof="0" dirty="0"/>
              <a:t>Klicka på ikonen</a:t>
            </a:r>
            <a:br>
              <a:rPr lang="sv-SE" noProof="0" dirty="0"/>
            </a:br>
            <a:br>
              <a:rPr lang="sv-SE" noProof="0" dirty="0"/>
            </a:br>
            <a:r>
              <a:rPr lang="sv-SE" noProof="0" dirty="0"/>
              <a:t>för att lägga till en bild</a:t>
            </a:r>
          </a:p>
        </p:txBody>
      </p:sp>
      <p:sp>
        <p:nvSpPr>
          <p:cNvPr id="7" name="Platshållare för bild 7"/>
          <p:cNvSpPr>
            <a:spLocks noGrp="1"/>
          </p:cNvSpPr>
          <p:nvPr>
            <p:ph type="pic" sz="quarter" idx="22" hasCustomPrompt="1"/>
          </p:nvPr>
        </p:nvSpPr>
        <p:spPr>
          <a:xfrm>
            <a:off x="5923736" y="1491911"/>
            <a:ext cx="3220266" cy="1656000"/>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221456 w 3213537"/>
              <a:gd name="connsiteY0" fmla="*/ 0 h 1670288"/>
              <a:gd name="connsiteX1" fmla="*/ 3213537 w 3213537"/>
              <a:gd name="connsiteY1" fmla="*/ 0 h 1670288"/>
              <a:gd name="connsiteX2" fmla="*/ 3213537 w 3213537"/>
              <a:gd name="connsiteY2" fmla="*/ 1656000 h 1670288"/>
              <a:gd name="connsiteX3" fmla="*/ 0 w 3213537"/>
              <a:gd name="connsiteY3" fmla="*/ 1670288 h 1670288"/>
              <a:gd name="connsiteX4" fmla="*/ 221456 w 3213537"/>
              <a:gd name="connsiteY4" fmla="*/ 0 h 1670288"/>
              <a:gd name="connsiteX0" fmla="*/ 221456 w 3213537"/>
              <a:gd name="connsiteY0" fmla="*/ 0 h 1663145"/>
              <a:gd name="connsiteX1" fmla="*/ 3213537 w 3213537"/>
              <a:gd name="connsiteY1" fmla="*/ 0 h 1663145"/>
              <a:gd name="connsiteX2" fmla="*/ 3213537 w 3213537"/>
              <a:gd name="connsiteY2" fmla="*/ 1656000 h 1663145"/>
              <a:gd name="connsiteX3" fmla="*/ 0 w 3213537"/>
              <a:gd name="connsiteY3" fmla="*/ 1663145 h 1663145"/>
              <a:gd name="connsiteX4" fmla="*/ 221456 w 3213537"/>
              <a:gd name="connsiteY4" fmla="*/ 0 h 1663145"/>
              <a:gd name="connsiteX0" fmla="*/ 214312 w 3206393"/>
              <a:gd name="connsiteY0" fmla="*/ 0 h 1656000"/>
              <a:gd name="connsiteX1" fmla="*/ 3206393 w 3206393"/>
              <a:gd name="connsiteY1" fmla="*/ 0 h 1656000"/>
              <a:gd name="connsiteX2" fmla="*/ 3206393 w 3206393"/>
              <a:gd name="connsiteY2" fmla="*/ 1656000 h 1656000"/>
              <a:gd name="connsiteX3" fmla="*/ 0 w 3206393"/>
              <a:gd name="connsiteY3" fmla="*/ 1641714 h 1656000"/>
              <a:gd name="connsiteX4" fmla="*/ 214312 w 3206393"/>
              <a:gd name="connsiteY4" fmla="*/ 0 h 1656000"/>
              <a:gd name="connsiteX0" fmla="*/ 214312 w 3206393"/>
              <a:gd name="connsiteY0" fmla="*/ 0 h 1656000"/>
              <a:gd name="connsiteX1" fmla="*/ 3206393 w 3206393"/>
              <a:gd name="connsiteY1" fmla="*/ 0 h 1656000"/>
              <a:gd name="connsiteX2" fmla="*/ 3206393 w 3206393"/>
              <a:gd name="connsiteY2" fmla="*/ 1656000 h 1656000"/>
              <a:gd name="connsiteX3" fmla="*/ 0 w 3206393"/>
              <a:gd name="connsiteY3" fmla="*/ 1648858 h 1656000"/>
              <a:gd name="connsiteX4" fmla="*/ 214312 w 3206393"/>
              <a:gd name="connsiteY4" fmla="*/ 0 h 1656000"/>
              <a:gd name="connsiteX0" fmla="*/ 235743 w 3227824"/>
              <a:gd name="connsiteY0" fmla="*/ 0 h 1663145"/>
              <a:gd name="connsiteX1" fmla="*/ 3227824 w 3227824"/>
              <a:gd name="connsiteY1" fmla="*/ 0 h 1663145"/>
              <a:gd name="connsiteX2" fmla="*/ 3227824 w 3227824"/>
              <a:gd name="connsiteY2" fmla="*/ 1656000 h 1663145"/>
              <a:gd name="connsiteX3" fmla="*/ 0 w 3227824"/>
              <a:gd name="connsiteY3" fmla="*/ 1663145 h 1663145"/>
              <a:gd name="connsiteX4" fmla="*/ 235743 w 3227824"/>
              <a:gd name="connsiteY4" fmla="*/ 0 h 1663145"/>
              <a:gd name="connsiteX0" fmla="*/ 224408 w 3227824"/>
              <a:gd name="connsiteY0" fmla="*/ 0 h 1663145"/>
              <a:gd name="connsiteX1" fmla="*/ 3227824 w 3227824"/>
              <a:gd name="connsiteY1" fmla="*/ 0 h 1663145"/>
              <a:gd name="connsiteX2" fmla="*/ 3227824 w 3227824"/>
              <a:gd name="connsiteY2" fmla="*/ 1656000 h 1663145"/>
              <a:gd name="connsiteX3" fmla="*/ 0 w 3227824"/>
              <a:gd name="connsiteY3" fmla="*/ 1663145 h 1663145"/>
              <a:gd name="connsiteX4" fmla="*/ 224408 w 3227824"/>
              <a:gd name="connsiteY4" fmla="*/ 0 h 1663145"/>
              <a:gd name="connsiteX0" fmla="*/ 216851 w 3220267"/>
              <a:gd name="connsiteY0" fmla="*/ 0 h 1659366"/>
              <a:gd name="connsiteX1" fmla="*/ 3220267 w 3220267"/>
              <a:gd name="connsiteY1" fmla="*/ 0 h 1659366"/>
              <a:gd name="connsiteX2" fmla="*/ 3220267 w 3220267"/>
              <a:gd name="connsiteY2" fmla="*/ 1656000 h 1659366"/>
              <a:gd name="connsiteX3" fmla="*/ 0 w 3220267"/>
              <a:gd name="connsiteY3" fmla="*/ 1659366 h 1659366"/>
              <a:gd name="connsiteX4" fmla="*/ 216851 w 3220267"/>
              <a:gd name="connsiteY4" fmla="*/ 0 h 1659366"/>
              <a:gd name="connsiteX0" fmla="*/ 216851 w 3220267"/>
              <a:gd name="connsiteY0" fmla="*/ 0 h 1656000"/>
              <a:gd name="connsiteX1" fmla="*/ 3220267 w 3220267"/>
              <a:gd name="connsiteY1" fmla="*/ 0 h 1656000"/>
              <a:gd name="connsiteX2" fmla="*/ 3220267 w 3220267"/>
              <a:gd name="connsiteY2" fmla="*/ 1656000 h 1656000"/>
              <a:gd name="connsiteX3" fmla="*/ 0 w 3220267"/>
              <a:gd name="connsiteY3" fmla="*/ 1648031 h 1656000"/>
              <a:gd name="connsiteX4" fmla="*/ 216851 w 3220267"/>
              <a:gd name="connsiteY4" fmla="*/ 0 h 1656000"/>
              <a:gd name="connsiteX0" fmla="*/ 247079 w 3250495"/>
              <a:gd name="connsiteY0" fmla="*/ 0 h 1742493"/>
              <a:gd name="connsiteX1" fmla="*/ 3250495 w 3250495"/>
              <a:gd name="connsiteY1" fmla="*/ 0 h 1742493"/>
              <a:gd name="connsiteX2" fmla="*/ 3250495 w 3250495"/>
              <a:gd name="connsiteY2" fmla="*/ 1656000 h 1742493"/>
              <a:gd name="connsiteX3" fmla="*/ 0 w 3250495"/>
              <a:gd name="connsiteY3" fmla="*/ 1742493 h 1742493"/>
              <a:gd name="connsiteX4" fmla="*/ 247079 w 3250495"/>
              <a:gd name="connsiteY4" fmla="*/ 0 h 1742493"/>
              <a:gd name="connsiteX0" fmla="*/ 213072 w 3216488"/>
              <a:gd name="connsiteY0" fmla="*/ 0 h 1656000"/>
              <a:gd name="connsiteX1" fmla="*/ 3216488 w 3216488"/>
              <a:gd name="connsiteY1" fmla="*/ 0 h 1656000"/>
              <a:gd name="connsiteX2" fmla="*/ 3216488 w 3216488"/>
              <a:gd name="connsiteY2" fmla="*/ 1656000 h 1656000"/>
              <a:gd name="connsiteX3" fmla="*/ 0 w 3216488"/>
              <a:gd name="connsiteY3" fmla="*/ 1636695 h 1656000"/>
              <a:gd name="connsiteX4" fmla="*/ 213072 w 3216488"/>
              <a:gd name="connsiteY4" fmla="*/ 0 h 1656000"/>
              <a:gd name="connsiteX0" fmla="*/ 216850 w 3220266"/>
              <a:gd name="connsiteY0" fmla="*/ 0 h 1656000"/>
              <a:gd name="connsiteX1" fmla="*/ 3220266 w 3220266"/>
              <a:gd name="connsiteY1" fmla="*/ 0 h 1656000"/>
              <a:gd name="connsiteX2" fmla="*/ 3220266 w 3220266"/>
              <a:gd name="connsiteY2" fmla="*/ 1656000 h 1656000"/>
              <a:gd name="connsiteX3" fmla="*/ 0 w 3220266"/>
              <a:gd name="connsiteY3" fmla="*/ 1655587 h 1656000"/>
              <a:gd name="connsiteX4" fmla="*/ 216850 w 3220266"/>
              <a:gd name="connsiteY4" fmla="*/ 0 h 165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0266" h="1656000">
                <a:moveTo>
                  <a:pt x="216850" y="0"/>
                </a:moveTo>
                <a:lnTo>
                  <a:pt x="3220266" y="0"/>
                </a:lnTo>
                <a:lnTo>
                  <a:pt x="3220266" y="1656000"/>
                </a:lnTo>
                <a:lnTo>
                  <a:pt x="0" y="1655587"/>
                </a:lnTo>
                <a:lnTo>
                  <a:pt x="216850" y="0"/>
                </a:lnTo>
                <a:close/>
              </a:path>
            </a:pathLst>
          </a:custGeom>
          <a:noFill/>
        </p:spPr>
        <p:txBody>
          <a:bodyPr vert="horz" lIns="0" tIns="0" rIns="0" bIns="0" rtlCol="0" anchor="ctr">
            <a:normAutofit/>
          </a:bodyPr>
          <a:lstStyle>
            <a:lvl1pPr marL="180000" indent="-180000" algn="ctr">
              <a:buNone/>
              <a:defRPr lang="sv-SE" sz="1600" noProof="0"/>
            </a:lvl1pPr>
          </a:lstStyle>
          <a:p>
            <a:pPr marL="0" marR="0" lvl="0" indent="0" algn="ctr" latinLnBrk="0">
              <a:buClrTx/>
              <a:buSzTx/>
              <a:tabLst/>
            </a:pPr>
            <a:r>
              <a:rPr lang="sv-SE" noProof="0" dirty="0"/>
              <a:t>Klicka på ikonen</a:t>
            </a:r>
            <a:br>
              <a:rPr lang="sv-SE" noProof="0" dirty="0"/>
            </a:br>
            <a:br>
              <a:rPr lang="sv-SE" noProof="0" dirty="0"/>
            </a:br>
            <a:r>
              <a:rPr lang="sv-SE" noProof="0" dirty="0"/>
              <a:t>för att lägga till en bild</a:t>
            </a:r>
          </a:p>
        </p:txBody>
      </p:sp>
      <p:sp>
        <p:nvSpPr>
          <p:cNvPr id="2" name="Platshållare för datum 1">
            <a:extLst>
              <a:ext uri="{FF2B5EF4-FFF2-40B4-BE49-F238E27FC236}">
                <a16:creationId xmlns:a16="http://schemas.microsoft.com/office/drawing/2014/main" id="{77614B8E-8135-BC42-88FA-2C5AEC713852}"/>
              </a:ext>
            </a:extLst>
          </p:cNvPr>
          <p:cNvSpPr>
            <a:spLocks noGrp="1"/>
          </p:cNvSpPr>
          <p:nvPr>
            <p:ph type="dt" sz="half" idx="23"/>
          </p:nvPr>
        </p:nvSpPr>
        <p:spPr/>
        <p:txBody>
          <a:bodyPr/>
          <a:lstStyle/>
          <a:p>
            <a:endParaRPr lang="sv-SE" dirty="0"/>
          </a:p>
        </p:txBody>
      </p:sp>
      <p:sp>
        <p:nvSpPr>
          <p:cNvPr id="19" name="Platshållare för bildnummer 18">
            <a:extLst>
              <a:ext uri="{FF2B5EF4-FFF2-40B4-BE49-F238E27FC236}">
                <a16:creationId xmlns:a16="http://schemas.microsoft.com/office/drawing/2014/main" id="{32DBA098-9A54-1B47-9784-477934645665}"/>
              </a:ext>
            </a:extLst>
          </p:cNvPr>
          <p:cNvSpPr>
            <a:spLocks noGrp="1"/>
          </p:cNvSpPr>
          <p:nvPr>
            <p:ph type="sldNum" sz="quarter" idx="25"/>
          </p:nvPr>
        </p:nvSpPr>
        <p:spPr/>
        <p:txBody>
          <a:bodyPr/>
          <a:lstStyle/>
          <a:p>
            <a:pPr>
              <a:defRPr/>
            </a:pPr>
            <a:fld id="{9426A61E-93B8-384D-8975-0A89DB09A550}" type="slidenum">
              <a:rPr lang="sv-SE" smtClean="0"/>
              <a:pPr>
                <a:defRPr/>
              </a:pPr>
              <a:t>‹#›</a:t>
            </a:fld>
            <a:endParaRPr lang="sv-SE" dirty="0"/>
          </a:p>
        </p:txBody>
      </p:sp>
      <p:sp>
        <p:nvSpPr>
          <p:cNvPr id="10" name="Rubrik 4">
            <a:extLst>
              <a:ext uri="{FF2B5EF4-FFF2-40B4-BE49-F238E27FC236}">
                <a16:creationId xmlns:a16="http://schemas.microsoft.com/office/drawing/2014/main" id="{23AF7044-78D1-4302-8E6C-1F2D6212384C}"/>
              </a:ext>
            </a:extLst>
          </p:cNvPr>
          <p:cNvSpPr>
            <a:spLocks noGrp="1"/>
          </p:cNvSpPr>
          <p:nvPr>
            <p:ph type="title"/>
          </p:nvPr>
        </p:nvSpPr>
        <p:spPr>
          <a:xfrm>
            <a:off x="684000" y="195486"/>
            <a:ext cx="5112000" cy="684000"/>
          </a:xfrm>
        </p:spPr>
        <p:txBody>
          <a:bodyPr/>
          <a:lstStyle>
            <a:lvl1pPr>
              <a:defRPr sz="4000"/>
            </a:lvl1pPr>
          </a:lstStyle>
          <a:p>
            <a:r>
              <a:rPr lang="en-US" dirty="0"/>
              <a:t>Click to edit Master title style</a:t>
            </a:r>
            <a:endParaRPr lang="sv-SE" dirty="0"/>
          </a:p>
        </p:txBody>
      </p:sp>
      <p:sp>
        <p:nvSpPr>
          <p:cNvPr id="12" name="Platshållare för sidfot 5">
            <a:extLst>
              <a:ext uri="{FF2B5EF4-FFF2-40B4-BE49-F238E27FC236}">
                <a16:creationId xmlns:a16="http://schemas.microsoft.com/office/drawing/2014/main" id="{04D3FA7F-32B7-4811-BEB6-6BF5D436EB67}"/>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243319101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ext och tre bilder">
    <p:spTree>
      <p:nvGrpSpPr>
        <p:cNvPr id="1" name=""/>
        <p:cNvGrpSpPr/>
        <p:nvPr/>
      </p:nvGrpSpPr>
      <p:grpSpPr>
        <a:xfrm>
          <a:off x="0" y="0"/>
          <a:ext cx="0" cy="0"/>
          <a:chOff x="0" y="0"/>
          <a:chExt cx="0" cy="0"/>
        </a:xfrm>
      </p:grpSpPr>
      <p:sp>
        <p:nvSpPr>
          <p:cNvPr id="9" name="Platshållare för innehåll 2"/>
          <p:cNvSpPr>
            <a:spLocks noGrp="1"/>
          </p:cNvSpPr>
          <p:nvPr>
            <p:ph sz="quarter" idx="12" hasCustomPrompt="1"/>
          </p:nvPr>
        </p:nvSpPr>
        <p:spPr>
          <a:xfrm>
            <a:off x="684000" y="1440000"/>
            <a:ext cx="5112000" cy="2750400"/>
          </a:xfrm>
        </p:spPr>
        <p:txBody>
          <a:bodyPr/>
          <a:lstStyle>
            <a:lvl1pPr marL="216000" indent="-216000">
              <a:defRPr/>
            </a:lvl1pPr>
            <a:lvl2pPr marL="432000" indent="-216000">
              <a:defRPr/>
            </a:lvl2pPr>
            <a:lvl3pPr marL="648000" indent="-216000">
              <a:defRPr/>
            </a:lvl3pPr>
            <a:lvl4pPr marL="864000" indent="-216000">
              <a:defRPr/>
            </a:lvl4pPr>
            <a:lvl5pPr marL="1080000" indent="-216000">
              <a:defRPr/>
            </a:lvl5pPr>
          </a:lstStyle>
          <a:p>
            <a:pPr lvl="0"/>
            <a:r>
              <a:rPr lang="sv-SE" dirty="0"/>
              <a:t>Skriv in din text</a:t>
            </a:r>
          </a:p>
          <a:p>
            <a:pPr lvl="1"/>
            <a:r>
              <a:rPr lang="sv-SE" dirty="0"/>
              <a:t>Nivå två</a:t>
            </a:r>
          </a:p>
          <a:p>
            <a:pPr lvl="2"/>
            <a:r>
              <a:rPr lang="sv-SE" dirty="0"/>
              <a:t>Nivå tre</a:t>
            </a:r>
          </a:p>
          <a:p>
            <a:pPr lvl="3"/>
            <a:r>
              <a:rPr lang="sv-SE" dirty="0"/>
              <a:t>Nivå fyra</a:t>
            </a:r>
          </a:p>
          <a:p>
            <a:pPr lvl="4"/>
            <a:r>
              <a:rPr lang="sv-SE" dirty="0"/>
              <a:t>Nivå fem</a:t>
            </a:r>
          </a:p>
        </p:txBody>
      </p:sp>
      <p:sp>
        <p:nvSpPr>
          <p:cNvPr id="6" name="Platshållare för bild 7"/>
          <p:cNvSpPr>
            <a:spLocks noGrp="1"/>
          </p:cNvSpPr>
          <p:nvPr>
            <p:ph type="pic" sz="quarter" idx="21" hasCustomPrompt="1"/>
          </p:nvPr>
        </p:nvSpPr>
        <p:spPr>
          <a:xfrm>
            <a:off x="5684209" y="-2"/>
            <a:ext cx="3459792" cy="4903200"/>
          </a:xfrm>
          <a:custGeom>
            <a:avLst/>
            <a:gdLst>
              <a:gd name="connsiteX0" fmla="*/ 0 w 2992081"/>
              <a:gd name="connsiteY0" fmla="*/ 0 h 1656000"/>
              <a:gd name="connsiteX1" fmla="*/ 2992081 w 2992081"/>
              <a:gd name="connsiteY1" fmla="*/ 0 h 1656000"/>
              <a:gd name="connsiteX2" fmla="*/ 2992081 w 2992081"/>
              <a:gd name="connsiteY2" fmla="*/ 1656000 h 1656000"/>
              <a:gd name="connsiteX3" fmla="*/ 0 w 2992081"/>
              <a:gd name="connsiteY3" fmla="*/ 1656000 h 1656000"/>
              <a:gd name="connsiteX4" fmla="*/ 0 w 2992081"/>
              <a:gd name="connsiteY4" fmla="*/ 0 h 1656000"/>
              <a:gd name="connsiteX0" fmla="*/ 471488 w 3463569"/>
              <a:gd name="connsiteY0" fmla="*/ 0 h 1670287"/>
              <a:gd name="connsiteX1" fmla="*/ 3463569 w 3463569"/>
              <a:gd name="connsiteY1" fmla="*/ 0 h 1670287"/>
              <a:gd name="connsiteX2" fmla="*/ 3463569 w 3463569"/>
              <a:gd name="connsiteY2" fmla="*/ 1656000 h 1670287"/>
              <a:gd name="connsiteX3" fmla="*/ 0 w 3463569"/>
              <a:gd name="connsiteY3" fmla="*/ 1670287 h 1670287"/>
              <a:gd name="connsiteX4" fmla="*/ 471488 w 3463569"/>
              <a:gd name="connsiteY4" fmla="*/ 0 h 1670287"/>
              <a:gd name="connsiteX0" fmla="*/ 228601 w 3463569"/>
              <a:gd name="connsiteY0" fmla="*/ 0 h 1677431"/>
              <a:gd name="connsiteX1" fmla="*/ 3463569 w 3463569"/>
              <a:gd name="connsiteY1" fmla="*/ 7144 h 1677431"/>
              <a:gd name="connsiteX2" fmla="*/ 3463569 w 3463569"/>
              <a:gd name="connsiteY2" fmla="*/ 1663144 h 1677431"/>
              <a:gd name="connsiteX3" fmla="*/ 0 w 3463569"/>
              <a:gd name="connsiteY3" fmla="*/ 1677431 h 1677431"/>
              <a:gd name="connsiteX4" fmla="*/ 228601 w 3463569"/>
              <a:gd name="connsiteY4" fmla="*/ 0 h 1677431"/>
              <a:gd name="connsiteX0" fmla="*/ 235745 w 3463569"/>
              <a:gd name="connsiteY0" fmla="*/ 7144 h 1670287"/>
              <a:gd name="connsiteX1" fmla="*/ 3463569 w 3463569"/>
              <a:gd name="connsiteY1" fmla="*/ 0 h 1670287"/>
              <a:gd name="connsiteX2" fmla="*/ 3463569 w 3463569"/>
              <a:gd name="connsiteY2" fmla="*/ 1656000 h 1670287"/>
              <a:gd name="connsiteX3" fmla="*/ 0 w 3463569"/>
              <a:gd name="connsiteY3" fmla="*/ 1670287 h 1670287"/>
              <a:gd name="connsiteX4" fmla="*/ 235745 w 3463569"/>
              <a:gd name="connsiteY4" fmla="*/ 7144 h 1670287"/>
              <a:gd name="connsiteX0" fmla="*/ 224410 w 3463569"/>
              <a:gd name="connsiteY0" fmla="*/ 0 h 1670700"/>
              <a:gd name="connsiteX1" fmla="*/ 3463569 w 3463569"/>
              <a:gd name="connsiteY1" fmla="*/ 413 h 1670700"/>
              <a:gd name="connsiteX2" fmla="*/ 3463569 w 3463569"/>
              <a:gd name="connsiteY2" fmla="*/ 1656413 h 1670700"/>
              <a:gd name="connsiteX3" fmla="*/ 0 w 3463569"/>
              <a:gd name="connsiteY3" fmla="*/ 1670700 h 1670700"/>
              <a:gd name="connsiteX4" fmla="*/ 224410 w 3463569"/>
              <a:gd name="connsiteY4" fmla="*/ 0 h 1670700"/>
              <a:gd name="connsiteX0" fmla="*/ 220632 w 3459791"/>
              <a:gd name="connsiteY0" fmla="*/ 0 h 1663143"/>
              <a:gd name="connsiteX1" fmla="*/ 3459791 w 3459791"/>
              <a:gd name="connsiteY1" fmla="*/ 413 h 1663143"/>
              <a:gd name="connsiteX2" fmla="*/ 3459791 w 3459791"/>
              <a:gd name="connsiteY2" fmla="*/ 1656413 h 1663143"/>
              <a:gd name="connsiteX3" fmla="*/ 0 w 3459791"/>
              <a:gd name="connsiteY3" fmla="*/ 1663143 h 1663143"/>
              <a:gd name="connsiteX4" fmla="*/ 220632 w 3459791"/>
              <a:gd name="connsiteY4" fmla="*/ 0 h 1663143"/>
              <a:gd name="connsiteX0" fmla="*/ 2206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220632 w 3459791"/>
              <a:gd name="connsiteY4" fmla="*/ 0 h 1659364"/>
              <a:gd name="connsiteX0" fmla="*/ 449232 w 3459791"/>
              <a:gd name="connsiteY0" fmla="*/ 0 h 1659364"/>
              <a:gd name="connsiteX1" fmla="*/ 3459791 w 3459791"/>
              <a:gd name="connsiteY1" fmla="*/ 413 h 1659364"/>
              <a:gd name="connsiteX2" fmla="*/ 3459791 w 3459791"/>
              <a:gd name="connsiteY2" fmla="*/ 1656413 h 1659364"/>
              <a:gd name="connsiteX3" fmla="*/ 0 w 3459791"/>
              <a:gd name="connsiteY3" fmla="*/ 1659364 h 1659364"/>
              <a:gd name="connsiteX4" fmla="*/ 449232 w 3459791"/>
              <a:gd name="connsiteY4" fmla="*/ 0 h 1659364"/>
              <a:gd name="connsiteX0" fmla="*/ 444208 w 3454767"/>
              <a:gd name="connsiteY0" fmla="*/ 0 h 1657663"/>
              <a:gd name="connsiteX1" fmla="*/ 3454767 w 3454767"/>
              <a:gd name="connsiteY1" fmla="*/ 413 h 1657663"/>
              <a:gd name="connsiteX2" fmla="*/ 3454767 w 3454767"/>
              <a:gd name="connsiteY2" fmla="*/ 1656413 h 1657663"/>
              <a:gd name="connsiteX3" fmla="*/ 0 w 3454767"/>
              <a:gd name="connsiteY3" fmla="*/ 1657663 h 1657663"/>
              <a:gd name="connsiteX4" fmla="*/ 444208 w 3454767"/>
              <a:gd name="connsiteY4" fmla="*/ 0 h 1657663"/>
              <a:gd name="connsiteX0" fmla="*/ 444208 w 3454767"/>
              <a:gd name="connsiteY0" fmla="*/ 0 h 1656413"/>
              <a:gd name="connsiteX1" fmla="*/ 3454767 w 3454767"/>
              <a:gd name="connsiteY1" fmla="*/ 413 h 1656413"/>
              <a:gd name="connsiteX2" fmla="*/ 3454767 w 3454767"/>
              <a:gd name="connsiteY2" fmla="*/ 1656413 h 1656413"/>
              <a:gd name="connsiteX3" fmla="*/ 0 w 3454767"/>
              <a:gd name="connsiteY3" fmla="*/ 1654261 h 1656413"/>
              <a:gd name="connsiteX4" fmla="*/ 444208 w 3454767"/>
              <a:gd name="connsiteY4" fmla="*/ 0 h 1656413"/>
              <a:gd name="connsiteX0" fmla="*/ 449233 w 3459792"/>
              <a:gd name="connsiteY0" fmla="*/ 0 h 1656413"/>
              <a:gd name="connsiteX1" fmla="*/ 3459792 w 3459792"/>
              <a:gd name="connsiteY1" fmla="*/ 413 h 1656413"/>
              <a:gd name="connsiteX2" fmla="*/ 3459792 w 3459792"/>
              <a:gd name="connsiteY2" fmla="*/ 1656413 h 1656413"/>
              <a:gd name="connsiteX3" fmla="*/ 0 w 3459792"/>
              <a:gd name="connsiteY3" fmla="*/ 1655962 h 1656413"/>
              <a:gd name="connsiteX4" fmla="*/ 449233 w 3459792"/>
              <a:gd name="connsiteY4" fmla="*/ 0 h 1656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792" h="1656413">
                <a:moveTo>
                  <a:pt x="449233" y="0"/>
                </a:moveTo>
                <a:lnTo>
                  <a:pt x="3459792" y="413"/>
                </a:lnTo>
                <a:lnTo>
                  <a:pt x="3459792" y="1656413"/>
                </a:lnTo>
                <a:lnTo>
                  <a:pt x="0" y="1655962"/>
                </a:lnTo>
                <a:lnTo>
                  <a:pt x="449233" y="0"/>
                </a:lnTo>
                <a:close/>
              </a:path>
            </a:pathLst>
          </a:custGeom>
          <a:noFill/>
        </p:spPr>
        <p:txBody>
          <a:bodyPr vert="horz" lIns="0" tIns="0" rIns="0" bIns="0" rtlCol="0" anchor="ctr">
            <a:normAutofit/>
          </a:bodyPr>
          <a:lstStyle>
            <a:lvl1pPr marL="180000" indent="-180000" algn="ctr">
              <a:buNone/>
              <a:defRPr lang="sv-SE" sz="1600" noProof="0"/>
            </a:lvl1pPr>
          </a:lstStyle>
          <a:p>
            <a:pPr marL="0" marR="0" lvl="0" indent="0" algn="ctr" latinLnBrk="0">
              <a:buClrTx/>
              <a:buSzTx/>
              <a:tabLst/>
            </a:pPr>
            <a:r>
              <a:rPr lang="sv-SE" noProof="0" dirty="0"/>
              <a:t>Klicka på ikonen</a:t>
            </a:r>
            <a:br>
              <a:rPr lang="sv-SE" noProof="0" dirty="0"/>
            </a:br>
            <a:br>
              <a:rPr lang="sv-SE" noProof="0" dirty="0"/>
            </a:br>
            <a:r>
              <a:rPr lang="sv-SE" noProof="0" dirty="0"/>
              <a:t>för att lägga till en bild</a:t>
            </a:r>
          </a:p>
        </p:txBody>
      </p:sp>
      <p:sp>
        <p:nvSpPr>
          <p:cNvPr id="2" name="Platshållare för datum 1">
            <a:extLst>
              <a:ext uri="{FF2B5EF4-FFF2-40B4-BE49-F238E27FC236}">
                <a16:creationId xmlns:a16="http://schemas.microsoft.com/office/drawing/2014/main" id="{77614B8E-8135-BC42-88FA-2C5AEC713852}"/>
              </a:ext>
            </a:extLst>
          </p:cNvPr>
          <p:cNvSpPr>
            <a:spLocks noGrp="1"/>
          </p:cNvSpPr>
          <p:nvPr>
            <p:ph type="dt" sz="half" idx="23"/>
          </p:nvPr>
        </p:nvSpPr>
        <p:spPr/>
        <p:txBody>
          <a:bodyPr/>
          <a:lstStyle/>
          <a:p>
            <a:endParaRPr lang="sv-SE" dirty="0"/>
          </a:p>
        </p:txBody>
      </p:sp>
      <p:sp>
        <p:nvSpPr>
          <p:cNvPr id="19" name="Platshållare för bildnummer 18">
            <a:extLst>
              <a:ext uri="{FF2B5EF4-FFF2-40B4-BE49-F238E27FC236}">
                <a16:creationId xmlns:a16="http://schemas.microsoft.com/office/drawing/2014/main" id="{32DBA098-9A54-1B47-9784-477934645665}"/>
              </a:ext>
            </a:extLst>
          </p:cNvPr>
          <p:cNvSpPr>
            <a:spLocks noGrp="1"/>
          </p:cNvSpPr>
          <p:nvPr>
            <p:ph type="sldNum" sz="quarter" idx="25"/>
          </p:nvPr>
        </p:nvSpPr>
        <p:spPr/>
        <p:txBody>
          <a:bodyPr/>
          <a:lstStyle/>
          <a:p>
            <a:pPr>
              <a:defRPr/>
            </a:pPr>
            <a:fld id="{9426A61E-93B8-384D-8975-0A89DB09A550}" type="slidenum">
              <a:rPr lang="sv-SE" smtClean="0"/>
              <a:pPr>
                <a:defRPr/>
              </a:pPr>
              <a:t>‹#›</a:t>
            </a:fld>
            <a:endParaRPr lang="sv-SE" dirty="0"/>
          </a:p>
        </p:txBody>
      </p:sp>
      <p:sp>
        <p:nvSpPr>
          <p:cNvPr id="8" name="Rubrik 4">
            <a:extLst>
              <a:ext uri="{FF2B5EF4-FFF2-40B4-BE49-F238E27FC236}">
                <a16:creationId xmlns:a16="http://schemas.microsoft.com/office/drawing/2014/main" id="{27953658-878A-4BE6-B421-C98BE7ABC9DE}"/>
              </a:ext>
            </a:extLst>
          </p:cNvPr>
          <p:cNvSpPr>
            <a:spLocks noGrp="1"/>
          </p:cNvSpPr>
          <p:nvPr>
            <p:ph type="title"/>
          </p:nvPr>
        </p:nvSpPr>
        <p:spPr>
          <a:xfrm>
            <a:off x="684000" y="195486"/>
            <a:ext cx="5112000" cy="684000"/>
          </a:xfrm>
        </p:spPr>
        <p:txBody>
          <a:bodyPr/>
          <a:lstStyle>
            <a:lvl1pPr>
              <a:defRPr sz="4000"/>
            </a:lvl1pPr>
          </a:lstStyle>
          <a:p>
            <a:r>
              <a:rPr lang="en-US" dirty="0"/>
              <a:t>Click to edit Master title style</a:t>
            </a:r>
            <a:endParaRPr lang="sv-SE" dirty="0"/>
          </a:p>
        </p:txBody>
      </p:sp>
      <p:sp>
        <p:nvSpPr>
          <p:cNvPr id="11" name="Platshållare för sidfot 5">
            <a:extLst>
              <a:ext uri="{FF2B5EF4-FFF2-40B4-BE49-F238E27FC236}">
                <a16:creationId xmlns:a16="http://schemas.microsoft.com/office/drawing/2014/main" id="{3320E112-BC28-442A-9D2E-AF930E6FD26D}"/>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215425627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or bild">
    <p:spTree>
      <p:nvGrpSpPr>
        <p:cNvPr id="1" name=""/>
        <p:cNvGrpSpPr/>
        <p:nvPr/>
      </p:nvGrpSpPr>
      <p:grpSpPr>
        <a:xfrm>
          <a:off x="0" y="0"/>
          <a:ext cx="0" cy="0"/>
          <a:chOff x="0" y="0"/>
          <a:chExt cx="0" cy="0"/>
        </a:xfrm>
      </p:grpSpPr>
      <p:sp>
        <p:nvSpPr>
          <p:cNvPr id="11" name="Platshållare för bild 10"/>
          <p:cNvSpPr>
            <a:spLocks noGrp="1"/>
          </p:cNvSpPr>
          <p:nvPr>
            <p:ph type="pic" sz="quarter" idx="13" hasCustomPrompt="1"/>
          </p:nvPr>
        </p:nvSpPr>
        <p:spPr>
          <a:xfrm>
            <a:off x="0" y="-20538"/>
            <a:ext cx="9144000" cy="4922070"/>
          </a:xfrm>
          <a:prstGeom prst="rect">
            <a:avLst/>
          </a:prstGeom>
          <a:noFill/>
        </p:spPr>
        <p:txBody>
          <a:bodyPr anchor="ctr">
            <a:normAutofit/>
          </a:bodyPr>
          <a:lstStyle>
            <a:lvl1pPr marL="0" marR="0" indent="0" algn="ctr" defTabSz="457200" rtl="0" eaLnBrk="0" fontAlgn="base" latinLnBrk="0" hangingPunct="0">
              <a:lnSpc>
                <a:spcPct val="110000"/>
              </a:lnSpc>
              <a:spcBef>
                <a:spcPts val="800"/>
              </a:spcBef>
              <a:spcAft>
                <a:spcPct val="0"/>
              </a:spcAft>
              <a:buClrTx/>
              <a:buSzTx/>
              <a:buFont typeface="Arial" charset="0"/>
              <a:buNone/>
              <a:tabLst/>
              <a:defRPr sz="1600"/>
            </a:lvl1pPr>
          </a:lstStyle>
          <a:p>
            <a:pPr marL="0" marR="0" lvl="0" indent="0" algn="ctr" defTabSz="457200" rtl="0" eaLnBrk="0" fontAlgn="base" latinLnBrk="0" hangingPunct="0">
              <a:lnSpc>
                <a:spcPct val="110000"/>
              </a:lnSpc>
              <a:spcBef>
                <a:spcPts val="800"/>
              </a:spcBef>
              <a:spcAft>
                <a:spcPct val="0"/>
              </a:spcAft>
              <a:buClrTx/>
              <a:buSzTx/>
              <a:buFont typeface="Arial" charset="0"/>
              <a:buNone/>
              <a:tabLst/>
              <a:defRPr/>
            </a:pPr>
            <a:r>
              <a:rPr lang="sv-SE" noProof="0" dirty="0"/>
              <a:t>Klicka på ikonen</a:t>
            </a:r>
            <a:br>
              <a:rPr lang="sv-SE" noProof="0" dirty="0"/>
            </a:br>
            <a:br>
              <a:rPr lang="sv-SE" noProof="0" dirty="0"/>
            </a:br>
            <a:r>
              <a:rPr lang="sv-SE" noProof="0" dirty="0"/>
              <a:t>för att lägga till en bild</a:t>
            </a:r>
          </a:p>
        </p:txBody>
      </p:sp>
      <p:sp>
        <p:nvSpPr>
          <p:cNvPr id="4" name="Platshållare för datum 3">
            <a:extLst>
              <a:ext uri="{FF2B5EF4-FFF2-40B4-BE49-F238E27FC236}">
                <a16:creationId xmlns:a16="http://schemas.microsoft.com/office/drawing/2014/main" id="{37C510B7-F496-B049-AA72-23E85C0DAFF8}"/>
              </a:ext>
            </a:extLst>
          </p:cNvPr>
          <p:cNvSpPr>
            <a:spLocks noGrp="1"/>
          </p:cNvSpPr>
          <p:nvPr>
            <p:ph type="dt" sz="half" idx="14"/>
          </p:nvPr>
        </p:nvSpPr>
        <p:spPr/>
        <p:txBody>
          <a:bodyPr/>
          <a:lstStyle/>
          <a:p>
            <a:endParaRPr lang="sv-SE" dirty="0"/>
          </a:p>
        </p:txBody>
      </p:sp>
      <p:sp>
        <p:nvSpPr>
          <p:cNvPr id="6" name="Platshållare för bildnummer 5">
            <a:extLst>
              <a:ext uri="{FF2B5EF4-FFF2-40B4-BE49-F238E27FC236}">
                <a16:creationId xmlns:a16="http://schemas.microsoft.com/office/drawing/2014/main" id="{EB479336-F5C1-6E4C-8D5C-80C0C0E31241}"/>
              </a:ext>
            </a:extLst>
          </p:cNvPr>
          <p:cNvSpPr>
            <a:spLocks noGrp="1"/>
          </p:cNvSpPr>
          <p:nvPr>
            <p:ph type="sldNum" sz="quarter" idx="16"/>
          </p:nvPr>
        </p:nvSpPr>
        <p:spPr/>
        <p:txBody>
          <a:bodyPr/>
          <a:lstStyle/>
          <a:p>
            <a:pPr>
              <a:defRPr/>
            </a:pPr>
            <a:fld id="{9426A61E-93B8-384D-8975-0A89DB09A550}" type="slidenum">
              <a:rPr lang="sv-SE" smtClean="0"/>
              <a:pPr>
                <a:defRPr/>
              </a:pPr>
              <a:t>‹#›</a:t>
            </a:fld>
            <a:endParaRPr lang="sv-SE" dirty="0"/>
          </a:p>
        </p:txBody>
      </p:sp>
      <p:sp>
        <p:nvSpPr>
          <p:cNvPr id="8" name="Platshållare för sidfot 5">
            <a:extLst>
              <a:ext uri="{FF2B5EF4-FFF2-40B4-BE49-F238E27FC236}">
                <a16:creationId xmlns:a16="http://schemas.microsoft.com/office/drawing/2014/main" id="{692970BA-C3B8-4C7D-9551-62583D7DBA95}"/>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2283130735"/>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re bilder">
    <p:spTree>
      <p:nvGrpSpPr>
        <p:cNvPr id="1" name=""/>
        <p:cNvGrpSpPr/>
        <p:nvPr/>
      </p:nvGrpSpPr>
      <p:grpSpPr>
        <a:xfrm>
          <a:off x="0" y="0"/>
          <a:ext cx="0" cy="0"/>
          <a:chOff x="0" y="0"/>
          <a:chExt cx="0" cy="0"/>
        </a:xfrm>
      </p:grpSpPr>
      <p:sp>
        <p:nvSpPr>
          <p:cNvPr id="8" name="Platshållare för bild 2"/>
          <p:cNvSpPr>
            <a:spLocks noGrp="1"/>
          </p:cNvSpPr>
          <p:nvPr>
            <p:ph type="pic" idx="13" hasCustomPrompt="1"/>
          </p:nvPr>
        </p:nvSpPr>
        <p:spPr>
          <a:xfrm>
            <a:off x="4682940" y="-7316"/>
            <a:ext cx="4461060" cy="2442670"/>
          </a:xfrm>
          <a:custGeom>
            <a:avLst/>
            <a:gdLst>
              <a:gd name="connsiteX0" fmla="*/ 0 w 4461060"/>
              <a:gd name="connsiteY0" fmla="*/ 0 h 2527200"/>
              <a:gd name="connsiteX1" fmla="*/ 4461060 w 4461060"/>
              <a:gd name="connsiteY1" fmla="*/ 0 h 2527200"/>
              <a:gd name="connsiteX2" fmla="*/ 4461060 w 4461060"/>
              <a:gd name="connsiteY2" fmla="*/ 2527200 h 2527200"/>
              <a:gd name="connsiteX3" fmla="*/ 0 w 4461060"/>
              <a:gd name="connsiteY3" fmla="*/ 2527200 h 2527200"/>
              <a:gd name="connsiteX4" fmla="*/ 0 w 4461060"/>
              <a:gd name="connsiteY4" fmla="*/ 0 h 2527200"/>
              <a:gd name="connsiteX0" fmla="*/ 475488 w 4461060"/>
              <a:gd name="connsiteY0" fmla="*/ 0 h 2534515"/>
              <a:gd name="connsiteX1" fmla="*/ 4461060 w 4461060"/>
              <a:gd name="connsiteY1" fmla="*/ 7315 h 2534515"/>
              <a:gd name="connsiteX2" fmla="*/ 4461060 w 4461060"/>
              <a:gd name="connsiteY2" fmla="*/ 2534515 h 2534515"/>
              <a:gd name="connsiteX3" fmla="*/ 0 w 4461060"/>
              <a:gd name="connsiteY3" fmla="*/ 2534515 h 2534515"/>
              <a:gd name="connsiteX4" fmla="*/ 475488 w 4461060"/>
              <a:gd name="connsiteY4" fmla="*/ 0 h 2534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1060" h="2534515">
                <a:moveTo>
                  <a:pt x="475488" y="0"/>
                </a:moveTo>
                <a:lnTo>
                  <a:pt x="4461060" y="7315"/>
                </a:lnTo>
                <a:lnTo>
                  <a:pt x="4461060" y="2534515"/>
                </a:lnTo>
                <a:lnTo>
                  <a:pt x="0" y="2534515"/>
                </a:lnTo>
                <a:lnTo>
                  <a:pt x="475488" y="0"/>
                </a:lnTo>
                <a:close/>
              </a:path>
            </a:pathLst>
          </a:custGeom>
          <a:noFill/>
        </p:spPr>
        <p:txBody>
          <a:bodyPr anchor="ctr">
            <a:normAutofit/>
          </a:bodyPr>
          <a:lstStyle>
            <a:lvl1pPr marL="0" marR="0" indent="0" algn="ctr" defTabSz="457200" rtl="0" eaLnBrk="0" fontAlgn="base" latinLnBrk="0" hangingPunct="0">
              <a:lnSpc>
                <a:spcPct val="110000"/>
              </a:lnSpc>
              <a:spcBef>
                <a:spcPts val="800"/>
              </a:spcBef>
              <a:spcAft>
                <a:spcPct val="0"/>
              </a:spcAft>
              <a:buClrTx/>
              <a:buSzTx/>
              <a:buFont typeface="Arial" charset="0"/>
              <a:buNone/>
              <a:tabLst/>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457200" rtl="0" eaLnBrk="0" fontAlgn="base" latinLnBrk="0" hangingPunct="0">
              <a:lnSpc>
                <a:spcPct val="110000"/>
              </a:lnSpc>
              <a:spcBef>
                <a:spcPts val="800"/>
              </a:spcBef>
              <a:spcAft>
                <a:spcPct val="0"/>
              </a:spcAft>
              <a:buClrTx/>
              <a:buSzTx/>
              <a:buFont typeface="Arial" charset="0"/>
              <a:buNone/>
              <a:tabLst/>
              <a:defRPr/>
            </a:pPr>
            <a:r>
              <a:rPr lang="sv-SE" noProof="0" dirty="0"/>
              <a:t>Klicka på ikonen</a:t>
            </a:r>
            <a:br>
              <a:rPr lang="sv-SE" noProof="0" dirty="0"/>
            </a:br>
            <a:br>
              <a:rPr lang="sv-SE" noProof="0" dirty="0"/>
            </a:br>
            <a:r>
              <a:rPr lang="sv-SE" noProof="0" dirty="0"/>
              <a:t>för att lägga till en bild</a:t>
            </a:r>
          </a:p>
        </p:txBody>
      </p:sp>
      <p:sp>
        <p:nvSpPr>
          <p:cNvPr id="17" name="Platshållare för bild 2"/>
          <p:cNvSpPr>
            <a:spLocks noGrp="1"/>
          </p:cNvSpPr>
          <p:nvPr>
            <p:ph type="pic" idx="22" hasCustomPrompt="1"/>
          </p:nvPr>
        </p:nvSpPr>
        <p:spPr>
          <a:xfrm>
            <a:off x="4170374" y="2516279"/>
            <a:ext cx="4973626" cy="2385253"/>
          </a:xfrm>
          <a:custGeom>
            <a:avLst/>
            <a:gdLst>
              <a:gd name="connsiteX0" fmla="*/ 0 w 4461060"/>
              <a:gd name="connsiteY0" fmla="*/ 0 h 2527200"/>
              <a:gd name="connsiteX1" fmla="*/ 4461060 w 4461060"/>
              <a:gd name="connsiteY1" fmla="*/ 0 h 2527200"/>
              <a:gd name="connsiteX2" fmla="*/ 4461060 w 4461060"/>
              <a:gd name="connsiteY2" fmla="*/ 2527200 h 2527200"/>
              <a:gd name="connsiteX3" fmla="*/ 0 w 4461060"/>
              <a:gd name="connsiteY3" fmla="*/ 2527200 h 2527200"/>
              <a:gd name="connsiteX4" fmla="*/ 0 w 4461060"/>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497434 w 4958494"/>
              <a:gd name="connsiteY0" fmla="*/ 0 h 2527200"/>
              <a:gd name="connsiteX1" fmla="*/ 4958494 w 4958494"/>
              <a:gd name="connsiteY1" fmla="*/ 0 h 2527200"/>
              <a:gd name="connsiteX2" fmla="*/ 4958494 w 4958494"/>
              <a:gd name="connsiteY2" fmla="*/ 2527200 h 2527200"/>
              <a:gd name="connsiteX3" fmla="*/ 0 w 4958494"/>
              <a:gd name="connsiteY3" fmla="*/ 2512570 h 2527200"/>
              <a:gd name="connsiteX4" fmla="*/ 497434 w 4958494"/>
              <a:gd name="connsiteY4" fmla="*/ 0 h 2527200"/>
              <a:gd name="connsiteX0" fmla="*/ 504749 w 4965809"/>
              <a:gd name="connsiteY0" fmla="*/ 0 h 2527200"/>
              <a:gd name="connsiteX1" fmla="*/ 4965809 w 4965809"/>
              <a:gd name="connsiteY1" fmla="*/ 0 h 2527200"/>
              <a:gd name="connsiteX2" fmla="*/ 4965809 w 4965809"/>
              <a:gd name="connsiteY2" fmla="*/ 2527200 h 2527200"/>
              <a:gd name="connsiteX3" fmla="*/ 0 w 4965809"/>
              <a:gd name="connsiteY3" fmla="*/ 2527200 h 2527200"/>
              <a:gd name="connsiteX4" fmla="*/ 504749 w 4965809"/>
              <a:gd name="connsiteY4" fmla="*/ 0 h 2527200"/>
              <a:gd name="connsiteX0" fmla="*/ 473487 w 4965809"/>
              <a:gd name="connsiteY0" fmla="*/ 0 h 2527200"/>
              <a:gd name="connsiteX1" fmla="*/ 4965809 w 4965809"/>
              <a:gd name="connsiteY1" fmla="*/ 0 h 2527200"/>
              <a:gd name="connsiteX2" fmla="*/ 4965809 w 4965809"/>
              <a:gd name="connsiteY2" fmla="*/ 2527200 h 2527200"/>
              <a:gd name="connsiteX3" fmla="*/ 0 w 4965809"/>
              <a:gd name="connsiteY3" fmla="*/ 2527200 h 2527200"/>
              <a:gd name="connsiteX4" fmla="*/ 473487 w 4965809"/>
              <a:gd name="connsiteY4" fmla="*/ 0 h 2527200"/>
              <a:gd name="connsiteX0" fmla="*/ 473487 w 4965809"/>
              <a:gd name="connsiteY0" fmla="*/ 0 h 2649964"/>
              <a:gd name="connsiteX1" fmla="*/ 4965809 w 4965809"/>
              <a:gd name="connsiteY1" fmla="*/ 0 h 2649964"/>
              <a:gd name="connsiteX2" fmla="*/ 4965809 w 4965809"/>
              <a:gd name="connsiteY2" fmla="*/ 2527200 h 2649964"/>
              <a:gd name="connsiteX3" fmla="*/ 0 w 4965809"/>
              <a:gd name="connsiteY3" fmla="*/ 2649964 h 2649964"/>
              <a:gd name="connsiteX4" fmla="*/ 473487 w 4965809"/>
              <a:gd name="connsiteY4" fmla="*/ 0 h 2649964"/>
              <a:gd name="connsiteX0" fmla="*/ 473487 w 4965809"/>
              <a:gd name="connsiteY0" fmla="*/ 0 h 2667504"/>
              <a:gd name="connsiteX1" fmla="*/ 4965809 w 4965809"/>
              <a:gd name="connsiteY1" fmla="*/ 0 h 2667504"/>
              <a:gd name="connsiteX2" fmla="*/ 4950178 w 4965809"/>
              <a:gd name="connsiteY2" fmla="*/ 2667504 h 2667504"/>
              <a:gd name="connsiteX3" fmla="*/ 0 w 4965809"/>
              <a:gd name="connsiteY3" fmla="*/ 2649964 h 2667504"/>
              <a:gd name="connsiteX4" fmla="*/ 473487 w 4965809"/>
              <a:gd name="connsiteY4" fmla="*/ 0 h 2667504"/>
              <a:gd name="connsiteX0" fmla="*/ 473487 w 4965809"/>
              <a:gd name="connsiteY0" fmla="*/ 0 h 2658734"/>
              <a:gd name="connsiteX1" fmla="*/ 4965809 w 4965809"/>
              <a:gd name="connsiteY1" fmla="*/ 0 h 2658734"/>
              <a:gd name="connsiteX2" fmla="*/ 4950178 w 4965809"/>
              <a:gd name="connsiteY2" fmla="*/ 2658734 h 2658734"/>
              <a:gd name="connsiteX3" fmla="*/ 0 w 4965809"/>
              <a:gd name="connsiteY3" fmla="*/ 2649964 h 2658734"/>
              <a:gd name="connsiteX4" fmla="*/ 473487 w 4965809"/>
              <a:gd name="connsiteY4" fmla="*/ 0 h 2658734"/>
              <a:gd name="connsiteX0" fmla="*/ 481303 w 4973625"/>
              <a:gd name="connsiteY0" fmla="*/ 0 h 2667501"/>
              <a:gd name="connsiteX1" fmla="*/ 4973625 w 4973625"/>
              <a:gd name="connsiteY1" fmla="*/ 0 h 2667501"/>
              <a:gd name="connsiteX2" fmla="*/ 4957994 w 4973625"/>
              <a:gd name="connsiteY2" fmla="*/ 2658734 h 2667501"/>
              <a:gd name="connsiteX3" fmla="*/ 0 w 4973625"/>
              <a:gd name="connsiteY3" fmla="*/ 2667501 h 2667501"/>
              <a:gd name="connsiteX4" fmla="*/ 481303 w 4973625"/>
              <a:gd name="connsiteY4" fmla="*/ 0 h 2667501"/>
              <a:gd name="connsiteX0" fmla="*/ 496934 w 4973625"/>
              <a:gd name="connsiteY0" fmla="*/ 0 h 2676269"/>
              <a:gd name="connsiteX1" fmla="*/ 4973625 w 4973625"/>
              <a:gd name="connsiteY1" fmla="*/ 8768 h 2676269"/>
              <a:gd name="connsiteX2" fmla="*/ 4957994 w 4973625"/>
              <a:gd name="connsiteY2" fmla="*/ 2667502 h 2676269"/>
              <a:gd name="connsiteX3" fmla="*/ 0 w 4973625"/>
              <a:gd name="connsiteY3" fmla="*/ 2676269 h 2676269"/>
              <a:gd name="connsiteX4" fmla="*/ 496934 w 4973625"/>
              <a:gd name="connsiteY4" fmla="*/ 0 h 2676269"/>
              <a:gd name="connsiteX0" fmla="*/ 496934 w 4965809"/>
              <a:gd name="connsiteY0" fmla="*/ 0 h 2676269"/>
              <a:gd name="connsiteX1" fmla="*/ 4965809 w 4965809"/>
              <a:gd name="connsiteY1" fmla="*/ 0 h 2676269"/>
              <a:gd name="connsiteX2" fmla="*/ 4957994 w 4965809"/>
              <a:gd name="connsiteY2" fmla="*/ 2667502 h 2676269"/>
              <a:gd name="connsiteX3" fmla="*/ 0 w 4965809"/>
              <a:gd name="connsiteY3" fmla="*/ 2676269 h 2676269"/>
              <a:gd name="connsiteX4" fmla="*/ 496934 w 4965809"/>
              <a:gd name="connsiteY4" fmla="*/ 0 h 2676269"/>
              <a:gd name="connsiteX0" fmla="*/ 496934 w 4965809"/>
              <a:gd name="connsiteY0" fmla="*/ 0 h 2676270"/>
              <a:gd name="connsiteX1" fmla="*/ 4965809 w 4965809"/>
              <a:gd name="connsiteY1" fmla="*/ 0 h 2676270"/>
              <a:gd name="connsiteX2" fmla="*/ 4957994 w 4965809"/>
              <a:gd name="connsiteY2" fmla="*/ 2676270 h 2676270"/>
              <a:gd name="connsiteX3" fmla="*/ 0 w 4965809"/>
              <a:gd name="connsiteY3" fmla="*/ 2676269 h 2676270"/>
              <a:gd name="connsiteX4" fmla="*/ 496934 w 4965809"/>
              <a:gd name="connsiteY4" fmla="*/ 0 h 2676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809" h="2676270">
                <a:moveTo>
                  <a:pt x="496934" y="0"/>
                </a:moveTo>
                <a:lnTo>
                  <a:pt x="4965809" y="0"/>
                </a:lnTo>
                <a:cubicBezTo>
                  <a:pt x="4960599" y="889168"/>
                  <a:pt x="4963204" y="1787102"/>
                  <a:pt x="4957994" y="2676270"/>
                </a:cubicBezTo>
                <a:lnTo>
                  <a:pt x="0" y="2676269"/>
                </a:lnTo>
                <a:lnTo>
                  <a:pt x="496934" y="0"/>
                </a:lnTo>
                <a:close/>
              </a:path>
            </a:pathLst>
          </a:custGeom>
          <a:noFill/>
        </p:spPr>
        <p:txBody>
          <a:bodyPr anchor="ctr">
            <a:normAutofit/>
          </a:bodyPr>
          <a:lstStyle>
            <a:lvl1pPr marL="0" marR="0" indent="0" algn="ctr" defTabSz="457200" rtl="0" eaLnBrk="0" fontAlgn="base" latinLnBrk="0" hangingPunct="0">
              <a:lnSpc>
                <a:spcPct val="110000"/>
              </a:lnSpc>
              <a:spcBef>
                <a:spcPts val="800"/>
              </a:spcBef>
              <a:spcAft>
                <a:spcPct val="0"/>
              </a:spcAft>
              <a:buClrTx/>
              <a:buSzTx/>
              <a:buFont typeface="Arial" charset="0"/>
              <a:buNone/>
              <a:tabLst/>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457200" rtl="0" eaLnBrk="0" fontAlgn="base" latinLnBrk="0" hangingPunct="0">
              <a:lnSpc>
                <a:spcPct val="110000"/>
              </a:lnSpc>
              <a:spcBef>
                <a:spcPts val="800"/>
              </a:spcBef>
              <a:spcAft>
                <a:spcPct val="0"/>
              </a:spcAft>
              <a:buClrTx/>
              <a:buSzTx/>
              <a:buFont typeface="Arial" charset="0"/>
              <a:buNone/>
              <a:tabLst/>
              <a:defRPr/>
            </a:pPr>
            <a:r>
              <a:rPr lang="sv-SE" noProof="0" dirty="0"/>
              <a:t>Klicka på ikonen</a:t>
            </a:r>
            <a:br>
              <a:rPr lang="sv-SE" noProof="0" dirty="0"/>
            </a:br>
            <a:br>
              <a:rPr lang="sv-SE" noProof="0" dirty="0"/>
            </a:br>
            <a:r>
              <a:rPr lang="sv-SE" noProof="0" dirty="0"/>
              <a:t>för att lägga till en bild</a:t>
            </a:r>
          </a:p>
        </p:txBody>
      </p:sp>
      <p:sp>
        <p:nvSpPr>
          <p:cNvPr id="11" name="Date Placeholder 1">
            <a:extLst>
              <a:ext uri="{FF2B5EF4-FFF2-40B4-BE49-F238E27FC236}">
                <a16:creationId xmlns:a16="http://schemas.microsoft.com/office/drawing/2014/main" id="{DDE74A03-B6BE-AC49-9F91-E75353E0694F}"/>
              </a:ext>
            </a:extLst>
          </p:cNvPr>
          <p:cNvSpPr>
            <a:spLocks noGrp="1"/>
          </p:cNvSpPr>
          <p:nvPr>
            <p:ph type="dt" sz="half" idx="2"/>
          </p:nvPr>
        </p:nvSpPr>
        <p:spPr>
          <a:xfrm>
            <a:off x="7749160" y="4901532"/>
            <a:ext cx="979200" cy="253773"/>
          </a:xfrm>
          <a:prstGeom prst="rect">
            <a:avLst/>
          </a:prstGeom>
        </p:spPr>
        <p:txBody>
          <a:bodyPr vert="horz" lIns="91440" tIns="45720" rIns="91440" bIns="45720" rtlCol="0" anchor="ctr"/>
          <a:lstStyle>
            <a:lvl1pPr algn="l">
              <a:defRPr sz="600">
                <a:solidFill>
                  <a:schemeClr val="bg1">
                    <a:lumMod val="50000"/>
                  </a:schemeClr>
                </a:solidFill>
              </a:defRPr>
            </a:lvl1pPr>
          </a:lstStyle>
          <a:p>
            <a:endParaRPr lang="sv-SE" dirty="0"/>
          </a:p>
        </p:txBody>
      </p:sp>
      <p:sp>
        <p:nvSpPr>
          <p:cNvPr id="12" name="Platshållare för bildnummer 2">
            <a:extLst>
              <a:ext uri="{FF2B5EF4-FFF2-40B4-BE49-F238E27FC236}">
                <a16:creationId xmlns:a16="http://schemas.microsoft.com/office/drawing/2014/main" id="{BCE1DA79-4DF0-F244-A966-99FE2E08422D}"/>
              </a:ext>
            </a:extLst>
          </p:cNvPr>
          <p:cNvSpPr>
            <a:spLocks noGrp="1"/>
          </p:cNvSpPr>
          <p:nvPr>
            <p:ph type="sldNum" sz="quarter" idx="4"/>
          </p:nvPr>
        </p:nvSpPr>
        <p:spPr>
          <a:xfrm>
            <a:off x="8780056" y="4901532"/>
            <a:ext cx="216024" cy="240856"/>
          </a:xfrm>
          <a:prstGeom prst="rect">
            <a:avLst/>
          </a:prstGeom>
        </p:spPr>
        <p:txBody>
          <a:bodyPr vert="horz" lIns="0" tIns="0" rIns="0" bIns="0" rtlCol="0" anchor="ctr"/>
          <a:lstStyle>
            <a:lvl1pPr algn="r">
              <a:defRPr sz="600">
                <a:solidFill>
                  <a:schemeClr val="bg1">
                    <a:lumMod val="50000"/>
                  </a:schemeClr>
                </a:solidFill>
              </a:defRPr>
            </a:lvl1pPr>
          </a:lstStyle>
          <a:p>
            <a:pPr>
              <a:defRPr/>
            </a:pPr>
            <a:fld id="{9426A61E-93B8-384D-8975-0A89DB09A550}" type="slidenum">
              <a:rPr lang="sv-SE" smtClean="0"/>
              <a:pPr>
                <a:defRPr/>
              </a:pPr>
              <a:t>‹#›</a:t>
            </a:fld>
            <a:endParaRPr lang="sv-SE" dirty="0"/>
          </a:p>
        </p:txBody>
      </p:sp>
      <p:sp>
        <p:nvSpPr>
          <p:cNvPr id="16" name="Platshållare för bild 7">
            <a:extLst>
              <a:ext uri="{FF2B5EF4-FFF2-40B4-BE49-F238E27FC236}">
                <a16:creationId xmlns:a16="http://schemas.microsoft.com/office/drawing/2014/main" id="{B56819B3-5642-3544-81C9-3725283DE1CE}"/>
              </a:ext>
            </a:extLst>
          </p:cNvPr>
          <p:cNvSpPr>
            <a:spLocks noGrp="1"/>
          </p:cNvSpPr>
          <p:nvPr>
            <p:ph type="pic" sz="quarter" idx="17" hasCustomPrompt="1"/>
          </p:nvPr>
        </p:nvSpPr>
        <p:spPr>
          <a:xfrm>
            <a:off x="1" y="0"/>
            <a:ext cx="5039217" cy="4901532"/>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1576" h="4901532">
                <a:moveTo>
                  <a:pt x="0" y="0"/>
                </a:moveTo>
                <a:lnTo>
                  <a:pt x="5121576" y="0"/>
                </a:lnTo>
                <a:lnTo>
                  <a:pt x="4118677" y="4901532"/>
                </a:lnTo>
                <a:lnTo>
                  <a:pt x="0" y="4901532"/>
                </a:lnTo>
                <a:lnTo>
                  <a:pt x="0" y="0"/>
                </a:lnTo>
                <a:close/>
              </a:path>
            </a:pathLst>
          </a:custGeom>
          <a:noFill/>
        </p:spPr>
        <p:txBody>
          <a:bodyPr vert="horz" lIns="0" tIns="0" rIns="0" bIns="0" rtlCol="0" anchor="ctr">
            <a:normAutofit/>
          </a:bodyPr>
          <a:lstStyle>
            <a:lvl1pPr marL="180000" indent="-180000" algn="ctr">
              <a:buNone/>
              <a:defRPr lang="sv-SE" sz="1600" noProof="0" dirty="0" smtClean="0"/>
            </a:lvl1pPr>
          </a:lstStyle>
          <a:p>
            <a:pPr marL="0" marR="0" lvl="0" indent="0" algn="ctr" latinLnBrk="0">
              <a:buClrTx/>
              <a:buSzTx/>
              <a:tabLst/>
            </a:pPr>
            <a:r>
              <a:rPr lang="sv-SE" noProof="0" dirty="0"/>
              <a:t>Klicka på ikonen</a:t>
            </a:r>
            <a:br>
              <a:rPr lang="sv-SE" noProof="0" dirty="0"/>
            </a:br>
            <a:br>
              <a:rPr lang="sv-SE" noProof="0" dirty="0"/>
            </a:br>
            <a:r>
              <a:rPr lang="sv-SE" noProof="0" dirty="0"/>
              <a:t>för att lägga till en bild</a:t>
            </a:r>
          </a:p>
        </p:txBody>
      </p:sp>
      <p:sp>
        <p:nvSpPr>
          <p:cNvPr id="10" name="Platshållare för sidfot 5">
            <a:extLst>
              <a:ext uri="{FF2B5EF4-FFF2-40B4-BE49-F238E27FC236}">
                <a16:creationId xmlns:a16="http://schemas.microsoft.com/office/drawing/2014/main" id="{4125F74B-62A0-45A0-A5CC-A63B4CCD3C26}"/>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364549063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npassad layou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19027D0D-5347-0F40-A614-C5AEEA0CF627}"/>
              </a:ext>
            </a:extLst>
          </p:cNvPr>
          <p:cNvSpPr>
            <a:spLocks noGrp="1"/>
          </p:cNvSpPr>
          <p:nvPr>
            <p:ph type="dt" sz="half" idx="10"/>
          </p:nvPr>
        </p:nvSpPr>
        <p:spPr/>
        <p:txBody>
          <a:bodyPr/>
          <a:lstStyle/>
          <a:p>
            <a:endParaRPr lang="sv-SE" dirty="0"/>
          </a:p>
        </p:txBody>
      </p:sp>
      <p:sp>
        <p:nvSpPr>
          <p:cNvPr id="4" name="Platshållare för bildnummer 3">
            <a:extLst>
              <a:ext uri="{FF2B5EF4-FFF2-40B4-BE49-F238E27FC236}">
                <a16:creationId xmlns:a16="http://schemas.microsoft.com/office/drawing/2014/main" id="{CAE98EEF-1CA7-F04D-9340-931E36BBE6D9}"/>
              </a:ext>
            </a:extLst>
          </p:cNvPr>
          <p:cNvSpPr>
            <a:spLocks noGrp="1"/>
          </p:cNvSpPr>
          <p:nvPr>
            <p:ph type="sldNum" sz="quarter" idx="11"/>
          </p:nvPr>
        </p:nvSpPr>
        <p:spPr/>
        <p:txBody>
          <a:bodyPr/>
          <a:lstStyle/>
          <a:p>
            <a:pPr>
              <a:defRPr/>
            </a:pPr>
            <a:fld id="{9426A61E-93B8-384D-8975-0A89DB09A550}" type="slidenum">
              <a:rPr lang="sv-SE" smtClean="0"/>
              <a:pPr>
                <a:defRPr/>
              </a:pPr>
              <a:t>‹#›</a:t>
            </a:fld>
            <a:endParaRPr lang="sv-SE" dirty="0"/>
          </a:p>
        </p:txBody>
      </p:sp>
      <p:sp>
        <p:nvSpPr>
          <p:cNvPr id="9" name="Platshållare för innehåll 2">
            <a:extLst>
              <a:ext uri="{FF2B5EF4-FFF2-40B4-BE49-F238E27FC236}">
                <a16:creationId xmlns:a16="http://schemas.microsoft.com/office/drawing/2014/main" id="{1270153B-94A6-E744-8BC9-650BC793BEC4}"/>
              </a:ext>
            </a:extLst>
          </p:cNvPr>
          <p:cNvSpPr>
            <a:spLocks noGrp="1"/>
          </p:cNvSpPr>
          <p:nvPr>
            <p:ph sz="quarter" idx="18" hasCustomPrompt="1"/>
          </p:nvPr>
        </p:nvSpPr>
        <p:spPr>
          <a:xfrm>
            <a:off x="684000" y="1724296"/>
            <a:ext cx="3599968" cy="2750400"/>
          </a:xfrm>
        </p:spPr>
        <p:txBody>
          <a:bodyPr/>
          <a:lstStyle>
            <a:lvl1pPr marL="216000" indent="-216000">
              <a:defRPr/>
            </a:lvl1pPr>
            <a:lvl2pPr marL="432000" indent="-216000">
              <a:defRPr/>
            </a:lvl2pPr>
            <a:lvl3pPr marL="648000" indent="-216000">
              <a:defRPr/>
            </a:lvl3pPr>
            <a:lvl4pPr marL="864000" indent="-216000">
              <a:defRPr/>
            </a:lvl4pPr>
            <a:lvl5pPr marL="1080000" indent="-216000">
              <a:defRPr/>
            </a:lvl5pPr>
          </a:lstStyle>
          <a:p>
            <a:pPr lvl="0"/>
            <a:r>
              <a:rPr lang="sv-SE" dirty="0"/>
              <a:t>Skriv in din text</a:t>
            </a:r>
          </a:p>
          <a:p>
            <a:pPr lvl="1"/>
            <a:r>
              <a:rPr lang="sv-SE" dirty="0"/>
              <a:t>Nivå två</a:t>
            </a:r>
          </a:p>
          <a:p>
            <a:pPr lvl="2"/>
            <a:r>
              <a:rPr lang="sv-SE" dirty="0"/>
              <a:t>Nivå tre</a:t>
            </a:r>
          </a:p>
          <a:p>
            <a:pPr lvl="3"/>
            <a:r>
              <a:rPr lang="sv-SE" dirty="0"/>
              <a:t>Nivå fyra</a:t>
            </a:r>
          </a:p>
          <a:p>
            <a:pPr lvl="4"/>
            <a:r>
              <a:rPr lang="sv-SE" dirty="0"/>
              <a:t>Nivå fem</a:t>
            </a:r>
          </a:p>
        </p:txBody>
      </p:sp>
      <p:sp>
        <p:nvSpPr>
          <p:cNvPr id="10" name="Platshållare för bild 7">
            <a:extLst>
              <a:ext uri="{FF2B5EF4-FFF2-40B4-BE49-F238E27FC236}">
                <a16:creationId xmlns:a16="http://schemas.microsoft.com/office/drawing/2014/main" id="{61B5B853-6050-104B-B64B-70CD31ABC800}"/>
              </a:ext>
            </a:extLst>
          </p:cNvPr>
          <p:cNvSpPr>
            <a:spLocks noGrp="1"/>
          </p:cNvSpPr>
          <p:nvPr>
            <p:ph type="pic" sz="quarter" idx="19" hasCustomPrompt="1"/>
          </p:nvPr>
        </p:nvSpPr>
        <p:spPr>
          <a:xfrm>
            <a:off x="4106847" y="430"/>
            <a:ext cx="5038201" cy="4911392"/>
          </a:xfrm>
          <a:custGeom>
            <a:avLst/>
            <a:gdLst>
              <a:gd name="connsiteX0" fmla="*/ 0 w 4118677"/>
              <a:gd name="connsiteY0" fmla="*/ 0 h 4901532"/>
              <a:gd name="connsiteX1" fmla="*/ 4118677 w 4118677"/>
              <a:gd name="connsiteY1" fmla="*/ 0 h 4901532"/>
              <a:gd name="connsiteX2" fmla="*/ 4118677 w 4118677"/>
              <a:gd name="connsiteY2" fmla="*/ 4901532 h 4901532"/>
              <a:gd name="connsiteX3" fmla="*/ 0 w 4118677"/>
              <a:gd name="connsiteY3" fmla="*/ 4901532 h 4901532"/>
              <a:gd name="connsiteX4" fmla="*/ 0 w 4118677"/>
              <a:gd name="connsiteY4" fmla="*/ 0 h 4901532"/>
              <a:gd name="connsiteX0" fmla="*/ 0 w 5077039"/>
              <a:gd name="connsiteY0" fmla="*/ 0 h 4901532"/>
              <a:gd name="connsiteX1" fmla="*/ 5077039 w 5077039"/>
              <a:gd name="connsiteY1" fmla="*/ 8792 h 4901532"/>
              <a:gd name="connsiteX2" fmla="*/ 4118677 w 5077039"/>
              <a:gd name="connsiteY2" fmla="*/ 4901532 h 4901532"/>
              <a:gd name="connsiteX3" fmla="*/ 0 w 5077039"/>
              <a:gd name="connsiteY3" fmla="*/ 4901532 h 4901532"/>
              <a:gd name="connsiteX4" fmla="*/ 0 w 5077039"/>
              <a:gd name="connsiteY4" fmla="*/ 0 h 4901532"/>
              <a:gd name="connsiteX0" fmla="*/ 0 w 5085831"/>
              <a:gd name="connsiteY0" fmla="*/ 0 h 4901532"/>
              <a:gd name="connsiteX1" fmla="*/ 5085831 w 5085831"/>
              <a:gd name="connsiteY1" fmla="*/ 0 h 4901532"/>
              <a:gd name="connsiteX2" fmla="*/ 4118677 w 5085831"/>
              <a:gd name="connsiteY2" fmla="*/ 4901532 h 4901532"/>
              <a:gd name="connsiteX3" fmla="*/ 0 w 5085831"/>
              <a:gd name="connsiteY3" fmla="*/ 4901532 h 4901532"/>
              <a:gd name="connsiteX4" fmla="*/ 0 w 5085831"/>
              <a:gd name="connsiteY4" fmla="*/ 0 h 4901532"/>
              <a:gd name="connsiteX0" fmla="*/ 0 w 5121576"/>
              <a:gd name="connsiteY0" fmla="*/ 0 h 4901532"/>
              <a:gd name="connsiteX1" fmla="*/ 5121576 w 5121576"/>
              <a:gd name="connsiteY1" fmla="*/ 0 h 4901532"/>
              <a:gd name="connsiteX2" fmla="*/ 4118677 w 5121576"/>
              <a:gd name="connsiteY2" fmla="*/ 4901532 h 4901532"/>
              <a:gd name="connsiteX3" fmla="*/ 0 w 5121576"/>
              <a:gd name="connsiteY3" fmla="*/ 4901532 h 4901532"/>
              <a:gd name="connsiteX4" fmla="*/ 0 w 5121576"/>
              <a:gd name="connsiteY4" fmla="*/ 0 h 4901532"/>
              <a:gd name="connsiteX0" fmla="*/ 0 w 5710525"/>
              <a:gd name="connsiteY0" fmla="*/ 0 h 4901532"/>
              <a:gd name="connsiteX1" fmla="*/ 5121576 w 5710525"/>
              <a:gd name="connsiteY1" fmla="*/ 0 h 4901532"/>
              <a:gd name="connsiteX2" fmla="*/ 5710525 w 5710525"/>
              <a:gd name="connsiteY2" fmla="*/ 4901532 h 4901532"/>
              <a:gd name="connsiteX3" fmla="*/ 0 w 5710525"/>
              <a:gd name="connsiteY3" fmla="*/ 4901532 h 4901532"/>
              <a:gd name="connsiteX4" fmla="*/ 0 w 5710525"/>
              <a:gd name="connsiteY4" fmla="*/ 0 h 4901532"/>
              <a:gd name="connsiteX0" fmla="*/ 0 w 5719669"/>
              <a:gd name="connsiteY0" fmla="*/ 0 h 4901532"/>
              <a:gd name="connsiteX1" fmla="*/ 5719669 w 5719669"/>
              <a:gd name="connsiteY1" fmla="*/ 9053 h 4901532"/>
              <a:gd name="connsiteX2" fmla="*/ 5710525 w 5719669"/>
              <a:gd name="connsiteY2" fmla="*/ 4901532 h 4901532"/>
              <a:gd name="connsiteX3" fmla="*/ 0 w 5719669"/>
              <a:gd name="connsiteY3" fmla="*/ 4901532 h 4901532"/>
              <a:gd name="connsiteX4" fmla="*/ 0 w 5719669"/>
              <a:gd name="connsiteY4" fmla="*/ 0 h 4901532"/>
              <a:gd name="connsiteX0" fmla="*/ 0 w 5719669"/>
              <a:gd name="connsiteY0" fmla="*/ 0 h 4919639"/>
              <a:gd name="connsiteX1" fmla="*/ 5719669 w 5719669"/>
              <a:gd name="connsiteY1" fmla="*/ 9053 h 4919639"/>
              <a:gd name="connsiteX2" fmla="*/ 5710525 w 5719669"/>
              <a:gd name="connsiteY2" fmla="*/ 4901532 h 4919639"/>
              <a:gd name="connsiteX3" fmla="*/ 1573445 w 5719669"/>
              <a:gd name="connsiteY3" fmla="*/ 4919639 h 4919639"/>
              <a:gd name="connsiteX4" fmla="*/ 0 w 5719669"/>
              <a:gd name="connsiteY4" fmla="*/ 0 h 4919639"/>
              <a:gd name="connsiteX0" fmla="*/ 0 w 5139979"/>
              <a:gd name="connsiteY0" fmla="*/ 9054 h 4910586"/>
              <a:gd name="connsiteX1" fmla="*/ 5139979 w 5139979"/>
              <a:gd name="connsiteY1" fmla="*/ 0 h 4910586"/>
              <a:gd name="connsiteX2" fmla="*/ 5130835 w 5139979"/>
              <a:gd name="connsiteY2" fmla="*/ 4892479 h 4910586"/>
              <a:gd name="connsiteX3" fmla="*/ 993755 w 5139979"/>
              <a:gd name="connsiteY3" fmla="*/ 4910586 h 4910586"/>
              <a:gd name="connsiteX4" fmla="*/ 0 w 5139979"/>
              <a:gd name="connsiteY4" fmla="*/ 9054 h 4910586"/>
              <a:gd name="connsiteX0" fmla="*/ 0 w 5139979"/>
              <a:gd name="connsiteY0" fmla="*/ 9054 h 4901532"/>
              <a:gd name="connsiteX1" fmla="*/ 5139979 w 5139979"/>
              <a:gd name="connsiteY1" fmla="*/ 0 h 4901532"/>
              <a:gd name="connsiteX2" fmla="*/ 5130835 w 5139979"/>
              <a:gd name="connsiteY2" fmla="*/ 4892479 h 4901532"/>
              <a:gd name="connsiteX3" fmla="*/ 993755 w 5139979"/>
              <a:gd name="connsiteY3" fmla="*/ 4901532 h 4901532"/>
              <a:gd name="connsiteX4" fmla="*/ 0 w 5139979"/>
              <a:gd name="connsiteY4" fmla="*/ 9054 h 4901532"/>
              <a:gd name="connsiteX0" fmla="*/ 0 w 5126312"/>
              <a:gd name="connsiteY0" fmla="*/ 2331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2331 h 4901532"/>
              <a:gd name="connsiteX0" fmla="*/ 0 w 5139979"/>
              <a:gd name="connsiteY0" fmla="*/ 0 h 4912648"/>
              <a:gd name="connsiteX1" fmla="*/ 5139979 w 5139979"/>
              <a:gd name="connsiteY1" fmla="*/ 11116 h 4912648"/>
              <a:gd name="connsiteX2" fmla="*/ 5130835 w 5139979"/>
              <a:gd name="connsiteY2" fmla="*/ 4903595 h 4912648"/>
              <a:gd name="connsiteX3" fmla="*/ 993755 w 5139979"/>
              <a:gd name="connsiteY3" fmla="*/ 4912648 h 4912648"/>
              <a:gd name="connsiteX4" fmla="*/ 0 w 5139979"/>
              <a:gd name="connsiteY4" fmla="*/ 0 h 4912648"/>
              <a:gd name="connsiteX0" fmla="*/ 0 w 5126312"/>
              <a:gd name="connsiteY0" fmla="*/ 83013 h 4901532"/>
              <a:gd name="connsiteX1" fmla="*/ 5126312 w 5126312"/>
              <a:gd name="connsiteY1" fmla="*/ 0 h 4901532"/>
              <a:gd name="connsiteX2" fmla="*/ 5117168 w 5126312"/>
              <a:gd name="connsiteY2" fmla="*/ 4892479 h 4901532"/>
              <a:gd name="connsiteX3" fmla="*/ 980088 w 5126312"/>
              <a:gd name="connsiteY3" fmla="*/ 4901532 h 4901532"/>
              <a:gd name="connsiteX4" fmla="*/ 0 w 5126312"/>
              <a:gd name="connsiteY4" fmla="*/ 83013 h 4901532"/>
              <a:gd name="connsiteX0" fmla="*/ 0 w 5119478"/>
              <a:gd name="connsiteY0" fmla="*/ 0 h 4905924"/>
              <a:gd name="connsiteX1" fmla="*/ 5119478 w 5119478"/>
              <a:gd name="connsiteY1" fmla="*/ 4392 h 4905924"/>
              <a:gd name="connsiteX2" fmla="*/ 5110334 w 5119478"/>
              <a:gd name="connsiteY2" fmla="*/ 4896871 h 4905924"/>
              <a:gd name="connsiteX3" fmla="*/ 973254 w 5119478"/>
              <a:gd name="connsiteY3" fmla="*/ 4905924 h 4905924"/>
              <a:gd name="connsiteX4" fmla="*/ 0 w 5119478"/>
              <a:gd name="connsiteY4" fmla="*/ 0 h 4905924"/>
              <a:gd name="connsiteX0" fmla="*/ 0 w 5129396"/>
              <a:gd name="connsiteY0" fmla="*/ 0 h 4905924"/>
              <a:gd name="connsiteX1" fmla="*/ 5119478 w 5129396"/>
              <a:gd name="connsiteY1" fmla="*/ 4392 h 4905924"/>
              <a:gd name="connsiteX2" fmla="*/ 5129396 w 5129396"/>
              <a:gd name="connsiteY2" fmla="*/ 4892181 h 4905924"/>
              <a:gd name="connsiteX3" fmla="*/ 973254 w 5129396"/>
              <a:gd name="connsiteY3" fmla="*/ 4905924 h 4905924"/>
              <a:gd name="connsiteX4" fmla="*/ 0 w 5129396"/>
              <a:gd name="connsiteY4" fmla="*/ 0 h 4905924"/>
              <a:gd name="connsiteX0" fmla="*/ 0 w 5124629"/>
              <a:gd name="connsiteY0" fmla="*/ 0 h 4905924"/>
              <a:gd name="connsiteX1" fmla="*/ 5119478 w 5124629"/>
              <a:gd name="connsiteY1" fmla="*/ 4392 h 4905924"/>
              <a:gd name="connsiteX2" fmla="*/ 5124629 w 5124629"/>
              <a:gd name="connsiteY2" fmla="*/ 4901559 h 4905924"/>
              <a:gd name="connsiteX3" fmla="*/ 973254 w 5124629"/>
              <a:gd name="connsiteY3" fmla="*/ 4905924 h 4905924"/>
              <a:gd name="connsiteX4" fmla="*/ 0 w 5124629"/>
              <a:gd name="connsiteY4" fmla="*/ 0 h 4905924"/>
              <a:gd name="connsiteX0" fmla="*/ 0 w 5129395"/>
              <a:gd name="connsiteY0" fmla="*/ 0 h 4910938"/>
              <a:gd name="connsiteX1" fmla="*/ 5119478 w 5129395"/>
              <a:gd name="connsiteY1" fmla="*/ 4392 h 4910938"/>
              <a:gd name="connsiteX2" fmla="*/ 5129395 w 5129395"/>
              <a:gd name="connsiteY2" fmla="*/ 4910938 h 4910938"/>
              <a:gd name="connsiteX3" fmla="*/ 973254 w 5129395"/>
              <a:gd name="connsiteY3" fmla="*/ 4905924 h 4910938"/>
              <a:gd name="connsiteX4" fmla="*/ 0 w 5129395"/>
              <a:gd name="connsiteY4" fmla="*/ 0 h 4910938"/>
              <a:gd name="connsiteX0" fmla="*/ 0 w 5120105"/>
              <a:gd name="connsiteY0" fmla="*/ 0 h 4915627"/>
              <a:gd name="connsiteX1" fmla="*/ 5119478 w 5120105"/>
              <a:gd name="connsiteY1" fmla="*/ 4392 h 4915627"/>
              <a:gd name="connsiteX2" fmla="*/ 5115098 w 5120105"/>
              <a:gd name="connsiteY2" fmla="*/ 4915627 h 4915627"/>
              <a:gd name="connsiteX3" fmla="*/ 973254 w 5120105"/>
              <a:gd name="connsiteY3" fmla="*/ 4905924 h 4915627"/>
              <a:gd name="connsiteX4" fmla="*/ 0 w 5120105"/>
              <a:gd name="connsiteY4" fmla="*/ 0 h 4915627"/>
              <a:gd name="connsiteX0" fmla="*/ 0 w 5124630"/>
              <a:gd name="connsiteY0" fmla="*/ 0 h 4915627"/>
              <a:gd name="connsiteX1" fmla="*/ 5119478 w 5124630"/>
              <a:gd name="connsiteY1" fmla="*/ 4392 h 4915627"/>
              <a:gd name="connsiteX2" fmla="*/ 5124630 w 5124630"/>
              <a:gd name="connsiteY2" fmla="*/ 4915627 h 4915627"/>
              <a:gd name="connsiteX3" fmla="*/ 973254 w 5124630"/>
              <a:gd name="connsiteY3" fmla="*/ 4905924 h 4915627"/>
              <a:gd name="connsiteX4" fmla="*/ 0 w 5124630"/>
              <a:gd name="connsiteY4" fmla="*/ 0 h 4915627"/>
              <a:gd name="connsiteX0" fmla="*/ 0 w 5120542"/>
              <a:gd name="connsiteY0" fmla="*/ 0 h 4907160"/>
              <a:gd name="connsiteX1" fmla="*/ 5119478 w 5120542"/>
              <a:gd name="connsiteY1" fmla="*/ 4392 h 4907160"/>
              <a:gd name="connsiteX2" fmla="*/ 5120328 w 5120542"/>
              <a:gd name="connsiteY2" fmla="*/ 4907160 h 4907160"/>
              <a:gd name="connsiteX3" fmla="*/ 973254 w 5120542"/>
              <a:gd name="connsiteY3" fmla="*/ 4905924 h 4907160"/>
              <a:gd name="connsiteX4" fmla="*/ 0 w 5120542"/>
              <a:gd name="connsiteY4" fmla="*/ 0 h 4907160"/>
              <a:gd name="connsiteX0" fmla="*/ 0 w 5120542"/>
              <a:gd name="connsiteY0" fmla="*/ 4074 h 4911234"/>
              <a:gd name="connsiteX1" fmla="*/ 5119478 w 5120542"/>
              <a:gd name="connsiteY1" fmla="*/ 0 h 4911234"/>
              <a:gd name="connsiteX2" fmla="*/ 5120328 w 5120542"/>
              <a:gd name="connsiteY2" fmla="*/ 4911234 h 4911234"/>
              <a:gd name="connsiteX3" fmla="*/ 973254 w 5120542"/>
              <a:gd name="connsiteY3" fmla="*/ 4909998 h 4911234"/>
              <a:gd name="connsiteX4" fmla="*/ 0 w 5120542"/>
              <a:gd name="connsiteY4" fmla="*/ 4074 h 4911234"/>
              <a:gd name="connsiteX0" fmla="*/ 0 w 5124845"/>
              <a:gd name="connsiteY0" fmla="*/ 0 h 4919860"/>
              <a:gd name="connsiteX1" fmla="*/ 5123781 w 5124845"/>
              <a:gd name="connsiteY1" fmla="*/ 8626 h 4919860"/>
              <a:gd name="connsiteX2" fmla="*/ 5124631 w 5124845"/>
              <a:gd name="connsiteY2" fmla="*/ 4919860 h 4919860"/>
              <a:gd name="connsiteX3" fmla="*/ 977557 w 5124845"/>
              <a:gd name="connsiteY3" fmla="*/ 4918624 h 4919860"/>
              <a:gd name="connsiteX4" fmla="*/ 0 w 5124845"/>
              <a:gd name="connsiteY4" fmla="*/ 0 h 4919860"/>
              <a:gd name="connsiteX0" fmla="*/ 0 w 5120543"/>
              <a:gd name="connsiteY0" fmla="*/ 0 h 4915626"/>
              <a:gd name="connsiteX1" fmla="*/ 5119479 w 5120543"/>
              <a:gd name="connsiteY1" fmla="*/ 4392 h 4915626"/>
              <a:gd name="connsiteX2" fmla="*/ 5120329 w 5120543"/>
              <a:gd name="connsiteY2" fmla="*/ 4915626 h 4915626"/>
              <a:gd name="connsiteX3" fmla="*/ 973255 w 5120543"/>
              <a:gd name="connsiteY3" fmla="*/ 4914390 h 4915626"/>
              <a:gd name="connsiteX4" fmla="*/ 0 w 5120543"/>
              <a:gd name="connsiteY4" fmla="*/ 0 h 4915626"/>
              <a:gd name="connsiteX0" fmla="*/ 0 w 5120543"/>
              <a:gd name="connsiteY0" fmla="*/ 0 h 4911392"/>
              <a:gd name="connsiteX1" fmla="*/ 5119479 w 5120543"/>
              <a:gd name="connsiteY1" fmla="*/ 158 h 4911392"/>
              <a:gd name="connsiteX2" fmla="*/ 5120329 w 5120543"/>
              <a:gd name="connsiteY2" fmla="*/ 4911392 h 4911392"/>
              <a:gd name="connsiteX3" fmla="*/ 973255 w 5120543"/>
              <a:gd name="connsiteY3" fmla="*/ 4910156 h 4911392"/>
              <a:gd name="connsiteX4" fmla="*/ 0 w 5120543"/>
              <a:gd name="connsiteY4" fmla="*/ 0 h 4911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0543" h="4911392">
                <a:moveTo>
                  <a:pt x="0" y="0"/>
                </a:moveTo>
                <a:lnTo>
                  <a:pt x="5119479" y="158"/>
                </a:lnTo>
                <a:cubicBezTo>
                  <a:pt x="5122785" y="1635673"/>
                  <a:pt x="5117023" y="3275877"/>
                  <a:pt x="5120329" y="4911392"/>
                </a:cubicBezTo>
                <a:lnTo>
                  <a:pt x="973255" y="4910156"/>
                </a:lnTo>
                <a:lnTo>
                  <a:pt x="0" y="0"/>
                </a:lnTo>
                <a:close/>
              </a:path>
            </a:pathLst>
          </a:custGeom>
          <a:noFill/>
        </p:spPr>
        <p:txBody>
          <a:bodyPr vert="horz" lIns="0" tIns="0" rIns="0" bIns="0" rtlCol="0" anchor="ctr">
            <a:normAutofit/>
          </a:bodyPr>
          <a:lstStyle>
            <a:lvl1pPr marL="180000" indent="-180000" algn="ctr">
              <a:buNone/>
              <a:defRPr lang="sv-SE" sz="1600" noProof="0" dirty="0" smtClean="0"/>
            </a:lvl1pPr>
          </a:lstStyle>
          <a:p>
            <a:pPr marL="0" marR="0" lvl="0" indent="0" algn="ctr" latinLnBrk="0">
              <a:buClrTx/>
              <a:buSzTx/>
              <a:tabLst/>
            </a:pPr>
            <a:r>
              <a:rPr lang="sv-SE" noProof="0" dirty="0"/>
              <a:t>Klicka på ikonen</a:t>
            </a:r>
            <a:br>
              <a:rPr lang="sv-SE" noProof="0" dirty="0"/>
            </a:br>
            <a:br>
              <a:rPr lang="sv-SE" noProof="0" dirty="0"/>
            </a:br>
            <a:r>
              <a:rPr lang="sv-SE" noProof="0" dirty="0"/>
              <a:t>för att lägga till en bild</a:t>
            </a:r>
          </a:p>
        </p:txBody>
      </p:sp>
      <p:sp>
        <p:nvSpPr>
          <p:cNvPr id="11" name="Rubrik 4">
            <a:extLst>
              <a:ext uri="{FF2B5EF4-FFF2-40B4-BE49-F238E27FC236}">
                <a16:creationId xmlns:a16="http://schemas.microsoft.com/office/drawing/2014/main" id="{195403B7-8E3A-45F1-AF97-B1BD8DAAF9D6}"/>
              </a:ext>
            </a:extLst>
          </p:cNvPr>
          <p:cNvSpPr>
            <a:spLocks noGrp="1"/>
          </p:cNvSpPr>
          <p:nvPr>
            <p:ph type="title"/>
          </p:nvPr>
        </p:nvSpPr>
        <p:spPr>
          <a:xfrm>
            <a:off x="684000" y="195486"/>
            <a:ext cx="3422847" cy="684000"/>
          </a:xfrm>
        </p:spPr>
        <p:txBody>
          <a:bodyPr/>
          <a:lstStyle>
            <a:lvl1pPr>
              <a:defRPr sz="4000"/>
            </a:lvl1pPr>
          </a:lstStyle>
          <a:p>
            <a:r>
              <a:rPr lang="en-US" dirty="0"/>
              <a:t>Click to edit Master title style</a:t>
            </a:r>
            <a:endParaRPr lang="sv-SE" dirty="0"/>
          </a:p>
        </p:txBody>
      </p:sp>
      <p:sp>
        <p:nvSpPr>
          <p:cNvPr id="12" name="Platshållare för sidfot 5">
            <a:extLst>
              <a:ext uri="{FF2B5EF4-FFF2-40B4-BE49-F238E27FC236}">
                <a16:creationId xmlns:a16="http://schemas.microsoft.com/office/drawing/2014/main" id="{7D101A1E-197A-41AC-AE1F-ECEC09A74148}"/>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203955876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yra bilder (alt 2)">
    <p:spTree>
      <p:nvGrpSpPr>
        <p:cNvPr id="1" name=""/>
        <p:cNvGrpSpPr/>
        <p:nvPr/>
      </p:nvGrpSpPr>
      <p:grpSpPr>
        <a:xfrm>
          <a:off x="0" y="0"/>
          <a:ext cx="0" cy="0"/>
          <a:chOff x="0" y="0"/>
          <a:chExt cx="0" cy="0"/>
        </a:xfrm>
      </p:grpSpPr>
      <p:sp>
        <p:nvSpPr>
          <p:cNvPr id="11" name="Platshållare för bild 2"/>
          <p:cNvSpPr>
            <a:spLocks noGrp="1"/>
          </p:cNvSpPr>
          <p:nvPr>
            <p:ph type="pic" idx="13" hasCustomPrompt="1"/>
          </p:nvPr>
        </p:nvSpPr>
        <p:spPr>
          <a:xfrm>
            <a:off x="0" y="0"/>
            <a:ext cx="9144000" cy="2340000"/>
          </a:xfrm>
          <a:prstGeom prst="rect">
            <a:avLst/>
          </a:prstGeom>
          <a:noFill/>
        </p:spPr>
        <p:txBody>
          <a:bodyPr anchor="ctr">
            <a:normAutofit/>
          </a:bodyPr>
          <a:lstStyle>
            <a:lvl1pPr marL="0" marR="0" indent="0" algn="ctr" defTabSz="457200" rtl="0" eaLnBrk="0" fontAlgn="base" latinLnBrk="0" hangingPunct="0">
              <a:lnSpc>
                <a:spcPct val="110000"/>
              </a:lnSpc>
              <a:spcBef>
                <a:spcPts val="800"/>
              </a:spcBef>
              <a:spcAft>
                <a:spcPct val="0"/>
              </a:spcAft>
              <a:buClrTx/>
              <a:buSzTx/>
              <a:buFont typeface="Arial" charset="0"/>
              <a:buNone/>
              <a:tabLst/>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457200" rtl="0" eaLnBrk="0" fontAlgn="base" latinLnBrk="0" hangingPunct="0">
              <a:lnSpc>
                <a:spcPct val="110000"/>
              </a:lnSpc>
              <a:spcBef>
                <a:spcPts val="800"/>
              </a:spcBef>
              <a:spcAft>
                <a:spcPct val="0"/>
              </a:spcAft>
              <a:buClrTx/>
              <a:buSzTx/>
              <a:buFont typeface="Arial" charset="0"/>
              <a:buNone/>
              <a:tabLst/>
              <a:defRPr/>
            </a:pPr>
            <a:r>
              <a:rPr lang="sv-SE" noProof="0" dirty="0"/>
              <a:t>Klicka på ikonen</a:t>
            </a:r>
            <a:br>
              <a:rPr lang="sv-SE" noProof="0" dirty="0"/>
            </a:br>
            <a:br>
              <a:rPr lang="sv-SE" noProof="0" dirty="0"/>
            </a:br>
            <a:r>
              <a:rPr lang="sv-SE" noProof="0" dirty="0"/>
              <a:t>för att lägga till en bild</a:t>
            </a:r>
          </a:p>
        </p:txBody>
      </p:sp>
      <p:sp>
        <p:nvSpPr>
          <p:cNvPr id="12" name="Platshållare för bild 2"/>
          <p:cNvSpPr>
            <a:spLocks noGrp="1"/>
          </p:cNvSpPr>
          <p:nvPr>
            <p:ph type="pic" idx="14" hasCustomPrompt="1"/>
          </p:nvPr>
        </p:nvSpPr>
        <p:spPr>
          <a:xfrm>
            <a:off x="0" y="2430021"/>
            <a:ext cx="2988000" cy="2471511"/>
          </a:xfrm>
          <a:prstGeom prst="rect">
            <a:avLst/>
          </a:prstGeom>
          <a:noFill/>
        </p:spPr>
        <p:txBody>
          <a:bodyPr anchor="ctr">
            <a:normAutofit/>
          </a:bodyPr>
          <a:lstStyle>
            <a:lvl1pPr marL="0" marR="0" indent="0" algn="ctr" defTabSz="457200" rtl="0" eaLnBrk="0" fontAlgn="base" latinLnBrk="0" hangingPunct="0">
              <a:lnSpc>
                <a:spcPct val="110000"/>
              </a:lnSpc>
              <a:spcBef>
                <a:spcPts val="800"/>
              </a:spcBef>
              <a:spcAft>
                <a:spcPct val="0"/>
              </a:spcAft>
              <a:buClrTx/>
              <a:buSzTx/>
              <a:buFont typeface="Arial" charset="0"/>
              <a:buNone/>
              <a:tabLst/>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457200" rtl="0" eaLnBrk="0" fontAlgn="base" latinLnBrk="0" hangingPunct="0">
              <a:lnSpc>
                <a:spcPct val="110000"/>
              </a:lnSpc>
              <a:spcBef>
                <a:spcPts val="800"/>
              </a:spcBef>
              <a:spcAft>
                <a:spcPct val="0"/>
              </a:spcAft>
              <a:buClrTx/>
              <a:buSzTx/>
              <a:buFont typeface="Arial" charset="0"/>
              <a:buNone/>
              <a:tabLst/>
              <a:defRPr/>
            </a:pPr>
            <a:r>
              <a:rPr lang="sv-SE" noProof="0" dirty="0"/>
              <a:t>Klicka på ikonen</a:t>
            </a:r>
            <a:br>
              <a:rPr lang="sv-SE" noProof="0" dirty="0"/>
            </a:br>
            <a:br>
              <a:rPr lang="sv-SE" noProof="0" dirty="0"/>
            </a:br>
            <a:r>
              <a:rPr lang="sv-SE" noProof="0" dirty="0"/>
              <a:t>för att lägga till en bild</a:t>
            </a:r>
          </a:p>
        </p:txBody>
      </p:sp>
      <p:sp>
        <p:nvSpPr>
          <p:cNvPr id="20" name="Platshållare för bild 2"/>
          <p:cNvSpPr>
            <a:spLocks noGrp="1"/>
          </p:cNvSpPr>
          <p:nvPr>
            <p:ph type="pic" idx="22" hasCustomPrompt="1"/>
          </p:nvPr>
        </p:nvSpPr>
        <p:spPr>
          <a:xfrm>
            <a:off x="6156000" y="2430021"/>
            <a:ext cx="2988000" cy="2471511"/>
          </a:xfrm>
          <a:prstGeom prst="rect">
            <a:avLst/>
          </a:prstGeom>
          <a:noFill/>
        </p:spPr>
        <p:txBody>
          <a:bodyPr anchor="ctr">
            <a:normAutofit/>
          </a:bodyPr>
          <a:lstStyle>
            <a:lvl1pPr marL="0" marR="0" indent="0" algn="ctr" defTabSz="457200" rtl="0" eaLnBrk="0" fontAlgn="base" latinLnBrk="0" hangingPunct="0">
              <a:lnSpc>
                <a:spcPct val="110000"/>
              </a:lnSpc>
              <a:spcBef>
                <a:spcPts val="800"/>
              </a:spcBef>
              <a:spcAft>
                <a:spcPct val="0"/>
              </a:spcAft>
              <a:buClrTx/>
              <a:buSzTx/>
              <a:buFont typeface="Arial" charset="0"/>
              <a:buNone/>
              <a:tabLst/>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457200" rtl="0" eaLnBrk="0" fontAlgn="base" latinLnBrk="0" hangingPunct="0">
              <a:lnSpc>
                <a:spcPct val="110000"/>
              </a:lnSpc>
              <a:spcBef>
                <a:spcPts val="800"/>
              </a:spcBef>
              <a:spcAft>
                <a:spcPct val="0"/>
              </a:spcAft>
              <a:buClrTx/>
              <a:buSzTx/>
              <a:buFont typeface="Arial" charset="0"/>
              <a:buNone/>
              <a:tabLst/>
              <a:defRPr/>
            </a:pPr>
            <a:r>
              <a:rPr lang="sv-SE" noProof="0" dirty="0"/>
              <a:t>Klicka på ikonen</a:t>
            </a:r>
            <a:br>
              <a:rPr lang="sv-SE" noProof="0" dirty="0"/>
            </a:br>
            <a:br>
              <a:rPr lang="sv-SE" noProof="0" dirty="0"/>
            </a:br>
            <a:r>
              <a:rPr lang="sv-SE" noProof="0" dirty="0"/>
              <a:t>för att lägga till en bild</a:t>
            </a:r>
          </a:p>
        </p:txBody>
      </p:sp>
      <p:sp>
        <p:nvSpPr>
          <p:cNvPr id="21" name="Platshållare för bild 2"/>
          <p:cNvSpPr>
            <a:spLocks noGrp="1"/>
          </p:cNvSpPr>
          <p:nvPr>
            <p:ph type="pic" idx="23" hasCustomPrompt="1"/>
          </p:nvPr>
        </p:nvSpPr>
        <p:spPr>
          <a:xfrm>
            <a:off x="3078000" y="2430021"/>
            <a:ext cx="2988000" cy="2471511"/>
          </a:xfrm>
          <a:prstGeom prst="rect">
            <a:avLst/>
          </a:prstGeom>
          <a:noFill/>
        </p:spPr>
        <p:txBody>
          <a:bodyPr anchor="ctr">
            <a:normAutofit/>
          </a:bodyPr>
          <a:lstStyle>
            <a:lvl1pPr marL="0" marR="0" indent="0" algn="ctr" defTabSz="457200" rtl="0" eaLnBrk="0" fontAlgn="base" latinLnBrk="0" hangingPunct="0">
              <a:lnSpc>
                <a:spcPct val="110000"/>
              </a:lnSpc>
              <a:spcBef>
                <a:spcPts val="800"/>
              </a:spcBef>
              <a:spcAft>
                <a:spcPct val="0"/>
              </a:spcAft>
              <a:buClrTx/>
              <a:buSzTx/>
              <a:buFont typeface="Arial" charset="0"/>
              <a:buNone/>
              <a:tabLst/>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457200" rtl="0" eaLnBrk="0" fontAlgn="base" latinLnBrk="0" hangingPunct="0">
              <a:lnSpc>
                <a:spcPct val="110000"/>
              </a:lnSpc>
              <a:spcBef>
                <a:spcPts val="800"/>
              </a:spcBef>
              <a:spcAft>
                <a:spcPct val="0"/>
              </a:spcAft>
              <a:buClrTx/>
              <a:buSzTx/>
              <a:buFont typeface="Arial" charset="0"/>
              <a:buNone/>
              <a:tabLst/>
              <a:defRPr/>
            </a:pPr>
            <a:r>
              <a:rPr lang="sv-SE" noProof="0" dirty="0"/>
              <a:t>Klicka på ikonen</a:t>
            </a:r>
            <a:br>
              <a:rPr lang="sv-SE" noProof="0" dirty="0"/>
            </a:br>
            <a:br>
              <a:rPr lang="sv-SE" noProof="0" dirty="0"/>
            </a:br>
            <a:r>
              <a:rPr lang="sv-SE" noProof="0" dirty="0"/>
              <a:t>för att lägga till en bild</a:t>
            </a:r>
          </a:p>
        </p:txBody>
      </p:sp>
      <p:sp>
        <p:nvSpPr>
          <p:cNvPr id="2" name="Platshållare för datum 1">
            <a:extLst>
              <a:ext uri="{FF2B5EF4-FFF2-40B4-BE49-F238E27FC236}">
                <a16:creationId xmlns:a16="http://schemas.microsoft.com/office/drawing/2014/main" id="{56D832F5-B309-9D4C-9F89-2322FCFBA30D}"/>
              </a:ext>
            </a:extLst>
          </p:cNvPr>
          <p:cNvSpPr>
            <a:spLocks noGrp="1"/>
          </p:cNvSpPr>
          <p:nvPr>
            <p:ph type="dt" sz="half" idx="24"/>
          </p:nvPr>
        </p:nvSpPr>
        <p:spPr/>
        <p:txBody>
          <a:bodyPr/>
          <a:lstStyle/>
          <a:p>
            <a:endParaRPr lang="sv-SE" dirty="0"/>
          </a:p>
        </p:txBody>
      </p:sp>
      <p:sp>
        <p:nvSpPr>
          <p:cNvPr id="5" name="Platshållare för bildnummer 4">
            <a:extLst>
              <a:ext uri="{FF2B5EF4-FFF2-40B4-BE49-F238E27FC236}">
                <a16:creationId xmlns:a16="http://schemas.microsoft.com/office/drawing/2014/main" id="{14A3941E-5B21-DB4A-BCAA-51F57BF3D958}"/>
              </a:ext>
            </a:extLst>
          </p:cNvPr>
          <p:cNvSpPr>
            <a:spLocks noGrp="1"/>
          </p:cNvSpPr>
          <p:nvPr>
            <p:ph type="sldNum" sz="quarter" idx="26"/>
          </p:nvPr>
        </p:nvSpPr>
        <p:spPr/>
        <p:txBody>
          <a:bodyPr/>
          <a:lstStyle/>
          <a:p>
            <a:pPr>
              <a:defRPr/>
            </a:pPr>
            <a:fld id="{9426A61E-93B8-384D-8975-0A89DB09A550}" type="slidenum">
              <a:rPr lang="sv-SE" smtClean="0"/>
              <a:pPr>
                <a:defRPr/>
              </a:pPr>
              <a:t>‹#›</a:t>
            </a:fld>
            <a:endParaRPr lang="sv-SE" dirty="0"/>
          </a:p>
        </p:txBody>
      </p:sp>
      <p:sp>
        <p:nvSpPr>
          <p:cNvPr id="10" name="Platshållare för sidfot 5">
            <a:extLst>
              <a:ext uri="{FF2B5EF4-FFF2-40B4-BE49-F238E27FC236}">
                <a16:creationId xmlns:a16="http://schemas.microsoft.com/office/drawing/2014/main" id="{FCDDEDD0-15EB-4449-A55D-03493FB1F1BC}"/>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329375670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lutbild Svensk ">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B05F932-23FA-7342-91DB-0289499287E8}"/>
              </a:ext>
            </a:extLst>
          </p:cNvPr>
          <p:cNvSpPr>
            <a:spLocks noGrp="1"/>
          </p:cNvSpPr>
          <p:nvPr>
            <p:ph type="title" hasCustomPrompt="1"/>
          </p:nvPr>
        </p:nvSpPr>
        <p:spPr>
          <a:xfrm>
            <a:off x="684000" y="3327594"/>
            <a:ext cx="7831350" cy="900340"/>
          </a:xfrm>
        </p:spPr>
        <p:txBody>
          <a:bodyPr/>
          <a:lstStyle>
            <a:lvl1pPr algn="ctr">
              <a:defRPr sz="2000" b="1"/>
            </a:lvl1pPr>
          </a:lstStyle>
          <a:p>
            <a:r>
              <a:rPr lang="sv-SE" dirty="0"/>
              <a:t>BESÖK OSS PÅ WEBBEN</a:t>
            </a:r>
            <a:br>
              <a:rPr lang="sv-SE" dirty="0"/>
            </a:br>
            <a:r>
              <a:rPr lang="sv-SE" dirty="0"/>
              <a:t>https://medicine.gu.se/english/phcm</a:t>
            </a:r>
          </a:p>
        </p:txBody>
      </p:sp>
      <p:sp>
        <p:nvSpPr>
          <p:cNvPr id="3" name="Platshållare för datum 2">
            <a:extLst>
              <a:ext uri="{FF2B5EF4-FFF2-40B4-BE49-F238E27FC236}">
                <a16:creationId xmlns:a16="http://schemas.microsoft.com/office/drawing/2014/main" id="{C972B8B3-D593-4C42-B664-337F7903E793}"/>
              </a:ext>
            </a:extLst>
          </p:cNvPr>
          <p:cNvSpPr>
            <a:spLocks noGrp="1"/>
          </p:cNvSpPr>
          <p:nvPr>
            <p:ph type="dt" sz="half" idx="10"/>
          </p:nvPr>
        </p:nvSpPr>
        <p:spPr/>
        <p:txBody>
          <a:bodyPr/>
          <a:lstStyle/>
          <a:p>
            <a:endParaRPr lang="sv-SE" dirty="0"/>
          </a:p>
        </p:txBody>
      </p:sp>
      <p:sp>
        <p:nvSpPr>
          <p:cNvPr id="4" name="Platshållare för bildnummer 3">
            <a:extLst>
              <a:ext uri="{FF2B5EF4-FFF2-40B4-BE49-F238E27FC236}">
                <a16:creationId xmlns:a16="http://schemas.microsoft.com/office/drawing/2014/main" id="{5A33A442-3EF5-6E4A-A95A-9C6FBBCF1470}"/>
              </a:ext>
            </a:extLst>
          </p:cNvPr>
          <p:cNvSpPr>
            <a:spLocks noGrp="1"/>
          </p:cNvSpPr>
          <p:nvPr>
            <p:ph type="sldNum" sz="quarter" idx="11"/>
          </p:nvPr>
        </p:nvSpPr>
        <p:spPr/>
        <p:txBody>
          <a:bodyPr/>
          <a:lstStyle/>
          <a:p>
            <a:pPr>
              <a:defRPr/>
            </a:pPr>
            <a:fld id="{9426A61E-93B8-384D-8975-0A89DB09A550}" type="slidenum">
              <a:rPr lang="sv-SE" smtClean="0"/>
              <a:pPr>
                <a:defRPr/>
              </a:pPr>
              <a:t>‹#›</a:t>
            </a:fld>
            <a:endParaRPr lang="sv-SE" dirty="0"/>
          </a:p>
        </p:txBody>
      </p:sp>
      <p:pic>
        <p:nvPicPr>
          <p:cNvPr id="8" name="Platshållare för bild 6">
            <a:extLst>
              <a:ext uri="{FF2B5EF4-FFF2-40B4-BE49-F238E27FC236}">
                <a16:creationId xmlns:a16="http://schemas.microsoft.com/office/drawing/2014/main" id="{3979AD95-2514-0143-B638-D3478EFA5DB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771550"/>
            <a:ext cx="9144000" cy="2232248"/>
          </a:xfrm>
          <a:prstGeom prst="rect">
            <a:avLst/>
          </a:prstGeom>
        </p:spPr>
      </p:pic>
      <p:sp>
        <p:nvSpPr>
          <p:cNvPr id="9" name="Platshållare för sidfot 5">
            <a:extLst>
              <a:ext uri="{FF2B5EF4-FFF2-40B4-BE49-F238E27FC236}">
                <a16:creationId xmlns:a16="http://schemas.microsoft.com/office/drawing/2014/main" id="{3F9836D6-0B5D-488D-B7E2-E780FD5BB640}"/>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378469278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lutbild Engels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B05F932-23FA-7342-91DB-0289499287E8}"/>
              </a:ext>
            </a:extLst>
          </p:cNvPr>
          <p:cNvSpPr>
            <a:spLocks noGrp="1"/>
          </p:cNvSpPr>
          <p:nvPr>
            <p:ph type="title" hasCustomPrompt="1"/>
          </p:nvPr>
        </p:nvSpPr>
        <p:spPr>
          <a:xfrm>
            <a:off x="684000" y="3327594"/>
            <a:ext cx="7831350" cy="900340"/>
          </a:xfrm>
        </p:spPr>
        <p:txBody>
          <a:bodyPr/>
          <a:lstStyle>
            <a:lvl1pPr algn="ctr">
              <a:defRPr sz="2000" b="1"/>
            </a:lvl1pPr>
          </a:lstStyle>
          <a:p>
            <a:r>
              <a:rPr lang="sv-SE" dirty="0"/>
              <a:t>VISIT OUR WEBSITE</a:t>
            </a:r>
            <a:br>
              <a:rPr lang="sv-SE" dirty="0"/>
            </a:br>
            <a:r>
              <a:rPr lang="sv-SE" dirty="0"/>
              <a:t>https://medicine.gu.se/english/phcm </a:t>
            </a:r>
          </a:p>
        </p:txBody>
      </p:sp>
      <p:sp>
        <p:nvSpPr>
          <p:cNvPr id="3" name="Platshållare för datum 2">
            <a:extLst>
              <a:ext uri="{FF2B5EF4-FFF2-40B4-BE49-F238E27FC236}">
                <a16:creationId xmlns:a16="http://schemas.microsoft.com/office/drawing/2014/main" id="{C972B8B3-D593-4C42-B664-337F7903E793}"/>
              </a:ext>
            </a:extLst>
          </p:cNvPr>
          <p:cNvSpPr>
            <a:spLocks noGrp="1"/>
          </p:cNvSpPr>
          <p:nvPr>
            <p:ph type="dt" sz="half" idx="10"/>
          </p:nvPr>
        </p:nvSpPr>
        <p:spPr/>
        <p:txBody>
          <a:bodyPr/>
          <a:lstStyle/>
          <a:p>
            <a:endParaRPr lang="sv-SE" dirty="0"/>
          </a:p>
        </p:txBody>
      </p:sp>
      <p:sp>
        <p:nvSpPr>
          <p:cNvPr id="4" name="Platshållare för bildnummer 3">
            <a:extLst>
              <a:ext uri="{FF2B5EF4-FFF2-40B4-BE49-F238E27FC236}">
                <a16:creationId xmlns:a16="http://schemas.microsoft.com/office/drawing/2014/main" id="{5A33A442-3EF5-6E4A-A95A-9C6FBBCF1470}"/>
              </a:ext>
            </a:extLst>
          </p:cNvPr>
          <p:cNvSpPr>
            <a:spLocks noGrp="1"/>
          </p:cNvSpPr>
          <p:nvPr>
            <p:ph type="sldNum" sz="quarter" idx="11"/>
          </p:nvPr>
        </p:nvSpPr>
        <p:spPr/>
        <p:txBody>
          <a:bodyPr/>
          <a:lstStyle/>
          <a:p>
            <a:pPr>
              <a:defRPr/>
            </a:pPr>
            <a:fld id="{9426A61E-93B8-384D-8975-0A89DB09A550}" type="slidenum">
              <a:rPr lang="sv-SE" smtClean="0"/>
              <a:pPr>
                <a:defRPr/>
              </a:pPr>
              <a:t>‹#›</a:t>
            </a:fld>
            <a:endParaRPr lang="sv-SE" dirty="0"/>
          </a:p>
        </p:txBody>
      </p:sp>
      <p:pic>
        <p:nvPicPr>
          <p:cNvPr id="9" name="Bildobjekt 8">
            <a:extLst>
              <a:ext uri="{FF2B5EF4-FFF2-40B4-BE49-F238E27FC236}">
                <a16:creationId xmlns:a16="http://schemas.microsoft.com/office/drawing/2014/main" id="{386AC678-6792-B54C-A504-25691C53F8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555526"/>
            <a:ext cx="9144000" cy="2448272"/>
          </a:xfrm>
          <a:prstGeom prst="rect">
            <a:avLst/>
          </a:prstGeom>
        </p:spPr>
      </p:pic>
      <p:sp>
        <p:nvSpPr>
          <p:cNvPr id="10" name="Platshållare för sidfot 5">
            <a:extLst>
              <a:ext uri="{FF2B5EF4-FFF2-40B4-BE49-F238E27FC236}">
                <a16:creationId xmlns:a16="http://schemas.microsoft.com/office/drawing/2014/main" id="{626719E7-2B4D-4280-918B-7BA187DA65C7}"/>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175492356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Rubrik, text och innehåll">
    <p:spTree>
      <p:nvGrpSpPr>
        <p:cNvPr id="1" name=""/>
        <p:cNvGrpSpPr/>
        <p:nvPr/>
      </p:nvGrpSpPr>
      <p:grpSpPr>
        <a:xfrm>
          <a:off x="0" y="0"/>
          <a:ext cx="0" cy="0"/>
          <a:chOff x="0" y="0"/>
          <a:chExt cx="0" cy="0"/>
        </a:xfrm>
      </p:grpSpPr>
      <p:sp>
        <p:nvSpPr>
          <p:cNvPr id="2" name="Rubrik 1"/>
          <p:cNvSpPr>
            <a:spLocks noGrp="1"/>
          </p:cNvSpPr>
          <p:nvPr>
            <p:ph type="title"/>
          </p:nvPr>
        </p:nvSpPr>
        <p:spPr>
          <a:xfrm>
            <a:off x="457200" y="205979"/>
            <a:ext cx="8229600" cy="857250"/>
          </a:xfrm>
        </p:spPr>
        <p:txBody>
          <a:bodyPr/>
          <a:lstStyle/>
          <a:p>
            <a:r>
              <a:rPr lang="sv-SE" dirty="0"/>
              <a:t>Klicka här för att ändra format</a:t>
            </a:r>
          </a:p>
        </p:txBody>
      </p:sp>
      <p:sp>
        <p:nvSpPr>
          <p:cNvPr id="3" name="Platshållare för text 2"/>
          <p:cNvSpPr>
            <a:spLocks noGrp="1"/>
          </p:cNvSpPr>
          <p:nvPr>
            <p:ph type="body" sz="half" idx="1"/>
          </p:nvPr>
        </p:nvSpPr>
        <p:spPr>
          <a:xfrm>
            <a:off x="457200" y="1200151"/>
            <a:ext cx="4038600" cy="3394472"/>
          </a:xfrm>
        </p:spPr>
        <p:txBody>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innehåll 3"/>
          <p:cNvSpPr>
            <a:spLocks noGrp="1"/>
          </p:cNvSpPr>
          <p:nvPr>
            <p:ph sz="half" idx="2"/>
          </p:nvPr>
        </p:nvSpPr>
        <p:spPr>
          <a:xfrm>
            <a:off x="4648200" y="1200151"/>
            <a:ext cx="4038600" cy="3394472"/>
          </a:xfrm>
        </p:spPr>
        <p:txBody>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5" name="Platshållare för datum 4"/>
          <p:cNvSpPr>
            <a:spLocks noGrp="1"/>
          </p:cNvSpPr>
          <p:nvPr>
            <p:ph type="dt" sz="half" idx="10"/>
          </p:nvPr>
        </p:nvSpPr>
        <p:spPr>
          <a:xfrm>
            <a:off x="6575174" y="4688569"/>
            <a:ext cx="2133600" cy="357188"/>
          </a:xfrm>
          <a:prstGeom prst="rect">
            <a:avLst/>
          </a:prstGeom>
        </p:spPr>
        <p:txBody>
          <a:bodyPr/>
          <a:lstStyle>
            <a:lvl1pPr>
              <a:defRPr/>
            </a:lvl1pPr>
          </a:lstStyle>
          <a:p>
            <a:pPr>
              <a:defRPr/>
            </a:pPr>
            <a:endParaRPr lang="sv-SE"/>
          </a:p>
        </p:txBody>
      </p:sp>
      <p:sp>
        <p:nvSpPr>
          <p:cNvPr id="6" name="Platshållare för sidfot 5"/>
          <p:cNvSpPr>
            <a:spLocks noGrp="1"/>
          </p:cNvSpPr>
          <p:nvPr>
            <p:ph type="ftr" sz="quarter" idx="11"/>
          </p:nvPr>
        </p:nvSpPr>
        <p:spPr>
          <a:xfrm>
            <a:off x="3124200" y="4683919"/>
            <a:ext cx="2895600" cy="357188"/>
          </a:xfrm>
          <a:prstGeom prst="rect">
            <a:avLst/>
          </a:prstGeom>
        </p:spPr>
        <p:txBody>
          <a:bodyPr/>
          <a:lstStyle>
            <a:lvl1pPr>
              <a:defRPr/>
            </a:lvl1pPr>
          </a:lstStyle>
          <a:p>
            <a:pPr>
              <a:defRPr/>
            </a:pPr>
            <a:endParaRPr lang="sv-SE"/>
          </a:p>
        </p:txBody>
      </p:sp>
      <p:sp>
        <p:nvSpPr>
          <p:cNvPr id="7" name="Platshållare för bildnummer 6"/>
          <p:cNvSpPr>
            <a:spLocks noGrp="1"/>
          </p:cNvSpPr>
          <p:nvPr>
            <p:ph type="sldNum" sz="quarter" idx="12"/>
          </p:nvPr>
        </p:nvSpPr>
        <p:spPr>
          <a:xfrm>
            <a:off x="6553200" y="4683919"/>
            <a:ext cx="2133600" cy="357188"/>
          </a:xfrm>
          <a:prstGeom prst="rect">
            <a:avLst/>
          </a:prstGeom>
        </p:spPr>
        <p:txBody>
          <a:bodyPr/>
          <a:lstStyle>
            <a:lvl1pPr>
              <a:defRPr/>
            </a:lvl1pPr>
          </a:lstStyle>
          <a:p>
            <a:fld id="{C43CB5D5-8B3B-4D81-B38D-9EC0F28CE4B2}" type="slidenum">
              <a:rPr lang="sv-SE"/>
              <a:pPr/>
              <a:t>‹#›</a:t>
            </a:fld>
            <a:endParaRPr lang="sv-SE"/>
          </a:p>
        </p:txBody>
      </p:sp>
    </p:spTree>
    <p:extLst>
      <p:ext uri="{BB962C8B-B14F-4D97-AF65-F5344CB8AC3E}">
        <p14:creationId xmlns:p14="http://schemas.microsoft.com/office/powerpoint/2010/main" val="25793770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tartsida A">
    <p:spTree>
      <p:nvGrpSpPr>
        <p:cNvPr id="1" name=""/>
        <p:cNvGrpSpPr/>
        <p:nvPr/>
      </p:nvGrpSpPr>
      <p:grpSpPr>
        <a:xfrm>
          <a:off x="0" y="0"/>
          <a:ext cx="0" cy="0"/>
          <a:chOff x="0" y="0"/>
          <a:chExt cx="0" cy="0"/>
        </a:xfrm>
      </p:grpSpPr>
      <p:sp>
        <p:nvSpPr>
          <p:cNvPr id="2" name="Rubrik 1"/>
          <p:cNvSpPr>
            <a:spLocks noGrp="1"/>
          </p:cNvSpPr>
          <p:nvPr>
            <p:ph type="ctrTitle"/>
          </p:nvPr>
        </p:nvSpPr>
        <p:spPr>
          <a:xfrm>
            <a:off x="684000" y="1706400"/>
            <a:ext cx="7920000" cy="857250"/>
          </a:xfrm>
        </p:spPr>
        <p:txBody>
          <a:bodyPr anchorCtr="0"/>
          <a:lstStyle>
            <a:lvl1pPr algn="l">
              <a:defRPr sz="2700" b="1" i="0" cap="all" baseline="0">
                <a:solidFill>
                  <a:schemeClr val="tx1"/>
                </a:solidFill>
                <a:latin typeface="+mj-lt"/>
              </a:defRPr>
            </a:lvl1pPr>
          </a:lstStyle>
          <a:p>
            <a:r>
              <a:rPr lang="sv-SE" dirty="0"/>
              <a:t>Klicka här för att ändra format</a:t>
            </a:r>
          </a:p>
        </p:txBody>
      </p:sp>
      <p:sp>
        <p:nvSpPr>
          <p:cNvPr id="13" name="Platshållare för text 12"/>
          <p:cNvSpPr>
            <a:spLocks noGrp="1"/>
          </p:cNvSpPr>
          <p:nvPr>
            <p:ph type="body" sz="quarter" idx="14" hasCustomPrompt="1"/>
          </p:nvPr>
        </p:nvSpPr>
        <p:spPr>
          <a:xfrm>
            <a:off x="684000" y="4515817"/>
            <a:ext cx="7920000" cy="162167"/>
          </a:xfrm>
        </p:spPr>
        <p:txBody>
          <a:bodyPr tIns="0" bIns="0" anchor="ctr"/>
          <a:lstStyle>
            <a:lvl1pPr marL="0" indent="0">
              <a:lnSpc>
                <a:spcPct val="100000"/>
              </a:lnSpc>
              <a:spcBef>
                <a:spcPts val="0"/>
              </a:spcBef>
              <a:buFontTx/>
              <a:buNone/>
              <a:defRPr sz="900" b="0" i="0" cap="all" baseline="0">
                <a:latin typeface="+mj-lt"/>
              </a:defRPr>
            </a:lvl1pPr>
          </a:lstStyle>
          <a:p>
            <a:r>
              <a:rPr lang="en-US" sz="900" b="1" dirty="0">
                <a:latin typeface="Times New Roman" panose="02020603050405020304" pitchFamily="18" charset="0"/>
                <a:cs typeface="Times New Roman" panose="02020603050405020304" pitchFamily="18" charset="0"/>
              </a:rPr>
              <a:t>Adnan </a:t>
            </a:r>
            <a:r>
              <a:rPr lang="en-US" sz="900" b="1" dirty="0" err="1">
                <a:latin typeface="Times New Roman" panose="02020603050405020304" pitchFamily="18" charset="0"/>
                <a:cs typeface="Times New Roman" panose="02020603050405020304" pitchFamily="18" charset="0"/>
              </a:rPr>
              <a:t>noor</a:t>
            </a:r>
            <a:r>
              <a:rPr lang="en-US" sz="900" b="1" dirty="0">
                <a:latin typeface="Times New Roman" panose="02020603050405020304" pitchFamily="18" charset="0"/>
                <a:cs typeface="Times New Roman" panose="02020603050405020304" pitchFamily="18" charset="0"/>
              </a:rPr>
              <a:t> Baloch, School of Public Health &amp; Community medicine at </a:t>
            </a:r>
            <a:r>
              <a:rPr lang="en-US" sz="900" b="1" dirty="0" err="1">
                <a:latin typeface="Times New Roman" panose="02020603050405020304" pitchFamily="18" charset="0"/>
                <a:cs typeface="Times New Roman" panose="02020603050405020304" pitchFamily="18" charset="0"/>
              </a:rPr>
              <a:t>Sahlgrenska</a:t>
            </a:r>
            <a:r>
              <a:rPr lang="en-US" sz="900" b="1" dirty="0">
                <a:latin typeface="Times New Roman" panose="02020603050405020304" pitchFamily="18" charset="0"/>
                <a:cs typeface="Times New Roman" panose="02020603050405020304" pitchFamily="18" charset="0"/>
              </a:rPr>
              <a:t> Academy</a:t>
            </a:r>
          </a:p>
        </p:txBody>
      </p:sp>
      <p:sp>
        <p:nvSpPr>
          <p:cNvPr id="4" name="Platshållare för bildnummer 3"/>
          <p:cNvSpPr>
            <a:spLocks noGrp="1"/>
          </p:cNvSpPr>
          <p:nvPr>
            <p:ph type="sldNum" sz="quarter" idx="16"/>
          </p:nvPr>
        </p:nvSpPr>
        <p:spPr/>
        <p:txBody>
          <a:bodyPr/>
          <a:lstStyle>
            <a:lvl1pPr>
              <a:defRPr sz="1050" b="1">
                <a:latin typeface="+mn-lt"/>
              </a:defRPr>
            </a:lvl1pPr>
          </a:lstStyle>
          <a:p>
            <a:pPr>
              <a:defRPr/>
            </a:pPr>
            <a:fld id="{9426A61E-93B8-384D-8975-0A89DB09A550}" type="slidenum">
              <a:rPr lang="sv-SE" smtClean="0"/>
              <a:pPr>
                <a:defRPr/>
              </a:pPr>
              <a:t>‹#›</a:t>
            </a:fld>
            <a:endParaRPr lang="sv-SE" dirty="0"/>
          </a:p>
        </p:txBody>
      </p:sp>
      <p:sp>
        <p:nvSpPr>
          <p:cNvPr id="3" name="Date Placeholder 2"/>
          <p:cNvSpPr>
            <a:spLocks noGrp="1"/>
          </p:cNvSpPr>
          <p:nvPr>
            <p:ph type="dt" sz="half" idx="18"/>
          </p:nvPr>
        </p:nvSpPr>
        <p:spPr/>
        <p:txBody>
          <a:bodyPr/>
          <a:lstStyle>
            <a:lvl1pPr>
              <a:defRPr>
                <a:latin typeface="+mn-lt"/>
              </a:defRPr>
            </a:lvl1pPr>
          </a:lstStyle>
          <a:p>
            <a:endParaRPr lang="sv-SE" dirty="0"/>
          </a:p>
        </p:txBody>
      </p:sp>
      <p:sp>
        <p:nvSpPr>
          <p:cNvPr id="10" name="Platshållare för sidfot 5">
            <a:extLst>
              <a:ext uri="{FF2B5EF4-FFF2-40B4-BE49-F238E27FC236}">
                <a16:creationId xmlns:a16="http://schemas.microsoft.com/office/drawing/2014/main" id="{F033C353-9720-4091-8AE9-F9FBA6BB8B54}"/>
              </a:ext>
            </a:extLst>
          </p:cNvPr>
          <p:cNvSpPr>
            <a:spLocks noGrp="1"/>
          </p:cNvSpPr>
          <p:nvPr>
            <p:ph type="ftr" sz="quarter" idx="3"/>
          </p:nvPr>
        </p:nvSpPr>
        <p:spPr>
          <a:xfrm>
            <a:off x="3131840" y="4912250"/>
            <a:ext cx="2520280" cy="230138"/>
          </a:xfrm>
          <a:prstGeom prst="rect">
            <a:avLst/>
          </a:prstGeom>
        </p:spPr>
        <p:txBody>
          <a:bodyPr/>
          <a:lstStyle>
            <a:lvl1pPr algn="l">
              <a:defRPr sz="7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355358965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5_Rubrik och innehåll">
    <p:spTree>
      <p:nvGrpSpPr>
        <p:cNvPr id="1" name=""/>
        <p:cNvGrpSpPr/>
        <p:nvPr/>
      </p:nvGrpSpPr>
      <p:grpSpPr>
        <a:xfrm>
          <a:off x="0" y="0"/>
          <a:ext cx="0" cy="0"/>
          <a:chOff x="0" y="0"/>
          <a:chExt cx="0" cy="0"/>
        </a:xfrm>
      </p:grpSpPr>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pPr>
              <a:defRPr/>
            </a:pPr>
            <a:endParaRPr lang="sv-SE" dirty="0">
              <a:solidFill>
                <a:srgbClr val="000000">
                  <a:tint val="75000"/>
                </a:srgbClr>
              </a:solidFill>
            </a:endParaRPr>
          </a:p>
        </p:txBody>
      </p:sp>
      <p:sp>
        <p:nvSpPr>
          <p:cNvPr id="6" name="Platshållare för bildnummer 5"/>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a:t>
            </a:fld>
            <a:endParaRPr lang="sv-SE" dirty="0">
              <a:solidFill>
                <a:srgbClr val="000000">
                  <a:tint val="75000"/>
                </a:srgbClr>
              </a:solidFill>
            </a:endParaRPr>
          </a:p>
        </p:txBody>
      </p:sp>
      <p:sp>
        <p:nvSpPr>
          <p:cNvPr id="5" name="Platshållare för sidfot 5">
            <a:extLst>
              <a:ext uri="{FF2B5EF4-FFF2-40B4-BE49-F238E27FC236}">
                <a16:creationId xmlns:a16="http://schemas.microsoft.com/office/drawing/2014/main" id="{AB84B7A5-4FED-4DEF-9688-6DB5643741F4}"/>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13073862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81_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Klicka här för att ändra format</a:t>
            </a:r>
          </a:p>
        </p:txBody>
      </p:sp>
      <p:sp>
        <p:nvSpPr>
          <p:cNvPr id="3" name="Platshållare för innehåll 2"/>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pPr>
              <a:defRPr/>
            </a:pPr>
            <a:endParaRPr lang="sv-SE"/>
          </a:p>
        </p:txBody>
      </p:sp>
      <p:sp>
        <p:nvSpPr>
          <p:cNvPr id="6" name="Platshållare för bildnummer 5"/>
          <p:cNvSpPr>
            <a:spLocks noGrp="1"/>
          </p:cNvSpPr>
          <p:nvPr>
            <p:ph type="sldNum" sz="quarter" idx="12"/>
          </p:nvPr>
        </p:nvSpPr>
        <p:spPr/>
        <p:txBody>
          <a:bodyPr/>
          <a:lstStyle/>
          <a:p>
            <a:pPr>
              <a:defRPr/>
            </a:pPr>
            <a:fld id="{143F5C80-4ED5-4C7B-9E1A-5093DBFB213F}" type="slidenum">
              <a:rPr lang="sv-SE" smtClean="0"/>
              <a:pPr>
                <a:defRPr/>
              </a:pPr>
              <a:t>‹#›</a:t>
            </a:fld>
            <a:endParaRPr lang="sv-SE"/>
          </a:p>
        </p:txBody>
      </p:sp>
      <p:sp>
        <p:nvSpPr>
          <p:cNvPr id="7" name="Platshållare för sidfot 5">
            <a:extLst>
              <a:ext uri="{FF2B5EF4-FFF2-40B4-BE49-F238E27FC236}">
                <a16:creationId xmlns:a16="http://schemas.microsoft.com/office/drawing/2014/main" id="{4A896577-8E15-4457-A2EC-961F45A4F592}"/>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30110692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cSld name="Tom">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894339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Rubrik och innehåll">
    <p:spTree>
      <p:nvGrpSpPr>
        <p:cNvPr id="1" name=""/>
        <p:cNvGrpSpPr/>
        <p:nvPr/>
      </p:nvGrpSpPr>
      <p:grpSpPr>
        <a:xfrm>
          <a:off x="0" y="0"/>
          <a:ext cx="0" cy="0"/>
          <a:chOff x="0" y="0"/>
          <a:chExt cx="0" cy="0"/>
        </a:xfrm>
      </p:grpSpPr>
      <p:sp>
        <p:nvSpPr>
          <p:cNvPr id="6" name="Rubrik 5"/>
          <p:cNvSpPr>
            <a:spLocks noGrp="1"/>
          </p:cNvSpPr>
          <p:nvPr>
            <p:ph type="title" hasCustomPrompt="1"/>
          </p:nvPr>
        </p:nvSpPr>
        <p:spPr/>
        <p:txBody>
          <a:bodyPr/>
          <a:lstStyle/>
          <a:p>
            <a:r>
              <a:rPr lang="en-US" noProof="0" dirty="0"/>
              <a:t>Click to add title</a:t>
            </a:r>
            <a:endParaRPr lang="sv-SE" dirty="0"/>
          </a:p>
        </p:txBody>
      </p:sp>
      <p:sp>
        <p:nvSpPr>
          <p:cNvPr id="7" name="Platshållare för innehåll 2"/>
          <p:cNvSpPr>
            <a:spLocks noGrp="1"/>
          </p:cNvSpPr>
          <p:nvPr>
            <p:ph sz="quarter" idx="12" hasCustomPrompt="1"/>
          </p:nvPr>
        </p:nvSpPr>
        <p:spPr>
          <a:xfrm>
            <a:off x="684001" y="1763100"/>
            <a:ext cx="7488237" cy="2862263"/>
          </a:xfrm>
        </p:spPr>
        <p:txBody>
          <a:bodyPr/>
          <a:lstStyle>
            <a:lvl1pPr marL="162000" indent="-162000">
              <a:defRPr>
                <a:latin typeface="+mn-lt"/>
              </a:defRPr>
            </a:lvl1pPr>
            <a:lvl2pPr marL="324000" indent="-162000">
              <a:defRPr>
                <a:latin typeface="+mn-lt"/>
              </a:defRPr>
            </a:lvl2pPr>
            <a:lvl3pPr marL="486000" indent="-162000">
              <a:defRPr>
                <a:latin typeface="+mn-lt"/>
              </a:defRPr>
            </a:lvl3pPr>
            <a:lvl4pPr marL="648000" indent="-162000">
              <a:defRPr>
                <a:latin typeface="+mn-lt"/>
              </a:defRPr>
            </a:lvl4pPr>
            <a:lvl5pPr marL="810000" indent="-162000">
              <a:defRPr>
                <a:latin typeface="+mn-lt"/>
              </a:defRPr>
            </a:lvl5pPr>
          </a:lstStyle>
          <a:p>
            <a:pPr marL="162000" lvl="0" indent="-162000"/>
            <a:r>
              <a:rPr lang="en-US" noProof="0" dirty="0"/>
              <a:t>Type your text or click on the icons below to insert object</a:t>
            </a:r>
          </a:p>
          <a:p>
            <a:pPr marL="324000" lvl="1" indent="-162000"/>
            <a:r>
              <a:rPr lang="en-US" noProof="0" dirty="0"/>
              <a:t>Second level</a:t>
            </a:r>
          </a:p>
          <a:p>
            <a:pPr marL="486000" lvl="2" indent="-162000"/>
            <a:r>
              <a:rPr lang="en-US" noProof="0" dirty="0"/>
              <a:t>Third level</a:t>
            </a:r>
          </a:p>
          <a:p>
            <a:pPr marL="648000" lvl="3" indent="-162000"/>
            <a:r>
              <a:rPr lang="en-US" noProof="0" dirty="0"/>
              <a:t>Fourth level</a:t>
            </a:r>
          </a:p>
          <a:p>
            <a:pPr marL="810000" lvl="4" indent="-162000"/>
            <a:r>
              <a:rPr lang="en-US" noProof="0" dirty="0"/>
              <a:t>Fifth level</a:t>
            </a:r>
          </a:p>
        </p:txBody>
      </p:sp>
      <p:sp>
        <p:nvSpPr>
          <p:cNvPr id="3" name="Platshållare för bildnummer 2"/>
          <p:cNvSpPr>
            <a:spLocks noGrp="1"/>
          </p:cNvSpPr>
          <p:nvPr>
            <p:ph type="sldNum" sz="quarter" idx="10"/>
          </p:nvPr>
        </p:nvSpPr>
        <p:spPr/>
        <p:txBody>
          <a:bodyPr/>
          <a:lstStyle/>
          <a:p>
            <a:pPr>
              <a:defRPr/>
            </a:pPr>
            <a:fld id="{9426A61E-93B8-384D-8975-0A89DB09A550}" type="slidenum">
              <a:rPr lang="sv-SE" smtClean="0"/>
              <a:pPr>
                <a:defRPr/>
              </a:pPr>
              <a:t>‹#›</a:t>
            </a:fld>
            <a:endParaRPr lang="sv-SE" dirty="0"/>
          </a:p>
        </p:txBody>
      </p:sp>
      <p:sp>
        <p:nvSpPr>
          <p:cNvPr id="8" name="Platshållare för sidfot 5">
            <a:extLst>
              <a:ext uri="{FF2B5EF4-FFF2-40B4-BE49-F238E27FC236}">
                <a16:creationId xmlns:a16="http://schemas.microsoft.com/office/drawing/2014/main" id="{87D3FAA6-D53B-404E-81B2-5CB6124E0022}"/>
              </a:ext>
            </a:extLst>
          </p:cNvPr>
          <p:cNvSpPr>
            <a:spLocks noGrp="1"/>
          </p:cNvSpPr>
          <p:nvPr>
            <p:ph type="ftr" sz="quarter" idx="3"/>
          </p:nvPr>
        </p:nvSpPr>
        <p:spPr>
          <a:xfrm>
            <a:off x="2339752" y="4912250"/>
            <a:ext cx="4415848" cy="230138"/>
          </a:xfrm>
          <a:prstGeom prst="rect">
            <a:avLst/>
          </a:prstGeom>
        </p:spPr>
        <p:txBody>
          <a:bodyPr/>
          <a:lstStyle>
            <a:lvl1pPr algn="l">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375871390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vå delar">
    <p:spTree>
      <p:nvGrpSpPr>
        <p:cNvPr id="1" name=""/>
        <p:cNvGrpSpPr/>
        <p:nvPr/>
      </p:nvGrpSpPr>
      <p:grpSpPr>
        <a:xfrm>
          <a:off x="0" y="0"/>
          <a:ext cx="0" cy="0"/>
          <a:chOff x="0" y="0"/>
          <a:chExt cx="0" cy="0"/>
        </a:xfrm>
      </p:grpSpPr>
      <p:sp>
        <p:nvSpPr>
          <p:cNvPr id="6" name="Rubrik 5"/>
          <p:cNvSpPr>
            <a:spLocks noGrp="1"/>
          </p:cNvSpPr>
          <p:nvPr>
            <p:ph type="title" hasCustomPrompt="1"/>
          </p:nvPr>
        </p:nvSpPr>
        <p:spPr/>
        <p:txBody>
          <a:bodyPr/>
          <a:lstStyle/>
          <a:p>
            <a:r>
              <a:rPr lang="en-US" noProof="0" dirty="0"/>
              <a:t>Click to add title</a:t>
            </a:r>
            <a:endParaRPr lang="sv-SE" dirty="0"/>
          </a:p>
        </p:txBody>
      </p:sp>
      <p:sp>
        <p:nvSpPr>
          <p:cNvPr id="7" name="Platshållare för innehåll 2"/>
          <p:cNvSpPr>
            <a:spLocks noGrp="1"/>
          </p:cNvSpPr>
          <p:nvPr>
            <p:ph sz="quarter" idx="12" hasCustomPrompt="1"/>
          </p:nvPr>
        </p:nvSpPr>
        <p:spPr>
          <a:xfrm>
            <a:off x="684000" y="1763100"/>
            <a:ext cx="3816000" cy="2916000"/>
          </a:xfrm>
        </p:spPr>
        <p:txBody>
          <a:bodyPr/>
          <a:lstStyle>
            <a:lvl1pPr marL="162000" indent="-162000">
              <a:defRPr>
                <a:latin typeface="+mn-lt"/>
              </a:defRPr>
            </a:lvl1pPr>
            <a:lvl2pPr marL="324000" indent="-162000">
              <a:defRPr>
                <a:latin typeface="+mn-lt"/>
              </a:defRPr>
            </a:lvl2pPr>
            <a:lvl3pPr marL="486000" indent="-162000">
              <a:defRPr>
                <a:latin typeface="+mn-lt"/>
              </a:defRPr>
            </a:lvl3pPr>
            <a:lvl4pPr marL="648000" indent="-162000">
              <a:defRPr>
                <a:latin typeface="+mn-lt"/>
              </a:defRPr>
            </a:lvl4pPr>
            <a:lvl5pPr marL="810000" indent="-162000">
              <a:defRPr>
                <a:latin typeface="+mn-lt"/>
              </a:defRPr>
            </a:lvl5pPr>
          </a:lstStyle>
          <a:p>
            <a:pPr marL="162000" lvl="0" indent="-162000"/>
            <a:r>
              <a:rPr lang="en-US" noProof="0" dirty="0"/>
              <a:t>Type your text or click on the icons below to insert object</a:t>
            </a:r>
          </a:p>
          <a:p>
            <a:pPr marL="324000" lvl="1" indent="-162000"/>
            <a:r>
              <a:rPr lang="en-US" noProof="0" dirty="0"/>
              <a:t>Second level</a:t>
            </a:r>
          </a:p>
          <a:p>
            <a:pPr marL="486000" lvl="2" indent="-162000"/>
            <a:r>
              <a:rPr lang="en-US" noProof="0" dirty="0"/>
              <a:t>Third level</a:t>
            </a:r>
          </a:p>
          <a:p>
            <a:pPr marL="648000" lvl="3" indent="-162000"/>
            <a:r>
              <a:rPr lang="en-US" noProof="0" dirty="0"/>
              <a:t>Fourth level</a:t>
            </a:r>
          </a:p>
          <a:p>
            <a:pPr marL="810000" lvl="4" indent="-162000"/>
            <a:r>
              <a:rPr lang="en-US" noProof="0" dirty="0"/>
              <a:t>Fifth level</a:t>
            </a:r>
          </a:p>
        </p:txBody>
      </p:sp>
      <p:sp>
        <p:nvSpPr>
          <p:cNvPr id="8" name="Platshållare för innehåll 3"/>
          <p:cNvSpPr>
            <a:spLocks noGrp="1"/>
          </p:cNvSpPr>
          <p:nvPr>
            <p:ph sz="quarter" idx="13" hasCustomPrompt="1"/>
          </p:nvPr>
        </p:nvSpPr>
        <p:spPr>
          <a:xfrm>
            <a:off x="4788448" y="1763100"/>
            <a:ext cx="3816000" cy="2916000"/>
          </a:xfrm>
        </p:spPr>
        <p:txBody>
          <a:bodyPr/>
          <a:lstStyle>
            <a:lvl1pPr marL="162000" indent="-162000">
              <a:defRPr>
                <a:latin typeface="+mn-lt"/>
              </a:defRPr>
            </a:lvl1pPr>
            <a:lvl2pPr marL="324000" indent="-162000">
              <a:defRPr>
                <a:latin typeface="+mn-lt"/>
              </a:defRPr>
            </a:lvl2pPr>
            <a:lvl3pPr marL="486000" indent="-162000">
              <a:defRPr>
                <a:latin typeface="+mn-lt"/>
              </a:defRPr>
            </a:lvl3pPr>
            <a:lvl4pPr marL="648000" indent="-162000">
              <a:defRPr>
                <a:latin typeface="+mn-lt"/>
              </a:defRPr>
            </a:lvl4pPr>
            <a:lvl5pPr marL="810000" indent="-162000">
              <a:defRPr>
                <a:latin typeface="+mn-lt"/>
              </a:defRPr>
            </a:lvl5pPr>
          </a:lstStyle>
          <a:p>
            <a:pPr marL="162000" lvl="0" indent="-162000"/>
            <a:r>
              <a:rPr lang="en-US" noProof="0" dirty="0"/>
              <a:t>Type your text or click on the icons below to insert object</a:t>
            </a:r>
          </a:p>
          <a:p>
            <a:pPr marL="324000" lvl="1" indent="-162000"/>
            <a:r>
              <a:rPr lang="en-US" noProof="0" dirty="0"/>
              <a:t>Second level</a:t>
            </a:r>
          </a:p>
          <a:p>
            <a:pPr marL="486000" lvl="2" indent="-162000"/>
            <a:r>
              <a:rPr lang="en-US" noProof="0" dirty="0"/>
              <a:t>Third level</a:t>
            </a:r>
          </a:p>
          <a:p>
            <a:pPr marL="648000" lvl="3" indent="-162000"/>
            <a:r>
              <a:rPr lang="en-US" noProof="0" dirty="0"/>
              <a:t>Fourth level</a:t>
            </a:r>
          </a:p>
          <a:p>
            <a:pPr marL="810000" lvl="4" indent="-162000"/>
            <a:r>
              <a:rPr lang="en-US" noProof="0" dirty="0"/>
              <a:t>Fifth level</a:t>
            </a:r>
          </a:p>
        </p:txBody>
      </p:sp>
      <p:sp>
        <p:nvSpPr>
          <p:cNvPr id="3" name="Platshållare för bildnummer 2"/>
          <p:cNvSpPr>
            <a:spLocks noGrp="1"/>
          </p:cNvSpPr>
          <p:nvPr>
            <p:ph type="sldNum" sz="quarter" idx="10"/>
          </p:nvPr>
        </p:nvSpPr>
        <p:spPr/>
        <p:txBody>
          <a:bodyPr/>
          <a:lstStyle/>
          <a:p>
            <a:pPr>
              <a:defRPr/>
            </a:pPr>
            <a:fld id="{9426A61E-93B8-384D-8975-0A89DB09A550}" type="slidenum">
              <a:rPr lang="sv-SE" smtClean="0"/>
              <a:pPr>
                <a:defRPr/>
              </a:pPr>
              <a:t>‹#›</a:t>
            </a:fld>
            <a:endParaRPr lang="sv-SE" dirty="0"/>
          </a:p>
        </p:txBody>
      </p:sp>
      <p:sp>
        <p:nvSpPr>
          <p:cNvPr id="9" name="Platshållare för sidfot 5">
            <a:extLst>
              <a:ext uri="{FF2B5EF4-FFF2-40B4-BE49-F238E27FC236}">
                <a16:creationId xmlns:a16="http://schemas.microsoft.com/office/drawing/2014/main" id="{ABFC225D-4D99-4F4E-BB25-090DEA566AA0}"/>
              </a:ext>
            </a:extLst>
          </p:cNvPr>
          <p:cNvSpPr>
            <a:spLocks noGrp="1"/>
          </p:cNvSpPr>
          <p:nvPr>
            <p:ph type="ftr" sz="quarter" idx="3"/>
          </p:nvPr>
        </p:nvSpPr>
        <p:spPr>
          <a:xfrm>
            <a:off x="2339752" y="4912250"/>
            <a:ext cx="4415848" cy="230138"/>
          </a:xfrm>
          <a:prstGeom prst="rect">
            <a:avLst/>
          </a:prstGeom>
        </p:spPr>
        <p:txBody>
          <a:bodyPr/>
          <a:lstStyle>
            <a:lvl1pPr algn="l">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237943147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a:t>Klicka här för att ändra format</a:t>
            </a:r>
          </a:p>
        </p:txBody>
      </p:sp>
      <p:sp>
        <p:nvSpPr>
          <p:cNvPr id="3" name="Platshållare för datum 2"/>
          <p:cNvSpPr>
            <a:spLocks noGrp="1"/>
          </p:cNvSpPr>
          <p:nvPr>
            <p:ph type="dt" sz="half" idx="10"/>
          </p:nvPr>
        </p:nvSpPr>
        <p:spPr/>
        <p:txBody>
          <a:bodyPr/>
          <a:lstStyle/>
          <a:p>
            <a:pPr>
              <a:defRPr/>
            </a:pPr>
            <a:endParaRPr lang="sv-SE" dirty="0"/>
          </a:p>
        </p:txBody>
      </p:sp>
      <p:sp>
        <p:nvSpPr>
          <p:cNvPr id="5" name="Platshållare för bildnummer 4"/>
          <p:cNvSpPr>
            <a:spLocks noGrp="1"/>
          </p:cNvSpPr>
          <p:nvPr>
            <p:ph type="sldNum" sz="quarter" idx="12"/>
          </p:nvPr>
        </p:nvSpPr>
        <p:spPr/>
        <p:txBody>
          <a:bodyPr/>
          <a:lstStyle/>
          <a:p>
            <a:pPr>
              <a:defRPr/>
            </a:pPr>
            <a:fld id="{A443348F-E404-4279-95C8-589D5626F77D}" type="slidenum">
              <a:rPr lang="sv-SE" smtClean="0"/>
              <a:pPr>
                <a:defRPr/>
              </a:pPr>
              <a:t>‹#›</a:t>
            </a:fld>
            <a:endParaRPr lang="sv-SE" dirty="0"/>
          </a:p>
        </p:txBody>
      </p:sp>
      <p:sp>
        <p:nvSpPr>
          <p:cNvPr id="6" name="Platshållare för sidfot 5">
            <a:extLst>
              <a:ext uri="{FF2B5EF4-FFF2-40B4-BE49-F238E27FC236}">
                <a16:creationId xmlns:a16="http://schemas.microsoft.com/office/drawing/2014/main" id="{BF18158B-5305-460F-88A2-C6C58E32A4CA}"/>
              </a:ext>
            </a:extLst>
          </p:cNvPr>
          <p:cNvSpPr>
            <a:spLocks noGrp="1"/>
          </p:cNvSpPr>
          <p:nvPr>
            <p:ph type="ftr" sz="quarter" idx="3"/>
          </p:nvPr>
        </p:nvSpPr>
        <p:spPr>
          <a:xfrm>
            <a:off x="2339752" y="4912250"/>
            <a:ext cx="4415848" cy="230138"/>
          </a:xfrm>
          <a:prstGeom prst="rect">
            <a:avLst/>
          </a:prstGeom>
        </p:spPr>
        <p:txBody>
          <a:bodyPr/>
          <a:lstStyle>
            <a:lvl1pPr algn="l">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14940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722313" y="3305176"/>
            <a:ext cx="7772400" cy="1021556"/>
          </a:xfrm>
        </p:spPr>
        <p:txBody>
          <a:bodyPr anchor="t"/>
          <a:lstStyle>
            <a:lvl1pPr algn="l">
              <a:defRPr sz="3000" b="1" cap="all"/>
            </a:lvl1pPr>
          </a:lstStyle>
          <a:p>
            <a:r>
              <a:rPr lang="sv-SE" dirty="0"/>
              <a:t>Klicka här för att ändra format</a:t>
            </a:r>
          </a:p>
        </p:txBody>
      </p:sp>
      <p:sp>
        <p:nvSpPr>
          <p:cNvPr id="3" name="Platshållare för text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endParaRPr lang="sv-SE" dirty="0"/>
          </a:p>
        </p:txBody>
      </p:sp>
      <p:sp>
        <p:nvSpPr>
          <p:cNvPr id="6" name="Platshållare för bildnummer 5"/>
          <p:cNvSpPr>
            <a:spLocks noGrp="1"/>
          </p:cNvSpPr>
          <p:nvPr>
            <p:ph type="sldNum" sz="quarter" idx="12"/>
          </p:nvPr>
        </p:nvSpPr>
        <p:spPr/>
        <p:txBody>
          <a:bodyPr/>
          <a:lstStyle/>
          <a:p>
            <a:fld id="{227F0B53-9592-4779-891F-997228E46E01}" type="slidenum">
              <a:rPr lang="sv-SE" smtClean="0"/>
              <a:t>‹#›</a:t>
            </a:fld>
            <a:endParaRPr lang="sv-SE" dirty="0"/>
          </a:p>
        </p:txBody>
      </p:sp>
      <p:sp>
        <p:nvSpPr>
          <p:cNvPr id="7" name="Platshållare för sidfot 5">
            <a:extLst>
              <a:ext uri="{FF2B5EF4-FFF2-40B4-BE49-F238E27FC236}">
                <a16:creationId xmlns:a16="http://schemas.microsoft.com/office/drawing/2014/main" id="{2ACFDF18-4A1C-4E55-981B-97A32997FBDA}"/>
              </a:ext>
            </a:extLst>
          </p:cNvPr>
          <p:cNvSpPr>
            <a:spLocks noGrp="1"/>
          </p:cNvSpPr>
          <p:nvPr>
            <p:ph type="ftr" sz="quarter" idx="3"/>
          </p:nvPr>
        </p:nvSpPr>
        <p:spPr>
          <a:xfrm>
            <a:off x="2339752" y="4912250"/>
            <a:ext cx="4415848" cy="230138"/>
          </a:xfrm>
          <a:prstGeom prst="rect">
            <a:avLst/>
          </a:prstGeom>
        </p:spPr>
        <p:txBody>
          <a:bodyPr/>
          <a:lstStyle>
            <a:lvl1pPr algn="l">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22362621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a:xfrm>
            <a:off x="684000" y="483518"/>
            <a:ext cx="7831350" cy="684000"/>
          </a:xfrm>
        </p:spPr>
        <p:txBody>
          <a:bodyPr/>
          <a:lstStyle/>
          <a:p>
            <a:r>
              <a:rPr lang="sv-SE" dirty="0"/>
              <a:t>Klicka här för att ändra format</a:t>
            </a:r>
          </a:p>
        </p:txBody>
      </p:sp>
      <p:sp>
        <p:nvSpPr>
          <p:cNvPr id="3" name="Platshållare för innehåll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pPr>
              <a:defRPr/>
            </a:pPr>
            <a:endParaRPr lang="sv-SE" dirty="0"/>
          </a:p>
        </p:txBody>
      </p:sp>
      <p:sp>
        <p:nvSpPr>
          <p:cNvPr id="7" name="Platshållare för bildnummer 6"/>
          <p:cNvSpPr>
            <a:spLocks noGrp="1"/>
          </p:cNvSpPr>
          <p:nvPr>
            <p:ph type="sldNum" sz="quarter" idx="12"/>
          </p:nvPr>
        </p:nvSpPr>
        <p:spPr/>
        <p:txBody>
          <a:bodyPr/>
          <a:lstStyle/>
          <a:p>
            <a:pPr>
              <a:defRPr/>
            </a:pPr>
            <a:fld id="{BAECDC71-569E-452E-87E6-06ECBCD8C4E6}" type="slidenum">
              <a:rPr lang="sv-SE" smtClean="0"/>
              <a:pPr>
                <a:defRPr/>
              </a:pPr>
              <a:t>‹#›</a:t>
            </a:fld>
            <a:endParaRPr lang="sv-SE" dirty="0"/>
          </a:p>
        </p:txBody>
      </p:sp>
      <p:sp>
        <p:nvSpPr>
          <p:cNvPr id="8" name="Platshållare för sidfot 5">
            <a:extLst>
              <a:ext uri="{FF2B5EF4-FFF2-40B4-BE49-F238E27FC236}">
                <a16:creationId xmlns:a16="http://schemas.microsoft.com/office/drawing/2014/main" id="{7040CC77-A4F0-478A-B763-5A6BD5AB06A9}"/>
              </a:ext>
            </a:extLst>
          </p:cNvPr>
          <p:cNvSpPr>
            <a:spLocks noGrp="1"/>
          </p:cNvSpPr>
          <p:nvPr>
            <p:ph type="ftr" sz="quarter" idx="3"/>
          </p:nvPr>
        </p:nvSpPr>
        <p:spPr>
          <a:xfrm>
            <a:off x="2339752" y="4912250"/>
            <a:ext cx="4415848" cy="230138"/>
          </a:xfrm>
          <a:prstGeom prst="rect">
            <a:avLst/>
          </a:prstGeom>
        </p:spPr>
        <p:txBody>
          <a:bodyPr/>
          <a:lstStyle>
            <a:lvl1pPr algn="l">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36880955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Rubrik och innehåll">
    <p:spTree>
      <p:nvGrpSpPr>
        <p:cNvPr id="1" name=""/>
        <p:cNvGrpSpPr/>
        <p:nvPr/>
      </p:nvGrpSpPr>
      <p:grpSpPr>
        <a:xfrm>
          <a:off x="0" y="0"/>
          <a:ext cx="0" cy="0"/>
          <a:chOff x="0" y="0"/>
          <a:chExt cx="0" cy="0"/>
        </a:xfrm>
      </p:grpSpPr>
      <p:sp>
        <p:nvSpPr>
          <p:cNvPr id="3" name="Platshållare för innehåll 2"/>
          <p:cNvSpPr>
            <a:spLocks noGrp="1"/>
          </p:cNvSpPr>
          <p:nvPr>
            <p:ph idx="1"/>
          </p:nvPr>
        </p:nvSpPr>
        <p:spPr/>
        <p:txBody>
          <a:bodyPr/>
          <a:lstStyle>
            <a:lvl1pPr>
              <a:defRPr sz="1800">
                <a:latin typeface="+mn-lt"/>
              </a:defRPr>
            </a:lvl1pPr>
            <a:lvl2pPr>
              <a:defRPr sz="1350">
                <a:latin typeface="+mn-lt"/>
              </a:defRPr>
            </a:lvl2pPr>
            <a:lvl3pPr>
              <a:defRPr>
                <a:latin typeface="+mn-lt"/>
              </a:defRPr>
            </a:lvl3pPr>
            <a:lvl4pPr>
              <a:defRPr>
                <a:latin typeface="+mn-lt"/>
              </a:defRPr>
            </a:lvl4pPr>
            <a:lvl5pPr>
              <a:defRPr>
                <a:latin typeface="+mn-lt"/>
              </a:defRPr>
            </a:lvl5p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p:cNvSpPr>
            <a:spLocks noGrp="1"/>
          </p:cNvSpPr>
          <p:nvPr>
            <p:ph type="dt" sz="half" idx="10"/>
          </p:nvPr>
        </p:nvSpPr>
        <p:spPr/>
        <p:txBody>
          <a:bodyPr/>
          <a:lstStyle/>
          <a:p>
            <a:pPr>
              <a:defRPr/>
            </a:pPr>
            <a:endParaRPr lang="sv-SE">
              <a:solidFill>
                <a:srgbClr val="000000">
                  <a:tint val="75000"/>
                </a:srgbClr>
              </a:solidFill>
            </a:endParaRPr>
          </a:p>
        </p:txBody>
      </p:sp>
      <p:sp>
        <p:nvSpPr>
          <p:cNvPr id="6" name="Platshållare för bildnummer 5"/>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a:t>
            </a:fld>
            <a:endParaRPr lang="sv-SE">
              <a:solidFill>
                <a:srgbClr val="000000">
                  <a:tint val="75000"/>
                </a:srgbClr>
              </a:solidFill>
            </a:endParaRPr>
          </a:p>
        </p:txBody>
      </p:sp>
      <p:sp>
        <p:nvSpPr>
          <p:cNvPr id="5" name="Platshållare för sidfot 5">
            <a:extLst>
              <a:ext uri="{FF2B5EF4-FFF2-40B4-BE49-F238E27FC236}">
                <a16:creationId xmlns:a16="http://schemas.microsoft.com/office/drawing/2014/main" id="{F033C353-9720-4091-8AE9-F9FBA6BB8B54}"/>
              </a:ext>
            </a:extLst>
          </p:cNvPr>
          <p:cNvSpPr>
            <a:spLocks noGrp="1"/>
          </p:cNvSpPr>
          <p:nvPr>
            <p:ph type="ftr" sz="quarter" idx="3"/>
          </p:nvPr>
        </p:nvSpPr>
        <p:spPr>
          <a:xfrm>
            <a:off x="2339752" y="4912250"/>
            <a:ext cx="4415848" cy="230138"/>
          </a:xfrm>
          <a:prstGeom prst="rect">
            <a:avLst/>
          </a:prstGeom>
        </p:spPr>
        <p:txBody>
          <a:bodyPr/>
          <a:lstStyle>
            <a:lvl1pPr algn="l">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41846534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685800" y="1597821"/>
            <a:ext cx="7772400" cy="1102519"/>
          </a:xfrm>
        </p:spPr>
        <p:txBody>
          <a:bodyPr/>
          <a:lstStyle>
            <a:lvl1pPr>
              <a:defRPr baseline="0">
                <a:latin typeface="+mj-lt"/>
              </a:defRPr>
            </a:lvl1pPr>
          </a:lstStyle>
          <a:p>
            <a:r>
              <a:rPr lang="sv-SE" noProof="0" dirty="0"/>
              <a:t>Klicka här för att ändra format</a:t>
            </a:r>
            <a:endParaRPr lang="en-US" noProof="0" dirty="0"/>
          </a:p>
        </p:txBody>
      </p:sp>
      <p:sp>
        <p:nvSpPr>
          <p:cNvPr id="3" name="Underrubrik 2"/>
          <p:cNvSpPr>
            <a:spLocks noGrp="1"/>
          </p:cNvSpPr>
          <p:nvPr>
            <p:ph type="subTitle" idx="1"/>
          </p:nvPr>
        </p:nvSpPr>
        <p:spPr>
          <a:xfrm>
            <a:off x="1371600" y="2914650"/>
            <a:ext cx="6400800" cy="791226"/>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sv-SE" noProof="0"/>
              <a:t>Klicka om du vill redigera mall för underrubrikformat</a:t>
            </a:r>
            <a:endParaRPr lang="en-US" noProof="0" dirty="0"/>
          </a:p>
        </p:txBody>
      </p:sp>
      <p:sp>
        <p:nvSpPr>
          <p:cNvPr id="4" name="Platshållare för datum 3"/>
          <p:cNvSpPr>
            <a:spLocks noGrp="1"/>
          </p:cNvSpPr>
          <p:nvPr>
            <p:ph type="dt" sz="half" idx="10"/>
          </p:nvPr>
        </p:nvSpPr>
        <p:spPr/>
        <p:txBody>
          <a:bodyPr/>
          <a:lstStyle/>
          <a:p>
            <a:pPr>
              <a:defRPr/>
            </a:pPr>
            <a:endParaRPr lang="sv-SE"/>
          </a:p>
        </p:txBody>
      </p:sp>
      <p:sp>
        <p:nvSpPr>
          <p:cNvPr id="6" name="Platshållare för bildnummer 5"/>
          <p:cNvSpPr>
            <a:spLocks noGrp="1"/>
          </p:cNvSpPr>
          <p:nvPr>
            <p:ph type="sldNum" sz="quarter" idx="12"/>
          </p:nvPr>
        </p:nvSpPr>
        <p:spPr/>
        <p:txBody>
          <a:bodyPr/>
          <a:lstStyle/>
          <a:p>
            <a:fld id="{43FCA45F-E12B-4B3B-99D8-132DADA56E55}" type="slidenum">
              <a:rPr lang="sv-SE" smtClean="0"/>
              <a:pPr/>
              <a:t>‹#›</a:t>
            </a:fld>
            <a:endParaRPr lang="sv-SE"/>
          </a:p>
        </p:txBody>
      </p:sp>
      <p:sp>
        <p:nvSpPr>
          <p:cNvPr id="8" name="Platshållare för text 7"/>
          <p:cNvSpPr>
            <a:spLocks noGrp="1"/>
          </p:cNvSpPr>
          <p:nvPr>
            <p:ph type="body" sz="quarter" idx="13"/>
          </p:nvPr>
        </p:nvSpPr>
        <p:spPr>
          <a:xfrm>
            <a:off x="1371600" y="3868341"/>
            <a:ext cx="6400800" cy="485775"/>
          </a:xfrm>
        </p:spPr>
        <p:txBody>
          <a:bodyPr>
            <a:noAutofit/>
          </a:bodyPr>
          <a:lstStyle>
            <a:lvl1pPr marL="0" indent="0" algn="ctr">
              <a:buNone/>
              <a:defRPr sz="1350">
                <a:solidFill>
                  <a:schemeClr val="bg1">
                    <a:lumMod val="65000"/>
                  </a:schemeClr>
                </a:solidFill>
              </a:defRPr>
            </a:lvl1pPr>
          </a:lstStyle>
          <a:p>
            <a:pPr lvl="0"/>
            <a:r>
              <a:rPr lang="sv-SE" noProof="0"/>
              <a:t>Redigera format för bakgrundstext</a:t>
            </a:r>
          </a:p>
        </p:txBody>
      </p:sp>
      <p:sp>
        <p:nvSpPr>
          <p:cNvPr id="7" name="Platshållare för sidfot 5">
            <a:extLst>
              <a:ext uri="{FF2B5EF4-FFF2-40B4-BE49-F238E27FC236}">
                <a16:creationId xmlns:a16="http://schemas.microsoft.com/office/drawing/2014/main" id="{F033C353-9720-4091-8AE9-F9FBA6BB8B54}"/>
              </a:ext>
            </a:extLst>
          </p:cNvPr>
          <p:cNvSpPr>
            <a:spLocks noGrp="1"/>
          </p:cNvSpPr>
          <p:nvPr>
            <p:ph type="ftr" sz="quarter" idx="3"/>
          </p:nvPr>
        </p:nvSpPr>
        <p:spPr>
          <a:xfrm>
            <a:off x="2339752" y="4912250"/>
            <a:ext cx="4415848" cy="230138"/>
          </a:xfrm>
          <a:prstGeom prst="rect">
            <a:avLst/>
          </a:prstGeom>
        </p:spPr>
        <p:txBody>
          <a:bodyPr/>
          <a:lstStyle>
            <a:lvl1pPr algn="l">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36529568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and Numbered List">
    <p:spTree>
      <p:nvGrpSpPr>
        <p:cNvPr id="1" name=""/>
        <p:cNvGrpSpPr/>
        <p:nvPr/>
      </p:nvGrpSpPr>
      <p:grpSpPr>
        <a:xfrm>
          <a:off x="0" y="0"/>
          <a:ext cx="0" cy="0"/>
          <a:chOff x="0" y="0"/>
          <a:chExt cx="0" cy="0"/>
        </a:xfrm>
      </p:grpSpPr>
      <p:sp>
        <p:nvSpPr>
          <p:cNvPr id="6" name="Rubrik 5"/>
          <p:cNvSpPr>
            <a:spLocks noGrp="1"/>
          </p:cNvSpPr>
          <p:nvPr>
            <p:ph type="title" hasCustomPrompt="1"/>
          </p:nvPr>
        </p:nvSpPr>
        <p:spPr/>
        <p:txBody>
          <a:bodyPr/>
          <a:lstStyle>
            <a:lvl1pPr>
              <a:defRPr/>
            </a:lvl1pPr>
          </a:lstStyle>
          <a:p>
            <a:r>
              <a:rPr lang="en-US" noProof="0" dirty="0"/>
              <a:t>Click to add title</a:t>
            </a:r>
          </a:p>
        </p:txBody>
      </p:sp>
      <p:sp>
        <p:nvSpPr>
          <p:cNvPr id="5" name="Platshållare för innehåll 2"/>
          <p:cNvSpPr>
            <a:spLocks noGrp="1"/>
          </p:cNvSpPr>
          <p:nvPr>
            <p:ph idx="1" hasCustomPrompt="1"/>
          </p:nvPr>
        </p:nvSpPr>
        <p:spPr>
          <a:xfrm>
            <a:off x="684000" y="1763100"/>
            <a:ext cx="7488000" cy="2862000"/>
          </a:xfrm>
          <a:prstGeom prst="rect">
            <a:avLst/>
          </a:prstGeom>
        </p:spPr>
        <p:txBody>
          <a:bodyPr vert="horz" lIns="0" tIns="0" rIns="0" bIns="0" rtlCol="0">
            <a:normAutofit/>
          </a:bodyPr>
          <a:lstStyle>
            <a:lvl1pPr marL="270272" indent="-270272">
              <a:buFont typeface="+mj-lt"/>
              <a:buAutoNum type="arabicPeriod"/>
              <a:defRPr lang="sv-SE" dirty="0" smtClean="0"/>
            </a:lvl1pPr>
            <a:lvl2pPr marL="486000" indent="-216000">
              <a:buFont typeface="+mj-lt"/>
              <a:buAutoNum type="alphaLcPeriod"/>
              <a:defRPr baseline="0"/>
            </a:lvl2pPr>
            <a:lvl3pPr marL="702000" indent="-216000">
              <a:buFont typeface="+mj-lt"/>
              <a:buAutoNum type="romanLcPeriod"/>
              <a:defRPr/>
            </a:lvl3pPr>
            <a:lvl4pPr marL="918000" indent="-216000">
              <a:buSzPct val="90000"/>
              <a:buFont typeface="Helvetica" panose="020B0604020202020204" pitchFamily="34" charset="0"/>
              <a:buChar char="»"/>
              <a:defRPr/>
            </a:lvl4pPr>
            <a:lvl5pPr marL="1175175" indent="-257175">
              <a:buSzPct val="80000"/>
              <a:buFont typeface="+mj-lt"/>
              <a:buAutoNum type="arabicPeriod"/>
              <a:defRPr/>
            </a:lvl5pPr>
          </a:lstStyle>
          <a:p>
            <a:pPr marL="162000" lvl="0" indent="-162000"/>
            <a:r>
              <a:rPr lang="en-US" noProof="0" dirty="0"/>
              <a:t>Type your text or click on the icons below to insert object</a:t>
            </a:r>
          </a:p>
          <a:p>
            <a:pPr lvl="1"/>
            <a:r>
              <a:rPr lang="en-US" noProof="0" dirty="0"/>
              <a:t>Level 2</a:t>
            </a:r>
          </a:p>
          <a:p>
            <a:pPr lvl="2"/>
            <a:r>
              <a:rPr lang="en-US" noProof="0" dirty="0"/>
              <a:t>Level 3</a:t>
            </a:r>
          </a:p>
          <a:p>
            <a:pPr lvl="3"/>
            <a:r>
              <a:rPr lang="en-US" noProof="0" dirty="0"/>
              <a:t>Level 4</a:t>
            </a:r>
          </a:p>
          <a:p>
            <a:pPr lvl="4"/>
            <a:r>
              <a:rPr lang="en-US" noProof="0" dirty="0"/>
              <a:t>Level 5</a:t>
            </a:r>
          </a:p>
        </p:txBody>
      </p:sp>
      <p:sp>
        <p:nvSpPr>
          <p:cNvPr id="3" name="Platshållare för bildnummer 2"/>
          <p:cNvSpPr>
            <a:spLocks noGrp="1"/>
          </p:cNvSpPr>
          <p:nvPr>
            <p:ph type="sldNum" sz="quarter" idx="10"/>
          </p:nvPr>
        </p:nvSpPr>
        <p:spPr/>
        <p:txBody>
          <a:bodyPr/>
          <a:lstStyle/>
          <a:p>
            <a:pPr>
              <a:defRPr/>
            </a:pPr>
            <a:fld id="{9426A61E-93B8-384D-8975-0A89DB09A550}" type="slidenum">
              <a:rPr lang="sv-SE" smtClean="0"/>
              <a:pPr>
                <a:defRPr/>
              </a:pPr>
              <a:t>‹#›</a:t>
            </a:fld>
            <a:endParaRPr lang="sv-SE"/>
          </a:p>
        </p:txBody>
      </p:sp>
      <p:sp>
        <p:nvSpPr>
          <p:cNvPr id="2" name="Date Placeholder 1"/>
          <p:cNvSpPr>
            <a:spLocks noGrp="1"/>
          </p:cNvSpPr>
          <p:nvPr>
            <p:ph type="dt" sz="half" idx="12"/>
          </p:nvPr>
        </p:nvSpPr>
        <p:spPr/>
        <p:txBody>
          <a:bodyPr/>
          <a:lstStyle/>
          <a:p>
            <a:endParaRPr lang="sv-SE"/>
          </a:p>
        </p:txBody>
      </p:sp>
      <p:sp>
        <p:nvSpPr>
          <p:cNvPr id="7" name="Platshållare för sidfot 5">
            <a:extLst>
              <a:ext uri="{FF2B5EF4-FFF2-40B4-BE49-F238E27FC236}">
                <a16:creationId xmlns:a16="http://schemas.microsoft.com/office/drawing/2014/main" id="{F033C353-9720-4091-8AE9-F9FBA6BB8B54}"/>
              </a:ext>
            </a:extLst>
          </p:cNvPr>
          <p:cNvSpPr>
            <a:spLocks noGrp="1"/>
          </p:cNvSpPr>
          <p:nvPr>
            <p:ph type="ftr" sz="quarter" idx="3"/>
          </p:nvPr>
        </p:nvSpPr>
        <p:spPr>
          <a:xfrm>
            <a:off x="2339752" y="4912250"/>
            <a:ext cx="4415848" cy="230138"/>
          </a:xfrm>
          <a:prstGeom prst="rect">
            <a:avLst/>
          </a:prstGeom>
        </p:spPr>
        <p:txBody>
          <a:bodyPr/>
          <a:lstStyle>
            <a:lvl1pPr algn="l">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23623157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1_Rubrikbild">
    <p:spTree>
      <p:nvGrpSpPr>
        <p:cNvPr id="1" name=""/>
        <p:cNvGrpSpPr/>
        <p:nvPr/>
      </p:nvGrpSpPr>
      <p:grpSpPr>
        <a:xfrm>
          <a:off x="0" y="0"/>
          <a:ext cx="0" cy="0"/>
          <a:chOff x="0" y="0"/>
          <a:chExt cx="0" cy="0"/>
        </a:xfrm>
      </p:grpSpPr>
      <p:sp>
        <p:nvSpPr>
          <p:cNvPr id="3" name="Underrubrik 2"/>
          <p:cNvSpPr>
            <a:spLocks noGrp="1"/>
          </p:cNvSpPr>
          <p:nvPr>
            <p:ph type="subTitle" idx="1"/>
          </p:nvPr>
        </p:nvSpPr>
        <p:spPr>
          <a:xfrm>
            <a:off x="1143000" y="2286000"/>
            <a:ext cx="6705600" cy="1314450"/>
          </a:xfrm>
        </p:spPr>
        <p:txBody>
          <a:bodyPr>
            <a:normAutofit/>
          </a:bodyPr>
          <a:lstStyle>
            <a:lvl1pPr marL="0" indent="0" algn="l">
              <a:buNone/>
              <a:defRPr sz="1800">
                <a:solidFill>
                  <a:srgbClr val="464646"/>
                </a:solidFill>
                <a:latin typeface="+mn-lt"/>
                <a:ea typeface="Verdana" panose="020B0604030504040204" pitchFamily="34" charset="0"/>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sv-SE" dirty="0"/>
              <a:t>Klicka här för att ändra format på underrubrik i bakgrunden</a:t>
            </a:r>
          </a:p>
        </p:txBody>
      </p:sp>
      <p:sp>
        <p:nvSpPr>
          <p:cNvPr id="8" name="Platshållare för rubrik 1"/>
          <p:cNvSpPr>
            <a:spLocks noGrp="1"/>
          </p:cNvSpPr>
          <p:nvPr>
            <p:ph type="title"/>
          </p:nvPr>
        </p:nvSpPr>
        <p:spPr>
          <a:xfrm>
            <a:off x="899592" y="794994"/>
            <a:ext cx="6949008" cy="571500"/>
          </a:xfrm>
          <a:prstGeom prst="rect">
            <a:avLst/>
          </a:prstGeom>
        </p:spPr>
        <p:txBody>
          <a:bodyPr rtlCol="0">
            <a:normAutofit/>
          </a:bodyPr>
          <a:lstStyle>
            <a:lvl1pPr>
              <a:defRPr b="0" baseline="0">
                <a:solidFill>
                  <a:srgbClr val="464646"/>
                </a:solidFill>
              </a:defRPr>
            </a:lvl1pPr>
          </a:lstStyle>
          <a:p>
            <a:r>
              <a:rPr lang="sv-SE" dirty="0"/>
              <a:t>Klicka här för att ändra format</a:t>
            </a:r>
          </a:p>
        </p:txBody>
      </p:sp>
      <p:sp>
        <p:nvSpPr>
          <p:cNvPr id="4" name="Rectangle 9"/>
          <p:cNvSpPr>
            <a:spLocks noGrp="1" noChangeArrowheads="1"/>
          </p:cNvSpPr>
          <p:nvPr>
            <p:ph type="sldNum" sz="quarter" idx="10"/>
          </p:nvPr>
        </p:nvSpPr>
        <p:spPr>
          <a:ln/>
        </p:spPr>
        <p:txBody>
          <a:bodyPr/>
          <a:lstStyle>
            <a:lvl1pPr>
              <a:defRPr/>
            </a:lvl1pPr>
          </a:lstStyle>
          <a:p>
            <a:fld id="{227F0B53-9592-4779-891F-997228E46E01}" type="slidenum">
              <a:rPr lang="sv-SE" smtClean="0"/>
              <a:t>‹#›</a:t>
            </a:fld>
            <a:endParaRPr lang="sv-SE"/>
          </a:p>
        </p:txBody>
      </p:sp>
      <p:sp>
        <p:nvSpPr>
          <p:cNvPr id="5" name="Platshållare för datum 3"/>
          <p:cNvSpPr>
            <a:spLocks noGrp="1"/>
          </p:cNvSpPr>
          <p:nvPr>
            <p:ph type="dt" sz="half" idx="11"/>
          </p:nvPr>
        </p:nvSpPr>
        <p:spPr/>
        <p:txBody>
          <a:bodyPr/>
          <a:lstStyle>
            <a:lvl1pPr>
              <a:defRPr/>
            </a:lvl1pPr>
          </a:lstStyle>
          <a:p>
            <a:endParaRPr lang="sv-SE"/>
          </a:p>
        </p:txBody>
      </p:sp>
      <p:sp>
        <p:nvSpPr>
          <p:cNvPr id="6" name="Platshållare för sidfot 5">
            <a:extLst>
              <a:ext uri="{FF2B5EF4-FFF2-40B4-BE49-F238E27FC236}">
                <a16:creationId xmlns:a16="http://schemas.microsoft.com/office/drawing/2014/main" id="{F033C353-9720-4091-8AE9-F9FBA6BB8B54}"/>
              </a:ext>
            </a:extLst>
          </p:cNvPr>
          <p:cNvSpPr>
            <a:spLocks noGrp="1"/>
          </p:cNvSpPr>
          <p:nvPr>
            <p:ph type="ftr" sz="quarter" idx="3"/>
          </p:nvPr>
        </p:nvSpPr>
        <p:spPr>
          <a:xfrm>
            <a:off x="2339752" y="4912250"/>
            <a:ext cx="4415848" cy="230138"/>
          </a:xfrm>
          <a:prstGeom prst="rect">
            <a:avLst/>
          </a:prstGeom>
        </p:spPr>
        <p:txBody>
          <a:bodyPr/>
          <a:lstStyle>
            <a:lvl1pPr algn="l">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5286066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685800" y="1597821"/>
            <a:ext cx="7772400" cy="1102519"/>
          </a:xfrm>
        </p:spPr>
        <p:txBody>
          <a:bodyPr/>
          <a:lstStyle/>
          <a:p>
            <a:r>
              <a:rPr lang="sv-SE" dirty="0"/>
              <a:t>Klicka här för att ändra format</a:t>
            </a:r>
          </a:p>
        </p:txBody>
      </p:sp>
      <p:sp>
        <p:nvSpPr>
          <p:cNvPr id="3" name="Underrubrik 2"/>
          <p:cNvSpPr>
            <a:spLocks noGrp="1"/>
          </p:cNvSpPr>
          <p:nvPr>
            <p:ph type="subTitle" idx="1"/>
          </p:nvPr>
        </p:nvSpPr>
        <p:spPr>
          <a:xfrm>
            <a:off x="1371600" y="2914650"/>
            <a:ext cx="6400800" cy="1314450"/>
          </a:xfrm>
        </p:spPr>
        <p:txBody>
          <a:bodyPr>
            <a:normAutofit/>
          </a:bodyPr>
          <a:lstStyle>
            <a:lvl1pPr marL="0" indent="0" algn="ctr">
              <a:buNone/>
              <a:defRPr sz="2000">
                <a:solidFill>
                  <a:schemeClr val="tx1">
                    <a:tint val="75000"/>
                  </a:schemeClr>
                </a:solidFill>
                <a:latin typeface="+mn-lt"/>
                <a:ea typeface="Verdana" panose="020B0604030504040204" pitchFamily="34" charset="0"/>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sv-SE" dirty="0"/>
              <a:t>Klicka här för att ändra format på underrubrik i bakgrunden</a:t>
            </a:r>
          </a:p>
        </p:txBody>
      </p:sp>
      <p:sp>
        <p:nvSpPr>
          <p:cNvPr id="4" name="Platshållare för datum 3"/>
          <p:cNvSpPr>
            <a:spLocks noGrp="1"/>
          </p:cNvSpPr>
          <p:nvPr>
            <p:ph type="dt" sz="half" idx="10"/>
          </p:nvPr>
        </p:nvSpPr>
        <p:spPr/>
        <p:txBody>
          <a:bodyPr/>
          <a:lstStyle/>
          <a:p>
            <a:endParaRPr lang="sv-SE"/>
          </a:p>
        </p:txBody>
      </p:sp>
      <p:sp>
        <p:nvSpPr>
          <p:cNvPr id="6" name="Platshållare för bildnummer 5"/>
          <p:cNvSpPr>
            <a:spLocks noGrp="1"/>
          </p:cNvSpPr>
          <p:nvPr>
            <p:ph type="sldNum" sz="quarter" idx="12"/>
          </p:nvPr>
        </p:nvSpPr>
        <p:spPr/>
        <p:txBody>
          <a:bodyPr/>
          <a:lstStyle/>
          <a:p>
            <a:fld id="{227F0B53-9592-4779-891F-997228E46E01}" type="slidenum">
              <a:rPr lang="sv-SE" smtClean="0"/>
              <a:t>‹#›</a:t>
            </a:fld>
            <a:endParaRPr lang="sv-SE"/>
          </a:p>
        </p:txBody>
      </p:sp>
      <p:sp>
        <p:nvSpPr>
          <p:cNvPr id="7" name="Platshållare för sidfot 5">
            <a:extLst>
              <a:ext uri="{FF2B5EF4-FFF2-40B4-BE49-F238E27FC236}">
                <a16:creationId xmlns:a16="http://schemas.microsoft.com/office/drawing/2014/main" id="{F033C353-9720-4091-8AE9-F9FBA6BB8B54}"/>
              </a:ext>
            </a:extLst>
          </p:cNvPr>
          <p:cNvSpPr>
            <a:spLocks noGrp="1"/>
          </p:cNvSpPr>
          <p:nvPr>
            <p:ph type="ftr" sz="quarter" idx="3"/>
          </p:nvPr>
        </p:nvSpPr>
        <p:spPr>
          <a:xfrm>
            <a:off x="2339752" y="4912250"/>
            <a:ext cx="4415848" cy="230138"/>
          </a:xfrm>
          <a:prstGeom prst="rect">
            <a:avLst/>
          </a:prstGeom>
        </p:spPr>
        <p:txBody>
          <a:bodyPr/>
          <a:lstStyle>
            <a:lvl1pPr algn="l">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extLst>
      <p:ext uri="{BB962C8B-B14F-4D97-AF65-F5344CB8AC3E}">
        <p14:creationId xmlns:p14="http://schemas.microsoft.com/office/powerpoint/2010/main" val="399368683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9F9F9"/>
        </a:solidFill>
        <a:effectLst/>
      </p:bgPr>
    </p:bg>
    <p:spTree>
      <p:nvGrpSpPr>
        <p:cNvPr id="1" name=""/>
        <p:cNvGrpSpPr/>
        <p:nvPr/>
      </p:nvGrpSpPr>
      <p:grpSpPr>
        <a:xfrm>
          <a:off x="0" y="0"/>
          <a:ext cx="0" cy="0"/>
          <a:chOff x="0" y="0"/>
          <a:chExt cx="0" cy="0"/>
        </a:xfrm>
      </p:grpSpPr>
      <p:sp>
        <p:nvSpPr>
          <p:cNvPr id="1027" name="Platshållare för rubrik 1"/>
          <p:cNvSpPr>
            <a:spLocks noGrp="1"/>
          </p:cNvSpPr>
          <p:nvPr>
            <p:ph type="title"/>
          </p:nvPr>
        </p:nvSpPr>
        <p:spPr bwMode="auto">
          <a:xfrm>
            <a:off x="684000" y="590400"/>
            <a:ext cx="7831350" cy="6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endParaRPr lang="sv-SE" dirty="0"/>
          </a:p>
        </p:txBody>
      </p:sp>
      <p:sp>
        <p:nvSpPr>
          <p:cNvPr id="4" name="Platshållare för text 3"/>
          <p:cNvSpPr>
            <a:spLocks noGrp="1"/>
          </p:cNvSpPr>
          <p:nvPr>
            <p:ph type="body" idx="1"/>
          </p:nvPr>
        </p:nvSpPr>
        <p:spPr>
          <a:xfrm>
            <a:off x="684000" y="1440000"/>
            <a:ext cx="7831350" cy="2862000"/>
          </a:xfrm>
          <a:prstGeom prst="rect">
            <a:avLst/>
          </a:prstGeom>
        </p:spPr>
        <p:txBody>
          <a:bodyPr vert="horz" lIns="0" tIns="0" rIns="0" bIns="0" rtlCol="0">
            <a:normAutofit/>
          </a:bodyPr>
          <a:lstStyle/>
          <a:p>
            <a:pPr marL="216000" lvl="0" indent="-216000"/>
            <a:r>
              <a:rPr lang="sv-SE" dirty="0"/>
              <a:t>Klicka här för att ändra format på bakgrundstexten</a:t>
            </a:r>
          </a:p>
          <a:p>
            <a:pPr marL="432000" lvl="1" indent="-216000">
              <a:buFont typeface="Arial" panose="020B0604020202020204" pitchFamily="34" charset="0"/>
            </a:pPr>
            <a:r>
              <a:rPr lang="sv-SE" dirty="0"/>
              <a:t>Nivå två</a:t>
            </a:r>
          </a:p>
          <a:p>
            <a:pPr marL="648000" lvl="2" indent="-216000"/>
            <a:r>
              <a:rPr lang="sv-SE" dirty="0"/>
              <a:t>Nivå tre</a:t>
            </a:r>
          </a:p>
          <a:p>
            <a:pPr marL="864000" lvl="3" indent="-216000"/>
            <a:r>
              <a:rPr lang="sv-SE" dirty="0"/>
              <a:t>Nivå fyra</a:t>
            </a:r>
          </a:p>
          <a:p>
            <a:pPr marL="1080000" lvl="4" indent="-216000"/>
            <a:r>
              <a:rPr lang="sv-SE" dirty="0"/>
              <a:t>Nivå fem</a:t>
            </a:r>
          </a:p>
        </p:txBody>
      </p:sp>
      <p:sp>
        <p:nvSpPr>
          <p:cNvPr id="5" name="Rektangel 4">
            <a:extLst>
              <a:ext uri="{FF2B5EF4-FFF2-40B4-BE49-F238E27FC236}">
                <a16:creationId xmlns:a16="http://schemas.microsoft.com/office/drawing/2014/main" id="{58171B70-B072-AE44-B859-7E92921DB341}"/>
              </a:ext>
            </a:extLst>
          </p:cNvPr>
          <p:cNvSpPr/>
          <p:nvPr userDrawn="1"/>
        </p:nvSpPr>
        <p:spPr>
          <a:xfrm>
            <a:off x="0" y="4901532"/>
            <a:ext cx="9144000" cy="253773"/>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dirty="0"/>
          </a:p>
        </p:txBody>
      </p:sp>
      <p:sp>
        <p:nvSpPr>
          <p:cNvPr id="9" name="Platshållare för sidfot 5">
            <a:extLst>
              <a:ext uri="{FF2B5EF4-FFF2-40B4-BE49-F238E27FC236}">
                <a16:creationId xmlns:a16="http://schemas.microsoft.com/office/drawing/2014/main" id="{A09E573F-882D-6448-872E-3FEC514B618E}"/>
              </a:ext>
            </a:extLst>
          </p:cNvPr>
          <p:cNvSpPr txBox="1">
            <a:spLocks/>
          </p:cNvSpPr>
          <p:nvPr userDrawn="1"/>
        </p:nvSpPr>
        <p:spPr>
          <a:xfrm>
            <a:off x="263801" y="4980783"/>
            <a:ext cx="1283863" cy="123478"/>
          </a:xfrm>
          <a:prstGeom prst="rect">
            <a:avLst/>
          </a:prstGeom>
        </p:spPr>
        <p:txBody>
          <a:bodyPr lIns="0" tIns="0" rIns="0" bIns="0" anchor="t" anchorCtr="0">
            <a:noAutofit/>
          </a:bodyPr>
          <a:lstStyle>
            <a:defPPr>
              <a:defRPr lang="sv-SE"/>
            </a:defPPr>
            <a:lvl1pPr algn="l" defTabSz="457200" rtl="0" fontAlgn="base">
              <a:lnSpc>
                <a:spcPct val="100000"/>
              </a:lnSpc>
              <a:spcBef>
                <a:spcPct val="0"/>
              </a:spcBef>
              <a:spcAft>
                <a:spcPct val="0"/>
              </a:spcAft>
              <a:defRPr lang="sv-SE" sz="900" b="0" i="0" kern="1200" cap="none" baseline="0">
                <a:solidFill>
                  <a:schemeClr val="bg1">
                    <a:lumMod val="75000"/>
                  </a:schemeClr>
                </a:solidFill>
                <a:latin typeface="Arial" panose="020B0604020202020204" pitchFamily="34" charset="0"/>
                <a:ea typeface="ＭＳ Ｐゴシック" pitchFamily="-65" charset="-128"/>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eaLnBrk="0" hangingPunct="0">
              <a:spcBef>
                <a:spcPts val="0"/>
              </a:spcBef>
              <a:buFont typeface="Arial" charset="0"/>
              <a:buNone/>
            </a:pPr>
            <a:r>
              <a:rPr lang="sv-SE" sz="600" dirty="0">
                <a:solidFill>
                  <a:schemeClr val="bg1">
                    <a:lumMod val="50000"/>
                  </a:schemeClr>
                </a:solidFill>
              </a:rPr>
              <a:t>UNIVERSITY OF GOTHENBURG</a:t>
            </a:r>
          </a:p>
        </p:txBody>
      </p:sp>
      <p:sp>
        <p:nvSpPr>
          <p:cNvPr id="11" name="Date Placeholder 1">
            <a:extLst>
              <a:ext uri="{FF2B5EF4-FFF2-40B4-BE49-F238E27FC236}">
                <a16:creationId xmlns:a16="http://schemas.microsoft.com/office/drawing/2014/main" id="{359489DE-820D-EA4B-B29F-5CF912AF8DB0}"/>
              </a:ext>
            </a:extLst>
          </p:cNvPr>
          <p:cNvSpPr>
            <a:spLocks noGrp="1"/>
          </p:cNvSpPr>
          <p:nvPr>
            <p:ph type="dt" sz="half" idx="2"/>
          </p:nvPr>
        </p:nvSpPr>
        <p:spPr>
          <a:xfrm>
            <a:off x="7749160" y="4901532"/>
            <a:ext cx="979200" cy="253773"/>
          </a:xfrm>
          <a:prstGeom prst="rect">
            <a:avLst/>
          </a:prstGeom>
        </p:spPr>
        <p:txBody>
          <a:bodyPr vert="horz" lIns="91440" tIns="45720" rIns="91440" bIns="45720" rtlCol="0" anchor="ctr"/>
          <a:lstStyle>
            <a:lvl1pPr algn="l">
              <a:defRPr sz="600">
                <a:solidFill>
                  <a:schemeClr val="bg1">
                    <a:lumMod val="50000"/>
                  </a:schemeClr>
                </a:solidFill>
              </a:defRPr>
            </a:lvl1pPr>
          </a:lstStyle>
          <a:p>
            <a:endParaRPr lang="sv-SE" dirty="0"/>
          </a:p>
        </p:txBody>
      </p:sp>
      <p:sp>
        <p:nvSpPr>
          <p:cNvPr id="12" name="Platshållare för bildnummer 2">
            <a:extLst>
              <a:ext uri="{FF2B5EF4-FFF2-40B4-BE49-F238E27FC236}">
                <a16:creationId xmlns:a16="http://schemas.microsoft.com/office/drawing/2014/main" id="{CD35B63B-12FC-0941-9D3A-E226320AA666}"/>
              </a:ext>
            </a:extLst>
          </p:cNvPr>
          <p:cNvSpPr>
            <a:spLocks noGrp="1"/>
          </p:cNvSpPr>
          <p:nvPr>
            <p:ph type="sldNum" sz="quarter" idx="4"/>
          </p:nvPr>
        </p:nvSpPr>
        <p:spPr>
          <a:xfrm>
            <a:off x="8780056" y="4901532"/>
            <a:ext cx="216024" cy="240856"/>
          </a:xfrm>
          <a:prstGeom prst="rect">
            <a:avLst/>
          </a:prstGeom>
        </p:spPr>
        <p:txBody>
          <a:bodyPr vert="horz" lIns="0" tIns="0" rIns="0" bIns="0" rtlCol="0" anchor="ctr"/>
          <a:lstStyle>
            <a:lvl1pPr algn="r">
              <a:defRPr sz="600">
                <a:solidFill>
                  <a:schemeClr val="bg1">
                    <a:lumMod val="50000"/>
                  </a:schemeClr>
                </a:solidFill>
              </a:defRPr>
            </a:lvl1pPr>
          </a:lstStyle>
          <a:p>
            <a:pPr>
              <a:defRPr/>
            </a:pPr>
            <a:fld id="{9426A61E-93B8-384D-8975-0A89DB09A550}" type="slidenum">
              <a:rPr lang="sv-SE" smtClean="0"/>
              <a:pPr>
                <a:defRPr/>
              </a:pPr>
              <a:t>‹#›</a:t>
            </a:fld>
            <a:endParaRPr lang="sv-SE" dirty="0"/>
          </a:p>
        </p:txBody>
      </p:sp>
      <p:sp>
        <p:nvSpPr>
          <p:cNvPr id="14" name="Platshållare för sidfot 5">
            <a:extLst>
              <a:ext uri="{FF2B5EF4-FFF2-40B4-BE49-F238E27FC236}">
                <a16:creationId xmlns:a16="http://schemas.microsoft.com/office/drawing/2014/main" id="{BE8F5DD9-7EA1-4CAC-B498-A6FBE3E57E16}"/>
              </a:ext>
            </a:extLst>
          </p:cNvPr>
          <p:cNvSpPr>
            <a:spLocks noGrp="1"/>
          </p:cNvSpPr>
          <p:nvPr>
            <p:ph type="ftr" sz="quarter" idx="3"/>
          </p:nvPr>
        </p:nvSpPr>
        <p:spPr>
          <a:xfrm>
            <a:off x="2339752" y="4912250"/>
            <a:ext cx="4415848" cy="230138"/>
          </a:xfrm>
          <a:prstGeom prst="rect">
            <a:avLst/>
          </a:prstGeom>
        </p:spPr>
        <p:txBody>
          <a:bodyPr/>
          <a:lstStyle>
            <a:lvl1pPr algn="ctr">
              <a:defRPr sz="800">
                <a:solidFill>
                  <a:schemeClr val="tx1">
                    <a:lumMod val="50000"/>
                    <a:lumOff val="50000"/>
                  </a:schemeClr>
                </a:solidFill>
                <a:latin typeface="Trebuchet MS" panose="020B0603020202020204" pitchFamily="34" charset="0"/>
              </a:defRPr>
            </a:lvl1pPr>
          </a:lstStyle>
          <a:p>
            <a:pPr eaLnBrk="0" hangingPunct="0">
              <a:spcBef>
                <a:spcPts val="0"/>
              </a:spcBef>
            </a:pPr>
            <a:endParaRPr lang="en-US" dirty="0"/>
          </a:p>
        </p:txBody>
      </p:sp>
    </p:spTree>
  </p:cSld>
  <p:clrMap bg1="lt1" tx1="dk1" bg2="lt2" tx2="dk2" accent1="accent1" accent2="accent2" accent3="accent3" accent4="accent4" accent5="accent5" accent6="accent6" hlink="hlink" folHlink="folHlink"/>
  <p:sldLayoutIdLst>
    <p:sldLayoutId id="2147483896" r:id="rId1"/>
    <p:sldLayoutId id="2147483938" r:id="rId2"/>
    <p:sldLayoutId id="2147483939" r:id="rId3"/>
    <p:sldLayoutId id="2147483895" r:id="rId4"/>
    <p:sldLayoutId id="2147483940" r:id="rId5"/>
    <p:sldLayoutId id="2147483941" r:id="rId6"/>
    <p:sldLayoutId id="2147483933" r:id="rId7"/>
    <p:sldLayoutId id="2147483932" r:id="rId8"/>
    <p:sldLayoutId id="2147483905" r:id="rId9"/>
    <p:sldLayoutId id="2147483883" r:id="rId10"/>
    <p:sldLayoutId id="2147483887" r:id="rId11"/>
    <p:sldLayoutId id="2147483884" r:id="rId12"/>
    <p:sldLayoutId id="2147483886" r:id="rId13"/>
    <p:sldLayoutId id="2147483943" r:id="rId14"/>
    <p:sldLayoutId id="2147483890" r:id="rId15"/>
    <p:sldLayoutId id="2147483891" r:id="rId16"/>
    <p:sldLayoutId id="2147483942" r:id="rId17"/>
    <p:sldLayoutId id="2147483893" r:id="rId18"/>
    <p:sldLayoutId id="2147483946" r:id="rId19"/>
    <p:sldLayoutId id="2147483947" r:id="rId20"/>
    <p:sldLayoutId id="2147483956" r:id="rId21"/>
    <p:sldLayoutId id="2147483957" r:id="rId22"/>
    <p:sldLayoutId id="2147483959" r:id="rId23"/>
    <p:sldLayoutId id="2147483960" r:id="rId24"/>
    <p:sldLayoutId id="2147483961" r:id="rId25"/>
    <p:sldLayoutId id="2147483962" r:id="rId26"/>
    <p:sldLayoutId id="2147483963" r:id="rId27"/>
    <p:sldLayoutId id="2147483964" r:id="rId28"/>
    <p:sldLayoutId id="2147483965" r:id="rId29"/>
    <p:sldLayoutId id="2147483966" r:id="rId30"/>
    <p:sldLayoutId id="2147483967" r:id="rId31"/>
    <p:sldLayoutId id="2147483968" r:id="rId32"/>
    <p:sldLayoutId id="2147483969" r:id="rId33"/>
    <p:sldLayoutId id="2147483970" r:id="rId34"/>
    <p:sldLayoutId id="2147483971" r:id="rId35"/>
  </p:sldLayoutIdLst>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hf hdr="0" ftr="0" dt="0"/>
  <p:txStyles>
    <p:titleStyle>
      <a:lvl1pPr algn="l" defTabSz="457200" rtl="0" eaLnBrk="1" fontAlgn="base" hangingPunct="1">
        <a:lnSpc>
          <a:spcPct val="90000"/>
        </a:lnSpc>
        <a:spcBef>
          <a:spcPct val="0"/>
        </a:spcBef>
        <a:spcAft>
          <a:spcPct val="0"/>
        </a:spcAft>
        <a:defRPr sz="4400" b="1" i="0" kern="1200">
          <a:solidFill>
            <a:schemeClr val="tx1">
              <a:lumMod val="85000"/>
              <a:lumOff val="15000"/>
            </a:schemeClr>
          </a:solidFill>
          <a:latin typeface="+mj-lt"/>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p:titleStyle>
    <p:bodyStyle>
      <a:lvl1pPr marL="180000" indent="-180000" algn="l" defTabSz="457200" rtl="0" eaLnBrk="1" fontAlgn="base" hangingPunct="1">
        <a:lnSpc>
          <a:spcPct val="110000"/>
        </a:lnSpc>
        <a:spcBef>
          <a:spcPts val="800"/>
        </a:spcBef>
        <a:spcAft>
          <a:spcPct val="0"/>
        </a:spcAft>
        <a:buFont typeface="Arial" charset="0"/>
        <a:buChar char="•"/>
        <a:defRPr lang="sv-SE" sz="1800" kern="1200" dirty="0" smtClean="0">
          <a:solidFill>
            <a:schemeClr val="tx1">
              <a:lumMod val="85000"/>
              <a:lumOff val="15000"/>
            </a:schemeClr>
          </a:solidFill>
          <a:latin typeface="+mj-lt"/>
          <a:ea typeface="ＭＳ Ｐゴシック" pitchFamily="-65" charset="-128"/>
          <a:cs typeface="Arial" panose="020B0604020202020204" pitchFamily="34" charset="0"/>
        </a:defRPr>
      </a:lvl1pPr>
      <a:lvl2pPr marL="501750" indent="-285750" algn="l" defTabSz="457200" rtl="0" eaLnBrk="1" fontAlgn="base" hangingPunct="1">
        <a:lnSpc>
          <a:spcPct val="100000"/>
        </a:lnSpc>
        <a:spcBef>
          <a:spcPts val="20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ＭＳ Ｐゴシック" pitchFamily="-65" charset="-128"/>
          <a:cs typeface="Arial" panose="020B0604020202020204" pitchFamily="34" charset="0"/>
        </a:defRPr>
      </a:lvl2pPr>
      <a:lvl3pPr marL="717750" indent="-285750" algn="l" defTabSz="457200" rtl="0" eaLnBrk="1" fontAlgn="base" hangingPunct="1">
        <a:spcBef>
          <a:spcPts val="0"/>
        </a:spcBef>
        <a:spcAft>
          <a:spcPts val="300"/>
        </a:spcAft>
        <a:buFont typeface="Wingdings" panose="05000000000000000000" pitchFamily="2" charset="2"/>
        <a:buChar char="§"/>
        <a:defRPr lang="sv-SE" sz="1600" kern="1200" dirty="0" smtClean="0">
          <a:solidFill>
            <a:schemeClr val="tx1">
              <a:lumMod val="85000"/>
              <a:lumOff val="15000"/>
            </a:schemeClr>
          </a:solidFill>
          <a:latin typeface="+mj-lt"/>
          <a:ea typeface="ＭＳ Ｐゴシック" charset="0"/>
          <a:cs typeface="Arial" panose="020B0604020202020204" pitchFamily="34" charset="0"/>
        </a:defRPr>
      </a:lvl3pPr>
      <a:lvl4pPr marL="933750" indent="-285750" algn="l" defTabSz="457200" rtl="0" eaLnBrk="1" fontAlgn="base" hangingPunct="1">
        <a:spcBef>
          <a:spcPts val="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Helvetica" charset="0"/>
          <a:cs typeface="Arial" panose="020B0604020202020204" pitchFamily="34" charset="0"/>
        </a:defRPr>
      </a:lvl4pPr>
      <a:lvl5pPr marL="1149750" indent="-285750" algn="l" defTabSz="457200" rtl="0" eaLnBrk="1" fontAlgn="base" hangingPunct="1">
        <a:spcBef>
          <a:spcPts val="0"/>
        </a:spcBef>
        <a:spcAft>
          <a:spcPct val="0"/>
        </a:spcAft>
        <a:buFont typeface="Arial" panose="020B0604020202020204" pitchFamily="34" charset="0"/>
        <a:buChar char="–"/>
        <a:defRPr lang="sv-SE" sz="1600" kern="1200" dirty="0">
          <a:solidFill>
            <a:schemeClr val="tx1">
              <a:lumMod val="85000"/>
              <a:lumOff val="15000"/>
            </a:schemeClr>
          </a:solidFill>
          <a:latin typeface="+mj-lt"/>
          <a:ea typeface="Helvetica" charset="0"/>
          <a:cs typeface="Arial" panose="020B0604020202020204" pitchFamily="34" charset="0"/>
        </a:defRPr>
      </a:lvl5pPr>
      <a:lvl6pPr marL="1616075" indent="-215900" algn="l" defTabSz="457200" rtl="0" eaLnBrk="1" latinLnBrk="0" hangingPunct="1">
        <a:spcBef>
          <a:spcPts val="0"/>
        </a:spcBef>
        <a:buFont typeface="Wingdings" panose="05000000000000000000" pitchFamily="2" charset="2"/>
        <a:buChar char="§"/>
        <a:defRPr sz="17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2880">
          <p15:clr>
            <a:srgbClr val="F26B43"/>
          </p15:clr>
        </p15:guide>
        <p15:guide id="5" orient="horz" pos="2160">
          <p15:clr>
            <a:srgbClr val="F26B43"/>
          </p15:clr>
        </p15:guide>
        <p15:guide id="6" orient="horz" pos="41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4.jpg"/><Relationship Id="rId7"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hyperlink" Target="https://stats.oarc.ucla.edu/stata/" TargetMode="External"/><Relationship Id="rId5" Type="http://schemas.openxmlformats.org/officeDocument/2006/relationships/hyperlink" Target="https://stats.oarc.ucla.edu/spss/" TargetMode="Externa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4.xml"/><Relationship Id="rId4" Type="http://schemas.openxmlformats.org/officeDocument/2006/relationships/image" Target="../media/image19.jp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9.xml"/><Relationship Id="rId1" Type="http://schemas.openxmlformats.org/officeDocument/2006/relationships/slideLayout" Target="../slideLayouts/slideLayout24.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jpeg"/><Relationship Id="rId2" Type="http://schemas.openxmlformats.org/officeDocument/2006/relationships/notesSlide" Target="../notesSlides/notesSlide41.xml"/><Relationship Id="rId1" Type="http://schemas.openxmlformats.org/officeDocument/2006/relationships/slideLayout" Target="../slideLayouts/slideLayout24.xml"/><Relationship Id="rId6" Type="http://schemas.microsoft.com/office/2007/relationships/hdphoto" Target="../media/hdphoto1.wdp"/><Relationship Id="rId5" Type="http://schemas.openxmlformats.org/officeDocument/2006/relationships/image" Target="../media/image31.png"/><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2.xml"/><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24.xml"/><Relationship Id="rId6" Type="http://schemas.openxmlformats.org/officeDocument/2006/relationships/image" Target="../media/image32.jpeg"/><Relationship Id="rId5" Type="http://schemas.openxmlformats.org/officeDocument/2006/relationships/image" Target="../media/image30.png"/><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4.xml"/><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4.xml"/><Relationship Id="rId1" Type="http://schemas.openxmlformats.org/officeDocument/2006/relationships/slideLayout" Target="../slideLayouts/slideLayout25.xml"/><Relationship Id="rId6" Type="http://schemas.openxmlformats.org/officeDocument/2006/relationships/image" Target="../media/image34.png"/><Relationship Id="rId5" Type="http://schemas.openxmlformats.org/officeDocument/2006/relationships/image" Target="../media/image38.png"/><Relationship Id="rId4" Type="http://schemas.openxmlformats.org/officeDocument/2006/relationships/image" Target="../media/image37.png"/></Relationships>
</file>

<file path=ppt/slides/_rels/slide55.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55.xml"/><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58.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9.xml"/><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26.xml"/><Relationship Id="rId4" Type="http://schemas.openxmlformats.org/officeDocument/2006/relationships/image" Target="../media/image43.png"/></Relationships>
</file>

<file path=ppt/slides/_rels/slide63.xml.rels><?xml version="1.0" encoding="UTF-8" standalone="yes"?>
<Relationships xmlns="http://schemas.openxmlformats.org/package/2006/relationships"><Relationship Id="rId3" Type="http://schemas.openxmlformats.org/officeDocument/2006/relationships/hyperlink" Target="http://www.openepi.com/Menu/OE_Menu.htm" TargetMode="External"/><Relationship Id="rId2" Type="http://schemas.openxmlformats.org/officeDocument/2006/relationships/notesSlide" Target="../notesSlides/notesSlide63.xml"/><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64.xml"/><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5.xml"/><Relationship Id="rId1" Type="http://schemas.openxmlformats.org/officeDocument/2006/relationships/slideLayout" Target="../slideLayouts/slideLayout25.xml"/><Relationship Id="rId4" Type="http://schemas.openxmlformats.org/officeDocument/2006/relationships/image" Target="../media/image46.png"/></Relationships>
</file>

<file path=ppt/slides/_rels/slide6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6.xml"/><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7.xml"/><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8.xml"/><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9.xml"/><Relationship Id="rId1" Type="http://schemas.openxmlformats.org/officeDocument/2006/relationships/slideLayout" Target="../slideLayouts/slideLayout24.xml"/><Relationship Id="rId4" Type="http://schemas.openxmlformats.org/officeDocument/2006/relationships/image" Target="../media/image51.jpeg"/></Relationships>
</file>

<file path=ppt/slides/_rels/slide7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0.xml"/><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75.xml"/><Relationship Id="rId1" Type="http://schemas.openxmlformats.org/officeDocument/2006/relationships/slideLayout" Target="../slideLayouts/slideLayout24.xml"/><Relationship Id="rId4" Type="http://schemas.openxmlformats.org/officeDocument/2006/relationships/image" Target="../media/image54.emf"/></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3.xml"/></Relationships>
</file>

<file path=ppt/slides/_rels/slide7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8.xml"/><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0.xml"/><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9.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4.xml"/></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4.xml"/><Relationship Id="rId1" Type="http://schemas.openxmlformats.org/officeDocument/2006/relationships/slideLayout" Target="../slideLayouts/slideLayout25.xml"/><Relationship Id="rId4" Type="http://schemas.microsoft.com/office/2007/relationships/hdphoto" Target="../media/hdphoto2.wdp"/></Relationships>
</file>

<file path=ppt/slides/_rels/slide8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5.xml"/><Relationship Id="rId1" Type="http://schemas.openxmlformats.org/officeDocument/2006/relationships/slideLayout" Target="../slideLayouts/slideLayout24.xml"/></Relationships>
</file>

<file path=ppt/slides/_rels/slide8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6.xml"/><Relationship Id="rId1" Type="http://schemas.openxmlformats.org/officeDocument/2006/relationships/slideLayout" Target="../slideLayouts/slideLayout2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4.xml"/></Relationships>
</file>

<file path=ppt/slides/_rels/slide8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8.xml"/><Relationship Id="rId1" Type="http://schemas.openxmlformats.org/officeDocument/2006/relationships/slideLayout" Target="../slideLayouts/slideLayout24.xml"/><Relationship Id="rId4" Type="http://schemas.openxmlformats.org/officeDocument/2006/relationships/image" Target="../media/image61.png"/></Relationships>
</file>

<file path=ppt/slides/_rels/slide89.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89.xml"/><Relationship Id="rId1" Type="http://schemas.openxmlformats.org/officeDocument/2006/relationships/slideLayout" Target="../slideLayouts/slideLayout24.xml"/></Relationships>
</file>

<file path=ppt/slides/_rels/slide9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0.xml"/><Relationship Id="rId1" Type="http://schemas.openxmlformats.org/officeDocument/2006/relationships/slideLayout" Target="../slideLayouts/slideLayout24.xml"/><Relationship Id="rId4" Type="http://schemas.openxmlformats.org/officeDocument/2006/relationships/image" Target="../media/image63.png"/></Relationships>
</file>

<file path=ppt/slides/_rels/slide9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1.xml"/><Relationship Id="rId1" Type="http://schemas.openxmlformats.org/officeDocument/2006/relationships/slideLayout" Target="../slideLayouts/slideLayout2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4.xml"/></Relationships>
</file>

<file path=ppt/slides/_rels/slide9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4.xml"/><Relationship Id="rId1" Type="http://schemas.openxmlformats.org/officeDocument/2006/relationships/slideLayout" Target="../slideLayouts/slideLayout25.xml"/></Relationships>
</file>

<file path=ppt/slides/_rels/slide9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5.xml"/><Relationship Id="rId1" Type="http://schemas.openxmlformats.org/officeDocument/2006/relationships/slideLayout" Target="../slideLayouts/slideLayout24.xml"/><Relationship Id="rId4" Type="http://schemas.openxmlformats.org/officeDocument/2006/relationships/image" Target="../media/image68.png"/></Relationships>
</file>

<file path=ppt/slides/_rels/slide9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6.xml"/><Relationship Id="rId1" Type="http://schemas.openxmlformats.org/officeDocument/2006/relationships/slideLayout" Target="../slideLayouts/slideLayout24.xml"/></Relationships>
</file>

<file path=ppt/slides/_rels/slide9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97.xml"/><Relationship Id="rId1" Type="http://schemas.openxmlformats.org/officeDocument/2006/relationships/slideLayout" Target="../slideLayouts/slideLayout24.xml"/><Relationship Id="rId4" Type="http://schemas.openxmlformats.org/officeDocument/2006/relationships/image" Target="../media/image70.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6.xml"/></Relationships>
</file>

<file path=ppt/slides/_rels/slide10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0.xml"/><Relationship Id="rId1" Type="http://schemas.openxmlformats.org/officeDocument/2006/relationships/slideLayout" Target="../slideLayouts/slideLayout29.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4.xml"/></Relationships>
</file>

<file path=ppt/slides/_rels/slide10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3.xml"/><Relationship Id="rId1" Type="http://schemas.openxmlformats.org/officeDocument/2006/relationships/slideLayout" Target="../slideLayouts/slideLayout2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9.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5.xml"/></Relationships>
</file>

<file path=ppt/slides/_rels/slide11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12.xml"/><Relationship Id="rId1" Type="http://schemas.openxmlformats.org/officeDocument/2006/relationships/slideLayout" Target="../slideLayouts/slideLayout26.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9.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4.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4.xml"/></Relationships>
</file>

<file path=ppt/slides/_rels/slide11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19.xml"/><Relationship Id="rId1" Type="http://schemas.openxmlformats.org/officeDocument/2006/relationships/slideLayout" Target="../slideLayouts/slideLayout32.xml"/><Relationship Id="rId4" Type="http://schemas.microsoft.com/office/2007/relationships/hdphoto" Target="../media/hdphoto3.wdp"/></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4.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30.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7.xml"/></Relationships>
</file>

<file path=ppt/slides/_rels/slide125.xml.rels><?xml version="1.0" encoding="UTF-8" standalone="yes"?>
<Relationships xmlns="http://schemas.openxmlformats.org/package/2006/relationships"><Relationship Id="rId3" Type="http://schemas.openxmlformats.org/officeDocument/2006/relationships/hyperlink" Target="http://www.equator-network.org/" TargetMode="External"/><Relationship Id="rId2" Type="http://schemas.openxmlformats.org/officeDocument/2006/relationships/notesSlide" Target="../notesSlides/notesSlide125.xml"/><Relationship Id="rId1" Type="http://schemas.openxmlformats.org/officeDocument/2006/relationships/slideLayout" Target="../slideLayouts/slideLayout33.xml"/><Relationship Id="rId4" Type="http://schemas.openxmlformats.org/officeDocument/2006/relationships/hyperlink" Target="http://www.codex.vr.se/en/index.shtml" TargetMode="External"/></Relationships>
</file>

<file path=ppt/slides/_rels/slide12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26.xml"/><Relationship Id="rId1" Type="http://schemas.openxmlformats.org/officeDocument/2006/relationships/slideLayout" Target="../slideLayouts/slideLayout34.xml"/><Relationship Id="rId5" Type="http://schemas.openxmlformats.org/officeDocument/2006/relationships/image" Target="../media/image77.png"/><Relationship Id="rId4" Type="http://schemas.openxmlformats.org/officeDocument/2006/relationships/image" Target="../media/image73.png"/></Relationships>
</file>

<file path=ppt/slides/_rels/slide12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27.xml"/><Relationship Id="rId1" Type="http://schemas.openxmlformats.org/officeDocument/2006/relationships/slideLayout" Target="../slideLayouts/slideLayout24.xml"/></Relationships>
</file>

<file path=ppt/slides/_rels/slide12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28.xml"/><Relationship Id="rId1" Type="http://schemas.openxmlformats.org/officeDocument/2006/relationships/slideLayout" Target="../slideLayouts/slideLayout25.xml"/><Relationship Id="rId4" Type="http://schemas.openxmlformats.org/officeDocument/2006/relationships/image" Target="../media/image79.png"/></Relationships>
</file>

<file path=ppt/slides/_rels/slide12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29.xml"/><Relationship Id="rId1" Type="http://schemas.openxmlformats.org/officeDocument/2006/relationships/slideLayout" Target="../slideLayouts/slideLayout29.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8.xml"/></Relationships>
</file>

<file path=ppt/slides/_rels/slide13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31.xml"/><Relationship Id="rId1" Type="http://schemas.openxmlformats.org/officeDocument/2006/relationships/slideLayout" Target="../slideLayouts/slideLayout29.xml"/><Relationship Id="rId5" Type="http://schemas.microsoft.com/office/2007/relationships/hdphoto" Target="../media/hdphoto4.wdp"/><Relationship Id="rId4" Type="http://schemas.openxmlformats.org/officeDocument/2006/relationships/image" Target="../media/image81.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8.xml"/></Relationships>
</file>

<file path=ppt/slides/_rels/slide13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33.xml"/><Relationship Id="rId1" Type="http://schemas.openxmlformats.org/officeDocument/2006/relationships/slideLayout" Target="../slideLayouts/slideLayout29.xml"/><Relationship Id="rId4" Type="http://schemas.openxmlformats.org/officeDocument/2006/relationships/image" Target="../media/image78.png"/></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4.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4.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4.xml"/></Relationships>
</file>

<file path=ppt/slides/_rels/slide13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37.xml"/><Relationship Id="rId1" Type="http://schemas.openxmlformats.org/officeDocument/2006/relationships/slideLayout" Target="../slideLayouts/slideLayout35.xml"/><Relationship Id="rId5" Type="http://schemas.openxmlformats.org/officeDocument/2006/relationships/image" Target="../media/image84.png"/><Relationship Id="rId4" Type="http://schemas.openxmlformats.org/officeDocument/2006/relationships/image" Target="../media/image83.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4.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4.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4.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4.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4.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4.xml"/></Relationships>
</file>

<file path=ppt/slides/_rels/slide144.x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notesSlide" Target="../notesSlides/notesSlide144.xml"/><Relationship Id="rId1" Type="http://schemas.openxmlformats.org/officeDocument/2006/relationships/slideLayout" Target="../slideLayouts/slideLayout24.xml"/><Relationship Id="rId4" Type="http://schemas.openxmlformats.org/officeDocument/2006/relationships/image" Target="../media/image91.png"/></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9.xml"/></Relationships>
</file>

<file path=ppt/slides/_rels/slide1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6.xml"/><Relationship Id="rId1" Type="http://schemas.openxmlformats.org/officeDocument/2006/relationships/slideLayout" Target="../slideLayouts/slideLayout24.xml"/></Relationships>
</file>

<file path=ppt/slides/_rels/slide14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93.png"/><Relationship Id="rId2" Type="http://schemas.openxmlformats.org/officeDocument/2006/relationships/notesSlide" Target="../notesSlides/notesSlide147.xml"/><Relationship Id="rId1" Type="http://schemas.openxmlformats.org/officeDocument/2006/relationships/slideLayout" Target="../slideLayouts/slideLayout3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8.xml"/><Relationship Id="rId1" Type="http://schemas.openxmlformats.org/officeDocument/2006/relationships/slideLayout" Target="../slideLayouts/slideLayout24.xml"/></Relationships>
</file>

<file path=ppt/slides/_rels/slide1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9.xml"/><Relationship Id="rId1" Type="http://schemas.openxmlformats.org/officeDocument/2006/relationships/slideLayout" Target="../slideLayouts/slideLayout24.xml"/></Relationships>
</file>

<file path=ppt/slides/_rels/slide1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0.xml"/><Relationship Id="rId1" Type="http://schemas.openxmlformats.org/officeDocument/2006/relationships/slideLayout" Target="../slideLayouts/slideLayout24.xml"/></Relationships>
</file>

<file path=ppt/slides/_rels/slide15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51.xml"/><Relationship Id="rId1" Type="http://schemas.openxmlformats.org/officeDocument/2006/relationships/slideLayout" Target="../slideLayouts/slideLayout24.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4.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4.xml"/></Relationships>
</file>

<file path=ppt/slides/_rels/slide15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54.xml"/><Relationship Id="rId1" Type="http://schemas.openxmlformats.org/officeDocument/2006/relationships/slideLayout" Target="../slideLayouts/slideLayout25.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1145381"/>
            <a:ext cx="6408712" cy="932911"/>
          </a:xfrm>
        </p:spPr>
        <p:txBody>
          <a:bodyPr/>
          <a:lstStyle/>
          <a:p>
            <a:r>
              <a:rPr lang="en-US" sz="3600" dirty="0"/>
              <a:t>INTRODUCTION TO MEDICAL STATISTICS</a:t>
            </a:r>
            <a:endParaRPr lang="sv-SE" sz="3600" dirty="0"/>
          </a:p>
        </p:txBody>
      </p:sp>
      <p:sp>
        <p:nvSpPr>
          <p:cNvPr id="3" name="Text Placeholder 2"/>
          <p:cNvSpPr>
            <a:spLocks noGrp="1"/>
          </p:cNvSpPr>
          <p:nvPr>
            <p:ph type="body" sz="quarter" idx="14"/>
          </p:nvPr>
        </p:nvSpPr>
        <p:spPr>
          <a:xfrm>
            <a:off x="971600" y="3723878"/>
            <a:ext cx="6210354" cy="918102"/>
          </a:xfrm>
        </p:spPr>
        <p:txBody>
          <a:bodyPr>
            <a:noAutofit/>
          </a:bodyPr>
          <a:lstStyle/>
          <a:p>
            <a:r>
              <a:rPr lang="sv-SE" sz="1600" b="1" dirty="0">
                <a:latin typeface="+mj-lt"/>
              </a:rPr>
              <a:t>Adnan </a:t>
            </a:r>
            <a:r>
              <a:rPr lang="en-US" sz="1600" b="1" dirty="0">
                <a:latin typeface="+mj-lt"/>
              </a:rPr>
              <a:t>noor</a:t>
            </a:r>
            <a:r>
              <a:rPr lang="sv-SE" sz="1600" b="1" dirty="0">
                <a:latin typeface="+mj-lt"/>
              </a:rPr>
              <a:t> Baloch</a:t>
            </a:r>
          </a:p>
          <a:p>
            <a:r>
              <a:rPr lang="en-US" sz="1600" b="1" dirty="0">
                <a:latin typeface="+mj-lt"/>
              </a:rPr>
              <a:t>School of Public Health and Community Medicine </a:t>
            </a:r>
          </a:p>
          <a:p>
            <a:r>
              <a:rPr lang="en-US" sz="1600" b="1" dirty="0">
                <a:latin typeface="+mj-lt"/>
              </a:rPr>
              <a:t>The Sahlgrenska Academy</a:t>
            </a:r>
          </a:p>
        </p:txBody>
      </p:sp>
      <p:sp>
        <p:nvSpPr>
          <p:cNvPr id="4" name="textruta 3"/>
          <p:cNvSpPr txBox="1"/>
          <p:nvPr/>
        </p:nvSpPr>
        <p:spPr>
          <a:xfrm>
            <a:off x="971600" y="411510"/>
            <a:ext cx="5832324" cy="461665"/>
          </a:xfrm>
          <a:prstGeom prst="rect">
            <a:avLst/>
          </a:prstGeom>
          <a:noFill/>
        </p:spPr>
        <p:txBody>
          <a:bodyPr wrap="square" rtlCol="0">
            <a:spAutoFit/>
          </a:bodyPr>
          <a:lstStyle/>
          <a:p>
            <a:r>
              <a:rPr lang="en-GB" sz="2400" b="1" dirty="0">
                <a:latin typeface="+mj-lt"/>
                <a:ea typeface="Verdana" panose="020B0604030504040204" pitchFamily="34" charset="0"/>
              </a:rPr>
              <a:t>LÄA110 Thesis course Autumn 2023</a:t>
            </a:r>
            <a:endParaRPr lang="en-GB" sz="2400" dirty="0">
              <a:latin typeface="+mj-lt"/>
              <a:ea typeface="Verdana" panose="020B0604030504040204" pitchFamily="34" charset="0"/>
            </a:endParaRPr>
          </a:p>
        </p:txBody>
      </p:sp>
      <p:sp>
        <p:nvSpPr>
          <p:cNvPr id="5" name="textruta 4"/>
          <p:cNvSpPr txBox="1"/>
          <p:nvPr/>
        </p:nvSpPr>
        <p:spPr>
          <a:xfrm>
            <a:off x="899592" y="4622090"/>
            <a:ext cx="864096" cy="253916"/>
          </a:xfrm>
          <a:prstGeom prst="rect">
            <a:avLst/>
          </a:prstGeom>
          <a:noFill/>
        </p:spPr>
        <p:txBody>
          <a:bodyPr wrap="square" rtlCol="0">
            <a:spAutoFit/>
          </a:bodyPr>
          <a:lstStyle/>
          <a:p>
            <a:r>
              <a:rPr lang="sv-SE" sz="1050" b="1" cap="all" dirty="0">
                <a:solidFill>
                  <a:srgbClr val="262626"/>
                </a:solidFill>
                <a:latin typeface="+mj-lt"/>
                <a:ea typeface="ＭＳ Ｐゴシック" pitchFamily="-65" charset="-128"/>
                <a:cs typeface="Times New Roman" panose="02020603050405020304" pitchFamily="18" charset="0"/>
              </a:rPr>
              <a:t>2023-08-21</a:t>
            </a:r>
          </a:p>
        </p:txBody>
      </p:sp>
      <p:sp>
        <p:nvSpPr>
          <p:cNvPr id="6" name="Slide Number Placeholder 5">
            <a:extLst>
              <a:ext uri="{FF2B5EF4-FFF2-40B4-BE49-F238E27FC236}">
                <a16:creationId xmlns:a16="http://schemas.microsoft.com/office/drawing/2014/main" id="{7F73B941-2BE2-4DC0-AC94-3E0F40072EC6}"/>
              </a:ext>
            </a:extLst>
          </p:cNvPr>
          <p:cNvSpPr>
            <a:spLocks noGrp="1"/>
          </p:cNvSpPr>
          <p:nvPr>
            <p:ph type="sldNum" sz="quarter" idx="16"/>
          </p:nvPr>
        </p:nvSpPr>
        <p:spPr/>
        <p:txBody>
          <a:bodyPr/>
          <a:lstStyle/>
          <a:p>
            <a:pPr>
              <a:defRPr/>
            </a:pPr>
            <a:fld id="{9426A61E-93B8-384D-8975-0A89DB09A550}" type="slidenum">
              <a:rPr lang="sv-SE" smtClean="0"/>
              <a:pPr>
                <a:defRPr/>
              </a:pPr>
              <a:t>1</a:t>
            </a:fld>
            <a:endParaRPr lang="sv-SE" dirty="0"/>
          </a:p>
        </p:txBody>
      </p:sp>
    </p:spTree>
    <p:extLst>
      <p:ext uri="{BB962C8B-B14F-4D97-AF65-F5344CB8AC3E}">
        <p14:creationId xmlns:p14="http://schemas.microsoft.com/office/powerpoint/2010/main" val="285743004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971600" y="195486"/>
            <a:ext cx="2016224" cy="459051"/>
          </a:xfrm>
        </p:spPr>
        <p:txBody>
          <a:bodyPr>
            <a:noAutofit/>
          </a:bodyPr>
          <a:lstStyle/>
          <a:p>
            <a:r>
              <a:rPr lang="en-GB" sz="3600" dirty="0"/>
              <a:t>Structure</a:t>
            </a:r>
          </a:p>
        </p:txBody>
      </p:sp>
      <p:sp>
        <p:nvSpPr>
          <p:cNvPr id="4" name="Content Placeholder 4"/>
          <p:cNvSpPr>
            <a:spLocks noGrp="1"/>
          </p:cNvSpPr>
          <p:nvPr>
            <p:ph idx="1"/>
          </p:nvPr>
        </p:nvSpPr>
        <p:spPr>
          <a:xfrm>
            <a:off x="971600" y="762550"/>
            <a:ext cx="7704855" cy="3853793"/>
          </a:xfrm>
        </p:spPr>
        <p:txBody>
          <a:bodyPr>
            <a:noAutofit/>
          </a:bodyPr>
          <a:lstStyle/>
          <a:p>
            <a:pPr marL="0" indent="0">
              <a:buNone/>
            </a:pPr>
            <a:r>
              <a:rPr lang="en-US" sz="1600" dirty="0">
                <a:latin typeface="Verdana" panose="020B0604030504040204" pitchFamily="34" charset="0"/>
                <a:ea typeface="Verdana" panose="020B0604030504040204" pitchFamily="34" charset="0"/>
              </a:rPr>
              <a:t>We</a:t>
            </a:r>
            <a:r>
              <a:rPr lang="sv-SE" sz="1600" dirty="0">
                <a:latin typeface="Verdana" panose="020B0604030504040204" pitchFamily="34" charset="0"/>
                <a:ea typeface="Verdana" panose="020B0604030504040204" pitchFamily="34" charset="0"/>
              </a:rPr>
              <a:t> </a:t>
            </a:r>
            <a:r>
              <a:rPr lang="en-US" sz="1600" dirty="0">
                <a:latin typeface="Verdana" panose="020B0604030504040204" pitchFamily="34" charset="0"/>
                <a:ea typeface="Verdana" panose="020B0604030504040204" pitchFamily="34" charset="0"/>
              </a:rPr>
              <a:t>statisticians</a:t>
            </a:r>
            <a:r>
              <a:rPr lang="sv-SE" sz="1600" dirty="0">
                <a:latin typeface="Verdana" panose="020B0604030504040204" pitchFamily="34" charset="0"/>
                <a:ea typeface="Verdana" panose="020B0604030504040204" pitchFamily="34" charset="0"/>
              </a:rPr>
              <a:t> </a:t>
            </a:r>
            <a:r>
              <a:rPr lang="sv-SE" sz="1600" dirty="0" err="1">
                <a:latin typeface="Verdana" panose="020B0604030504040204" pitchFamily="34" charset="0"/>
                <a:ea typeface="Verdana" panose="020B0604030504040204" pitchFamily="34" charset="0"/>
              </a:rPr>
              <a:t>are</a:t>
            </a:r>
            <a:r>
              <a:rPr lang="sv-SE" sz="1600" dirty="0">
                <a:latin typeface="Verdana" panose="020B0604030504040204" pitchFamily="34" charset="0"/>
                <a:ea typeface="Verdana" panose="020B0604030504040204" pitchFamily="34" charset="0"/>
              </a:rPr>
              <a:t> </a:t>
            </a:r>
            <a:r>
              <a:rPr lang="sv-SE" sz="1600" dirty="0" err="1">
                <a:latin typeface="Verdana" panose="020B0604030504040204" pitchFamily="34" charset="0"/>
                <a:ea typeface="Verdana" panose="020B0604030504040204" pitchFamily="34" charset="0"/>
              </a:rPr>
              <a:t>involved</a:t>
            </a:r>
            <a:r>
              <a:rPr lang="sv-SE" sz="1600" dirty="0">
                <a:latin typeface="Verdana" panose="020B0604030504040204" pitchFamily="34" charset="0"/>
                <a:ea typeface="Verdana" panose="020B0604030504040204" pitchFamily="34" charset="0"/>
              </a:rPr>
              <a:t> the </a:t>
            </a:r>
            <a:r>
              <a:rPr lang="sv-SE" sz="1600" dirty="0" err="1">
                <a:latin typeface="Verdana" panose="020B0604030504040204" pitchFamily="34" charset="0"/>
                <a:ea typeface="Verdana" panose="020B0604030504040204" pitchFamily="34" charset="0"/>
              </a:rPr>
              <a:t>following</a:t>
            </a:r>
            <a:r>
              <a:rPr lang="sv-SE" sz="1600" dirty="0">
                <a:latin typeface="Verdana" panose="020B0604030504040204" pitchFamily="34" charset="0"/>
                <a:ea typeface="Verdana" panose="020B0604030504040204" pitchFamily="34" charset="0"/>
              </a:rPr>
              <a:t> parts of the </a:t>
            </a:r>
            <a:r>
              <a:rPr lang="sv-SE" sz="1600" dirty="0" err="1">
                <a:latin typeface="Verdana" panose="020B0604030504040204" pitchFamily="34" charset="0"/>
                <a:ea typeface="Verdana" panose="020B0604030504040204" pitchFamily="34" charset="0"/>
              </a:rPr>
              <a:t>cousre</a:t>
            </a:r>
            <a:r>
              <a:rPr lang="sv-SE" sz="1600" dirty="0">
                <a:latin typeface="Verdana" panose="020B0604030504040204" pitchFamily="34" charset="0"/>
                <a:ea typeface="Verdana" panose="020B0604030504040204" pitchFamily="34" charset="0"/>
              </a:rPr>
              <a:t>.</a:t>
            </a:r>
          </a:p>
          <a:p>
            <a:pPr marL="257175" indent="-257175"/>
            <a:r>
              <a:rPr lang="sv-SE" sz="1600" dirty="0">
                <a:latin typeface="Verdana" panose="020B0604030504040204" pitchFamily="34" charset="0"/>
                <a:ea typeface="Verdana" panose="020B0604030504040204" pitchFamily="34" charset="0"/>
              </a:rPr>
              <a:t>Three </a:t>
            </a:r>
            <a:r>
              <a:rPr lang="sv-SE" sz="1600" dirty="0" err="1">
                <a:latin typeface="Verdana" panose="020B0604030504040204" pitchFamily="34" charset="0"/>
                <a:ea typeface="Verdana" panose="020B0604030504040204" pitchFamily="34" charset="0"/>
              </a:rPr>
              <a:t>introductory</a:t>
            </a:r>
            <a:r>
              <a:rPr lang="sv-SE" sz="1600" dirty="0">
                <a:latin typeface="Verdana" panose="020B0604030504040204" pitchFamily="34" charset="0"/>
                <a:ea typeface="Verdana" panose="020B0604030504040204" pitchFamily="34" charset="0"/>
              </a:rPr>
              <a:t> </a:t>
            </a:r>
            <a:r>
              <a:rPr lang="sv-SE" sz="1600" b="1" dirty="0" err="1">
                <a:latin typeface="Verdana" panose="020B0604030504040204" pitchFamily="34" charset="0"/>
                <a:ea typeface="Verdana" panose="020B0604030504040204" pitchFamily="34" charset="0"/>
              </a:rPr>
              <a:t>lectures</a:t>
            </a:r>
            <a:r>
              <a:rPr lang="sv-SE" sz="1600" dirty="0">
                <a:latin typeface="Verdana" panose="020B0604030504040204" pitchFamily="34" charset="0"/>
                <a:ea typeface="Verdana" panose="020B0604030504040204" pitchFamily="34" charset="0"/>
              </a:rPr>
              <a:t> on </a:t>
            </a:r>
            <a:r>
              <a:rPr lang="sv-SE" sz="1600" dirty="0" err="1">
                <a:latin typeface="Verdana" panose="020B0604030504040204" pitchFamily="34" charset="0"/>
                <a:ea typeface="Verdana" panose="020B0604030504040204" pitchFamily="34" charset="0"/>
              </a:rPr>
              <a:t>study</a:t>
            </a:r>
            <a:r>
              <a:rPr lang="sv-SE" sz="1600" dirty="0">
                <a:latin typeface="Verdana" panose="020B0604030504040204" pitchFamily="34" charset="0"/>
                <a:ea typeface="Verdana" panose="020B0604030504040204" pitchFamily="34" charset="0"/>
              </a:rPr>
              <a:t> design, </a:t>
            </a:r>
            <a:r>
              <a:rPr lang="sv-SE" sz="1600" dirty="0" err="1">
                <a:latin typeface="Verdana" panose="020B0604030504040204" pitchFamily="34" charset="0"/>
                <a:ea typeface="Verdana" panose="020B0604030504040204" pitchFamily="34" charset="0"/>
              </a:rPr>
              <a:t>descriptive</a:t>
            </a:r>
            <a:r>
              <a:rPr lang="sv-SE" sz="1600" dirty="0">
                <a:latin typeface="Verdana" panose="020B0604030504040204" pitchFamily="34" charset="0"/>
                <a:ea typeface="Verdana" panose="020B0604030504040204" pitchFamily="34" charset="0"/>
              </a:rPr>
              <a:t> </a:t>
            </a:r>
            <a:r>
              <a:rPr lang="sv-SE" sz="1600" dirty="0" err="1">
                <a:latin typeface="Verdana" panose="020B0604030504040204" pitchFamily="34" charset="0"/>
                <a:ea typeface="Verdana" panose="020B0604030504040204" pitchFamily="34" charset="0"/>
              </a:rPr>
              <a:t>statistics</a:t>
            </a:r>
            <a:r>
              <a:rPr lang="sv-SE" sz="1600" dirty="0">
                <a:latin typeface="Verdana" panose="020B0604030504040204" pitchFamily="34" charset="0"/>
                <a:ea typeface="Verdana" panose="020B0604030504040204" pitchFamily="34" charset="0"/>
              </a:rPr>
              <a:t>, </a:t>
            </a:r>
            <a:r>
              <a:rPr lang="sv-SE" sz="1600" dirty="0" err="1">
                <a:latin typeface="Verdana" panose="020B0604030504040204" pitchFamily="34" charset="0"/>
                <a:ea typeface="Verdana" panose="020B0604030504040204" pitchFamily="34" charset="0"/>
              </a:rPr>
              <a:t>hypothesis</a:t>
            </a:r>
            <a:r>
              <a:rPr lang="sv-SE" sz="1600" dirty="0">
                <a:latin typeface="Verdana" panose="020B0604030504040204" pitchFamily="34" charset="0"/>
                <a:ea typeface="Verdana" panose="020B0604030504040204" pitchFamily="34" charset="0"/>
              </a:rPr>
              <a:t> </a:t>
            </a:r>
            <a:r>
              <a:rPr lang="sv-SE" sz="1600" dirty="0" err="1">
                <a:latin typeface="Verdana" panose="020B0604030504040204" pitchFamily="34" charset="0"/>
                <a:ea typeface="Verdana" panose="020B0604030504040204" pitchFamily="34" charset="0"/>
              </a:rPr>
              <a:t>testing</a:t>
            </a:r>
            <a:r>
              <a:rPr lang="sv-SE" sz="1600" dirty="0">
                <a:latin typeface="Verdana" panose="020B0604030504040204" pitchFamily="34" charset="0"/>
                <a:ea typeface="Verdana" panose="020B0604030504040204" pitchFamily="34" charset="0"/>
              </a:rPr>
              <a:t> etc. </a:t>
            </a:r>
          </a:p>
          <a:p>
            <a:pPr marL="257175" indent="-257175"/>
            <a:r>
              <a:rPr lang="sv-SE" sz="1600" b="1" dirty="0">
                <a:latin typeface="Verdana" panose="020B0604030504040204" pitchFamily="34" charset="0"/>
                <a:ea typeface="Verdana" panose="020B0604030504040204" pitchFamily="34" charset="0"/>
              </a:rPr>
              <a:t>Project plan </a:t>
            </a:r>
            <a:r>
              <a:rPr lang="sv-SE" sz="1600" b="1" dirty="0" err="1">
                <a:latin typeface="Verdana" panose="020B0604030504040204" pitchFamily="34" charset="0"/>
                <a:ea typeface="Verdana" panose="020B0604030504040204" pitchFamily="34" charset="0"/>
              </a:rPr>
              <a:t>seminars</a:t>
            </a:r>
            <a:endParaRPr lang="sv-SE" sz="1600" dirty="0">
              <a:latin typeface="Verdana" panose="020B0604030504040204" pitchFamily="34" charset="0"/>
              <a:ea typeface="Verdana" panose="020B0604030504040204" pitchFamily="34" charset="0"/>
            </a:endParaRPr>
          </a:p>
          <a:p>
            <a:pPr marL="257175" indent="-257175"/>
            <a:r>
              <a:rPr lang="sv-SE" sz="1600" b="1" dirty="0">
                <a:latin typeface="Verdana" panose="020B0604030504040204" pitchFamily="34" charset="0"/>
                <a:ea typeface="Verdana" panose="020B0604030504040204" pitchFamily="34" charset="0"/>
              </a:rPr>
              <a:t>Computer </a:t>
            </a:r>
            <a:r>
              <a:rPr lang="sv-SE" sz="1600" b="1" dirty="0" err="1">
                <a:latin typeface="Verdana" panose="020B0604030504040204" pitchFamily="34" charset="0"/>
                <a:ea typeface="Verdana" panose="020B0604030504040204" pitchFamily="34" charset="0"/>
              </a:rPr>
              <a:t>exercises</a:t>
            </a:r>
            <a:r>
              <a:rPr lang="sv-SE" sz="1600" b="1" dirty="0">
                <a:latin typeface="Verdana" panose="020B0604030504040204" pitchFamily="34" charset="0"/>
                <a:ea typeface="Verdana" panose="020B0604030504040204" pitchFamily="34" charset="0"/>
              </a:rPr>
              <a:t> </a:t>
            </a:r>
            <a:r>
              <a:rPr lang="sv-SE" sz="1600" dirty="0">
                <a:latin typeface="Verdana" panose="020B0604030504040204" pitchFamily="34" charset="0"/>
                <a:ea typeface="Verdana" panose="020B0604030504040204" pitchFamily="34" charset="0"/>
              </a:rPr>
              <a:t>(</a:t>
            </a:r>
            <a:r>
              <a:rPr lang="sv-SE" sz="1600" dirty="0" err="1">
                <a:latin typeface="Verdana" panose="020B0604030504040204" pitchFamily="34" charset="0"/>
                <a:ea typeface="Verdana" panose="020B0604030504040204" pitchFamily="34" charset="0"/>
              </a:rPr>
              <a:t>book</a:t>
            </a:r>
            <a:r>
              <a:rPr lang="sv-SE" sz="1600" dirty="0">
                <a:latin typeface="Verdana" panose="020B0604030504040204" pitchFamily="34" charset="0"/>
                <a:ea typeface="Verdana" panose="020B0604030504040204" pitchFamily="34" charset="0"/>
              </a:rPr>
              <a:t> in </a:t>
            </a:r>
            <a:r>
              <a:rPr lang="sv-SE" sz="1600" dirty="0" err="1">
                <a:latin typeface="Verdana" panose="020B0604030504040204" pitchFamily="34" charset="0"/>
                <a:ea typeface="Verdana" panose="020B0604030504040204" pitchFamily="34" charset="0"/>
              </a:rPr>
              <a:t>advance</a:t>
            </a:r>
            <a:r>
              <a:rPr lang="sv-SE" sz="1600" dirty="0">
                <a:latin typeface="Verdana" panose="020B0604030504040204" pitchFamily="34" charset="0"/>
                <a:ea typeface="Verdana" panose="020B0604030504040204" pitchFamily="34" charset="0"/>
              </a:rPr>
              <a:t>)</a:t>
            </a:r>
          </a:p>
          <a:p>
            <a:pPr marL="740272" lvl="1" indent="-257175">
              <a:buFont typeface="+mj-lt"/>
              <a:buAutoNum type="alphaLcPeriod"/>
            </a:pPr>
            <a:r>
              <a:rPr lang="sv-SE" sz="1800" dirty="0"/>
              <a:t>SPSS </a:t>
            </a:r>
            <a:r>
              <a:rPr lang="sv-SE" sz="1800" dirty="0" err="1"/>
              <a:t>basics</a:t>
            </a:r>
            <a:endParaRPr lang="sv-SE" sz="1800" dirty="0"/>
          </a:p>
          <a:p>
            <a:pPr marL="740272" lvl="1" indent="-257175">
              <a:buFont typeface="+mj-lt"/>
              <a:buAutoNum type="alphaLcPeriod"/>
            </a:pPr>
            <a:r>
              <a:rPr lang="sv-SE" sz="1800" dirty="0" err="1"/>
              <a:t>Questionnaires</a:t>
            </a:r>
            <a:r>
              <a:rPr lang="sv-SE" sz="1800" dirty="0"/>
              <a:t> – designing &amp; </a:t>
            </a:r>
            <a:r>
              <a:rPr lang="sv-SE" sz="1800" dirty="0" err="1"/>
              <a:t>analysis</a:t>
            </a:r>
            <a:endParaRPr lang="sv-SE" sz="1800" dirty="0"/>
          </a:p>
          <a:p>
            <a:pPr marL="740272" lvl="1" indent="-257175">
              <a:buFont typeface="+mj-lt"/>
              <a:buAutoNum type="alphaLcPeriod"/>
            </a:pPr>
            <a:r>
              <a:rPr lang="sv-SE" sz="1800" dirty="0" err="1"/>
              <a:t>Statistical</a:t>
            </a:r>
            <a:r>
              <a:rPr lang="sv-SE" sz="1800" dirty="0"/>
              <a:t> tests : t-test, ANOVA, </a:t>
            </a:r>
            <a:r>
              <a:rPr lang="sv-SE" sz="1800" dirty="0" err="1"/>
              <a:t>some</a:t>
            </a:r>
            <a:r>
              <a:rPr lang="sv-SE" sz="1800" dirty="0"/>
              <a:t> non-</a:t>
            </a:r>
            <a:r>
              <a:rPr lang="sv-SE" sz="1800" dirty="0" err="1"/>
              <a:t>parametric</a:t>
            </a:r>
            <a:r>
              <a:rPr lang="sv-SE" sz="1800" dirty="0"/>
              <a:t> tests</a:t>
            </a:r>
          </a:p>
          <a:p>
            <a:pPr marL="740272" lvl="1" indent="-257175">
              <a:buFont typeface="+mj-lt"/>
              <a:buAutoNum type="alphaLcPeriod"/>
            </a:pPr>
            <a:r>
              <a:rPr lang="sv-SE" sz="1800" dirty="0"/>
              <a:t>Regression </a:t>
            </a:r>
            <a:r>
              <a:rPr lang="sv-SE" sz="1800" dirty="0" err="1"/>
              <a:t>analysis</a:t>
            </a:r>
            <a:endParaRPr lang="sv-SE" sz="1800" dirty="0"/>
          </a:p>
          <a:p>
            <a:pPr marL="257175" indent="-257175"/>
            <a:r>
              <a:rPr lang="sv-SE" sz="1600" b="1" dirty="0">
                <a:latin typeface="Verdana" panose="020B0604030504040204" pitchFamily="34" charset="0"/>
                <a:ea typeface="Verdana" panose="020B0604030504040204" pitchFamily="34" charset="0"/>
              </a:rPr>
              <a:t>Workshops </a:t>
            </a:r>
            <a:r>
              <a:rPr lang="sv-SE" sz="1600" dirty="0">
                <a:latin typeface="Verdana" panose="020B0604030504040204" pitchFamily="34" charset="0"/>
                <a:ea typeface="Verdana" panose="020B0604030504040204" pitchFamily="34" charset="0"/>
              </a:rPr>
              <a:t>(</a:t>
            </a:r>
            <a:r>
              <a:rPr lang="sv-SE" sz="1600" dirty="0" err="1">
                <a:latin typeface="Verdana" panose="020B0604030504040204" pitchFamily="34" charset="0"/>
                <a:ea typeface="Verdana" panose="020B0604030504040204" pitchFamily="34" charset="0"/>
              </a:rPr>
              <a:t>book</a:t>
            </a:r>
            <a:r>
              <a:rPr lang="sv-SE" sz="1600" dirty="0">
                <a:latin typeface="Verdana" panose="020B0604030504040204" pitchFamily="34" charset="0"/>
                <a:ea typeface="Verdana" panose="020B0604030504040204" pitchFamily="34" charset="0"/>
              </a:rPr>
              <a:t> in </a:t>
            </a:r>
            <a:r>
              <a:rPr lang="sv-SE" sz="1600" dirty="0" err="1">
                <a:latin typeface="Verdana" panose="020B0604030504040204" pitchFamily="34" charset="0"/>
                <a:ea typeface="Verdana" panose="020B0604030504040204" pitchFamily="34" charset="0"/>
              </a:rPr>
              <a:t>advance</a:t>
            </a:r>
            <a:r>
              <a:rPr lang="sv-SE" sz="1600" dirty="0">
                <a:latin typeface="Verdana" panose="020B0604030504040204" pitchFamily="34" charset="0"/>
                <a:ea typeface="Verdana" panose="020B0604030504040204" pitchFamily="34" charset="0"/>
              </a:rPr>
              <a:t>, 2 </a:t>
            </a:r>
            <a:r>
              <a:rPr lang="sv-SE" sz="1600" dirty="0" err="1">
                <a:latin typeface="Verdana" panose="020B0604030504040204" pitchFamily="34" charset="0"/>
                <a:ea typeface="Verdana" panose="020B0604030504040204" pitchFamily="34" charset="0"/>
              </a:rPr>
              <a:t>occassions</a:t>
            </a:r>
            <a:r>
              <a:rPr lang="sv-SE" sz="1600" dirty="0">
                <a:latin typeface="Verdana" panose="020B0604030504040204" pitchFamily="34" charset="0"/>
                <a:ea typeface="Verdana" panose="020B0604030504040204" pitchFamily="34" charset="0"/>
              </a:rPr>
              <a:t>) – </a:t>
            </a:r>
            <a:r>
              <a:rPr lang="sv-SE" sz="1600" dirty="0" err="1">
                <a:latin typeface="Verdana" panose="020B0604030504040204" pitchFamily="34" charset="0"/>
                <a:ea typeface="Verdana" panose="020B0604030504040204" pitchFamily="34" charset="0"/>
              </a:rPr>
              <a:t>work</a:t>
            </a:r>
            <a:r>
              <a:rPr lang="sv-SE" sz="1600" dirty="0">
                <a:latin typeface="Verdana" panose="020B0604030504040204" pitchFamily="34" charset="0"/>
                <a:ea typeface="Verdana" panose="020B0604030504040204" pitchFamily="34" charset="0"/>
              </a:rPr>
              <a:t> </a:t>
            </a:r>
            <a:r>
              <a:rPr lang="sv-SE" sz="1600" dirty="0" err="1">
                <a:latin typeface="Verdana" panose="020B0604030504040204" pitchFamily="34" charset="0"/>
                <a:ea typeface="Verdana" panose="020B0604030504040204" pitchFamily="34" charset="0"/>
              </a:rPr>
              <a:t>with</a:t>
            </a:r>
            <a:r>
              <a:rPr lang="sv-SE" sz="1600" dirty="0">
                <a:latin typeface="Verdana" panose="020B0604030504040204" pitchFamily="34" charset="0"/>
                <a:ea typeface="Verdana" panose="020B0604030504040204" pitchFamily="34" charset="0"/>
              </a:rPr>
              <a:t> </a:t>
            </a:r>
            <a:r>
              <a:rPr lang="sv-SE" sz="1600" dirty="0" err="1">
                <a:latin typeface="Verdana" panose="020B0604030504040204" pitchFamily="34" charset="0"/>
                <a:ea typeface="Verdana" panose="020B0604030504040204" pitchFamily="34" charset="0"/>
              </a:rPr>
              <a:t>your</a:t>
            </a:r>
            <a:r>
              <a:rPr lang="sv-SE" sz="1600" dirty="0">
                <a:latin typeface="Verdana" panose="020B0604030504040204" pitchFamily="34" charset="0"/>
                <a:ea typeface="Verdana" panose="020B0604030504040204" pitchFamily="34" charset="0"/>
              </a:rPr>
              <a:t> </a:t>
            </a:r>
            <a:r>
              <a:rPr lang="sv-SE" sz="1600" dirty="0" err="1">
                <a:latin typeface="Verdana" panose="020B0604030504040204" pitchFamily="34" charset="0"/>
                <a:ea typeface="Verdana" panose="020B0604030504040204" pitchFamily="34" charset="0"/>
              </a:rPr>
              <a:t>own</a:t>
            </a:r>
            <a:r>
              <a:rPr lang="sv-SE" sz="1600" dirty="0">
                <a:latin typeface="Verdana" panose="020B0604030504040204" pitchFamily="34" charset="0"/>
                <a:ea typeface="Verdana" panose="020B0604030504040204" pitchFamily="34" charset="0"/>
              </a:rPr>
              <a:t> data, </a:t>
            </a:r>
            <a:r>
              <a:rPr lang="sv-SE" sz="1600" dirty="0" err="1">
                <a:latin typeface="Verdana" panose="020B0604030504040204" pitchFamily="34" charset="0"/>
                <a:ea typeface="Verdana" panose="020B0604030504040204" pitchFamily="34" charset="0"/>
              </a:rPr>
              <a:t>project</a:t>
            </a:r>
            <a:endParaRPr lang="sv-SE" sz="1600" dirty="0">
              <a:latin typeface="Verdana" panose="020B0604030504040204" pitchFamily="34" charset="0"/>
              <a:ea typeface="Verdana" panose="020B0604030504040204" pitchFamily="34" charset="0"/>
            </a:endParaRPr>
          </a:p>
        </p:txBody>
      </p:sp>
      <p:sp>
        <p:nvSpPr>
          <p:cNvPr id="3" name="Platshållare för bildnummer 2"/>
          <p:cNvSpPr>
            <a:spLocks noGrp="1"/>
          </p:cNvSpPr>
          <p:nvPr>
            <p:ph type="sldNum" sz="quarter" idx="12"/>
          </p:nvPr>
        </p:nvSpPr>
        <p:spPr/>
        <p:txBody>
          <a:bodyPr/>
          <a:lstStyle/>
          <a:p>
            <a:fld id="{49D34020-361E-4A13-8C95-66E98A929282}" type="slidenum">
              <a:rPr lang="sv-SE" smtClean="0"/>
              <a:pPr/>
              <a:t>2</a:t>
            </a:fld>
            <a:endParaRPr lang="sv-SE"/>
          </a:p>
        </p:txBody>
      </p:sp>
    </p:spTree>
    <p:extLst>
      <p:ext uri="{BB962C8B-B14F-4D97-AF65-F5344CB8AC3E}">
        <p14:creationId xmlns:p14="http://schemas.microsoft.com/office/powerpoint/2010/main" val="1932643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objekt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5678" y="3291830"/>
            <a:ext cx="1108640" cy="1620000"/>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9217" y="3291830"/>
            <a:ext cx="1146549" cy="162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Platshållare för bildnummer 1"/>
          <p:cNvSpPr>
            <a:spLocks noGrp="1"/>
          </p:cNvSpPr>
          <p:nvPr>
            <p:ph type="sldNum" sz="quarter" idx="12"/>
          </p:nvPr>
        </p:nvSpPr>
        <p:spPr/>
        <p:txBody>
          <a:bodyPr/>
          <a:lstStyle/>
          <a:p>
            <a:fld id="{49D34020-361E-4A13-8C95-66E98A929282}" type="slidenum">
              <a:rPr lang="sv-SE" smtClean="0"/>
              <a:pPr/>
              <a:t>3</a:t>
            </a:fld>
            <a:endParaRPr lang="sv-SE"/>
          </a:p>
        </p:txBody>
      </p:sp>
      <p:sp>
        <p:nvSpPr>
          <p:cNvPr id="8" name="Rubrik 1"/>
          <p:cNvSpPr txBox="1">
            <a:spLocks/>
          </p:cNvSpPr>
          <p:nvPr/>
        </p:nvSpPr>
        <p:spPr bwMode="auto">
          <a:xfrm>
            <a:off x="971600" y="168483"/>
            <a:ext cx="6327703" cy="424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l" defTabSz="457200" rtl="0" eaLnBrk="1" fontAlgn="base" hangingPunct="1">
              <a:lnSpc>
                <a:spcPct val="90000"/>
              </a:lnSpc>
              <a:spcBef>
                <a:spcPct val="0"/>
              </a:spcBef>
              <a:spcAft>
                <a:spcPct val="0"/>
              </a:spcAft>
              <a:defRPr sz="3300" b="1" i="0" kern="1200">
                <a:solidFill>
                  <a:schemeClr val="tx1"/>
                </a:solidFill>
                <a:latin typeface="Arial Narrow"/>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en-US" sz="3600" dirty="0">
                <a:latin typeface="+mj-lt"/>
              </a:rPr>
              <a:t>Tips on books &amp; online resources</a:t>
            </a:r>
          </a:p>
        </p:txBody>
      </p:sp>
      <p:sp>
        <p:nvSpPr>
          <p:cNvPr id="9" name="textruta 8"/>
          <p:cNvSpPr txBox="1"/>
          <p:nvPr/>
        </p:nvSpPr>
        <p:spPr>
          <a:xfrm>
            <a:off x="971600" y="654538"/>
            <a:ext cx="7128792" cy="2585323"/>
          </a:xfrm>
          <a:prstGeom prst="rect">
            <a:avLst/>
          </a:prstGeom>
          <a:noFill/>
        </p:spPr>
        <p:txBody>
          <a:bodyPr wrap="square" rtlCol="0">
            <a:spAutoFit/>
          </a:bodyPr>
          <a:lstStyle/>
          <a:p>
            <a:pPr marL="257175" lvl="2" indent="-257175">
              <a:buFont typeface="+mj-lt"/>
              <a:buAutoNum type="arabicPeriod"/>
            </a:pPr>
            <a:r>
              <a:rPr lang="sv-SE" dirty="0">
                <a:solidFill>
                  <a:srgbClr val="002060"/>
                </a:solidFill>
                <a:latin typeface="Verdana" panose="020B0604030504040204" pitchFamily="34" charset="0"/>
                <a:ea typeface="Verdana" panose="020B0604030504040204" pitchFamily="34" charset="0"/>
                <a:cs typeface="Times New Roman" panose="02020603050405020304" pitchFamily="18" charset="0"/>
              </a:rPr>
              <a:t>Praktisk statistik för medicin och hälsa</a:t>
            </a:r>
            <a:r>
              <a:rPr lang="sv-SE" dirty="0">
                <a:latin typeface="Verdana" panose="020B0604030504040204" pitchFamily="34" charset="0"/>
                <a:ea typeface="Verdana" panose="020B0604030504040204" pitchFamily="34" charset="0"/>
                <a:cs typeface="Times New Roman" panose="02020603050405020304" pitchFamily="18" charset="0"/>
              </a:rPr>
              <a:t> (Jonas Björk) </a:t>
            </a:r>
          </a:p>
          <a:p>
            <a:pPr marL="257175" lvl="2" indent="-257175">
              <a:buFontTx/>
              <a:buAutoNum type="arabicPeriod" startAt="2"/>
            </a:pPr>
            <a:r>
              <a:rPr lang="en-US" dirty="0">
                <a:solidFill>
                  <a:srgbClr val="002060"/>
                </a:solidFill>
                <a:latin typeface="Verdana" panose="020B0604030504040204" pitchFamily="34" charset="0"/>
                <a:ea typeface="Verdana" panose="020B0604030504040204" pitchFamily="34" charset="0"/>
                <a:cs typeface="Times New Roman" panose="02020603050405020304" pitchFamily="18" charset="0"/>
              </a:rPr>
              <a:t>Practical Statistics for Medical Research (</a:t>
            </a:r>
            <a:r>
              <a:rPr lang="en-US" dirty="0">
                <a:latin typeface="Verdana" panose="020B0604030504040204" pitchFamily="34" charset="0"/>
                <a:ea typeface="Verdana" panose="020B0604030504040204" pitchFamily="34" charset="0"/>
                <a:cs typeface="Times New Roman" panose="02020603050405020304" pitchFamily="18" charset="0"/>
              </a:rPr>
              <a:t>Douglas G. Altman) </a:t>
            </a:r>
          </a:p>
          <a:p>
            <a:pPr marL="257175" lvl="2" indent="-257175">
              <a:buAutoNum type="arabicPeriod" startAt="2"/>
            </a:pPr>
            <a:r>
              <a:rPr lang="en-US" dirty="0">
                <a:solidFill>
                  <a:srgbClr val="002060"/>
                </a:solidFill>
                <a:latin typeface="Verdana" panose="020B0604030504040204" pitchFamily="34" charset="0"/>
                <a:ea typeface="Verdana" panose="020B0604030504040204" pitchFamily="34" charset="0"/>
                <a:cs typeface="Times New Roman" panose="02020603050405020304" pitchFamily="18" charset="0"/>
              </a:rPr>
              <a:t>SPSS for Applied Sciences</a:t>
            </a:r>
            <a:r>
              <a:rPr lang="en-US" dirty="0">
                <a:latin typeface="Verdana" panose="020B0604030504040204" pitchFamily="34" charset="0"/>
                <a:ea typeface="Verdana" panose="020B0604030504040204" pitchFamily="34" charset="0"/>
                <a:cs typeface="Times New Roman" panose="02020603050405020304" pitchFamily="18" charset="0"/>
              </a:rPr>
              <a:t> (E-book at GU-Library)</a:t>
            </a:r>
          </a:p>
          <a:p>
            <a:pPr marL="257175" lvl="2" indent="-257175">
              <a:buFontTx/>
              <a:buAutoNum type="arabicPeriod" startAt="2"/>
            </a:pPr>
            <a:r>
              <a:rPr lang="en-US" dirty="0">
                <a:latin typeface="Verdana" panose="020B0604030504040204" pitchFamily="34" charset="0"/>
                <a:ea typeface="Verdana" panose="020B0604030504040204" pitchFamily="34" charset="0"/>
                <a:cs typeface="Times New Roman" panose="02020603050405020304" pitchFamily="18" charset="0"/>
              </a:rPr>
              <a:t>About regression analysis: </a:t>
            </a:r>
            <a:r>
              <a:rPr lang="en-US" dirty="0">
                <a:solidFill>
                  <a:srgbClr val="002060"/>
                </a:solidFill>
                <a:latin typeface="Verdana" panose="020B0604030504040204" pitchFamily="34" charset="0"/>
                <a:ea typeface="Verdana" panose="020B0604030504040204" pitchFamily="34" charset="0"/>
                <a:cs typeface="Times New Roman" panose="02020603050405020304" pitchFamily="18" charset="0"/>
              </a:rPr>
              <a:t>Regression Methods in Biostatistics</a:t>
            </a:r>
            <a:r>
              <a:rPr lang="en-US" dirty="0">
                <a:latin typeface="Verdana" panose="020B0604030504040204" pitchFamily="34" charset="0"/>
                <a:ea typeface="Verdana" panose="020B0604030504040204" pitchFamily="34" charset="0"/>
                <a:cs typeface="Times New Roman" panose="02020603050405020304" pitchFamily="18" charset="0"/>
              </a:rPr>
              <a:t> (</a:t>
            </a:r>
            <a:r>
              <a:rPr lang="en-US" dirty="0" err="1">
                <a:latin typeface="Verdana" panose="020B0604030504040204" pitchFamily="34" charset="0"/>
                <a:ea typeface="Verdana" panose="020B0604030504040204" pitchFamily="34" charset="0"/>
                <a:cs typeface="Times New Roman" panose="02020603050405020304" pitchFamily="18" charset="0"/>
              </a:rPr>
              <a:t>Vittinghoff</a:t>
            </a:r>
            <a:r>
              <a:rPr lang="en-US" dirty="0">
                <a:latin typeface="Verdana" panose="020B0604030504040204" pitchFamily="34" charset="0"/>
                <a:ea typeface="Verdana" panose="020B0604030504040204" pitchFamily="34" charset="0"/>
                <a:cs typeface="Times New Roman" panose="02020603050405020304" pitchFamily="18" charset="0"/>
              </a:rPr>
              <a:t>, Glidden, </a:t>
            </a:r>
            <a:r>
              <a:rPr lang="en-US" dirty="0" err="1">
                <a:latin typeface="Verdana" panose="020B0604030504040204" pitchFamily="34" charset="0"/>
                <a:ea typeface="Verdana" panose="020B0604030504040204" pitchFamily="34" charset="0"/>
                <a:cs typeface="Times New Roman" panose="02020603050405020304" pitchFamily="18" charset="0"/>
              </a:rPr>
              <a:t>Shiboski</a:t>
            </a:r>
            <a:r>
              <a:rPr lang="en-US" dirty="0">
                <a:latin typeface="Verdana" panose="020B0604030504040204" pitchFamily="34" charset="0"/>
                <a:ea typeface="Verdana" panose="020B0604030504040204" pitchFamily="34" charset="0"/>
                <a:cs typeface="Times New Roman" panose="02020603050405020304" pitchFamily="18" charset="0"/>
              </a:rPr>
              <a:t> &amp; McCulloch, e-book at GU Library)</a:t>
            </a:r>
          </a:p>
          <a:p>
            <a:pPr marL="257175" lvl="2" indent="-257175">
              <a:buAutoNum type="arabicPeriod" startAt="2"/>
            </a:pPr>
            <a:r>
              <a:rPr lang="en-US" dirty="0">
                <a:latin typeface="Verdana" panose="020B0604030504040204" pitchFamily="34" charset="0"/>
                <a:ea typeface="Verdana" panose="020B0604030504040204" pitchFamily="34" charset="0"/>
                <a:cs typeface="Times New Roman" panose="02020603050405020304" pitchFamily="18" charset="0"/>
                <a:hlinkClick r:id="rId5"/>
              </a:rPr>
              <a:t>Online resource to learn SPSS</a:t>
            </a:r>
            <a:endParaRPr lang="en-US" dirty="0">
              <a:latin typeface="Verdana" panose="020B0604030504040204" pitchFamily="34" charset="0"/>
              <a:ea typeface="Verdana" panose="020B0604030504040204" pitchFamily="34" charset="0"/>
              <a:cs typeface="Times New Roman" panose="02020603050405020304" pitchFamily="18" charset="0"/>
            </a:endParaRPr>
          </a:p>
          <a:p>
            <a:pPr marL="257175" lvl="2" indent="-257175">
              <a:buFontTx/>
              <a:buAutoNum type="arabicPeriod" startAt="2"/>
            </a:pPr>
            <a:r>
              <a:rPr lang="en-US" dirty="0">
                <a:latin typeface="Verdana" panose="020B0604030504040204" pitchFamily="34" charset="0"/>
                <a:ea typeface="Verdana" panose="020B0604030504040204" pitchFamily="34" charset="0"/>
                <a:cs typeface="Times New Roman" panose="02020603050405020304" pitchFamily="18" charset="0"/>
                <a:hlinkClick r:id="rId6"/>
              </a:rPr>
              <a:t>Online resource to learn STATA</a:t>
            </a:r>
            <a:endParaRPr lang="en-US" dirty="0">
              <a:latin typeface="Verdana" panose="020B0604030504040204" pitchFamily="34" charset="0"/>
              <a:ea typeface="Verdana" panose="020B0604030504040204" pitchFamily="34" charset="0"/>
              <a:cs typeface="Times New Roman" panose="02020603050405020304" pitchFamily="18" charset="0"/>
            </a:endParaRPr>
          </a:p>
        </p:txBody>
      </p:sp>
      <p:pic>
        <p:nvPicPr>
          <p:cNvPr id="4" name="Bildobjekt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55977" y="3291830"/>
            <a:ext cx="1255814" cy="1620000"/>
          </a:xfrm>
          <a:prstGeom prst="rect">
            <a:avLst/>
          </a:prstGeom>
        </p:spPr>
      </p:pic>
      <p:pic>
        <p:nvPicPr>
          <p:cNvPr id="6" name="Picture 5">
            <a:extLst>
              <a:ext uri="{FF2B5EF4-FFF2-40B4-BE49-F238E27FC236}">
                <a16:creationId xmlns:a16="http://schemas.microsoft.com/office/drawing/2014/main" id="{249E6C99-6B36-45FB-B3CA-A03474234561}"/>
              </a:ext>
            </a:extLst>
          </p:cNvPr>
          <p:cNvPicPr>
            <a:picLocks noChangeAspect="1"/>
          </p:cNvPicPr>
          <p:nvPr/>
        </p:nvPicPr>
        <p:blipFill>
          <a:blip r:embed="rId8"/>
          <a:stretch>
            <a:fillRect/>
          </a:stretch>
        </p:blipFill>
        <p:spPr>
          <a:xfrm>
            <a:off x="2748600" y="3291830"/>
            <a:ext cx="1080000" cy="1620000"/>
          </a:xfrm>
          <a:prstGeom prst="rect">
            <a:avLst/>
          </a:prstGeom>
        </p:spPr>
      </p:pic>
    </p:spTree>
    <p:extLst>
      <p:ext uri="{BB962C8B-B14F-4D97-AF65-F5344CB8AC3E}">
        <p14:creationId xmlns:p14="http://schemas.microsoft.com/office/powerpoint/2010/main" val="161501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A81C7-494E-4C9E-B014-9A3ED333DC02}"/>
              </a:ext>
            </a:extLst>
          </p:cNvPr>
          <p:cNvSpPr>
            <a:spLocks noGrp="1"/>
          </p:cNvSpPr>
          <p:nvPr>
            <p:ph type="title"/>
          </p:nvPr>
        </p:nvSpPr>
        <p:spPr>
          <a:xfrm>
            <a:off x="971601" y="157162"/>
            <a:ext cx="6912768" cy="594122"/>
          </a:xfrm>
        </p:spPr>
        <p:txBody>
          <a:bodyPr/>
          <a:lstStyle/>
          <a:p>
            <a:r>
              <a:rPr lang="sv-SE" sz="3600" dirty="0" err="1">
                <a:solidFill>
                  <a:schemeClr val="tx1"/>
                </a:solidFill>
              </a:rPr>
              <a:t>Why</a:t>
            </a:r>
            <a:r>
              <a:rPr lang="sv-SE" sz="3600" dirty="0">
                <a:solidFill>
                  <a:schemeClr val="tx1"/>
                </a:solidFill>
              </a:rPr>
              <a:t> </a:t>
            </a:r>
            <a:r>
              <a:rPr lang="sv-SE" sz="3600" dirty="0" err="1">
                <a:solidFill>
                  <a:schemeClr val="tx1"/>
                </a:solidFill>
              </a:rPr>
              <a:t>statistics</a:t>
            </a:r>
            <a:r>
              <a:rPr lang="sv-SE" sz="3600" dirty="0">
                <a:solidFill>
                  <a:schemeClr val="tx1"/>
                </a:solidFill>
              </a:rPr>
              <a:t> in </a:t>
            </a:r>
            <a:r>
              <a:rPr lang="sv-SE" sz="3600" dirty="0" err="1">
                <a:solidFill>
                  <a:schemeClr val="tx1"/>
                </a:solidFill>
              </a:rPr>
              <a:t>medical</a:t>
            </a:r>
            <a:r>
              <a:rPr lang="sv-SE" sz="3600" dirty="0">
                <a:solidFill>
                  <a:schemeClr val="tx1"/>
                </a:solidFill>
              </a:rPr>
              <a:t> research?</a:t>
            </a:r>
          </a:p>
        </p:txBody>
      </p:sp>
      <p:sp>
        <p:nvSpPr>
          <p:cNvPr id="3" name="Content Placeholder 2">
            <a:extLst>
              <a:ext uri="{FF2B5EF4-FFF2-40B4-BE49-F238E27FC236}">
                <a16:creationId xmlns:a16="http://schemas.microsoft.com/office/drawing/2014/main" id="{1A76C1F0-6537-4294-A928-13BCF87868ED}"/>
              </a:ext>
            </a:extLst>
          </p:cNvPr>
          <p:cNvSpPr>
            <a:spLocks noGrp="1"/>
          </p:cNvSpPr>
          <p:nvPr>
            <p:ph sz="quarter" idx="12"/>
          </p:nvPr>
        </p:nvSpPr>
        <p:spPr>
          <a:xfrm>
            <a:off x="971600" y="771550"/>
            <a:ext cx="7704856" cy="3960440"/>
          </a:xfrm>
        </p:spPr>
        <p:txBody>
          <a:bodyPr>
            <a:normAutofit lnSpcReduction="10000"/>
          </a:bodyPr>
          <a:lstStyle/>
          <a:p>
            <a:pPr>
              <a:lnSpc>
                <a:spcPct val="150000"/>
              </a:lnSpc>
            </a:pPr>
            <a:r>
              <a:rPr lang="en-US" sz="2800" dirty="0">
                <a:solidFill>
                  <a:schemeClr val="tx1"/>
                </a:solidFill>
                <a:latin typeface="+mn-lt"/>
                <a:ea typeface="Verdana" panose="020B0604030504040204" pitchFamily="34" charset="0"/>
              </a:rPr>
              <a:t>“Incidence of </a:t>
            </a:r>
            <a:r>
              <a:rPr lang="en-US" sz="2800" b="1" dirty="0">
                <a:solidFill>
                  <a:schemeClr val="tx2">
                    <a:lumMod val="50000"/>
                  </a:schemeClr>
                </a:solidFill>
                <a:latin typeface="+mn-lt"/>
                <a:ea typeface="Verdana" panose="020B0604030504040204" pitchFamily="34" charset="0"/>
              </a:rPr>
              <a:t>cardiovascular disease </a:t>
            </a:r>
            <a:r>
              <a:rPr lang="en-US" sz="2800" dirty="0">
                <a:solidFill>
                  <a:schemeClr val="tx1"/>
                </a:solidFill>
                <a:latin typeface="+mn-lt"/>
                <a:ea typeface="Verdana" panose="020B0604030504040204" pitchFamily="34" charset="0"/>
              </a:rPr>
              <a:t>in </a:t>
            </a:r>
            <a:r>
              <a:rPr lang="en-US" sz="2800" b="1" dirty="0">
                <a:solidFill>
                  <a:schemeClr val="tx2">
                    <a:lumMod val="50000"/>
                  </a:schemeClr>
                </a:solidFill>
                <a:latin typeface="+mn-lt"/>
                <a:ea typeface="Verdana" panose="020B0604030504040204" pitchFamily="34" charset="0"/>
              </a:rPr>
              <a:t>rural</a:t>
            </a:r>
            <a:r>
              <a:rPr lang="en-US" sz="2800" dirty="0">
                <a:solidFill>
                  <a:schemeClr val="tx1"/>
                </a:solidFill>
                <a:latin typeface="+mn-lt"/>
                <a:ea typeface="Verdana" panose="020B0604030504040204" pitchFamily="34" charset="0"/>
              </a:rPr>
              <a:t> and </a:t>
            </a:r>
            <a:r>
              <a:rPr lang="en-US" sz="2800" b="1" dirty="0">
                <a:solidFill>
                  <a:schemeClr val="tx2">
                    <a:lumMod val="50000"/>
                  </a:schemeClr>
                </a:solidFill>
                <a:latin typeface="+mn-lt"/>
                <a:ea typeface="Verdana" panose="020B0604030504040204" pitchFamily="34" charset="0"/>
              </a:rPr>
              <a:t>urban areas</a:t>
            </a:r>
            <a:r>
              <a:rPr lang="en-US" sz="2800" dirty="0">
                <a:solidFill>
                  <a:schemeClr val="tx1"/>
                </a:solidFill>
                <a:latin typeface="+mn-lt"/>
                <a:ea typeface="Verdana" panose="020B0604030504040204" pitchFamily="34" charset="0"/>
              </a:rPr>
              <a:t>” </a:t>
            </a:r>
          </a:p>
          <a:p>
            <a:pPr lvl="1">
              <a:lnSpc>
                <a:spcPct val="150000"/>
              </a:lnSpc>
            </a:pPr>
            <a:r>
              <a:rPr lang="en-US" sz="2800" dirty="0">
                <a:solidFill>
                  <a:srgbClr val="002060"/>
                </a:solidFill>
                <a:latin typeface="+mn-lt"/>
                <a:ea typeface="Verdana" panose="020B0604030504040204" pitchFamily="34" charset="0"/>
              </a:rPr>
              <a:t>Rural   = 91 out of 4920 = 1.85%</a:t>
            </a:r>
          </a:p>
          <a:p>
            <a:pPr lvl="1">
              <a:lnSpc>
                <a:spcPct val="150000"/>
              </a:lnSpc>
            </a:pPr>
            <a:r>
              <a:rPr lang="en-US" sz="2800" dirty="0">
                <a:solidFill>
                  <a:schemeClr val="tx2">
                    <a:lumMod val="75000"/>
                  </a:schemeClr>
                </a:solidFill>
                <a:latin typeface="+mn-lt"/>
                <a:ea typeface="Verdana" panose="020B0604030504040204" pitchFamily="34" charset="0"/>
              </a:rPr>
              <a:t>Urban = 64 out of 4965 = 1.29%</a:t>
            </a:r>
          </a:p>
          <a:p>
            <a:pPr>
              <a:lnSpc>
                <a:spcPct val="150000"/>
              </a:lnSpc>
            </a:pPr>
            <a:r>
              <a:rPr lang="en-US" sz="2800" dirty="0">
                <a:solidFill>
                  <a:schemeClr val="tx1"/>
                </a:solidFill>
                <a:latin typeface="+mn-lt"/>
                <a:ea typeface="Verdana" panose="020B0604030504040204" pitchFamily="34" charset="0"/>
              </a:rPr>
              <a:t>How do we interpret these results?</a:t>
            </a:r>
          </a:p>
          <a:p>
            <a:pPr>
              <a:lnSpc>
                <a:spcPct val="150000"/>
              </a:lnSpc>
            </a:pPr>
            <a:r>
              <a:rPr lang="en-US" sz="2800" dirty="0">
                <a:solidFill>
                  <a:schemeClr val="tx1"/>
                </a:solidFill>
                <a:latin typeface="+mn-lt"/>
                <a:ea typeface="Verdana" panose="020B0604030504040204" pitchFamily="34" charset="0"/>
              </a:rPr>
              <a:t>Do you think there is an association?</a:t>
            </a:r>
          </a:p>
        </p:txBody>
      </p:sp>
      <p:sp>
        <p:nvSpPr>
          <p:cNvPr id="5" name="Slide Number Placeholder 4">
            <a:extLst>
              <a:ext uri="{FF2B5EF4-FFF2-40B4-BE49-F238E27FC236}">
                <a16:creationId xmlns:a16="http://schemas.microsoft.com/office/drawing/2014/main" id="{2C9BAC49-3BB4-432E-A9A0-4FA059E7E84F}"/>
              </a:ext>
            </a:extLst>
          </p:cNvPr>
          <p:cNvSpPr>
            <a:spLocks noGrp="1"/>
          </p:cNvSpPr>
          <p:nvPr>
            <p:ph type="sldNum" sz="quarter" idx="4294967295"/>
          </p:nvPr>
        </p:nvSpPr>
        <p:spPr/>
        <p:txBody>
          <a:bodyPr/>
          <a:lstStyle/>
          <a:p>
            <a:pPr>
              <a:defRPr/>
            </a:pPr>
            <a:fld id="{9426A61E-93B8-384D-8975-0A89DB09A550}" type="slidenum">
              <a:rPr lang="sv-SE" smtClean="0"/>
              <a:pPr>
                <a:defRPr/>
              </a:pPr>
              <a:t>4</a:t>
            </a:fld>
            <a:endParaRPr lang="sv-SE" dirty="0"/>
          </a:p>
        </p:txBody>
      </p:sp>
    </p:spTree>
    <p:extLst>
      <p:ext uri="{BB962C8B-B14F-4D97-AF65-F5344CB8AC3E}">
        <p14:creationId xmlns:p14="http://schemas.microsoft.com/office/powerpoint/2010/main" val="206239136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76C1F0-6537-4294-A928-13BCF87868ED}"/>
              </a:ext>
            </a:extLst>
          </p:cNvPr>
          <p:cNvSpPr>
            <a:spLocks noGrp="1"/>
          </p:cNvSpPr>
          <p:nvPr>
            <p:ph sz="quarter" idx="12"/>
          </p:nvPr>
        </p:nvSpPr>
        <p:spPr>
          <a:xfrm>
            <a:off x="955810" y="267494"/>
            <a:ext cx="7704856" cy="4680520"/>
          </a:xfrm>
        </p:spPr>
        <p:txBody>
          <a:bodyPr>
            <a:noAutofit/>
          </a:bodyPr>
          <a:lstStyle/>
          <a:p>
            <a:pPr marL="0" indent="0">
              <a:buNone/>
            </a:pPr>
            <a:r>
              <a:rPr lang="en-US" sz="2000" dirty="0">
                <a:solidFill>
                  <a:schemeClr val="tx1"/>
                </a:solidFill>
                <a:latin typeface="+mn-lt"/>
                <a:ea typeface="Verdana" panose="020B0604030504040204" pitchFamily="34" charset="0"/>
              </a:rPr>
              <a:t>We need statistics, we have 2 pieces of information</a:t>
            </a:r>
          </a:p>
          <a:p>
            <a:pPr marL="457200" indent="-457200">
              <a:buFont typeface="+mj-lt"/>
              <a:buAutoNum type="arabicPeriod"/>
            </a:pPr>
            <a:r>
              <a:rPr lang="en-US" sz="2000" dirty="0">
                <a:solidFill>
                  <a:schemeClr val="tx1"/>
                </a:solidFill>
                <a:latin typeface="+mn-lt"/>
                <a:ea typeface="Verdana" panose="020B0604030504040204" pitchFamily="34" charset="0"/>
              </a:rPr>
              <a:t>Place of residency (Rural vs. Urban)</a:t>
            </a:r>
            <a:r>
              <a:rPr lang="en-US" sz="2000" dirty="0">
                <a:solidFill>
                  <a:schemeClr val="tx1"/>
                </a:solidFill>
                <a:latin typeface="+mn-lt"/>
                <a:ea typeface="Verdana" panose="020B0604030504040204" pitchFamily="34" charset="0"/>
                <a:sym typeface="Wingdings" panose="05000000000000000000" pitchFamily="2" charset="2"/>
              </a:rPr>
              <a:t></a:t>
            </a:r>
            <a:r>
              <a:rPr lang="en-US" sz="2000" b="1" dirty="0">
                <a:solidFill>
                  <a:schemeClr val="tx1"/>
                </a:solidFill>
                <a:ea typeface="Verdana" panose="020B0604030504040204" pitchFamily="34" charset="0"/>
              </a:rPr>
              <a:t> predictor</a:t>
            </a:r>
            <a:r>
              <a:rPr lang="en-US" sz="2000" dirty="0">
                <a:solidFill>
                  <a:schemeClr val="tx1"/>
                </a:solidFill>
                <a:ea typeface="Verdana" panose="020B0604030504040204" pitchFamily="34" charset="0"/>
              </a:rPr>
              <a:t> variable</a:t>
            </a:r>
            <a:endParaRPr lang="en-US" sz="2000" dirty="0">
              <a:solidFill>
                <a:schemeClr val="tx1"/>
              </a:solidFill>
              <a:latin typeface="+mn-lt"/>
              <a:ea typeface="Verdana" panose="020B0604030504040204" pitchFamily="34" charset="0"/>
            </a:endParaRPr>
          </a:p>
          <a:p>
            <a:pPr marL="457200" indent="-457200">
              <a:buFont typeface="+mj-lt"/>
              <a:buAutoNum type="arabicPeriod"/>
            </a:pPr>
            <a:r>
              <a:rPr lang="en-US" sz="2000" dirty="0">
                <a:solidFill>
                  <a:schemeClr val="tx1"/>
                </a:solidFill>
                <a:latin typeface="+mn-lt"/>
                <a:ea typeface="Verdana" panose="020B0604030504040204" pitchFamily="34" charset="0"/>
              </a:rPr>
              <a:t>CVD (Yes or No)</a:t>
            </a:r>
            <a:r>
              <a:rPr lang="en-US" sz="2000" dirty="0">
                <a:solidFill>
                  <a:schemeClr val="tx1"/>
                </a:solidFill>
                <a:latin typeface="+mn-lt"/>
                <a:ea typeface="Verdana" panose="020B0604030504040204" pitchFamily="34" charset="0"/>
                <a:sym typeface="Wingdings" panose="05000000000000000000" pitchFamily="2" charset="2"/>
              </a:rPr>
              <a:t></a:t>
            </a:r>
            <a:r>
              <a:rPr lang="en-US" sz="2000" b="1" dirty="0">
                <a:solidFill>
                  <a:schemeClr val="tx1"/>
                </a:solidFill>
                <a:latin typeface="+mn-lt"/>
                <a:ea typeface="Verdana" panose="020B0604030504040204" pitchFamily="34" charset="0"/>
                <a:sym typeface="Wingdings" panose="05000000000000000000" pitchFamily="2" charset="2"/>
              </a:rPr>
              <a:t>o</a:t>
            </a:r>
            <a:r>
              <a:rPr lang="en-US" sz="2000" b="1" dirty="0">
                <a:solidFill>
                  <a:schemeClr val="tx1"/>
                </a:solidFill>
                <a:latin typeface="+mn-lt"/>
                <a:ea typeface="Verdana" panose="020B0604030504040204" pitchFamily="34" charset="0"/>
              </a:rPr>
              <a:t>utcome</a:t>
            </a:r>
            <a:r>
              <a:rPr lang="en-US" sz="2000" dirty="0">
                <a:solidFill>
                  <a:schemeClr val="tx1"/>
                </a:solidFill>
                <a:latin typeface="+mn-lt"/>
                <a:ea typeface="Verdana" panose="020B0604030504040204" pitchFamily="34" charset="0"/>
              </a:rPr>
              <a:t> variable </a:t>
            </a:r>
          </a:p>
          <a:p>
            <a:pPr marL="0" indent="0">
              <a:buNone/>
            </a:pPr>
            <a:endParaRPr lang="en-US" sz="2000" dirty="0">
              <a:solidFill>
                <a:schemeClr val="tx1"/>
              </a:solidFill>
              <a:latin typeface="+mn-lt"/>
              <a:ea typeface="Verdana" panose="020B0604030504040204" pitchFamily="34" charset="0"/>
            </a:endParaRPr>
          </a:p>
          <a:p>
            <a:endParaRPr lang="en-US" sz="2000" dirty="0">
              <a:solidFill>
                <a:schemeClr val="tx1"/>
              </a:solidFill>
              <a:latin typeface="+mn-lt"/>
              <a:ea typeface="Verdana" panose="020B0604030504040204" pitchFamily="34" charset="0"/>
            </a:endParaRPr>
          </a:p>
          <a:p>
            <a:endParaRPr lang="en-US" sz="2000" dirty="0">
              <a:solidFill>
                <a:schemeClr val="tx1"/>
              </a:solidFill>
              <a:latin typeface="+mn-lt"/>
              <a:ea typeface="Verdana" panose="020B0604030504040204" pitchFamily="34" charset="0"/>
            </a:endParaRPr>
          </a:p>
          <a:p>
            <a:pPr lvl="1"/>
            <a:endParaRPr lang="en-US" sz="2000" dirty="0">
              <a:solidFill>
                <a:schemeClr val="tx1"/>
              </a:solidFill>
              <a:latin typeface="+mn-lt"/>
              <a:ea typeface="Verdana" panose="020B0604030504040204" pitchFamily="34" charset="0"/>
            </a:endParaRPr>
          </a:p>
          <a:p>
            <a:pPr marL="0" indent="0">
              <a:lnSpc>
                <a:spcPct val="120000"/>
              </a:lnSpc>
              <a:buNone/>
            </a:pPr>
            <a:endParaRPr lang="en-US" sz="900" dirty="0">
              <a:solidFill>
                <a:schemeClr val="tx1"/>
              </a:solidFill>
              <a:latin typeface="+mn-lt"/>
              <a:ea typeface="Verdana" panose="020B0604030504040204" pitchFamily="34" charset="0"/>
            </a:endParaRPr>
          </a:p>
          <a:p>
            <a:pPr marL="0" indent="0">
              <a:lnSpc>
                <a:spcPct val="120000"/>
              </a:lnSpc>
              <a:buNone/>
            </a:pPr>
            <a:r>
              <a:rPr lang="en-US" sz="2000" dirty="0">
                <a:solidFill>
                  <a:schemeClr val="tx1"/>
                </a:solidFill>
                <a:latin typeface="+mn-lt"/>
                <a:ea typeface="Verdana" panose="020B0604030504040204" pitchFamily="34" charset="0"/>
              </a:rPr>
              <a:t>Difference in proportion = 0.5% percentage points with a 95% confidence interval of (0.07% ── 1.05%) </a:t>
            </a:r>
          </a:p>
          <a:p>
            <a:pPr marL="0" indent="0">
              <a:lnSpc>
                <a:spcPct val="120000"/>
              </a:lnSpc>
              <a:buNone/>
            </a:pPr>
            <a:r>
              <a:rPr lang="en-US" sz="2000" dirty="0">
                <a:solidFill>
                  <a:schemeClr val="tx1"/>
                </a:solidFill>
                <a:latin typeface="+mn-lt"/>
                <a:ea typeface="Verdana" panose="020B0604030504040204" pitchFamily="34" charset="0"/>
              </a:rPr>
              <a:t>Chi-square test (p =0.02)</a:t>
            </a:r>
          </a:p>
        </p:txBody>
      </p:sp>
      <p:sp>
        <p:nvSpPr>
          <p:cNvPr id="5" name="Slide Number Placeholder 4">
            <a:extLst>
              <a:ext uri="{FF2B5EF4-FFF2-40B4-BE49-F238E27FC236}">
                <a16:creationId xmlns:a16="http://schemas.microsoft.com/office/drawing/2014/main" id="{2C9BAC49-3BB4-432E-A9A0-4FA059E7E84F}"/>
              </a:ext>
            </a:extLst>
          </p:cNvPr>
          <p:cNvSpPr>
            <a:spLocks noGrp="1"/>
          </p:cNvSpPr>
          <p:nvPr>
            <p:ph type="sldNum" sz="quarter" idx="4294967295"/>
          </p:nvPr>
        </p:nvSpPr>
        <p:spPr/>
        <p:txBody>
          <a:bodyPr/>
          <a:lstStyle/>
          <a:p>
            <a:pPr>
              <a:defRPr/>
            </a:pPr>
            <a:fld id="{9426A61E-93B8-384D-8975-0A89DB09A550}" type="slidenum">
              <a:rPr lang="sv-SE" smtClean="0"/>
              <a:pPr>
                <a:defRPr/>
              </a:pPr>
              <a:t>5</a:t>
            </a:fld>
            <a:endParaRPr lang="sv-SE" dirty="0"/>
          </a:p>
        </p:txBody>
      </p:sp>
      <p:graphicFrame>
        <p:nvGraphicFramePr>
          <p:cNvPr id="4" name="Table 5">
            <a:extLst>
              <a:ext uri="{FF2B5EF4-FFF2-40B4-BE49-F238E27FC236}">
                <a16:creationId xmlns:a16="http://schemas.microsoft.com/office/drawing/2014/main" id="{6F077FF8-D762-4AD3-BE70-9D7473288C3C}"/>
              </a:ext>
            </a:extLst>
          </p:cNvPr>
          <p:cNvGraphicFramePr>
            <a:graphicFrameLocks noGrp="1"/>
          </p:cNvGraphicFramePr>
          <p:nvPr>
            <p:extLst>
              <p:ext uri="{D42A27DB-BD31-4B8C-83A1-F6EECF244321}">
                <p14:modId xmlns:p14="http://schemas.microsoft.com/office/powerpoint/2010/main" val="724473368"/>
              </p:ext>
            </p:extLst>
          </p:nvPr>
        </p:nvGraphicFramePr>
        <p:xfrm>
          <a:off x="2353087" y="1598138"/>
          <a:ext cx="6096000" cy="182880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507015880"/>
                    </a:ext>
                  </a:extLst>
                </a:gridCol>
                <a:gridCol w="1524000">
                  <a:extLst>
                    <a:ext uri="{9D8B030D-6E8A-4147-A177-3AD203B41FA5}">
                      <a16:colId xmlns:a16="http://schemas.microsoft.com/office/drawing/2014/main" val="4221941900"/>
                    </a:ext>
                  </a:extLst>
                </a:gridCol>
                <a:gridCol w="1524000">
                  <a:extLst>
                    <a:ext uri="{9D8B030D-6E8A-4147-A177-3AD203B41FA5}">
                      <a16:colId xmlns:a16="http://schemas.microsoft.com/office/drawing/2014/main" val="2098428027"/>
                    </a:ext>
                  </a:extLst>
                </a:gridCol>
                <a:gridCol w="1524000">
                  <a:extLst>
                    <a:ext uri="{9D8B030D-6E8A-4147-A177-3AD203B41FA5}">
                      <a16:colId xmlns:a16="http://schemas.microsoft.com/office/drawing/2014/main" val="812464541"/>
                    </a:ext>
                  </a:extLst>
                </a:gridCol>
              </a:tblGrid>
              <a:tr h="370840">
                <a:tc>
                  <a:txBody>
                    <a:bodyPr/>
                    <a:lstStyle/>
                    <a:p>
                      <a:endParaRPr lang="en-US" sz="2400" dirty="0">
                        <a:solidFill>
                          <a:schemeClr val="tx1"/>
                        </a:solidFill>
                        <a:latin typeface="Verdana" panose="020B0604030504040204" pitchFamily="34" charset="0"/>
                        <a:ea typeface="Verdana" panose="020B0604030504040204" pitchFamily="34" charset="0"/>
                      </a:endParaRPr>
                    </a:p>
                  </a:txBody>
                  <a:tcPr/>
                </a:tc>
                <a:tc>
                  <a:txBody>
                    <a:bodyPr/>
                    <a:lstStyle/>
                    <a:p>
                      <a:pPr algn="ctr"/>
                      <a:endParaRPr lang="en-US" sz="2400" b="1" kern="1200" dirty="0">
                        <a:solidFill>
                          <a:schemeClr val="tx1"/>
                        </a:solidFill>
                        <a:latin typeface="+mn-lt"/>
                        <a:ea typeface="+mn-ea"/>
                        <a:cs typeface="+mn-cs"/>
                      </a:endParaRPr>
                    </a:p>
                  </a:txBody>
                  <a:tcPr/>
                </a:tc>
                <a:tc>
                  <a:txBody>
                    <a:bodyPr/>
                    <a:lstStyle/>
                    <a:p>
                      <a:pPr algn="ctr"/>
                      <a:endParaRPr lang="en-US" sz="2400" b="1" kern="1200" dirty="0">
                        <a:solidFill>
                          <a:schemeClr val="tx1"/>
                        </a:solidFill>
                        <a:latin typeface="+mn-lt"/>
                        <a:ea typeface="+mn-ea"/>
                        <a:cs typeface="+mn-cs"/>
                      </a:endParaRPr>
                    </a:p>
                  </a:txBody>
                  <a:tcPr/>
                </a:tc>
                <a:tc>
                  <a:txBody>
                    <a:bodyPr/>
                    <a:lstStyle/>
                    <a:p>
                      <a:pPr algn="r"/>
                      <a:endParaRPr lang="en-US" sz="2400" b="1" kern="1200" dirty="0">
                        <a:solidFill>
                          <a:schemeClr val="tx1"/>
                        </a:solidFill>
                        <a:latin typeface="+mn-lt"/>
                        <a:ea typeface="+mn-ea"/>
                        <a:cs typeface="+mn-cs"/>
                      </a:endParaRPr>
                    </a:p>
                  </a:txBody>
                  <a:tcPr/>
                </a:tc>
                <a:extLst>
                  <a:ext uri="{0D108BD9-81ED-4DB2-BD59-A6C34878D82A}">
                    <a16:rowId xmlns:a16="http://schemas.microsoft.com/office/drawing/2014/main" val="1515704481"/>
                  </a:ext>
                </a:extLst>
              </a:tr>
              <a:tr h="370840">
                <a:tc>
                  <a:txBody>
                    <a:bodyPr/>
                    <a:lstStyle/>
                    <a:p>
                      <a:endParaRPr lang="en-US" sz="2400" b="1" kern="1200" dirty="0">
                        <a:solidFill>
                          <a:schemeClr val="tx1"/>
                        </a:solidFill>
                        <a:latin typeface="Verdana" panose="020B0604030504040204" pitchFamily="34" charset="0"/>
                        <a:ea typeface="Verdana" panose="020B0604030504040204" pitchFamily="34" charset="0"/>
                        <a:cs typeface="+mn-cs"/>
                      </a:endParaRPr>
                    </a:p>
                  </a:txBody>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400" dirty="0">
                        <a:solidFill>
                          <a:schemeClr val="tx1"/>
                        </a:solidFill>
                        <a:latin typeface="Verdana" panose="020B0604030504040204" pitchFamily="34" charset="0"/>
                        <a:ea typeface="Verdana" panose="020B0604030504040204" pitchFamily="34" charset="0"/>
                      </a:endParaRPr>
                    </a:p>
                  </a:txBody>
                  <a:tcPr/>
                </a:tc>
                <a:tc>
                  <a:txBody>
                    <a:bodyPr/>
                    <a:lstStyle/>
                    <a:p>
                      <a:pPr algn="r"/>
                      <a:endParaRPr lang="en-US" sz="2400" dirty="0">
                        <a:solidFill>
                          <a:schemeClr val="tx1"/>
                        </a:solidFill>
                        <a:latin typeface="Verdana" panose="020B0604030504040204" pitchFamily="34" charset="0"/>
                        <a:ea typeface="Verdana" panose="020B0604030504040204" pitchFamily="34" charset="0"/>
                      </a:endParaRPr>
                    </a:p>
                  </a:txBody>
                  <a:tcPr/>
                </a:tc>
                <a:tc>
                  <a:txBody>
                    <a:bodyPr/>
                    <a:lstStyle/>
                    <a:p>
                      <a:pPr algn="r"/>
                      <a:endParaRPr lang="en-US" sz="2400" dirty="0">
                        <a:solidFill>
                          <a:schemeClr val="tx1"/>
                        </a:solidFill>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537858821"/>
                  </a:ext>
                </a:extLst>
              </a:tr>
              <a:tr h="370840">
                <a:tc>
                  <a:txBody>
                    <a:bodyPr/>
                    <a:lstStyle/>
                    <a:p>
                      <a:endParaRPr lang="en-US" sz="2400" b="1" kern="1200" dirty="0">
                        <a:solidFill>
                          <a:schemeClr val="tx1"/>
                        </a:solidFill>
                        <a:latin typeface="Verdana" panose="020B0604030504040204" pitchFamily="34" charset="0"/>
                        <a:ea typeface="Verdana" panose="020B0604030504040204" pitchFamily="34" charset="0"/>
                        <a:cs typeface="+mn-cs"/>
                      </a:endParaRPr>
                    </a:p>
                  </a:txBody>
                  <a:tcPr/>
                </a:tc>
                <a:tc>
                  <a:txBody>
                    <a:bodyPr/>
                    <a:lstStyle/>
                    <a:p>
                      <a:pPr algn="r"/>
                      <a:endParaRPr lang="en-US" sz="2400" dirty="0">
                        <a:solidFill>
                          <a:schemeClr val="tx1"/>
                        </a:solidFill>
                        <a:latin typeface="Verdana" panose="020B0604030504040204" pitchFamily="34" charset="0"/>
                        <a:ea typeface="Verdana" panose="020B0604030504040204" pitchFamily="34" charset="0"/>
                      </a:endParaRPr>
                    </a:p>
                  </a:txBody>
                  <a:tcPr/>
                </a:tc>
                <a:tc>
                  <a:txBody>
                    <a:bodyPr/>
                    <a:lstStyle/>
                    <a:p>
                      <a:pPr algn="r"/>
                      <a:endParaRPr lang="en-US" sz="2400" dirty="0">
                        <a:solidFill>
                          <a:schemeClr val="tx1"/>
                        </a:solidFill>
                        <a:latin typeface="Verdana" panose="020B0604030504040204" pitchFamily="34" charset="0"/>
                        <a:ea typeface="Verdana" panose="020B0604030504040204" pitchFamily="34" charset="0"/>
                      </a:endParaRPr>
                    </a:p>
                  </a:txBody>
                  <a:tcPr/>
                </a:tc>
                <a:tc>
                  <a:txBody>
                    <a:bodyPr/>
                    <a:lstStyle/>
                    <a:p>
                      <a:pPr algn="r"/>
                      <a:endParaRPr lang="en-US" sz="2400" dirty="0">
                        <a:solidFill>
                          <a:schemeClr val="tx1"/>
                        </a:solidFill>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436358177"/>
                  </a:ext>
                </a:extLst>
              </a:tr>
              <a:tr h="370840">
                <a:tc>
                  <a:txBody>
                    <a:bodyPr/>
                    <a:lstStyle/>
                    <a:p>
                      <a:endParaRPr lang="en-US" sz="2400" dirty="0">
                        <a:solidFill>
                          <a:schemeClr val="tx1"/>
                        </a:solidFill>
                        <a:latin typeface="Verdana" panose="020B0604030504040204" pitchFamily="34" charset="0"/>
                        <a:ea typeface="Verdana" panose="020B0604030504040204" pitchFamily="34" charset="0"/>
                      </a:endParaRPr>
                    </a:p>
                  </a:txBody>
                  <a:tcPr/>
                </a:tc>
                <a:tc>
                  <a:txBody>
                    <a:bodyPr/>
                    <a:lstStyle/>
                    <a:p>
                      <a:pPr algn="r"/>
                      <a:r>
                        <a:rPr lang="en-US" sz="2400" kern="1200" dirty="0">
                          <a:solidFill>
                            <a:schemeClr val="tx1"/>
                          </a:solidFill>
                          <a:latin typeface="+mn-lt"/>
                          <a:ea typeface="+mn-ea"/>
                          <a:cs typeface="+mn-cs"/>
                        </a:rPr>
                        <a:t>155</a:t>
                      </a:r>
                    </a:p>
                  </a:txBody>
                  <a:tcPr/>
                </a:tc>
                <a:tc>
                  <a:txBody>
                    <a:bodyPr/>
                    <a:lstStyle/>
                    <a:p>
                      <a:pPr algn="r"/>
                      <a:r>
                        <a:rPr lang="en-US" sz="2400" kern="1200" dirty="0">
                          <a:solidFill>
                            <a:schemeClr val="tx1"/>
                          </a:solidFill>
                          <a:latin typeface="+mn-lt"/>
                          <a:ea typeface="+mn-ea"/>
                          <a:cs typeface="+mn-cs"/>
                        </a:rPr>
                        <a:t>9 730</a:t>
                      </a:r>
                    </a:p>
                  </a:txBody>
                  <a:tcPr/>
                </a:tc>
                <a:tc>
                  <a:txBody>
                    <a:bodyPr/>
                    <a:lstStyle/>
                    <a:p>
                      <a:pPr algn="r"/>
                      <a:r>
                        <a:rPr lang="en-US" sz="2400" kern="1200" dirty="0">
                          <a:solidFill>
                            <a:schemeClr val="tx1"/>
                          </a:solidFill>
                          <a:latin typeface="+mn-lt"/>
                          <a:ea typeface="+mn-ea"/>
                          <a:cs typeface="+mn-cs"/>
                        </a:rPr>
                        <a:t>9 885</a:t>
                      </a:r>
                    </a:p>
                  </a:txBody>
                  <a:tcPr/>
                </a:tc>
                <a:extLst>
                  <a:ext uri="{0D108BD9-81ED-4DB2-BD59-A6C34878D82A}">
                    <a16:rowId xmlns:a16="http://schemas.microsoft.com/office/drawing/2014/main" val="986601368"/>
                  </a:ext>
                </a:extLst>
              </a:tr>
            </a:tbl>
          </a:graphicData>
        </a:graphic>
      </p:graphicFrame>
      <p:grpSp>
        <p:nvGrpSpPr>
          <p:cNvPr id="20" name="Group 19">
            <a:extLst>
              <a:ext uri="{FF2B5EF4-FFF2-40B4-BE49-F238E27FC236}">
                <a16:creationId xmlns:a16="http://schemas.microsoft.com/office/drawing/2014/main" id="{C4726E9C-4EAE-43AC-99AF-2C193DE3D4C1}"/>
              </a:ext>
            </a:extLst>
          </p:cNvPr>
          <p:cNvGrpSpPr/>
          <p:nvPr/>
        </p:nvGrpSpPr>
        <p:grpSpPr>
          <a:xfrm>
            <a:off x="2505503" y="1604492"/>
            <a:ext cx="6049373" cy="1405682"/>
            <a:chOff x="1140997" y="1739592"/>
            <a:chExt cx="6049373" cy="1405682"/>
          </a:xfrm>
        </p:grpSpPr>
        <p:sp>
          <p:nvSpPr>
            <p:cNvPr id="9" name="TextBox 8">
              <a:extLst>
                <a:ext uri="{FF2B5EF4-FFF2-40B4-BE49-F238E27FC236}">
                  <a16:creationId xmlns:a16="http://schemas.microsoft.com/office/drawing/2014/main" id="{AA4B35ED-961E-4BE9-993A-D63D8087637C}"/>
                </a:ext>
              </a:extLst>
            </p:cNvPr>
            <p:cNvSpPr txBox="1"/>
            <p:nvPr/>
          </p:nvSpPr>
          <p:spPr>
            <a:xfrm>
              <a:off x="1140997" y="2171640"/>
              <a:ext cx="1296144" cy="523220"/>
            </a:xfrm>
            <a:prstGeom prst="rect">
              <a:avLst/>
            </a:prstGeom>
            <a:noFill/>
          </p:spPr>
          <p:txBody>
            <a:bodyPr wrap="square" rtlCol="0">
              <a:spAutoFit/>
            </a:bodyPr>
            <a:lstStyle/>
            <a:p>
              <a:r>
                <a:rPr lang="en-US" sz="2800" b="1" dirty="0">
                  <a:solidFill>
                    <a:schemeClr val="tx2">
                      <a:lumMod val="50000"/>
                    </a:schemeClr>
                  </a:solidFill>
                  <a:latin typeface="+mn-lt"/>
                  <a:ea typeface="Verdana" panose="020B0604030504040204" pitchFamily="34" charset="0"/>
                  <a:cs typeface="Arial" panose="020B0604020202020204" pitchFamily="34" charset="0"/>
                </a:rPr>
                <a:t>Rural</a:t>
              </a:r>
            </a:p>
          </p:txBody>
        </p:sp>
        <p:sp>
          <p:nvSpPr>
            <p:cNvPr id="10" name="TextBox 9">
              <a:extLst>
                <a:ext uri="{FF2B5EF4-FFF2-40B4-BE49-F238E27FC236}">
                  <a16:creationId xmlns:a16="http://schemas.microsoft.com/office/drawing/2014/main" id="{F0E39A4A-3E4E-4254-B6EA-0C802A0BD790}"/>
                </a:ext>
              </a:extLst>
            </p:cNvPr>
            <p:cNvSpPr txBox="1"/>
            <p:nvPr/>
          </p:nvSpPr>
          <p:spPr>
            <a:xfrm>
              <a:off x="1140997" y="2622054"/>
              <a:ext cx="1296144" cy="523220"/>
            </a:xfrm>
            <a:prstGeom prst="rect">
              <a:avLst/>
            </a:prstGeom>
            <a:noFill/>
          </p:spPr>
          <p:txBody>
            <a:bodyPr wrap="square" rtlCol="0">
              <a:spAutoFit/>
            </a:bodyPr>
            <a:lstStyle/>
            <a:p>
              <a:r>
                <a:rPr lang="en-US" sz="2800" b="1" dirty="0">
                  <a:solidFill>
                    <a:schemeClr val="tx2">
                      <a:lumMod val="50000"/>
                    </a:schemeClr>
                  </a:solidFill>
                  <a:latin typeface="+mn-lt"/>
                  <a:ea typeface="Verdana" panose="020B0604030504040204" pitchFamily="34" charset="0"/>
                  <a:cs typeface="Arial" panose="020B0604020202020204" pitchFamily="34" charset="0"/>
                </a:rPr>
                <a:t>Urban</a:t>
              </a:r>
            </a:p>
          </p:txBody>
        </p:sp>
        <p:sp>
          <p:nvSpPr>
            <p:cNvPr id="11" name="TextBox 10">
              <a:extLst>
                <a:ext uri="{FF2B5EF4-FFF2-40B4-BE49-F238E27FC236}">
                  <a16:creationId xmlns:a16="http://schemas.microsoft.com/office/drawing/2014/main" id="{313745B8-85D5-4732-849F-2B3E0A098647}"/>
                </a:ext>
              </a:extLst>
            </p:cNvPr>
            <p:cNvSpPr txBox="1"/>
            <p:nvPr/>
          </p:nvSpPr>
          <p:spPr>
            <a:xfrm>
              <a:off x="5894226" y="2187195"/>
              <a:ext cx="1296144" cy="707886"/>
            </a:xfrm>
            <a:prstGeom prst="rect">
              <a:avLst/>
            </a:prstGeom>
            <a:noFill/>
          </p:spPr>
          <p:txBody>
            <a:bodyPr wrap="square" rtlCol="0">
              <a:spAutoFit/>
            </a:bodyPr>
            <a:lstStyle/>
            <a:p>
              <a:r>
                <a:rPr lang="en-US" sz="2000" dirty="0"/>
                <a:t>4 920</a:t>
              </a:r>
              <a:endParaRPr lang="en-US" sz="2000" dirty="0">
                <a:latin typeface="Verdana" panose="020B0604030504040204" pitchFamily="34" charset="0"/>
                <a:ea typeface="Verdana" panose="020B0604030504040204" pitchFamily="34" charset="0"/>
              </a:endParaRPr>
            </a:p>
            <a:p>
              <a:endParaRPr lang="en-US" sz="2000" b="1" kern="1200" dirty="0">
                <a:solidFill>
                  <a:schemeClr val="tx1"/>
                </a:solidFill>
                <a:latin typeface="Verdana" panose="020B0604030504040204" pitchFamily="34" charset="0"/>
                <a:ea typeface="Verdana" panose="020B0604030504040204" pitchFamily="34" charset="0"/>
                <a:cs typeface="+mn-cs"/>
              </a:endParaRPr>
            </a:p>
          </p:txBody>
        </p:sp>
        <p:sp>
          <p:nvSpPr>
            <p:cNvPr id="12" name="TextBox 11">
              <a:extLst>
                <a:ext uri="{FF2B5EF4-FFF2-40B4-BE49-F238E27FC236}">
                  <a16:creationId xmlns:a16="http://schemas.microsoft.com/office/drawing/2014/main" id="{B7076CD1-4107-4517-8856-C6C330C0A6F0}"/>
                </a:ext>
              </a:extLst>
            </p:cNvPr>
            <p:cNvSpPr txBox="1"/>
            <p:nvPr/>
          </p:nvSpPr>
          <p:spPr>
            <a:xfrm>
              <a:off x="5894226" y="2661769"/>
              <a:ext cx="1296144" cy="400110"/>
            </a:xfrm>
            <a:prstGeom prst="rect">
              <a:avLst/>
            </a:prstGeom>
            <a:noFill/>
          </p:spPr>
          <p:txBody>
            <a:bodyPr wrap="square" rtlCol="0">
              <a:spAutoFit/>
            </a:bodyPr>
            <a:lstStyle/>
            <a:p>
              <a:r>
                <a:rPr lang="en-US" sz="2000" dirty="0"/>
                <a:t>4 965</a:t>
              </a:r>
              <a:endParaRPr lang="en-US" sz="2000" dirty="0">
                <a:latin typeface="Verdana" panose="020B0604030504040204" pitchFamily="34" charset="0"/>
                <a:ea typeface="Verdana" panose="020B0604030504040204" pitchFamily="34" charset="0"/>
              </a:endParaRPr>
            </a:p>
          </p:txBody>
        </p:sp>
        <p:sp>
          <p:nvSpPr>
            <p:cNvPr id="13" name="TextBox 12">
              <a:extLst>
                <a:ext uri="{FF2B5EF4-FFF2-40B4-BE49-F238E27FC236}">
                  <a16:creationId xmlns:a16="http://schemas.microsoft.com/office/drawing/2014/main" id="{C7ECCF42-6B83-4522-830C-8E3EC8AA7F9F}"/>
                </a:ext>
              </a:extLst>
            </p:cNvPr>
            <p:cNvSpPr txBox="1"/>
            <p:nvPr/>
          </p:nvSpPr>
          <p:spPr>
            <a:xfrm>
              <a:off x="2771800" y="2195255"/>
              <a:ext cx="1296144" cy="400110"/>
            </a:xfrm>
            <a:prstGeom prst="rect">
              <a:avLst/>
            </a:prstGeom>
            <a:noFill/>
          </p:spPr>
          <p:txBody>
            <a:bodyPr wrap="square" rtlCol="0">
              <a:spAutoFit/>
            </a:bodyPr>
            <a:lstStyle/>
            <a:p>
              <a:pPr algn="r"/>
              <a:r>
                <a:rPr lang="en-US" sz="2000" dirty="0"/>
                <a:t>91 (1.8%)</a:t>
              </a:r>
              <a:endParaRPr lang="en-US" sz="2000" dirty="0">
                <a:latin typeface="Verdana" panose="020B0604030504040204" pitchFamily="34" charset="0"/>
                <a:ea typeface="Verdana" panose="020B0604030504040204" pitchFamily="34" charset="0"/>
              </a:endParaRPr>
            </a:p>
          </p:txBody>
        </p:sp>
        <p:sp>
          <p:nvSpPr>
            <p:cNvPr id="14" name="TextBox 13">
              <a:extLst>
                <a:ext uri="{FF2B5EF4-FFF2-40B4-BE49-F238E27FC236}">
                  <a16:creationId xmlns:a16="http://schemas.microsoft.com/office/drawing/2014/main" id="{844B68A5-AD91-4924-BDC4-571065C02E10}"/>
                </a:ext>
              </a:extLst>
            </p:cNvPr>
            <p:cNvSpPr txBox="1"/>
            <p:nvPr/>
          </p:nvSpPr>
          <p:spPr>
            <a:xfrm>
              <a:off x="2771800" y="2647638"/>
              <a:ext cx="1296144" cy="400110"/>
            </a:xfrm>
            <a:prstGeom prst="rect">
              <a:avLst/>
            </a:prstGeom>
            <a:noFill/>
          </p:spPr>
          <p:txBody>
            <a:bodyPr wrap="square" rtlCol="0">
              <a:spAutoFit/>
            </a:bodyPr>
            <a:lstStyle/>
            <a:p>
              <a:pPr algn="r"/>
              <a:r>
                <a:rPr lang="en-US" sz="2000"/>
                <a:t>64 (1.3%)</a:t>
              </a:r>
              <a:endParaRPr lang="en-US" sz="2000" dirty="0">
                <a:latin typeface="Verdana" panose="020B0604030504040204" pitchFamily="34" charset="0"/>
                <a:ea typeface="Verdana" panose="020B0604030504040204" pitchFamily="34" charset="0"/>
              </a:endParaRPr>
            </a:p>
          </p:txBody>
        </p:sp>
        <p:sp>
          <p:nvSpPr>
            <p:cNvPr id="15" name="TextBox 14">
              <a:extLst>
                <a:ext uri="{FF2B5EF4-FFF2-40B4-BE49-F238E27FC236}">
                  <a16:creationId xmlns:a16="http://schemas.microsoft.com/office/drawing/2014/main" id="{930717A9-3467-46A4-AE1F-DB1BA76CFFBB}"/>
                </a:ext>
              </a:extLst>
            </p:cNvPr>
            <p:cNvSpPr txBox="1"/>
            <p:nvPr/>
          </p:nvSpPr>
          <p:spPr>
            <a:xfrm>
              <a:off x="2987824" y="1739592"/>
              <a:ext cx="720080" cy="400110"/>
            </a:xfrm>
            <a:prstGeom prst="rect">
              <a:avLst/>
            </a:prstGeom>
            <a:noFill/>
          </p:spPr>
          <p:txBody>
            <a:bodyPr wrap="square" rtlCol="0">
              <a:spAutoFit/>
            </a:bodyPr>
            <a:lstStyle/>
            <a:p>
              <a:r>
                <a:rPr lang="en-US" sz="2000" b="1" kern="1200" dirty="0">
                  <a:solidFill>
                    <a:schemeClr val="tx1"/>
                  </a:solidFill>
                  <a:latin typeface="Verdana" panose="020B0604030504040204" pitchFamily="34" charset="0"/>
                  <a:ea typeface="Verdana" panose="020B0604030504040204" pitchFamily="34" charset="0"/>
                </a:rPr>
                <a:t>Yes</a:t>
              </a:r>
              <a:endParaRPr lang="en-US" sz="2000" b="1" kern="1200" dirty="0">
                <a:solidFill>
                  <a:schemeClr val="tx1"/>
                </a:solidFill>
                <a:latin typeface="Verdana" panose="020B0604030504040204" pitchFamily="34" charset="0"/>
                <a:ea typeface="Verdana" panose="020B0604030504040204" pitchFamily="34" charset="0"/>
                <a:cs typeface="+mn-cs"/>
              </a:endParaRPr>
            </a:p>
          </p:txBody>
        </p:sp>
        <p:sp>
          <p:nvSpPr>
            <p:cNvPr id="16" name="TextBox 15">
              <a:extLst>
                <a:ext uri="{FF2B5EF4-FFF2-40B4-BE49-F238E27FC236}">
                  <a16:creationId xmlns:a16="http://schemas.microsoft.com/office/drawing/2014/main" id="{3C27BFA6-5258-4B96-8B44-C06690D2CBC2}"/>
                </a:ext>
              </a:extLst>
            </p:cNvPr>
            <p:cNvSpPr txBox="1"/>
            <p:nvPr/>
          </p:nvSpPr>
          <p:spPr>
            <a:xfrm>
              <a:off x="4572000" y="1739592"/>
              <a:ext cx="648072" cy="400110"/>
            </a:xfrm>
            <a:prstGeom prst="rect">
              <a:avLst/>
            </a:prstGeom>
            <a:noFill/>
          </p:spPr>
          <p:txBody>
            <a:bodyPr wrap="square" rtlCol="0">
              <a:spAutoFit/>
            </a:bodyPr>
            <a:lstStyle/>
            <a:p>
              <a:r>
                <a:rPr lang="en-US" sz="2000" b="1" kern="1200" dirty="0">
                  <a:solidFill>
                    <a:schemeClr val="tx1"/>
                  </a:solidFill>
                  <a:latin typeface="Verdana" panose="020B0604030504040204" pitchFamily="34" charset="0"/>
                  <a:ea typeface="Verdana" panose="020B0604030504040204" pitchFamily="34" charset="0"/>
                </a:rPr>
                <a:t>No</a:t>
              </a:r>
              <a:endParaRPr lang="en-US" sz="2000" b="1" kern="1200" dirty="0">
                <a:solidFill>
                  <a:schemeClr val="tx1"/>
                </a:solidFill>
                <a:latin typeface="Verdana" panose="020B0604030504040204" pitchFamily="34" charset="0"/>
                <a:ea typeface="Verdana" panose="020B0604030504040204" pitchFamily="34" charset="0"/>
                <a:cs typeface="+mn-cs"/>
              </a:endParaRPr>
            </a:p>
          </p:txBody>
        </p:sp>
        <p:sp>
          <p:nvSpPr>
            <p:cNvPr id="17" name="TextBox 16">
              <a:extLst>
                <a:ext uri="{FF2B5EF4-FFF2-40B4-BE49-F238E27FC236}">
                  <a16:creationId xmlns:a16="http://schemas.microsoft.com/office/drawing/2014/main" id="{3A3A05F1-981B-404E-838A-1FFF6E362642}"/>
                </a:ext>
              </a:extLst>
            </p:cNvPr>
            <p:cNvSpPr txBox="1"/>
            <p:nvPr/>
          </p:nvSpPr>
          <p:spPr>
            <a:xfrm>
              <a:off x="4304626" y="2067694"/>
              <a:ext cx="1080120" cy="1015663"/>
            </a:xfrm>
            <a:prstGeom prst="rect">
              <a:avLst/>
            </a:prstGeom>
            <a:noFill/>
          </p:spPr>
          <p:txBody>
            <a:bodyPr wrap="square" rtlCol="0">
              <a:spAutoFit/>
            </a:bodyPr>
            <a:lstStyle/>
            <a:p>
              <a:pPr marL="0" algn="r" rtl="0" eaLnBrk="1" fontAlgn="t" latinLnBrk="0" hangingPunct="1">
                <a:lnSpc>
                  <a:spcPct val="150000"/>
                </a:lnSpc>
                <a:spcBef>
                  <a:spcPts val="0"/>
                </a:spcBef>
                <a:spcAft>
                  <a:spcPts val="0"/>
                </a:spcAft>
              </a:pPr>
              <a:r>
                <a:rPr lang="en-US" sz="2000" b="0" i="0" u="none" strike="noStrike" kern="1200" dirty="0">
                  <a:solidFill>
                    <a:srgbClr val="000000"/>
                  </a:solidFill>
                  <a:effectLst/>
                  <a:latin typeface="Arial" panose="020B0604020202020204" pitchFamily="34" charset="0"/>
                  <a:cs typeface="Arial" panose="020B0604020202020204" pitchFamily="34" charset="0"/>
                </a:rPr>
                <a:t>4 829</a:t>
              </a:r>
              <a:endParaRPr lang="en-US" sz="2000" b="0" i="0" u="none" strike="noStrike" dirty="0">
                <a:effectLst/>
                <a:latin typeface="Arial" panose="020B0604020202020204" pitchFamily="34" charset="0"/>
                <a:cs typeface="Arial" panose="020B0604020202020204" pitchFamily="34" charset="0"/>
              </a:endParaRPr>
            </a:p>
            <a:p>
              <a:pPr marL="0" algn="r" rtl="0" eaLnBrk="1" fontAlgn="t" latinLnBrk="0" hangingPunct="1">
                <a:lnSpc>
                  <a:spcPct val="150000"/>
                </a:lnSpc>
                <a:spcBef>
                  <a:spcPts val="0"/>
                </a:spcBef>
                <a:spcAft>
                  <a:spcPts val="0"/>
                </a:spcAft>
              </a:pPr>
              <a:r>
                <a:rPr lang="en-US" sz="2000" b="0" i="0" u="none" strike="noStrike" kern="1200" dirty="0">
                  <a:solidFill>
                    <a:srgbClr val="000000"/>
                  </a:solidFill>
                  <a:effectLst/>
                  <a:latin typeface="Arial" panose="020B0604020202020204" pitchFamily="34" charset="0"/>
                  <a:cs typeface="Arial" panose="020B0604020202020204" pitchFamily="34" charset="0"/>
                </a:rPr>
                <a:t>4 901</a:t>
              </a:r>
              <a:endParaRPr lang="en-US" sz="2000" b="0" i="0" u="none" strike="noStrike" dirty="0">
                <a:effectLst/>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01A1875-9CD1-45A7-91A6-7B081724F31A}"/>
                </a:ext>
              </a:extLst>
            </p:cNvPr>
            <p:cNvSpPr txBox="1"/>
            <p:nvPr/>
          </p:nvSpPr>
          <p:spPr>
            <a:xfrm>
              <a:off x="5940152" y="1739592"/>
              <a:ext cx="1008112" cy="400110"/>
            </a:xfrm>
            <a:prstGeom prst="rect">
              <a:avLst/>
            </a:prstGeom>
            <a:noFill/>
          </p:spPr>
          <p:txBody>
            <a:bodyPr wrap="square" rtlCol="0">
              <a:spAutoFit/>
            </a:bodyPr>
            <a:lstStyle/>
            <a:p>
              <a:r>
                <a:rPr lang="en-US" sz="2000" b="1" kern="1200" dirty="0">
                  <a:solidFill>
                    <a:schemeClr val="tx1"/>
                  </a:solidFill>
                  <a:latin typeface="Verdana" panose="020B0604030504040204" pitchFamily="34" charset="0"/>
                  <a:ea typeface="Verdana" panose="020B0604030504040204" pitchFamily="34" charset="0"/>
                </a:rPr>
                <a:t>Total</a:t>
              </a:r>
              <a:endParaRPr lang="en-US" sz="2000" b="1" kern="1200" dirty="0">
                <a:solidFill>
                  <a:schemeClr val="tx1"/>
                </a:solidFill>
                <a:latin typeface="Verdana" panose="020B0604030504040204" pitchFamily="34" charset="0"/>
                <a:ea typeface="Verdana" panose="020B0604030504040204" pitchFamily="34" charset="0"/>
                <a:cs typeface="+mn-cs"/>
              </a:endParaRPr>
            </a:p>
          </p:txBody>
        </p:sp>
      </p:grpSp>
    </p:spTree>
    <p:extLst>
      <p:ext uri="{BB962C8B-B14F-4D97-AF65-F5344CB8AC3E}">
        <p14:creationId xmlns:p14="http://schemas.microsoft.com/office/powerpoint/2010/main" val="320443730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76C1F0-6537-4294-A928-13BCF87868ED}"/>
              </a:ext>
            </a:extLst>
          </p:cNvPr>
          <p:cNvSpPr>
            <a:spLocks noGrp="1"/>
          </p:cNvSpPr>
          <p:nvPr>
            <p:ph sz="quarter" idx="12"/>
          </p:nvPr>
        </p:nvSpPr>
        <p:spPr>
          <a:xfrm>
            <a:off x="955810" y="411510"/>
            <a:ext cx="7704856" cy="4392488"/>
          </a:xfrm>
        </p:spPr>
        <p:txBody>
          <a:bodyPr>
            <a:normAutofit/>
          </a:bodyPr>
          <a:lstStyle/>
          <a:p>
            <a:pPr marL="0" indent="0">
              <a:buNone/>
            </a:pPr>
            <a:r>
              <a:rPr lang="en-US" sz="2000" dirty="0">
                <a:solidFill>
                  <a:schemeClr val="tx1"/>
                </a:solidFill>
                <a:latin typeface="+mn-lt"/>
                <a:ea typeface="Verdana" panose="020B0604030504040204" pitchFamily="34" charset="0"/>
              </a:rPr>
              <a:t>There is an association </a:t>
            </a:r>
            <a:r>
              <a:rPr lang="en-US" sz="2000" dirty="0">
                <a:solidFill>
                  <a:schemeClr val="tx1"/>
                </a:solidFill>
                <a:latin typeface="+mn-lt"/>
                <a:ea typeface="Verdana" panose="020B0604030504040204" pitchFamily="34" charset="0"/>
                <a:sym typeface="Wingdings" panose="05000000000000000000" pitchFamily="2" charset="2"/>
              </a:rPr>
              <a:t></a:t>
            </a:r>
            <a:r>
              <a:rPr lang="en-US" sz="2000" dirty="0">
                <a:solidFill>
                  <a:schemeClr val="tx1"/>
                </a:solidFill>
                <a:latin typeface="+mn-lt"/>
                <a:ea typeface="Verdana" panose="020B0604030504040204" pitchFamily="34" charset="0"/>
              </a:rPr>
              <a:t> Difference in proportion = 0.5% (0.07%, 1.05%)  and  Chi-square test (p =0.02)</a:t>
            </a:r>
          </a:p>
          <a:p>
            <a:pPr marL="0" indent="0">
              <a:buNone/>
            </a:pPr>
            <a:r>
              <a:rPr lang="en-US" sz="2400" dirty="0">
                <a:solidFill>
                  <a:schemeClr val="tx1"/>
                </a:solidFill>
                <a:latin typeface="+mn-lt"/>
                <a:ea typeface="Verdana" panose="020B0604030504040204" pitchFamily="34" charset="0"/>
              </a:rPr>
              <a:t>Is 0.5% difference clinically relevant difference? </a:t>
            </a:r>
          </a:p>
          <a:p>
            <a:pPr marL="0" indent="0">
              <a:buNone/>
            </a:pPr>
            <a:endParaRPr lang="en-US" sz="2400" dirty="0">
              <a:solidFill>
                <a:schemeClr val="tx1"/>
              </a:solidFill>
              <a:latin typeface="+mn-lt"/>
              <a:ea typeface="Verdana" panose="020B0604030504040204" pitchFamily="34" charset="0"/>
            </a:endParaRPr>
          </a:p>
          <a:p>
            <a:pPr marL="0" indent="0">
              <a:buNone/>
            </a:pPr>
            <a:endParaRPr lang="en-US" sz="2400" dirty="0">
              <a:solidFill>
                <a:schemeClr val="tx1"/>
              </a:solidFill>
              <a:latin typeface="+mn-lt"/>
              <a:ea typeface="Verdana" panose="020B0604030504040204" pitchFamily="34" charset="0"/>
            </a:endParaRPr>
          </a:p>
          <a:p>
            <a:pPr marL="0" indent="0">
              <a:buNone/>
            </a:pPr>
            <a:endParaRPr lang="en-US" sz="2400" dirty="0">
              <a:solidFill>
                <a:schemeClr val="tx1"/>
              </a:solidFill>
              <a:latin typeface="+mn-lt"/>
              <a:ea typeface="Verdana" panose="020B0604030504040204" pitchFamily="34" charset="0"/>
            </a:endParaRPr>
          </a:p>
          <a:p>
            <a:pPr marL="0" indent="0">
              <a:buNone/>
            </a:pPr>
            <a:endParaRPr lang="en-US" sz="2400" dirty="0">
              <a:solidFill>
                <a:schemeClr val="tx1"/>
              </a:solidFill>
              <a:latin typeface="+mn-lt"/>
              <a:ea typeface="Verdana" panose="020B0604030504040204" pitchFamily="34" charset="0"/>
            </a:endParaRPr>
          </a:p>
          <a:p>
            <a:pPr marL="0" indent="0">
              <a:buNone/>
            </a:pPr>
            <a:r>
              <a:rPr lang="en-US" sz="2400" dirty="0">
                <a:solidFill>
                  <a:schemeClr val="bg1">
                    <a:lumMod val="85000"/>
                  </a:schemeClr>
                </a:solidFill>
                <a:ea typeface="Verdana" panose="020B0604030504040204" pitchFamily="34" charset="0"/>
              </a:rPr>
              <a:t>8705 excess cases (</a:t>
            </a:r>
            <a:r>
              <a:rPr lang="en-US" sz="2400" dirty="0">
                <a:solidFill>
                  <a:schemeClr val="bg1">
                    <a:lumMod val="85000"/>
                  </a:schemeClr>
                </a:solidFill>
                <a:latin typeface="+mn-lt"/>
                <a:ea typeface="Verdana" panose="020B0604030504040204" pitchFamily="34" charset="0"/>
              </a:rPr>
              <a:t>452756 – 36572)</a:t>
            </a:r>
            <a:endParaRPr lang="en-US" sz="2000" dirty="0">
              <a:solidFill>
                <a:schemeClr val="bg1">
                  <a:lumMod val="85000"/>
                </a:schemeClr>
              </a:solidFill>
              <a:latin typeface="+mn-lt"/>
              <a:ea typeface="Verdana" panose="020B0604030504040204" pitchFamily="34" charset="0"/>
            </a:endParaRPr>
          </a:p>
        </p:txBody>
      </p:sp>
      <p:sp>
        <p:nvSpPr>
          <p:cNvPr id="5" name="Slide Number Placeholder 4">
            <a:extLst>
              <a:ext uri="{FF2B5EF4-FFF2-40B4-BE49-F238E27FC236}">
                <a16:creationId xmlns:a16="http://schemas.microsoft.com/office/drawing/2014/main" id="{2C9BAC49-3BB4-432E-A9A0-4FA059E7E84F}"/>
              </a:ext>
            </a:extLst>
          </p:cNvPr>
          <p:cNvSpPr>
            <a:spLocks noGrp="1"/>
          </p:cNvSpPr>
          <p:nvPr>
            <p:ph type="sldNum" sz="quarter" idx="4294967295"/>
          </p:nvPr>
        </p:nvSpPr>
        <p:spPr/>
        <p:txBody>
          <a:bodyPr/>
          <a:lstStyle/>
          <a:p>
            <a:pPr>
              <a:defRPr/>
            </a:pPr>
            <a:fld id="{9426A61E-93B8-384D-8975-0A89DB09A550}" type="slidenum">
              <a:rPr lang="sv-SE" smtClean="0"/>
              <a:pPr>
                <a:defRPr/>
              </a:pPr>
              <a:t>6</a:t>
            </a:fld>
            <a:endParaRPr lang="sv-SE" dirty="0"/>
          </a:p>
        </p:txBody>
      </p:sp>
      <p:graphicFrame>
        <p:nvGraphicFramePr>
          <p:cNvPr id="19" name="Table 5">
            <a:extLst>
              <a:ext uri="{FF2B5EF4-FFF2-40B4-BE49-F238E27FC236}">
                <a16:creationId xmlns:a16="http://schemas.microsoft.com/office/drawing/2014/main" id="{94086CF0-AC2C-4414-91B4-3A1FF614F575}"/>
              </a:ext>
            </a:extLst>
          </p:cNvPr>
          <p:cNvGraphicFramePr>
            <a:graphicFrameLocks noGrp="1"/>
          </p:cNvGraphicFramePr>
          <p:nvPr>
            <p:extLst>
              <p:ext uri="{D42A27DB-BD31-4B8C-83A1-F6EECF244321}">
                <p14:modId xmlns:p14="http://schemas.microsoft.com/office/powerpoint/2010/main" val="553883024"/>
              </p:ext>
            </p:extLst>
          </p:nvPr>
        </p:nvGraphicFramePr>
        <p:xfrm>
          <a:off x="1644334" y="1821401"/>
          <a:ext cx="6096000" cy="137160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507015880"/>
                    </a:ext>
                  </a:extLst>
                </a:gridCol>
                <a:gridCol w="1524000">
                  <a:extLst>
                    <a:ext uri="{9D8B030D-6E8A-4147-A177-3AD203B41FA5}">
                      <a16:colId xmlns:a16="http://schemas.microsoft.com/office/drawing/2014/main" val="4221941900"/>
                    </a:ext>
                  </a:extLst>
                </a:gridCol>
                <a:gridCol w="1524000">
                  <a:extLst>
                    <a:ext uri="{9D8B030D-6E8A-4147-A177-3AD203B41FA5}">
                      <a16:colId xmlns:a16="http://schemas.microsoft.com/office/drawing/2014/main" val="2098428027"/>
                    </a:ext>
                  </a:extLst>
                </a:gridCol>
                <a:gridCol w="1524000">
                  <a:extLst>
                    <a:ext uri="{9D8B030D-6E8A-4147-A177-3AD203B41FA5}">
                      <a16:colId xmlns:a16="http://schemas.microsoft.com/office/drawing/2014/main" val="812464541"/>
                    </a:ext>
                  </a:extLst>
                </a:gridCol>
              </a:tblGrid>
              <a:tr h="370840">
                <a:tc>
                  <a:txBody>
                    <a:bodyPr/>
                    <a:lstStyle/>
                    <a:p>
                      <a:endParaRPr lang="en-US" sz="2400" dirty="0">
                        <a:solidFill>
                          <a:schemeClr val="tx1"/>
                        </a:solidFill>
                        <a:latin typeface="Verdana" panose="020B0604030504040204" pitchFamily="34" charset="0"/>
                        <a:ea typeface="Verdana" panose="020B0604030504040204" pitchFamily="34" charset="0"/>
                      </a:endParaRPr>
                    </a:p>
                  </a:txBody>
                  <a:tcPr/>
                </a:tc>
                <a:tc>
                  <a:txBody>
                    <a:bodyPr/>
                    <a:lstStyle/>
                    <a:p>
                      <a:pPr algn="ctr"/>
                      <a:endParaRPr lang="en-US" sz="2400" b="1" kern="1200" dirty="0">
                        <a:solidFill>
                          <a:schemeClr val="tx1"/>
                        </a:solidFill>
                        <a:latin typeface="+mn-lt"/>
                        <a:ea typeface="+mn-ea"/>
                        <a:cs typeface="+mn-cs"/>
                      </a:endParaRPr>
                    </a:p>
                  </a:txBody>
                  <a:tcPr/>
                </a:tc>
                <a:tc>
                  <a:txBody>
                    <a:bodyPr/>
                    <a:lstStyle/>
                    <a:p>
                      <a:pPr algn="ctr"/>
                      <a:endParaRPr lang="en-US" sz="2400" b="1" kern="1200" dirty="0">
                        <a:solidFill>
                          <a:schemeClr val="tx1"/>
                        </a:solidFill>
                        <a:latin typeface="+mn-lt"/>
                        <a:ea typeface="+mn-ea"/>
                        <a:cs typeface="+mn-cs"/>
                      </a:endParaRPr>
                    </a:p>
                  </a:txBody>
                  <a:tcPr/>
                </a:tc>
                <a:tc>
                  <a:txBody>
                    <a:bodyPr/>
                    <a:lstStyle/>
                    <a:p>
                      <a:pPr algn="r"/>
                      <a:endParaRPr lang="en-US" sz="2400" b="1" kern="1200" dirty="0">
                        <a:solidFill>
                          <a:schemeClr val="tx1"/>
                        </a:solidFill>
                        <a:latin typeface="+mn-lt"/>
                        <a:ea typeface="+mn-ea"/>
                        <a:cs typeface="+mn-cs"/>
                      </a:endParaRPr>
                    </a:p>
                  </a:txBody>
                  <a:tcPr/>
                </a:tc>
                <a:extLst>
                  <a:ext uri="{0D108BD9-81ED-4DB2-BD59-A6C34878D82A}">
                    <a16:rowId xmlns:a16="http://schemas.microsoft.com/office/drawing/2014/main" val="1515704481"/>
                  </a:ext>
                </a:extLst>
              </a:tr>
              <a:tr h="370840">
                <a:tc>
                  <a:txBody>
                    <a:bodyPr/>
                    <a:lstStyle/>
                    <a:p>
                      <a:endParaRPr lang="en-US" sz="2400" b="1" kern="1200" dirty="0">
                        <a:solidFill>
                          <a:schemeClr val="tx1"/>
                        </a:solidFill>
                        <a:latin typeface="Verdana" panose="020B0604030504040204" pitchFamily="34" charset="0"/>
                        <a:ea typeface="Verdana" panose="020B0604030504040204" pitchFamily="34" charset="0"/>
                        <a:cs typeface="+mn-cs"/>
                      </a:endParaRPr>
                    </a:p>
                  </a:txBody>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lang="en-US" sz="2400" dirty="0">
                        <a:solidFill>
                          <a:schemeClr val="tx1"/>
                        </a:solidFill>
                        <a:latin typeface="Verdana" panose="020B0604030504040204" pitchFamily="34" charset="0"/>
                        <a:ea typeface="Verdana" panose="020B0604030504040204" pitchFamily="34" charset="0"/>
                      </a:endParaRPr>
                    </a:p>
                  </a:txBody>
                  <a:tcPr/>
                </a:tc>
                <a:tc>
                  <a:txBody>
                    <a:bodyPr/>
                    <a:lstStyle/>
                    <a:p>
                      <a:pPr algn="r"/>
                      <a:endParaRPr lang="en-US" sz="2400" dirty="0">
                        <a:solidFill>
                          <a:schemeClr val="tx1"/>
                        </a:solidFill>
                        <a:latin typeface="Verdana" panose="020B0604030504040204" pitchFamily="34" charset="0"/>
                        <a:ea typeface="Verdana" panose="020B0604030504040204" pitchFamily="34" charset="0"/>
                      </a:endParaRPr>
                    </a:p>
                  </a:txBody>
                  <a:tcPr/>
                </a:tc>
                <a:tc>
                  <a:txBody>
                    <a:bodyPr/>
                    <a:lstStyle/>
                    <a:p>
                      <a:pPr algn="r"/>
                      <a:endParaRPr lang="en-US" sz="2400" dirty="0">
                        <a:solidFill>
                          <a:schemeClr val="tx1"/>
                        </a:solidFill>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537858821"/>
                  </a:ext>
                </a:extLst>
              </a:tr>
              <a:tr h="370840">
                <a:tc>
                  <a:txBody>
                    <a:bodyPr/>
                    <a:lstStyle/>
                    <a:p>
                      <a:endParaRPr lang="en-US" sz="2400" b="1" kern="1200" dirty="0">
                        <a:solidFill>
                          <a:schemeClr val="tx1"/>
                        </a:solidFill>
                        <a:latin typeface="Verdana" panose="020B0604030504040204" pitchFamily="34" charset="0"/>
                        <a:ea typeface="Verdana" panose="020B0604030504040204" pitchFamily="34" charset="0"/>
                        <a:cs typeface="+mn-cs"/>
                      </a:endParaRPr>
                    </a:p>
                  </a:txBody>
                  <a:tcPr/>
                </a:tc>
                <a:tc>
                  <a:txBody>
                    <a:bodyPr/>
                    <a:lstStyle/>
                    <a:p>
                      <a:pPr algn="r"/>
                      <a:endParaRPr lang="en-US" sz="2400" dirty="0">
                        <a:solidFill>
                          <a:schemeClr val="tx1"/>
                        </a:solidFill>
                        <a:latin typeface="Verdana" panose="020B0604030504040204" pitchFamily="34" charset="0"/>
                        <a:ea typeface="Verdana" panose="020B0604030504040204" pitchFamily="34" charset="0"/>
                      </a:endParaRPr>
                    </a:p>
                  </a:txBody>
                  <a:tcPr/>
                </a:tc>
                <a:tc>
                  <a:txBody>
                    <a:bodyPr/>
                    <a:lstStyle/>
                    <a:p>
                      <a:pPr algn="r"/>
                      <a:endParaRPr lang="en-US" sz="2400" dirty="0">
                        <a:solidFill>
                          <a:schemeClr val="tx1"/>
                        </a:solidFill>
                        <a:latin typeface="Verdana" panose="020B0604030504040204" pitchFamily="34" charset="0"/>
                        <a:ea typeface="Verdana" panose="020B0604030504040204" pitchFamily="34" charset="0"/>
                      </a:endParaRPr>
                    </a:p>
                  </a:txBody>
                  <a:tcPr/>
                </a:tc>
                <a:tc>
                  <a:txBody>
                    <a:bodyPr/>
                    <a:lstStyle/>
                    <a:p>
                      <a:pPr algn="r"/>
                      <a:endParaRPr lang="en-US" sz="2400" dirty="0">
                        <a:solidFill>
                          <a:schemeClr val="tx1"/>
                        </a:solidFill>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436358177"/>
                  </a:ext>
                </a:extLst>
              </a:tr>
            </a:tbl>
          </a:graphicData>
        </a:graphic>
      </p:graphicFrame>
      <p:grpSp>
        <p:nvGrpSpPr>
          <p:cNvPr id="21" name="Group 20">
            <a:extLst>
              <a:ext uri="{FF2B5EF4-FFF2-40B4-BE49-F238E27FC236}">
                <a16:creationId xmlns:a16="http://schemas.microsoft.com/office/drawing/2014/main" id="{814F5767-466E-406F-B36B-D3D396E5FC50}"/>
              </a:ext>
            </a:extLst>
          </p:cNvPr>
          <p:cNvGrpSpPr/>
          <p:nvPr/>
        </p:nvGrpSpPr>
        <p:grpSpPr>
          <a:xfrm>
            <a:off x="1717061" y="1821401"/>
            <a:ext cx="6599294" cy="1308156"/>
            <a:chOff x="1140997" y="1739592"/>
            <a:chExt cx="6599294" cy="1308156"/>
          </a:xfrm>
        </p:grpSpPr>
        <p:sp>
          <p:nvSpPr>
            <p:cNvPr id="22" name="TextBox 21">
              <a:extLst>
                <a:ext uri="{FF2B5EF4-FFF2-40B4-BE49-F238E27FC236}">
                  <a16:creationId xmlns:a16="http://schemas.microsoft.com/office/drawing/2014/main" id="{E54855E0-6E16-4BD7-834E-7900D774AD6E}"/>
                </a:ext>
              </a:extLst>
            </p:cNvPr>
            <p:cNvSpPr txBox="1"/>
            <p:nvPr/>
          </p:nvSpPr>
          <p:spPr>
            <a:xfrm>
              <a:off x="1140997" y="2171640"/>
              <a:ext cx="1296144" cy="400110"/>
            </a:xfrm>
            <a:prstGeom prst="rect">
              <a:avLst/>
            </a:prstGeom>
            <a:noFill/>
          </p:spPr>
          <p:txBody>
            <a:bodyPr wrap="square" rtlCol="0">
              <a:spAutoFit/>
            </a:bodyPr>
            <a:lstStyle/>
            <a:p>
              <a:r>
                <a:rPr lang="en-US" sz="2000" b="1" kern="1200" dirty="0">
                  <a:solidFill>
                    <a:schemeClr val="tx1"/>
                  </a:solidFill>
                  <a:latin typeface="Verdana" panose="020B0604030504040204" pitchFamily="34" charset="0"/>
                  <a:ea typeface="Verdana" panose="020B0604030504040204" pitchFamily="34" charset="0"/>
                </a:rPr>
                <a:t>Rural</a:t>
              </a:r>
              <a:endParaRPr lang="en-US" sz="2000" b="1" kern="1200" dirty="0">
                <a:solidFill>
                  <a:schemeClr val="tx1"/>
                </a:solidFill>
                <a:latin typeface="Verdana" panose="020B0604030504040204" pitchFamily="34" charset="0"/>
                <a:ea typeface="Verdana" panose="020B0604030504040204" pitchFamily="34" charset="0"/>
                <a:cs typeface="+mn-cs"/>
              </a:endParaRPr>
            </a:p>
          </p:txBody>
        </p:sp>
        <p:sp>
          <p:nvSpPr>
            <p:cNvPr id="23" name="TextBox 22">
              <a:extLst>
                <a:ext uri="{FF2B5EF4-FFF2-40B4-BE49-F238E27FC236}">
                  <a16:creationId xmlns:a16="http://schemas.microsoft.com/office/drawing/2014/main" id="{1206C6AC-FB2A-48D9-A1CF-008333E80AAE}"/>
                </a:ext>
              </a:extLst>
            </p:cNvPr>
            <p:cNvSpPr txBox="1"/>
            <p:nvPr/>
          </p:nvSpPr>
          <p:spPr>
            <a:xfrm>
              <a:off x="1140997" y="2622054"/>
              <a:ext cx="1296144" cy="400110"/>
            </a:xfrm>
            <a:prstGeom prst="rect">
              <a:avLst/>
            </a:prstGeom>
            <a:noFill/>
          </p:spPr>
          <p:txBody>
            <a:bodyPr wrap="square" rtlCol="0">
              <a:spAutoFit/>
            </a:bodyPr>
            <a:lstStyle/>
            <a:p>
              <a:r>
                <a:rPr lang="en-US" sz="2000" b="1" kern="1200" dirty="0">
                  <a:solidFill>
                    <a:schemeClr val="tx1"/>
                  </a:solidFill>
                </a:rPr>
                <a:t>Urban</a:t>
              </a:r>
              <a:endParaRPr lang="en-US" sz="2000" b="1" kern="1200" dirty="0">
                <a:solidFill>
                  <a:schemeClr val="tx1"/>
                </a:solidFill>
                <a:latin typeface="Verdana" panose="020B0604030504040204" pitchFamily="34" charset="0"/>
                <a:ea typeface="Verdana" panose="020B0604030504040204" pitchFamily="34" charset="0"/>
                <a:cs typeface="+mn-cs"/>
              </a:endParaRPr>
            </a:p>
          </p:txBody>
        </p:sp>
        <p:sp>
          <p:nvSpPr>
            <p:cNvPr id="24" name="TextBox 23">
              <a:extLst>
                <a:ext uri="{FF2B5EF4-FFF2-40B4-BE49-F238E27FC236}">
                  <a16:creationId xmlns:a16="http://schemas.microsoft.com/office/drawing/2014/main" id="{0F4C8223-D7A0-4746-B18E-0C6FCDE87F0F}"/>
                </a:ext>
              </a:extLst>
            </p:cNvPr>
            <p:cNvSpPr txBox="1"/>
            <p:nvPr/>
          </p:nvSpPr>
          <p:spPr>
            <a:xfrm>
              <a:off x="5842001" y="2625440"/>
              <a:ext cx="1898290" cy="400110"/>
            </a:xfrm>
            <a:prstGeom prst="rect">
              <a:avLst/>
            </a:prstGeom>
            <a:noFill/>
          </p:spPr>
          <p:txBody>
            <a:bodyPr wrap="square" rtlCol="0">
              <a:spAutoFit/>
            </a:bodyPr>
            <a:lstStyle/>
            <a:p>
              <a:r>
                <a:rPr lang="en-US" sz="2000" dirty="0"/>
                <a:t>4 246 925</a:t>
              </a:r>
              <a:endParaRPr lang="en-US" sz="2000" b="1" kern="1200" dirty="0">
                <a:solidFill>
                  <a:schemeClr val="tx1"/>
                </a:solidFill>
                <a:latin typeface="Verdana" panose="020B0604030504040204" pitchFamily="34" charset="0"/>
                <a:ea typeface="Verdana" panose="020B0604030504040204" pitchFamily="34" charset="0"/>
                <a:cs typeface="+mn-cs"/>
              </a:endParaRPr>
            </a:p>
          </p:txBody>
        </p:sp>
        <p:sp>
          <p:nvSpPr>
            <p:cNvPr id="25" name="TextBox 24">
              <a:extLst>
                <a:ext uri="{FF2B5EF4-FFF2-40B4-BE49-F238E27FC236}">
                  <a16:creationId xmlns:a16="http://schemas.microsoft.com/office/drawing/2014/main" id="{A1DC9643-44CE-4FD2-94B4-C41390963A08}"/>
                </a:ext>
              </a:extLst>
            </p:cNvPr>
            <p:cNvSpPr txBox="1"/>
            <p:nvPr/>
          </p:nvSpPr>
          <p:spPr>
            <a:xfrm>
              <a:off x="5821499" y="2180021"/>
              <a:ext cx="1342771" cy="400110"/>
            </a:xfrm>
            <a:prstGeom prst="rect">
              <a:avLst/>
            </a:prstGeom>
            <a:noFill/>
          </p:spPr>
          <p:txBody>
            <a:bodyPr wrap="square" rtlCol="0">
              <a:spAutoFit/>
            </a:bodyPr>
            <a:lstStyle/>
            <a:p>
              <a:r>
                <a:rPr lang="en-US" sz="2000" dirty="0"/>
                <a:t>2 447 909</a:t>
              </a:r>
              <a:endParaRPr lang="en-US" sz="2000" dirty="0">
                <a:latin typeface="Verdana" panose="020B0604030504040204" pitchFamily="34" charset="0"/>
                <a:ea typeface="Verdana" panose="020B0604030504040204" pitchFamily="34" charset="0"/>
              </a:endParaRPr>
            </a:p>
          </p:txBody>
        </p:sp>
        <p:sp>
          <p:nvSpPr>
            <p:cNvPr id="26" name="TextBox 25">
              <a:extLst>
                <a:ext uri="{FF2B5EF4-FFF2-40B4-BE49-F238E27FC236}">
                  <a16:creationId xmlns:a16="http://schemas.microsoft.com/office/drawing/2014/main" id="{86C9C437-AFF5-49AC-B7A9-18E0C6030527}"/>
                </a:ext>
              </a:extLst>
            </p:cNvPr>
            <p:cNvSpPr txBox="1"/>
            <p:nvPr/>
          </p:nvSpPr>
          <p:spPr>
            <a:xfrm>
              <a:off x="2699792" y="2221944"/>
              <a:ext cx="1296144" cy="400110"/>
            </a:xfrm>
            <a:prstGeom prst="rect">
              <a:avLst/>
            </a:prstGeom>
            <a:noFill/>
          </p:spPr>
          <p:txBody>
            <a:bodyPr wrap="square" rtlCol="0">
              <a:spAutoFit/>
            </a:bodyPr>
            <a:lstStyle/>
            <a:p>
              <a:pPr algn="r"/>
              <a:r>
                <a:rPr lang="en-US" sz="2000" dirty="0"/>
                <a:t>45 276 </a:t>
              </a:r>
            </a:p>
          </p:txBody>
        </p:sp>
        <p:sp>
          <p:nvSpPr>
            <p:cNvPr id="27" name="TextBox 26">
              <a:extLst>
                <a:ext uri="{FF2B5EF4-FFF2-40B4-BE49-F238E27FC236}">
                  <a16:creationId xmlns:a16="http://schemas.microsoft.com/office/drawing/2014/main" id="{AA6D9498-84CF-453F-AC5B-E62D83007624}"/>
                </a:ext>
              </a:extLst>
            </p:cNvPr>
            <p:cNvSpPr txBox="1"/>
            <p:nvPr/>
          </p:nvSpPr>
          <p:spPr>
            <a:xfrm>
              <a:off x="2771800" y="2647638"/>
              <a:ext cx="1296144" cy="400110"/>
            </a:xfrm>
            <a:prstGeom prst="rect">
              <a:avLst/>
            </a:prstGeom>
            <a:noFill/>
          </p:spPr>
          <p:txBody>
            <a:bodyPr wrap="square" rtlCol="0">
              <a:spAutoFit/>
            </a:bodyPr>
            <a:lstStyle/>
            <a:p>
              <a:pPr algn="r"/>
              <a:endParaRPr lang="en-US" sz="2000" dirty="0">
                <a:latin typeface="Verdana" panose="020B0604030504040204" pitchFamily="34" charset="0"/>
                <a:ea typeface="Verdana" panose="020B0604030504040204" pitchFamily="34" charset="0"/>
              </a:endParaRPr>
            </a:p>
          </p:txBody>
        </p:sp>
        <p:sp>
          <p:nvSpPr>
            <p:cNvPr id="28" name="TextBox 27">
              <a:extLst>
                <a:ext uri="{FF2B5EF4-FFF2-40B4-BE49-F238E27FC236}">
                  <a16:creationId xmlns:a16="http://schemas.microsoft.com/office/drawing/2014/main" id="{340C0D64-E70E-4265-8CA8-C720D0326536}"/>
                </a:ext>
              </a:extLst>
            </p:cNvPr>
            <p:cNvSpPr txBox="1"/>
            <p:nvPr/>
          </p:nvSpPr>
          <p:spPr>
            <a:xfrm>
              <a:off x="2987824" y="1739592"/>
              <a:ext cx="720080" cy="400110"/>
            </a:xfrm>
            <a:prstGeom prst="rect">
              <a:avLst/>
            </a:prstGeom>
            <a:noFill/>
          </p:spPr>
          <p:txBody>
            <a:bodyPr wrap="square" rtlCol="0">
              <a:spAutoFit/>
            </a:bodyPr>
            <a:lstStyle/>
            <a:p>
              <a:r>
                <a:rPr lang="en-US" sz="2000" b="1" kern="1200" dirty="0">
                  <a:solidFill>
                    <a:schemeClr val="tx1"/>
                  </a:solidFill>
                  <a:latin typeface="Verdana" panose="020B0604030504040204" pitchFamily="34" charset="0"/>
                  <a:ea typeface="Verdana" panose="020B0604030504040204" pitchFamily="34" charset="0"/>
                </a:rPr>
                <a:t>Yes</a:t>
              </a:r>
              <a:endParaRPr lang="en-US" sz="2000" b="1" kern="1200" dirty="0">
                <a:solidFill>
                  <a:schemeClr val="tx1"/>
                </a:solidFill>
                <a:latin typeface="Verdana" panose="020B0604030504040204" pitchFamily="34" charset="0"/>
                <a:ea typeface="Verdana" panose="020B0604030504040204" pitchFamily="34" charset="0"/>
                <a:cs typeface="+mn-cs"/>
              </a:endParaRPr>
            </a:p>
          </p:txBody>
        </p:sp>
        <p:sp>
          <p:nvSpPr>
            <p:cNvPr id="29" name="TextBox 28">
              <a:extLst>
                <a:ext uri="{FF2B5EF4-FFF2-40B4-BE49-F238E27FC236}">
                  <a16:creationId xmlns:a16="http://schemas.microsoft.com/office/drawing/2014/main" id="{B0DEE805-B541-40D4-AB12-4AB626B8BE2C}"/>
                </a:ext>
              </a:extLst>
            </p:cNvPr>
            <p:cNvSpPr txBox="1"/>
            <p:nvPr/>
          </p:nvSpPr>
          <p:spPr>
            <a:xfrm>
              <a:off x="4572000" y="1739592"/>
              <a:ext cx="648072" cy="400110"/>
            </a:xfrm>
            <a:prstGeom prst="rect">
              <a:avLst/>
            </a:prstGeom>
            <a:noFill/>
          </p:spPr>
          <p:txBody>
            <a:bodyPr wrap="square" rtlCol="0">
              <a:spAutoFit/>
            </a:bodyPr>
            <a:lstStyle/>
            <a:p>
              <a:r>
                <a:rPr lang="en-US" sz="2000" b="1" kern="1200" dirty="0">
                  <a:solidFill>
                    <a:schemeClr val="tx1"/>
                  </a:solidFill>
                  <a:latin typeface="Verdana" panose="020B0604030504040204" pitchFamily="34" charset="0"/>
                  <a:ea typeface="Verdana" panose="020B0604030504040204" pitchFamily="34" charset="0"/>
                </a:rPr>
                <a:t>No</a:t>
              </a:r>
              <a:endParaRPr lang="en-US" sz="2000" b="1" kern="1200" dirty="0">
                <a:solidFill>
                  <a:schemeClr val="tx1"/>
                </a:solidFill>
                <a:latin typeface="Verdana" panose="020B0604030504040204" pitchFamily="34" charset="0"/>
                <a:ea typeface="Verdana" panose="020B0604030504040204" pitchFamily="34" charset="0"/>
                <a:cs typeface="+mn-cs"/>
              </a:endParaRPr>
            </a:p>
          </p:txBody>
        </p:sp>
        <p:sp>
          <p:nvSpPr>
            <p:cNvPr id="31" name="TextBox 30">
              <a:extLst>
                <a:ext uri="{FF2B5EF4-FFF2-40B4-BE49-F238E27FC236}">
                  <a16:creationId xmlns:a16="http://schemas.microsoft.com/office/drawing/2014/main" id="{B59A196A-71D2-4B7A-B0FE-4BB600ABB88D}"/>
                </a:ext>
              </a:extLst>
            </p:cNvPr>
            <p:cNvSpPr txBox="1"/>
            <p:nvPr/>
          </p:nvSpPr>
          <p:spPr>
            <a:xfrm>
              <a:off x="5940152" y="1739592"/>
              <a:ext cx="1008112" cy="400110"/>
            </a:xfrm>
            <a:prstGeom prst="rect">
              <a:avLst/>
            </a:prstGeom>
            <a:noFill/>
          </p:spPr>
          <p:txBody>
            <a:bodyPr wrap="square" rtlCol="0">
              <a:spAutoFit/>
            </a:bodyPr>
            <a:lstStyle/>
            <a:p>
              <a:r>
                <a:rPr lang="en-US" sz="2000" b="1" kern="1200" dirty="0">
                  <a:solidFill>
                    <a:schemeClr val="tx1"/>
                  </a:solidFill>
                  <a:latin typeface="Verdana" panose="020B0604030504040204" pitchFamily="34" charset="0"/>
                  <a:ea typeface="Verdana" panose="020B0604030504040204" pitchFamily="34" charset="0"/>
                </a:rPr>
                <a:t>Total</a:t>
              </a:r>
              <a:endParaRPr lang="en-US" sz="2000" b="1" kern="1200" dirty="0">
                <a:solidFill>
                  <a:schemeClr val="tx1"/>
                </a:solidFill>
                <a:latin typeface="Verdana" panose="020B0604030504040204" pitchFamily="34" charset="0"/>
                <a:ea typeface="Verdana" panose="020B0604030504040204" pitchFamily="34" charset="0"/>
                <a:cs typeface="+mn-cs"/>
              </a:endParaRPr>
            </a:p>
          </p:txBody>
        </p:sp>
      </p:grpSp>
      <p:sp>
        <p:nvSpPr>
          <p:cNvPr id="2" name="TextBox 1">
            <a:extLst>
              <a:ext uri="{FF2B5EF4-FFF2-40B4-BE49-F238E27FC236}">
                <a16:creationId xmlns:a16="http://schemas.microsoft.com/office/drawing/2014/main" id="{6D42A484-C194-A054-9233-949607BF3451}"/>
              </a:ext>
            </a:extLst>
          </p:cNvPr>
          <p:cNvSpPr txBox="1"/>
          <p:nvPr/>
        </p:nvSpPr>
        <p:spPr>
          <a:xfrm>
            <a:off x="3265224" y="2733653"/>
            <a:ext cx="1296144" cy="400110"/>
          </a:xfrm>
          <a:prstGeom prst="rect">
            <a:avLst/>
          </a:prstGeom>
          <a:noFill/>
        </p:spPr>
        <p:txBody>
          <a:bodyPr wrap="square" rtlCol="0">
            <a:spAutoFit/>
          </a:bodyPr>
          <a:lstStyle/>
          <a:p>
            <a:pPr algn="r"/>
            <a:r>
              <a:rPr lang="en-US" sz="2000" dirty="0"/>
              <a:t>54 744</a:t>
            </a:r>
          </a:p>
        </p:txBody>
      </p:sp>
    </p:spTree>
    <p:extLst>
      <p:ext uri="{BB962C8B-B14F-4D97-AF65-F5344CB8AC3E}">
        <p14:creationId xmlns:p14="http://schemas.microsoft.com/office/powerpoint/2010/main" val="427191994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971600" y="1167594"/>
            <a:ext cx="7200800" cy="3456384"/>
          </a:xfrm>
        </p:spPr>
        <p:txBody>
          <a:bodyPr>
            <a:noAutofit/>
          </a:bodyPr>
          <a:lstStyle/>
          <a:p>
            <a:pPr>
              <a:lnSpc>
                <a:spcPct val="120000"/>
              </a:lnSpc>
              <a:spcBef>
                <a:spcPts val="450"/>
              </a:spcBef>
              <a:spcAft>
                <a:spcPts val="900"/>
              </a:spcAft>
            </a:pPr>
            <a:r>
              <a:rPr lang="en-US" sz="2400" dirty="0">
                <a:latin typeface="+mn-lt"/>
              </a:rPr>
              <a:t>The science that studies the methods necessary to </a:t>
            </a:r>
            <a:r>
              <a:rPr lang="en-US" sz="2400" b="1" dirty="0">
                <a:solidFill>
                  <a:srgbClr val="002060"/>
                </a:solidFill>
                <a:latin typeface="+mn-lt"/>
              </a:rPr>
              <a:t>compile</a:t>
            </a:r>
            <a:r>
              <a:rPr lang="en-US" sz="2400" dirty="0">
                <a:solidFill>
                  <a:srgbClr val="002060"/>
                </a:solidFill>
                <a:latin typeface="+mn-lt"/>
              </a:rPr>
              <a:t>,</a:t>
            </a:r>
            <a:r>
              <a:rPr lang="en-US" sz="2400" dirty="0">
                <a:latin typeface="+mn-lt"/>
              </a:rPr>
              <a:t> </a:t>
            </a:r>
            <a:r>
              <a:rPr lang="en-US" sz="2400" b="1" dirty="0">
                <a:solidFill>
                  <a:srgbClr val="002060"/>
                </a:solidFill>
                <a:latin typeface="+mn-lt"/>
              </a:rPr>
              <a:t>analyze</a:t>
            </a:r>
            <a:r>
              <a:rPr lang="en-US" sz="2400" dirty="0">
                <a:solidFill>
                  <a:srgbClr val="002060"/>
                </a:solidFill>
                <a:latin typeface="+mn-lt"/>
              </a:rPr>
              <a:t> </a:t>
            </a:r>
            <a:r>
              <a:rPr lang="en-US" sz="2400" dirty="0">
                <a:latin typeface="+mn-lt"/>
              </a:rPr>
              <a:t>and </a:t>
            </a:r>
            <a:r>
              <a:rPr lang="en-US" sz="2400" b="1" dirty="0">
                <a:solidFill>
                  <a:srgbClr val="002060"/>
                </a:solidFill>
                <a:latin typeface="+mn-lt"/>
              </a:rPr>
              <a:t>interpret</a:t>
            </a:r>
            <a:r>
              <a:rPr lang="en-US" sz="2400" dirty="0">
                <a:latin typeface="+mn-lt"/>
              </a:rPr>
              <a:t> data.</a:t>
            </a:r>
          </a:p>
          <a:p>
            <a:pPr>
              <a:lnSpc>
                <a:spcPct val="120000"/>
              </a:lnSpc>
              <a:spcBef>
                <a:spcPts val="450"/>
              </a:spcBef>
              <a:spcAft>
                <a:spcPts val="900"/>
              </a:spcAft>
            </a:pPr>
            <a:r>
              <a:rPr lang="en-US" sz="2400" dirty="0">
                <a:latin typeface="+mn-lt"/>
              </a:rPr>
              <a:t>In research, statistical theory can be used as a help when </a:t>
            </a:r>
            <a:r>
              <a:rPr lang="en-US" sz="2400" b="1" dirty="0">
                <a:solidFill>
                  <a:srgbClr val="002060"/>
                </a:solidFill>
                <a:latin typeface="+mn-lt"/>
              </a:rPr>
              <a:t>constructing studies</a:t>
            </a:r>
            <a:r>
              <a:rPr lang="en-US" sz="2400" dirty="0">
                <a:solidFill>
                  <a:srgbClr val="002060"/>
                </a:solidFill>
                <a:latin typeface="+mn-lt"/>
              </a:rPr>
              <a:t>, </a:t>
            </a:r>
            <a:r>
              <a:rPr lang="en-US" sz="2400" b="1" dirty="0">
                <a:solidFill>
                  <a:srgbClr val="002060"/>
                </a:solidFill>
                <a:latin typeface="+mn-lt"/>
              </a:rPr>
              <a:t>collecting data</a:t>
            </a:r>
            <a:r>
              <a:rPr lang="en-US" sz="2400" dirty="0">
                <a:solidFill>
                  <a:srgbClr val="002060"/>
                </a:solidFill>
                <a:latin typeface="+mn-lt"/>
              </a:rPr>
              <a:t> </a:t>
            </a:r>
            <a:r>
              <a:rPr lang="en-US" sz="2400" dirty="0">
                <a:latin typeface="+mn-lt"/>
              </a:rPr>
              <a:t>and </a:t>
            </a:r>
            <a:r>
              <a:rPr lang="en-US" sz="2400" b="1" dirty="0">
                <a:solidFill>
                  <a:srgbClr val="002060"/>
                </a:solidFill>
                <a:latin typeface="+mn-lt"/>
              </a:rPr>
              <a:t>drawing conclusions</a:t>
            </a:r>
            <a:r>
              <a:rPr lang="en-US" sz="2400" dirty="0">
                <a:solidFill>
                  <a:srgbClr val="002060"/>
                </a:solidFill>
                <a:latin typeface="+mn-lt"/>
              </a:rPr>
              <a:t>.</a:t>
            </a:r>
          </a:p>
          <a:p>
            <a:pPr>
              <a:lnSpc>
                <a:spcPct val="120000"/>
              </a:lnSpc>
              <a:spcBef>
                <a:spcPts val="450"/>
              </a:spcBef>
              <a:spcAft>
                <a:spcPts val="900"/>
              </a:spcAft>
            </a:pPr>
            <a:r>
              <a:rPr lang="en-US" sz="2400" dirty="0">
                <a:latin typeface="+mn-lt"/>
              </a:rPr>
              <a:t>Medical statistics deals with applications of statistics in </a:t>
            </a:r>
            <a:r>
              <a:rPr lang="en-US" sz="2400" b="1" dirty="0">
                <a:solidFill>
                  <a:srgbClr val="002060"/>
                </a:solidFill>
                <a:latin typeface="+mn-lt"/>
              </a:rPr>
              <a:t>medicine</a:t>
            </a:r>
            <a:r>
              <a:rPr lang="en-US" sz="2400" dirty="0">
                <a:solidFill>
                  <a:srgbClr val="002060"/>
                </a:solidFill>
                <a:latin typeface="+mn-lt"/>
              </a:rPr>
              <a:t>, </a:t>
            </a:r>
            <a:r>
              <a:rPr lang="en-US" sz="2400" b="1" dirty="0">
                <a:solidFill>
                  <a:srgbClr val="002060"/>
                </a:solidFill>
                <a:latin typeface="+mn-lt"/>
              </a:rPr>
              <a:t>health</a:t>
            </a:r>
            <a:r>
              <a:rPr lang="en-US" sz="2400" dirty="0">
                <a:solidFill>
                  <a:srgbClr val="002060"/>
                </a:solidFill>
                <a:latin typeface="+mn-lt"/>
              </a:rPr>
              <a:t> </a:t>
            </a:r>
            <a:r>
              <a:rPr lang="en-US" sz="2400" b="1" dirty="0">
                <a:solidFill>
                  <a:srgbClr val="002060"/>
                </a:solidFill>
                <a:latin typeface="+mn-lt"/>
              </a:rPr>
              <a:t>sciences</a:t>
            </a:r>
            <a:r>
              <a:rPr lang="en-US" sz="2400" dirty="0">
                <a:solidFill>
                  <a:srgbClr val="002060"/>
                </a:solidFill>
                <a:latin typeface="+mn-lt"/>
              </a:rPr>
              <a:t> </a:t>
            </a:r>
            <a:r>
              <a:rPr lang="en-US" sz="2400" dirty="0">
                <a:latin typeface="+mn-lt"/>
              </a:rPr>
              <a:t>and </a:t>
            </a:r>
            <a:r>
              <a:rPr lang="en-US" sz="2400" b="1" dirty="0">
                <a:solidFill>
                  <a:srgbClr val="002060"/>
                </a:solidFill>
                <a:latin typeface="+mn-lt"/>
              </a:rPr>
              <a:t>epidemiology</a:t>
            </a:r>
            <a:r>
              <a:rPr lang="en-US" sz="2400" dirty="0">
                <a:latin typeface="+mn-lt"/>
              </a:rPr>
              <a:t>. </a:t>
            </a:r>
            <a:endParaRPr lang="sv-SE" sz="2400" dirty="0">
              <a:latin typeface="+mn-lt"/>
            </a:endParaRPr>
          </a:p>
        </p:txBody>
      </p:sp>
      <p:sp>
        <p:nvSpPr>
          <p:cNvPr id="4" name="Slide Number Placeholder 3"/>
          <p:cNvSpPr>
            <a:spLocks noGrp="1"/>
          </p:cNvSpPr>
          <p:nvPr>
            <p:ph type="sldNum" sz="quarter" idx="12"/>
          </p:nvPr>
        </p:nvSpPr>
        <p:spPr/>
        <p:txBody>
          <a:bodyPr/>
          <a:lstStyle/>
          <a:p>
            <a:pPr>
              <a:defRPr/>
            </a:pPr>
            <a:fld id="{F3BF519E-9CFF-4EC9-AD34-A9B241918E22}" type="slidenum">
              <a:rPr lang="sv-SE" smtClean="0">
                <a:solidFill>
                  <a:srgbClr val="000000">
                    <a:tint val="75000"/>
                  </a:srgbClr>
                </a:solidFill>
              </a:rPr>
              <a:pPr>
                <a:defRPr/>
              </a:pPr>
              <a:t>7</a:t>
            </a:fld>
            <a:endParaRPr lang="sv-SE">
              <a:solidFill>
                <a:srgbClr val="000000">
                  <a:tint val="75000"/>
                </a:srgbClr>
              </a:solidFill>
            </a:endParaRPr>
          </a:p>
        </p:txBody>
      </p:sp>
      <p:sp>
        <p:nvSpPr>
          <p:cNvPr id="5" name="Title 4"/>
          <p:cNvSpPr>
            <a:spLocks noGrp="1"/>
          </p:cNvSpPr>
          <p:nvPr>
            <p:ph type="title" idx="4294967295"/>
          </p:nvPr>
        </p:nvSpPr>
        <p:spPr>
          <a:xfrm>
            <a:off x="2575517" y="303400"/>
            <a:ext cx="4590510" cy="536637"/>
          </a:xfrm>
        </p:spPr>
        <p:txBody>
          <a:bodyPr>
            <a:normAutofit/>
          </a:bodyPr>
          <a:lstStyle/>
          <a:p>
            <a:r>
              <a:rPr lang="en-US" sz="3600" dirty="0"/>
              <a:t>What</a:t>
            </a:r>
            <a:r>
              <a:rPr lang="sv-SE" sz="3600" dirty="0"/>
              <a:t> is statistics?</a:t>
            </a:r>
          </a:p>
        </p:txBody>
      </p:sp>
    </p:spTree>
    <p:extLst>
      <p:ext uri="{BB962C8B-B14F-4D97-AF65-F5344CB8AC3E}">
        <p14:creationId xmlns:p14="http://schemas.microsoft.com/office/powerpoint/2010/main" val="47939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SaraG\Documents\Kurs\Handledning\VT13\Medicinsk statistik_eng\population_sample\population_sampl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9406" y="3056421"/>
            <a:ext cx="3496674" cy="1621563"/>
          </a:xfrm>
          <a:prstGeom prst="rect">
            <a:avLst/>
          </a:prstGeom>
          <a:noFill/>
          <a:extLst>
            <a:ext uri="{909E8E84-426E-40DD-AFC4-6F175D3DCCD1}">
              <a14:hiddenFill xmlns:a14="http://schemas.microsoft.com/office/drawing/2010/main">
                <a:solidFill>
                  <a:srgbClr val="FFFFFF"/>
                </a:solidFill>
              </a14:hiddenFill>
            </a:ext>
          </a:extLst>
        </p:spPr>
      </p:pic>
      <p:sp>
        <p:nvSpPr>
          <p:cNvPr id="9218" name="Rubrik 1"/>
          <p:cNvSpPr>
            <a:spLocks noGrp="1"/>
          </p:cNvSpPr>
          <p:nvPr>
            <p:ph type="title"/>
          </p:nvPr>
        </p:nvSpPr>
        <p:spPr>
          <a:xfrm>
            <a:off x="1691680" y="168483"/>
            <a:ext cx="6408712" cy="459051"/>
          </a:xfrm>
        </p:spPr>
        <p:txBody>
          <a:bodyPr>
            <a:noAutofit/>
          </a:bodyPr>
          <a:lstStyle/>
          <a:p>
            <a:r>
              <a:rPr lang="en-US" sz="3600" dirty="0"/>
              <a:t>Introduction: Why use statistics?</a:t>
            </a:r>
          </a:p>
        </p:txBody>
      </p:sp>
      <p:sp>
        <p:nvSpPr>
          <p:cNvPr id="9219" name="Platshållare för innehåll 2"/>
          <p:cNvSpPr>
            <a:spLocks noGrp="1"/>
          </p:cNvSpPr>
          <p:nvPr>
            <p:ph idx="1"/>
          </p:nvPr>
        </p:nvSpPr>
        <p:spPr>
          <a:xfrm>
            <a:off x="971600" y="711291"/>
            <a:ext cx="7488832" cy="2004475"/>
          </a:xfrm>
        </p:spPr>
        <p:txBody>
          <a:bodyPr>
            <a:noAutofit/>
          </a:bodyPr>
          <a:lstStyle/>
          <a:p>
            <a:r>
              <a:rPr lang="en-US" sz="2400" dirty="0"/>
              <a:t>There is a </a:t>
            </a:r>
            <a:r>
              <a:rPr lang="en-US" sz="2400" b="1" dirty="0">
                <a:solidFill>
                  <a:srgbClr val="002060"/>
                </a:solidFill>
                <a:highlight>
                  <a:srgbClr val="FFFF00"/>
                </a:highlight>
              </a:rPr>
              <a:t>variation</a:t>
            </a:r>
            <a:r>
              <a:rPr lang="en-US" sz="2400" dirty="0"/>
              <a:t> in the results</a:t>
            </a:r>
          </a:p>
          <a:p>
            <a:r>
              <a:rPr lang="en-US" sz="2400" dirty="0"/>
              <a:t>Practically and/or Ethically impossible to collect data from the whole </a:t>
            </a:r>
            <a:r>
              <a:rPr lang="en-US" sz="2400" b="1" dirty="0">
                <a:solidFill>
                  <a:srgbClr val="002060"/>
                </a:solidFill>
              </a:rPr>
              <a:t>population</a:t>
            </a:r>
          </a:p>
          <a:p>
            <a:r>
              <a:rPr lang="en-US" sz="2400" dirty="0"/>
              <a:t>How to deal with </a:t>
            </a:r>
            <a:r>
              <a:rPr lang="en-US" sz="2400" b="1" dirty="0">
                <a:solidFill>
                  <a:srgbClr val="002060"/>
                </a:solidFill>
                <a:highlight>
                  <a:srgbClr val="FFFF00"/>
                </a:highlight>
              </a:rPr>
              <a:t>uncertainty</a:t>
            </a:r>
            <a:r>
              <a:rPr lang="en-US" sz="2400" dirty="0"/>
              <a:t> in a sample?</a:t>
            </a:r>
          </a:p>
          <a:p>
            <a:r>
              <a:rPr lang="en-US" sz="2400" dirty="0"/>
              <a:t>How to use what we observe in a </a:t>
            </a:r>
            <a:r>
              <a:rPr lang="en-US" sz="2400" b="1" dirty="0">
                <a:solidFill>
                  <a:srgbClr val="002060"/>
                </a:solidFill>
              </a:rPr>
              <a:t>sample</a:t>
            </a:r>
            <a:r>
              <a:rPr lang="en-US" sz="2400" dirty="0"/>
              <a:t> to make </a:t>
            </a:r>
            <a:r>
              <a:rPr lang="en-US" sz="2400" b="1" dirty="0">
                <a:solidFill>
                  <a:srgbClr val="002060"/>
                </a:solidFill>
              </a:rPr>
              <a:t>inferences</a:t>
            </a:r>
            <a:r>
              <a:rPr lang="en-US" sz="2400" dirty="0"/>
              <a:t> about the population?</a:t>
            </a:r>
            <a:endParaRPr lang="sv-SE" sz="2400" dirty="0"/>
          </a:p>
        </p:txBody>
      </p:sp>
      <p:sp>
        <p:nvSpPr>
          <p:cNvPr id="2" name="Platshållare för bildnummer 1"/>
          <p:cNvSpPr>
            <a:spLocks noGrp="1"/>
          </p:cNvSpPr>
          <p:nvPr>
            <p:ph type="sldNum" sz="quarter" idx="12"/>
          </p:nvPr>
        </p:nvSpPr>
        <p:spPr/>
        <p:txBody>
          <a:bodyPr/>
          <a:lstStyle/>
          <a:p>
            <a:pPr>
              <a:defRPr/>
            </a:pPr>
            <a:fld id="{EAAE22FB-2A38-4370-9A01-91FA75569313}" type="slidenum">
              <a:rPr lang="sv-SE" smtClean="0"/>
              <a:pPr>
                <a:defRPr/>
              </a:pPr>
              <a:t>8</a:t>
            </a:fld>
            <a:endParaRPr lang="sv-SE"/>
          </a:p>
        </p:txBody>
      </p:sp>
      <p:sp>
        <p:nvSpPr>
          <p:cNvPr id="6" name="textruta 5"/>
          <p:cNvSpPr txBox="1"/>
          <p:nvPr/>
        </p:nvSpPr>
        <p:spPr>
          <a:xfrm>
            <a:off x="5868144" y="4628115"/>
            <a:ext cx="2132856" cy="253916"/>
          </a:xfrm>
          <a:prstGeom prst="rect">
            <a:avLst/>
          </a:prstGeom>
          <a:noFill/>
        </p:spPr>
        <p:txBody>
          <a:bodyPr wrap="square" rtlCol="0">
            <a:spAutoFit/>
          </a:bodyPr>
          <a:lstStyle/>
          <a:p>
            <a:r>
              <a:rPr lang="en-US" sz="1050" dirty="0"/>
              <a:t>(Based on figure 1.2 in the JB)</a:t>
            </a:r>
          </a:p>
        </p:txBody>
      </p:sp>
    </p:spTree>
    <p:extLst>
      <p:ext uri="{BB962C8B-B14F-4D97-AF65-F5344CB8AC3E}">
        <p14:creationId xmlns:p14="http://schemas.microsoft.com/office/powerpoint/2010/main" val="163525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9</a:t>
            </a:fld>
            <a:endParaRPr lang="sv-SE" dirty="0">
              <a:solidFill>
                <a:srgbClr val="000000">
                  <a:tint val="75000"/>
                </a:srgbClr>
              </a:solidFill>
            </a:endParaRPr>
          </a:p>
        </p:txBody>
      </p:sp>
      <p:sp>
        <p:nvSpPr>
          <p:cNvPr id="114" name="Rubrik 1"/>
          <p:cNvSpPr>
            <a:spLocks noGrp="1"/>
          </p:cNvSpPr>
          <p:nvPr>
            <p:ph type="title" idx="4294967295"/>
          </p:nvPr>
        </p:nvSpPr>
        <p:spPr>
          <a:xfrm>
            <a:off x="2411034" y="141480"/>
            <a:ext cx="5185302" cy="414062"/>
          </a:xfrm>
        </p:spPr>
        <p:txBody>
          <a:bodyPr>
            <a:noAutofit/>
          </a:bodyPr>
          <a:lstStyle/>
          <a:p>
            <a:r>
              <a:rPr lang="en-US" sz="3300" dirty="0"/>
              <a:t>Population and sample</a:t>
            </a:r>
          </a:p>
        </p:txBody>
      </p:sp>
      <p:sp>
        <p:nvSpPr>
          <p:cNvPr id="74" name="Rektangel 73"/>
          <p:cNvSpPr/>
          <p:nvPr/>
        </p:nvSpPr>
        <p:spPr>
          <a:xfrm>
            <a:off x="1472348" y="1057517"/>
            <a:ext cx="2060829" cy="6858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nvGrpSpPr>
          <p:cNvPr id="75" name="Grupp 74"/>
          <p:cNvGrpSpPr/>
          <p:nvPr/>
        </p:nvGrpSpPr>
        <p:grpSpPr>
          <a:xfrm>
            <a:off x="1601670" y="743922"/>
            <a:ext cx="2186862" cy="1683812"/>
            <a:chOff x="107504" y="1628800"/>
            <a:chExt cx="3131840" cy="2389944"/>
          </a:xfrm>
        </p:grpSpPr>
        <p:pic>
          <p:nvPicPr>
            <p:cNvPr id="7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930" y="1702966"/>
              <a:ext cx="3024336" cy="1833786"/>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81" name="Rektangel med rundade hörn 80"/>
            <p:cNvSpPr/>
            <p:nvPr/>
          </p:nvSpPr>
          <p:spPr>
            <a:xfrm>
              <a:off x="107504" y="1628800"/>
              <a:ext cx="3131840" cy="2376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83" name="textruta 82"/>
            <p:cNvSpPr txBox="1"/>
            <p:nvPr/>
          </p:nvSpPr>
          <p:spPr>
            <a:xfrm>
              <a:off x="251520" y="3429001"/>
              <a:ext cx="2664296" cy="589743"/>
            </a:xfrm>
            <a:prstGeom prst="rect">
              <a:avLst/>
            </a:prstGeom>
            <a:noFill/>
            <a:ln>
              <a:noFill/>
            </a:ln>
          </p:spPr>
          <p:txBody>
            <a:bodyPr wrap="square" rtlCol="0">
              <a:spAutoFit/>
            </a:bodyPr>
            <a:lstStyle/>
            <a:p>
              <a:pPr algn="ctr"/>
              <a:r>
                <a:rPr lang="sv-SE" sz="2100" b="1" dirty="0">
                  <a:solidFill>
                    <a:srgbClr val="000000"/>
                  </a:solidFill>
                  <a:latin typeface="Candara" panose="020E0502030303020204" pitchFamily="34" charset="0"/>
                </a:rPr>
                <a:t>Population</a:t>
              </a:r>
            </a:p>
          </p:txBody>
        </p:sp>
      </p:grpSp>
      <p:grpSp>
        <p:nvGrpSpPr>
          <p:cNvPr id="84" name="Grupp 83"/>
          <p:cNvGrpSpPr/>
          <p:nvPr/>
        </p:nvGrpSpPr>
        <p:grpSpPr>
          <a:xfrm>
            <a:off x="1724281" y="3516972"/>
            <a:ext cx="1929617" cy="1053770"/>
            <a:chOff x="2699792" y="4727302"/>
            <a:chExt cx="2572822" cy="1583175"/>
          </a:xfrm>
        </p:grpSpPr>
        <p:pic>
          <p:nvPicPr>
            <p:cNvPr id="86" name="Picture 12" descr="C:\Users\SaraG\AppData\Local\Microsoft\Windows\Temporary Internet Files\Content.IE5\NZH94TD7\6-long-hair-mom-dad-daughter-son-son-baby-1024x731[1].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22889" y="4954676"/>
              <a:ext cx="1008591" cy="72000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8" name="Picture 13" descr="C:\Users\SaraG\AppData\Local\Microsoft\Windows\Temporary Internet Files\Content.IE5\1SVIO5V2\family_people_silhouettes_by_Scorp1_at_vecteezy.com[1].jpg"/>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14977" y="4882668"/>
              <a:ext cx="1116000" cy="83700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9" name="Picture 14" descr="C:\Users\SaraG\AppData\Local\Microsoft\Windows\Temporary Internet Files\Content.IE5\1SVIO5V2\silhouette-man-standing[1].jpg"/>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19258" y="4999668"/>
              <a:ext cx="720000" cy="7200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3" name="Rektangel med rundade hörn 102"/>
            <p:cNvSpPr/>
            <p:nvPr/>
          </p:nvSpPr>
          <p:spPr>
            <a:xfrm>
              <a:off x="2699792" y="4727302"/>
              <a:ext cx="2572822" cy="15820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109" name="textruta 108"/>
            <p:cNvSpPr txBox="1"/>
            <p:nvPr/>
          </p:nvSpPr>
          <p:spPr>
            <a:xfrm>
              <a:off x="2801528" y="5686236"/>
              <a:ext cx="2304255" cy="624241"/>
            </a:xfrm>
            <a:prstGeom prst="rect">
              <a:avLst/>
            </a:prstGeom>
            <a:noFill/>
            <a:ln>
              <a:noFill/>
            </a:ln>
          </p:spPr>
          <p:txBody>
            <a:bodyPr wrap="square" rtlCol="0">
              <a:spAutoFit/>
            </a:bodyPr>
            <a:lstStyle/>
            <a:p>
              <a:pPr algn="ctr"/>
              <a:r>
                <a:rPr lang="en-US" sz="2100" b="1" dirty="0">
                  <a:solidFill>
                    <a:srgbClr val="000000"/>
                  </a:solidFill>
                  <a:latin typeface="Candara" panose="020E0502030303020204" pitchFamily="34" charset="0"/>
                </a:rPr>
                <a:t>Sample</a:t>
              </a:r>
            </a:p>
          </p:txBody>
        </p:sp>
      </p:grpSp>
      <p:sp>
        <p:nvSpPr>
          <p:cNvPr id="116" name="textruta 115"/>
          <p:cNvSpPr txBox="1"/>
          <p:nvPr/>
        </p:nvSpPr>
        <p:spPr>
          <a:xfrm>
            <a:off x="3265269" y="2355726"/>
            <a:ext cx="5627211" cy="1495281"/>
          </a:xfrm>
          <a:prstGeom prst="rect">
            <a:avLst/>
          </a:prstGeom>
          <a:noFill/>
        </p:spPr>
        <p:txBody>
          <a:bodyPr wrap="square" rtlCol="0">
            <a:spAutoFit/>
          </a:bodyPr>
          <a:lstStyle/>
          <a:p>
            <a:pPr algn="ctr"/>
            <a:r>
              <a:rPr lang="en-US" sz="1500" b="1" dirty="0">
                <a:solidFill>
                  <a:srgbClr val="000000"/>
                </a:solidFill>
                <a:latin typeface="+mn-lt"/>
              </a:rPr>
              <a:t>Inference (“an educated guess”)</a:t>
            </a:r>
          </a:p>
          <a:p>
            <a:pPr algn="ctr">
              <a:spcAft>
                <a:spcPts val="450"/>
              </a:spcAft>
            </a:pPr>
            <a:r>
              <a:rPr lang="en-US" dirty="0">
                <a:solidFill>
                  <a:srgbClr val="000000"/>
                </a:solidFill>
                <a:latin typeface="+mn-lt"/>
              </a:rPr>
              <a:t>Sample data is used to draw conclusions about the population</a:t>
            </a:r>
          </a:p>
          <a:p>
            <a:pPr algn="ctr"/>
            <a:r>
              <a:rPr lang="en-US" dirty="0">
                <a:solidFill>
                  <a:srgbClr val="000000"/>
                </a:solidFill>
                <a:latin typeface="+mn-lt"/>
              </a:rPr>
              <a:t>i.e. the </a:t>
            </a:r>
            <a:r>
              <a:rPr lang="en-US" i="1" dirty="0">
                <a:solidFill>
                  <a:srgbClr val="000000"/>
                </a:solidFill>
                <a:latin typeface="+mn-lt"/>
              </a:rPr>
              <a:t>sample statistics </a:t>
            </a:r>
            <a:r>
              <a:rPr lang="en-US" dirty="0">
                <a:solidFill>
                  <a:srgbClr val="000000"/>
                </a:solidFill>
                <a:latin typeface="+mn-lt"/>
              </a:rPr>
              <a:t>is </a:t>
            </a:r>
            <a:r>
              <a:rPr lang="en-US" i="1" dirty="0">
                <a:solidFill>
                  <a:srgbClr val="000000"/>
                </a:solidFill>
                <a:latin typeface="+mn-lt"/>
              </a:rPr>
              <a:t>estimates</a:t>
            </a:r>
            <a:r>
              <a:rPr lang="en-US" dirty="0">
                <a:solidFill>
                  <a:srgbClr val="000000"/>
                </a:solidFill>
                <a:latin typeface="+mn-lt"/>
              </a:rPr>
              <a:t> of the </a:t>
            </a:r>
            <a:r>
              <a:rPr lang="en-US" i="1" dirty="0">
                <a:solidFill>
                  <a:srgbClr val="000000"/>
                </a:solidFill>
                <a:latin typeface="+mn-lt"/>
              </a:rPr>
              <a:t>population parameters</a:t>
            </a:r>
          </a:p>
        </p:txBody>
      </p:sp>
      <mc:AlternateContent xmlns:mc="http://schemas.openxmlformats.org/markup-compatibility/2006" xmlns:a14="http://schemas.microsoft.com/office/drawing/2010/main">
        <mc:Choice Requires="a14">
          <p:sp>
            <p:nvSpPr>
              <p:cNvPr id="118" name="Rektangel med rundade hörn 117"/>
              <p:cNvSpPr/>
              <p:nvPr/>
            </p:nvSpPr>
            <p:spPr>
              <a:xfrm>
                <a:off x="5039588" y="4004766"/>
                <a:ext cx="1929617" cy="78300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sv-SE" sz="1500" b="1" dirty="0" err="1">
                    <a:solidFill>
                      <a:srgbClr val="000000"/>
                    </a:solidFill>
                    <a:latin typeface="Candara" panose="020E0502030303020204" pitchFamily="34" charset="0"/>
                  </a:rPr>
                  <a:t>Sample</a:t>
                </a:r>
                <a:r>
                  <a:rPr lang="sv-SE" sz="1500" b="1" dirty="0">
                    <a:solidFill>
                      <a:srgbClr val="000000"/>
                    </a:solidFill>
                    <a:latin typeface="Candara" panose="020E0502030303020204" pitchFamily="34" charset="0"/>
                  </a:rPr>
                  <a:t> </a:t>
                </a:r>
                <a:r>
                  <a:rPr lang="sv-SE" sz="1500" b="1" dirty="0" err="1">
                    <a:solidFill>
                      <a:srgbClr val="000000"/>
                    </a:solidFill>
                    <a:latin typeface="Candara" panose="020E0502030303020204" pitchFamily="34" charset="0"/>
                  </a:rPr>
                  <a:t>Statistics</a:t>
                </a:r>
                <a:endParaRPr lang="sv-SE" sz="1500" b="1" dirty="0">
                  <a:solidFill>
                    <a:srgbClr val="000000"/>
                  </a:solidFill>
                  <a:latin typeface="Candara" panose="020E0502030303020204" pitchFamily="34" charset="0"/>
                </a:endParaRPr>
              </a:p>
              <a:p>
                <a:pPr algn="ctr"/>
                <a:r>
                  <a:rPr lang="en-US" dirty="0">
                    <a:solidFill>
                      <a:srgbClr val="000000"/>
                    </a:solidFill>
                    <a:latin typeface="Candara" panose="020E0502030303020204" pitchFamily="34" charset="0"/>
                  </a:rPr>
                  <a:t>Mean value: </a:t>
                </a:r>
                <a14:m>
                  <m:oMath xmlns:m="http://schemas.openxmlformats.org/officeDocument/2006/math">
                    <m:acc>
                      <m:accPr>
                        <m:chr m:val="̅"/>
                        <m:ctrlPr>
                          <a:rPr lang="en-US" i="1" smtClean="0">
                            <a:solidFill>
                              <a:srgbClr val="000000"/>
                            </a:solidFill>
                            <a:latin typeface="Cambria Math" panose="02040503050406030204" pitchFamily="18" charset="0"/>
                            <a:ea typeface="Cambria Math"/>
                          </a:rPr>
                        </m:ctrlPr>
                      </m:accPr>
                      <m:e>
                        <m:r>
                          <a:rPr lang="en-US" i="1" smtClean="0">
                            <a:solidFill>
                              <a:srgbClr val="000000"/>
                            </a:solidFill>
                            <a:latin typeface="Cambria Math"/>
                            <a:ea typeface="Cambria Math"/>
                          </a:rPr>
                          <m:t>𝑥</m:t>
                        </m:r>
                      </m:e>
                    </m:acc>
                  </m:oMath>
                </a14:m>
                <a:endParaRPr lang="en-US" dirty="0">
                  <a:solidFill>
                    <a:srgbClr val="000000"/>
                  </a:solidFill>
                  <a:latin typeface="Candara" panose="020E0502030303020204" pitchFamily="34" charset="0"/>
                  <a:ea typeface="Cambria Math"/>
                </a:endParaRPr>
              </a:p>
              <a:p>
                <a:pPr algn="ctr"/>
                <a:r>
                  <a:rPr lang="en-US" dirty="0">
                    <a:solidFill>
                      <a:srgbClr val="000000"/>
                    </a:solidFill>
                    <a:latin typeface="Candara" panose="020E0502030303020204" pitchFamily="34" charset="0"/>
                    <a:ea typeface="Cambria Math"/>
                  </a:rPr>
                  <a:t>Variance: </a:t>
                </a:r>
                <a14:m>
                  <m:oMath xmlns:m="http://schemas.openxmlformats.org/officeDocument/2006/math">
                    <m:sSup>
                      <m:sSupPr>
                        <m:ctrlPr>
                          <a:rPr lang="sv-SE" i="1" smtClean="0">
                            <a:solidFill>
                              <a:srgbClr val="000000"/>
                            </a:solidFill>
                            <a:latin typeface="Cambria Math" panose="02040503050406030204" pitchFamily="18" charset="0"/>
                            <a:ea typeface="Cambria Math"/>
                          </a:rPr>
                        </m:ctrlPr>
                      </m:sSupPr>
                      <m:e>
                        <m:r>
                          <a:rPr lang="sv-SE" i="1" smtClean="0">
                            <a:solidFill>
                              <a:srgbClr val="000000"/>
                            </a:solidFill>
                            <a:latin typeface="Cambria Math"/>
                            <a:ea typeface="Cambria Math"/>
                          </a:rPr>
                          <m:t>𝑠</m:t>
                        </m:r>
                      </m:e>
                      <m:sup>
                        <m:r>
                          <a:rPr lang="sv-SE" i="1" smtClean="0">
                            <a:solidFill>
                              <a:srgbClr val="000000"/>
                            </a:solidFill>
                            <a:latin typeface="Cambria Math"/>
                            <a:ea typeface="Cambria Math"/>
                          </a:rPr>
                          <m:t>2</m:t>
                        </m:r>
                      </m:sup>
                    </m:sSup>
                  </m:oMath>
                </a14:m>
                <a:endParaRPr lang="sv-SE" dirty="0">
                  <a:solidFill>
                    <a:srgbClr val="000000"/>
                  </a:solidFill>
                  <a:latin typeface="Candara" panose="020E0502030303020204" pitchFamily="34" charset="0"/>
                </a:endParaRPr>
              </a:p>
            </p:txBody>
          </p:sp>
        </mc:Choice>
        <mc:Fallback xmlns="">
          <p:sp>
            <p:nvSpPr>
              <p:cNvPr id="118" name="Rektangel med rundade hörn 117"/>
              <p:cNvSpPr>
                <a:spLocks noRot="1" noChangeAspect="1" noMove="1" noResize="1" noEditPoints="1" noAdjustHandles="1" noChangeArrowheads="1" noChangeShapeType="1" noTextEdit="1"/>
              </p:cNvSpPr>
              <p:nvPr/>
            </p:nvSpPr>
            <p:spPr>
              <a:xfrm>
                <a:off x="5039588" y="4004766"/>
                <a:ext cx="1929617" cy="783001"/>
              </a:xfrm>
              <a:prstGeom prst="roundRect">
                <a:avLst/>
              </a:prstGeom>
              <a:blipFill>
                <a:blip r:embed="rId7"/>
                <a:stretch>
                  <a:fillRect t="-5303" r="-2500" b="-16667"/>
                </a:stretch>
              </a:blipFill>
            </p:spPr>
            <p:txBody>
              <a:bodyPr/>
              <a:lstStyle/>
              <a:p>
                <a:r>
                  <a:rPr lang="sv-SE">
                    <a:noFill/>
                  </a:rPr>
                  <a:t> </a:t>
                </a:r>
              </a:p>
            </p:txBody>
          </p:sp>
        </mc:Fallback>
      </mc:AlternateContent>
      <p:cxnSp>
        <p:nvCxnSpPr>
          <p:cNvPr id="123" name="Kurva 122"/>
          <p:cNvCxnSpPr/>
          <p:nvPr/>
        </p:nvCxnSpPr>
        <p:spPr>
          <a:xfrm rot="5400000" flipH="1" flipV="1">
            <a:off x="5885451" y="2135968"/>
            <a:ext cx="280565" cy="2"/>
          </a:xfrm>
          <a:prstGeom prst="curvedConnector3">
            <a:avLst>
              <a:gd name="adj1" fmla="val 50000"/>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24" name="Kurva 123"/>
          <p:cNvCxnSpPr/>
          <p:nvPr/>
        </p:nvCxnSpPr>
        <p:spPr>
          <a:xfrm rot="5400000" flipH="1" flipV="1">
            <a:off x="5919650" y="3906627"/>
            <a:ext cx="265431" cy="1"/>
          </a:xfrm>
          <a:prstGeom prst="curvedConnector3">
            <a:avLst>
              <a:gd name="adj1" fmla="val 50000"/>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25" name="Kurva 124"/>
          <p:cNvCxnSpPr>
            <a:stCxn id="81" idx="2"/>
            <a:endCxn id="103" idx="0"/>
          </p:cNvCxnSpPr>
          <p:nvPr/>
        </p:nvCxnSpPr>
        <p:spPr>
          <a:xfrm rot="5400000">
            <a:off x="2142565" y="2964436"/>
            <a:ext cx="1099062" cy="6011"/>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6" name="Kurva 125"/>
          <p:cNvCxnSpPr>
            <a:stCxn id="98" idx="3"/>
            <a:endCxn id="118" idx="1"/>
          </p:cNvCxnSpPr>
          <p:nvPr/>
        </p:nvCxnSpPr>
        <p:spPr>
          <a:xfrm>
            <a:off x="3547670" y="3898940"/>
            <a:ext cx="1491918" cy="497327"/>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grpSp>
        <p:nvGrpSpPr>
          <p:cNvPr id="128" name="Grupp 127"/>
          <p:cNvGrpSpPr/>
          <p:nvPr/>
        </p:nvGrpSpPr>
        <p:grpSpPr>
          <a:xfrm>
            <a:off x="4725320" y="915566"/>
            <a:ext cx="2727000" cy="994009"/>
            <a:chOff x="5717480" y="4911967"/>
            <a:chExt cx="2643500" cy="1325345"/>
          </a:xfrm>
        </p:grpSpPr>
        <p:sp>
          <p:nvSpPr>
            <p:cNvPr id="129" name="Rektangel med rundade hörn 128"/>
            <p:cNvSpPr/>
            <p:nvPr/>
          </p:nvSpPr>
          <p:spPr>
            <a:xfrm>
              <a:off x="5717480" y="4911967"/>
              <a:ext cx="2572822" cy="132534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500" dirty="0">
                <a:solidFill>
                  <a:srgbClr val="000000"/>
                </a:solidFill>
              </a:endParaRPr>
            </a:p>
            <a:p>
              <a:pPr algn="ctr"/>
              <a:r>
                <a:rPr lang="en-US" sz="1500" dirty="0">
                  <a:solidFill>
                    <a:srgbClr val="000000"/>
                  </a:solidFill>
                </a:rPr>
                <a:t>Mean value:  </a:t>
              </a:r>
              <a:r>
                <a:rPr lang="en-US" sz="1500" dirty="0">
                  <a:solidFill>
                    <a:srgbClr val="000000"/>
                  </a:solidFill>
                  <a:latin typeface="Cambria Math"/>
                  <a:ea typeface="Cambria Math"/>
                </a:rPr>
                <a:t>μ </a:t>
              </a:r>
            </a:p>
            <a:p>
              <a:pPr algn="ctr"/>
              <a:r>
                <a:rPr lang="en-US" sz="1500" dirty="0">
                  <a:solidFill>
                    <a:srgbClr val="000000"/>
                  </a:solidFill>
                  <a:latin typeface="Cambria Math"/>
                  <a:ea typeface="Cambria Math"/>
                </a:rPr>
                <a:t>(e.g. average survival time)</a:t>
              </a:r>
            </a:p>
            <a:p>
              <a:pPr algn="ctr"/>
              <a:r>
                <a:rPr lang="en-US" sz="1500" dirty="0">
                  <a:solidFill>
                    <a:srgbClr val="000000"/>
                  </a:solidFill>
                  <a:latin typeface="Cambria Math"/>
                  <a:ea typeface="Cambria Math"/>
                </a:rPr>
                <a:t>Variance:  σ</a:t>
              </a:r>
              <a:r>
                <a:rPr lang="sv-SE" sz="1500" baseline="30000" dirty="0">
                  <a:solidFill>
                    <a:srgbClr val="000000"/>
                  </a:solidFill>
                  <a:latin typeface="Cambria Math"/>
                  <a:ea typeface="Cambria Math"/>
                </a:rPr>
                <a:t>2</a:t>
              </a:r>
              <a:endParaRPr lang="sv-SE" sz="1500" dirty="0">
                <a:solidFill>
                  <a:srgbClr val="000000"/>
                </a:solidFill>
              </a:endParaRPr>
            </a:p>
          </p:txBody>
        </p:sp>
        <p:sp>
          <p:nvSpPr>
            <p:cNvPr id="130" name="textruta 129"/>
            <p:cNvSpPr txBox="1"/>
            <p:nvPr/>
          </p:nvSpPr>
          <p:spPr>
            <a:xfrm>
              <a:off x="5717480" y="4911968"/>
              <a:ext cx="2643500" cy="430887"/>
            </a:xfrm>
            <a:prstGeom prst="rect">
              <a:avLst/>
            </a:prstGeom>
            <a:noFill/>
          </p:spPr>
          <p:txBody>
            <a:bodyPr wrap="square" rtlCol="0">
              <a:spAutoFit/>
            </a:bodyPr>
            <a:lstStyle/>
            <a:p>
              <a:pPr algn="ctr"/>
              <a:r>
                <a:rPr lang="en-US" sz="1500" b="1" dirty="0">
                  <a:solidFill>
                    <a:srgbClr val="000000"/>
                  </a:solidFill>
                  <a:latin typeface="Candara" panose="020E0502030303020204" pitchFamily="34" charset="0"/>
                </a:rPr>
                <a:t>Population Parameters</a:t>
              </a:r>
            </a:p>
          </p:txBody>
        </p:sp>
      </p:grpSp>
      <p:cxnSp>
        <p:nvCxnSpPr>
          <p:cNvPr id="134" name="Kurva 133"/>
          <p:cNvCxnSpPr>
            <a:stCxn id="81" idx="3"/>
          </p:cNvCxnSpPr>
          <p:nvPr/>
        </p:nvCxnSpPr>
        <p:spPr>
          <a:xfrm flipV="1">
            <a:off x="3788532" y="1526706"/>
            <a:ext cx="936788" cy="5421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156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llips 5"/>
          <p:cNvSpPr/>
          <p:nvPr/>
        </p:nvSpPr>
        <p:spPr>
          <a:xfrm>
            <a:off x="1656160" y="1329612"/>
            <a:ext cx="3348038" cy="3187303"/>
          </a:xfrm>
          <a:prstGeom prst="ellipse">
            <a:avLst/>
          </a:prstGeom>
          <a:solidFill>
            <a:srgbClr val="00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sv-SE">
              <a:solidFill>
                <a:prstClr val="white"/>
              </a:solidFill>
              <a:latin typeface="Tahoma"/>
            </a:endParaRPr>
          </a:p>
        </p:txBody>
      </p:sp>
      <p:sp>
        <p:nvSpPr>
          <p:cNvPr id="36867" name="Rubrik 1"/>
          <p:cNvSpPr>
            <a:spLocks noGrp="1"/>
          </p:cNvSpPr>
          <p:nvPr>
            <p:ph type="title"/>
          </p:nvPr>
        </p:nvSpPr>
        <p:spPr>
          <a:xfrm>
            <a:off x="1657350" y="60471"/>
            <a:ext cx="5829300" cy="857250"/>
          </a:xfrm>
        </p:spPr>
        <p:txBody>
          <a:bodyPr/>
          <a:lstStyle/>
          <a:p>
            <a:pPr eaLnBrk="1" hangingPunct="1"/>
            <a:r>
              <a:rPr lang="sv-SE" sz="4050" dirty="0">
                <a:solidFill>
                  <a:srgbClr val="002060"/>
                </a:solidFill>
                <a:latin typeface="Trebuchet MS" panose="020B0603020202020204" pitchFamily="34" charset="0"/>
              </a:rPr>
              <a:t>Population and </a:t>
            </a:r>
            <a:r>
              <a:rPr lang="sv-SE" sz="4050" dirty="0" err="1">
                <a:solidFill>
                  <a:srgbClr val="002060"/>
                </a:solidFill>
                <a:latin typeface="Trebuchet MS" panose="020B0603020202020204" pitchFamily="34" charset="0"/>
              </a:rPr>
              <a:t>sample</a:t>
            </a:r>
            <a:endParaRPr lang="sv-SE" sz="4050" dirty="0">
              <a:solidFill>
                <a:srgbClr val="002060"/>
              </a:solidFill>
              <a:latin typeface="Trebuchet MS" panose="020B0603020202020204" pitchFamily="34" charset="0"/>
            </a:endParaRPr>
          </a:p>
        </p:txBody>
      </p:sp>
      <p:sp>
        <p:nvSpPr>
          <p:cNvPr id="36868" name="Platshållare för innehåll 1"/>
          <p:cNvSpPr>
            <a:spLocks noGrp="1"/>
          </p:cNvSpPr>
          <p:nvPr>
            <p:ph idx="1"/>
          </p:nvPr>
        </p:nvSpPr>
        <p:spPr>
          <a:xfrm>
            <a:off x="5219700" y="789552"/>
            <a:ext cx="2781300" cy="3086100"/>
          </a:xfrm>
        </p:spPr>
        <p:txBody>
          <a:bodyPr>
            <a:normAutofit fontScale="77500" lnSpcReduction="20000"/>
          </a:bodyPr>
          <a:lstStyle/>
          <a:p>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Population</a:t>
            </a:r>
          </a:p>
          <a:p>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Sampling </a:t>
            </a:r>
            <a:r>
              <a:rPr lang="sv-SE" sz="165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frame</a:t>
            </a:r>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 (urvalsram)</a:t>
            </a:r>
          </a:p>
          <a:p>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Over </a:t>
            </a:r>
            <a:r>
              <a:rPr lang="sv-SE" sz="165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coverage</a:t>
            </a:r>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 (Övertäckning)</a:t>
            </a:r>
          </a:p>
          <a:p>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Under </a:t>
            </a:r>
            <a:r>
              <a:rPr lang="sv-SE" sz="165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coverage</a:t>
            </a:r>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5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Undertäckning</a:t>
            </a:r>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a:t>
            </a:r>
          </a:p>
          <a:p>
            <a:r>
              <a:rPr lang="sv-SE" sz="165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Coverage</a:t>
            </a:r>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5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error</a:t>
            </a:r>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5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Ramfel</a:t>
            </a:r>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a:t>
            </a:r>
          </a:p>
          <a:p>
            <a:r>
              <a:rPr lang="sv-SE" sz="165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Sample</a:t>
            </a:r>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 (Urval)</a:t>
            </a:r>
          </a:p>
          <a:p>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Sampling  observation (Urvalsenhet)</a:t>
            </a:r>
          </a:p>
          <a:p>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Sampling </a:t>
            </a:r>
            <a:r>
              <a:rPr lang="sv-SE" sz="165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methods</a:t>
            </a:r>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 (Urvalsmetod)</a:t>
            </a:r>
          </a:p>
          <a:p>
            <a:r>
              <a:rPr lang="sv-SE" sz="165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Drop</a:t>
            </a:r>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5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out</a:t>
            </a:r>
            <a:r>
              <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rPr>
              <a:t> (Bortfall)</a:t>
            </a:r>
          </a:p>
          <a:p>
            <a:pPr marL="0" indent="0">
              <a:buNone/>
            </a:pPr>
            <a:endParaRPr lang="sv-SE" sz="1650" dirty="0">
              <a:solidFill>
                <a:srgbClr val="002060"/>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5" name="Rektangel 4"/>
          <p:cNvSpPr/>
          <p:nvPr/>
        </p:nvSpPr>
        <p:spPr>
          <a:xfrm>
            <a:off x="1925241" y="1464627"/>
            <a:ext cx="3015853" cy="3055144"/>
          </a:xfrm>
          <a:prstGeom prst="rect">
            <a:avLst/>
          </a:prstGeom>
          <a:solidFill>
            <a:srgbClr val="BE0005">
              <a:alpha val="5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sv-SE">
              <a:solidFill>
                <a:prstClr val="white"/>
              </a:solidFill>
              <a:latin typeface="Tahoma"/>
            </a:endParaRPr>
          </a:p>
        </p:txBody>
      </p:sp>
      <p:sp>
        <p:nvSpPr>
          <p:cNvPr id="7" name="Rektangel 6"/>
          <p:cNvSpPr/>
          <p:nvPr/>
        </p:nvSpPr>
        <p:spPr>
          <a:xfrm>
            <a:off x="3758804" y="3692129"/>
            <a:ext cx="1182290" cy="522684"/>
          </a:xfrm>
          <a:prstGeom prst="rect">
            <a:avLst/>
          </a:prstGeom>
          <a:solidFill>
            <a:srgbClr val="BE000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sv-SE">
              <a:solidFill>
                <a:prstClr val="white"/>
              </a:solidFill>
              <a:latin typeface="Tahoma"/>
            </a:endParaRPr>
          </a:p>
        </p:txBody>
      </p:sp>
      <p:grpSp>
        <p:nvGrpSpPr>
          <p:cNvPr id="36871" name="Grupp 3"/>
          <p:cNvGrpSpPr>
            <a:grpSpLocks/>
          </p:cNvGrpSpPr>
          <p:nvPr/>
        </p:nvGrpSpPr>
        <p:grpSpPr bwMode="auto">
          <a:xfrm>
            <a:off x="2797969" y="2801541"/>
            <a:ext cx="80963" cy="80963"/>
            <a:chOff x="7884368" y="3284984"/>
            <a:chExt cx="216024" cy="216024"/>
          </a:xfrm>
        </p:grpSpPr>
        <p:cxnSp>
          <p:nvCxnSpPr>
            <p:cNvPr id="3" name="Rak 2"/>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Rak 7"/>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6872" name="Grupp 9"/>
          <p:cNvGrpSpPr>
            <a:grpSpLocks/>
          </p:cNvGrpSpPr>
          <p:nvPr/>
        </p:nvGrpSpPr>
        <p:grpSpPr bwMode="auto">
          <a:xfrm>
            <a:off x="2912269" y="2915841"/>
            <a:ext cx="80963" cy="80963"/>
            <a:chOff x="7884368" y="3284984"/>
            <a:chExt cx="216024" cy="216024"/>
          </a:xfrm>
        </p:grpSpPr>
        <p:cxnSp>
          <p:nvCxnSpPr>
            <p:cNvPr id="11" name="Rak 10"/>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Rak 11"/>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6873" name="Grupp 12"/>
          <p:cNvGrpSpPr>
            <a:grpSpLocks/>
          </p:cNvGrpSpPr>
          <p:nvPr/>
        </p:nvGrpSpPr>
        <p:grpSpPr bwMode="auto">
          <a:xfrm>
            <a:off x="3026569" y="2855119"/>
            <a:ext cx="80963" cy="82154"/>
            <a:chOff x="7884368" y="3284984"/>
            <a:chExt cx="216024" cy="216024"/>
          </a:xfrm>
        </p:grpSpPr>
        <p:cxnSp>
          <p:nvCxnSpPr>
            <p:cNvPr id="14" name="Rak 13"/>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Rak 14"/>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6874" name="Grupp 15"/>
          <p:cNvGrpSpPr>
            <a:grpSpLocks/>
          </p:cNvGrpSpPr>
          <p:nvPr/>
        </p:nvGrpSpPr>
        <p:grpSpPr bwMode="auto">
          <a:xfrm>
            <a:off x="3140869" y="2969419"/>
            <a:ext cx="80963" cy="82154"/>
            <a:chOff x="7884368" y="3284984"/>
            <a:chExt cx="216024" cy="216024"/>
          </a:xfrm>
        </p:grpSpPr>
        <p:cxnSp>
          <p:nvCxnSpPr>
            <p:cNvPr id="17" name="Rak 16"/>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 name="Rak 17"/>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6875" name="Grupp 18"/>
          <p:cNvGrpSpPr>
            <a:grpSpLocks/>
          </p:cNvGrpSpPr>
          <p:nvPr/>
        </p:nvGrpSpPr>
        <p:grpSpPr bwMode="auto">
          <a:xfrm>
            <a:off x="2851547" y="3030141"/>
            <a:ext cx="80963" cy="80963"/>
            <a:chOff x="7884368" y="3284984"/>
            <a:chExt cx="216024" cy="216024"/>
          </a:xfrm>
        </p:grpSpPr>
        <p:cxnSp>
          <p:nvCxnSpPr>
            <p:cNvPr id="20" name="Rak 19"/>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Rak 20"/>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6876" name="Grupp 21"/>
          <p:cNvGrpSpPr>
            <a:grpSpLocks/>
          </p:cNvGrpSpPr>
          <p:nvPr/>
        </p:nvGrpSpPr>
        <p:grpSpPr bwMode="auto">
          <a:xfrm>
            <a:off x="3013472" y="2720578"/>
            <a:ext cx="80963" cy="80963"/>
            <a:chOff x="7884368" y="3284984"/>
            <a:chExt cx="216024" cy="216024"/>
          </a:xfrm>
        </p:grpSpPr>
        <p:cxnSp>
          <p:nvCxnSpPr>
            <p:cNvPr id="23" name="Rak 22"/>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Rak 23"/>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6877" name="Grupp 24"/>
          <p:cNvGrpSpPr>
            <a:grpSpLocks/>
          </p:cNvGrpSpPr>
          <p:nvPr/>
        </p:nvGrpSpPr>
        <p:grpSpPr bwMode="auto">
          <a:xfrm>
            <a:off x="4025503" y="3798094"/>
            <a:ext cx="80963" cy="80963"/>
            <a:chOff x="7884368" y="3284984"/>
            <a:chExt cx="216024" cy="216024"/>
          </a:xfrm>
        </p:grpSpPr>
        <p:cxnSp>
          <p:nvCxnSpPr>
            <p:cNvPr id="26" name="Rak 25"/>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Rak 26"/>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6878" name="Grupp 27"/>
          <p:cNvGrpSpPr>
            <a:grpSpLocks/>
          </p:cNvGrpSpPr>
          <p:nvPr/>
        </p:nvGrpSpPr>
        <p:grpSpPr bwMode="auto">
          <a:xfrm>
            <a:off x="4139803" y="3912394"/>
            <a:ext cx="80963" cy="80963"/>
            <a:chOff x="7884368" y="3284984"/>
            <a:chExt cx="216024" cy="216024"/>
          </a:xfrm>
        </p:grpSpPr>
        <p:cxnSp>
          <p:nvCxnSpPr>
            <p:cNvPr id="29" name="Rak 28"/>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Rak 29"/>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49" name="Grupp 27"/>
          <p:cNvGrpSpPr>
            <a:grpSpLocks/>
          </p:cNvGrpSpPr>
          <p:nvPr/>
        </p:nvGrpSpPr>
        <p:grpSpPr bwMode="auto">
          <a:xfrm>
            <a:off x="1454350" y="2786062"/>
            <a:ext cx="80963" cy="80963"/>
            <a:chOff x="7884368" y="3284984"/>
            <a:chExt cx="216024" cy="216024"/>
          </a:xfrm>
        </p:grpSpPr>
        <p:cxnSp>
          <p:nvCxnSpPr>
            <p:cNvPr id="50" name="Rak 28"/>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1" name="Rak 29"/>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4" name="Slide Number Placeholder 3">
            <a:extLst>
              <a:ext uri="{FF2B5EF4-FFF2-40B4-BE49-F238E27FC236}">
                <a16:creationId xmlns:a16="http://schemas.microsoft.com/office/drawing/2014/main" id="{3FBF5F98-A80A-47EB-84AD-081ED13CAC99}"/>
              </a:ext>
            </a:extLst>
          </p:cNvPr>
          <p:cNvSpPr>
            <a:spLocks noGrp="1"/>
          </p:cNvSpPr>
          <p:nvPr>
            <p:ph type="sldNum" sz="quarter" idx="12"/>
          </p:nvPr>
        </p:nvSpPr>
        <p:spPr/>
        <p:txBody>
          <a:bodyPr/>
          <a:lstStyle/>
          <a:p>
            <a:pPr>
              <a:defRPr/>
            </a:pPr>
            <a:fld id="{F93A8683-B3F0-4451-9D03-D239B7B635C5}" type="slidenum">
              <a:rPr lang="sv-SE" smtClean="0"/>
              <a:pPr>
                <a:defRPr/>
              </a:pPr>
              <a:t>10</a:t>
            </a:fld>
            <a:endParaRPr lang="sv-SE"/>
          </a:p>
        </p:txBody>
      </p:sp>
    </p:spTree>
    <p:extLst>
      <p:ext uri="{BB962C8B-B14F-4D97-AF65-F5344CB8AC3E}">
        <p14:creationId xmlns:p14="http://schemas.microsoft.com/office/powerpoint/2010/main" val="545208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Ellips 31">
            <a:extLst>
              <a:ext uri="{FF2B5EF4-FFF2-40B4-BE49-F238E27FC236}">
                <a16:creationId xmlns:a16="http://schemas.microsoft.com/office/drawing/2014/main" id="{6862A797-57B3-6CDB-34DD-46AB626CCA8E}"/>
              </a:ext>
            </a:extLst>
          </p:cNvPr>
          <p:cNvSpPr/>
          <p:nvPr/>
        </p:nvSpPr>
        <p:spPr>
          <a:xfrm>
            <a:off x="1162121" y="1234943"/>
            <a:ext cx="2299595" cy="259227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sv-SE">
              <a:solidFill>
                <a:prstClr val="white"/>
              </a:solidFill>
              <a:latin typeface="Tahoma"/>
            </a:endParaRPr>
          </a:p>
        </p:txBody>
      </p:sp>
      <p:sp>
        <p:nvSpPr>
          <p:cNvPr id="2" name="Platshållare för innehåll 1"/>
          <p:cNvSpPr>
            <a:spLocks noGrp="1"/>
          </p:cNvSpPr>
          <p:nvPr>
            <p:ph idx="1"/>
          </p:nvPr>
        </p:nvSpPr>
        <p:spPr>
          <a:xfrm>
            <a:off x="5057775" y="699542"/>
            <a:ext cx="3938305" cy="1080120"/>
          </a:xfrm>
        </p:spPr>
        <p:txBody>
          <a:bodyPr>
            <a:normAutofit/>
          </a:bodyPr>
          <a:lstStyle/>
          <a:p>
            <a:pPr marL="0" indent="0">
              <a:buNone/>
              <a:defRPr/>
            </a:pPr>
            <a:r>
              <a:rPr lang="sv-SE" sz="2100" dirty="0">
                <a:solidFill>
                  <a:srgbClr val="002060"/>
                </a:solidFill>
                <a:latin typeface="Verdana" panose="020B0604030504040204" pitchFamily="34" charset="0"/>
                <a:ea typeface="Verdana" panose="020B0604030504040204" pitchFamily="34" charset="0"/>
                <a:cs typeface="Times New Roman" panose="02020603050405020304" pitchFamily="18" charset="0"/>
              </a:rPr>
              <a:t>Vi </a:t>
            </a:r>
            <a:r>
              <a:rPr lang="sv-SE" sz="21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want</a:t>
            </a:r>
            <a:r>
              <a:rPr lang="sv-SE" sz="21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to make </a:t>
            </a:r>
            <a:r>
              <a:rPr lang="sv-SE" sz="21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conclusion</a:t>
            </a:r>
            <a:r>
              <a:rPr lang="sv-SE" sz="21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21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about</a:t>
            </a:r>
            <a:r>
              <a:rPr lang="sv-SE" sz="21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the population</a:t>
            </a:r>
            <a:endParaRPr lang="sv-SE" sz="2100" i="1" dirty="0">
              <a:solidFill>
                <a:srgbClr val="002060"/>
              </a:solidFill>
              <a:latin typeface="Verdana" panose="020B0604030504040204" pitchFamily="34" charset="0"/>
              <a:ea typeface="Verdana" panose="020B0604030504040204" pitchFamily="34" charset="0"/>
              <a:cs typeface="Times New Roman" panose="02020603050405020304" pitchFamily="18" charset="0"/>
            </a:endParaRPr>
          </a:p>
        </p:txBody>
      </p:sp>
      <p:grpSp>
        <p:nvGrpSpPr>
          <p:cNvPr id="37893" name="Grupp 3"/>
          <p:cNvGrpSpPr>
            <a:grpSpLocks/>
          </p:cNvGrpSpPr>
          <p:nvPr/>
        </p:nvGrpSpPr>
        <p:grpSpPr bwMode="auto">
          <a:xfrm>
            <a:off x="2797969" y="2801541"/>
            <a:ext cx="80963" cy="80963"/>
            <a:chOff x="7884368" y="3284984"/>
            <a:chExt cx="216024" cy="216024"/>
          </a:xfrm>
        </p:grpSpPr>
        <p:cxnSp>
          <p:nvCxnSpPr>
            <p:cNvPr id="3" name="Rak 2"/>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Rak 7"/>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894" name="Grupp 9"/>
          <p:cNvGrpSpPr>
            <a:grpSpLocks/>
          </p:cNvGrpSpPr>
          <p:nvPr/>
        </p:nvGrpSpPr>
        <p:grpSpPr bwMode="auto">
          <a:xfrm>
            <a:off x="2912269" y="2915841"/>
            <a:ext cx="80963" cy="80963"/>
            <a:chOff x="7884368" y="3284984"/>
            <a:chExt cx="216024" cy="216024"/>
          </a:xfrm>
        </p:grpSpPr>
        <p:cxnSp>
          <p:nvCxnSpPr>
            <p:cNvPr id="11" name="Rak 10"/>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Rak 11"/>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895" name="Grupp 12"/>
          <p:cNvGrpSpPr>
            <a:grpSpLocks/>
          </p:cNvGrpSpPr>
          <p:nvPr/>
        </p:nvGrpSpPr>
        <p:grpSpPr bwMode="auto">
          <a:xfrm>
            <a:off x="3026569" y="2855119"/>
            <a:ext cx="80963" cy="82154"/>
            <a:chOff x="7884368" y="3284984"/>
            <a:chExt cx="216024" cy="216024"/>
          </a:xfrm>
        </p:grpSpPr>
        <p:cxnSp>
          <p:nvCxnSpPr>
            <p:cNvPr id="14" name="Rak 13"/>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Rak 14"/>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896" name="Grupp 15"/>
          <p:cNvGrpSpPr>
            <a:grpSpLocks/>
          </p:cNvGrpSpPr>
          <p:nvPr/>
        </p:nvGrpSpPr>
        <p:grpSpPr bwMode="auto">
          <a:xfrm>
            <a:off x="3140869" y="2969419"/>
            <a:ext cx="80963" cy="82154"/>
            <a:chOff x="7884368" y="3284984"/>
            <a:chExt cx="216024" cy="216024"/>
          </a:xfrm>
        </p:grpSpPr>
        <p:cxnSp>
          <p:nvCxnSpPr>
            <p:cNvPr id="17" name="Rak 16"/>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 name="Rak 17"/>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897" name="Grupp 18"/>
          <p:cNvGrpSpPr>
            <a:grpSpLocks/>
          </p:cNvGrpSpPr>
          <p:nvPr/>
        </p:nvGrpSpPr>
        <p:grpSpPr bwMode="auto">
          <a:xfrm>
            <a:off x="2851547" y="3030141"/>
            <a:ext cx="80963" cy="80963"/>
            <a:chOff x="7884368" y="3284984"/>
            <a:chExt cx="216024" cy="216024"/>
          </a:xfrm>
        </p:grpSpPr>
        <p:cxnSp>
          <p:nvCxnSpPr>
            <p:cNvPr id="20" name="Rak 19"/>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Rak 20"/>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898" name="Grupp 21"/>
          <p:cNvGrpSpPr>
            <a:grpSpLocks/>
          </p:cNvGrpSpPr>
          <p:nvPr/>
        </p:nvGrpSpPr>
        <p:grpSpPr bwMode="auto">
          <a:xfrm>
            <a:off x="3013472" y="2720578"/>
            <a:ext cx="80963" cy="80963"/>
            <a:chOff x="7884368" y="3284984"/>
            <a:chExt cx="216024" cy="216024"/>
          </a:xfrm>
        </p:grpSpPr>
        <p:cxnSp>
          <p:nvCxnSpPr>
            <p:cNvPr id="23" name="Rak 22"/>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Rak 23"/>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25" name="Grupp 24"/>
          <p:cNvGrpSpPr>
            <a:grpSpLocks/>
          </p:cNvGrpSpPr>
          <p:nvPr/>
        </p:nvGrpSpPr>
        <p:grpSpPr bwMode="auto">
          <a:xfrm>
            <a:off x="4738093" y="4299942"/>
            <a:ext cx="80963" cy="80963"/>
            <a:chOff x="7884368" y="3284984"/>
            <a:chExt cx="216024" cy="216024"/>
          </a:xfrm>
        </p:grpSpPr>
        <p:cxnSp>
          <p:nvCxnSpPr>
            <p:cNvPr id="26" name="Rak 25"/>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Rak 26"/>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4" name="Grupp 27"/>
          <p:cNvGrpSpPr>
            <a:grpSpLocks/>
          </p:cNvGrpSpPr>
          <p:nvPr/>
        </p:nvGrpSpPr>
        <p:grpSpPr bwMode="auto">
          <a:xfrm>
            <a:off x="1790691" y="2842022"/>
            <a:ext cx="80963" cy="80963"/>
            <a:chOff x="7884368" y="3284984"/>
            <a:chExt cx="216024" cy="216024"/>
          </a:xfrm>
        </p:grpSpPr>
        <p:cxnSp>
          <p:nvCxnSpPr>
            <p:cNvPr id="35" name="Rak 28"/>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6" name="Rak 29"/>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37" name="Rubrik 1"/>
          <p:cNvSpPr>
            <a:spLocks noGrp="1"/>
          </p:cNvSpPr>
          <p:nvPr>
            <p:ph type="title"/>
          </p:nvPr>
        </p:nvSpPr>
        <p:spPr>
          <a:xfrm>
            <a:off x="1657350" y="60471"/>
            <a:ext cx="5829300" cy="857250"/>
          </a:xfrm>
        </p:spPr>
        <p:txBody>
          <a:bodyPr/>
          <a:lstStyle/>
          <a:p>
            <a:pPr eaLnBrk="1" hangingPunct="1"/>
            <a:r>
              <a:rPr lang="sv-SE" sz="4000" dirty="0" err="1">
                <a:solidFill>
                  <a:srgbClr val="002060"/>
                </a:solidFill>
              </a:rPr>
              <a:t>Statistical</a:t>
            </a:r>
            <a:r>
              <a:rPr lang="sv-SE" sz="4000" dirty="0">
                <a:solidFill>
                  <a:srgbClr val="002060"/>
                </a:solidFill>
              </a:rPr>
              <a:t> Population</a:t>
            </a:r>
          </a:p>
        </p:txBody>
      </p:sp>
      <p:sp>
        <p:nvSpPr>
          <p:cNvPr id="5" name="Slide Number Placeholder 4">
            <a:extLst>
              <a:ext uri="{FF2B5EF4-FFF2-40B4-BE49-F238E27FC236}">
                <a16:creationId xmlns:a16="http://schemas.microsoft.com/office/drawing/2014/main" id="{360181C2-E97F-4A0B-8B2F-A92407920026}"/>
              </a:ext>
            </a:extLst>
          </p:cNvPr>
          <p:cNvSpPr>
            <a:spLocks noGrp="1"/>
          </p:cNvSpPr>
          <p:nvPr>
            <p:ph type="sldNum" sz="quarter" idx="12"/>
          </p:nvPr>
        </p:nvSpPr>
        <p:spPr/>
        <p:txBody>
          <a:bodyPr/>
          <a:lstStyle/>
          <a:p>
            <a:pPr>
              <a:defRPr/>
            </a:pPr>
            <a:fld id="{F93A8683-B3F0-4451-9D03-D239B7B635C5}" type="slidenum">
              <a:rPr lang="sv-SE" smtClean="0"/>
              <a:pPr>
                <a:defRPr/>
              </a:pPr>
              <a:t>11</a:t>
            </a:fld>
            <a:endParaRPr lang="sv-SE"/>
          </a:p>
        </p:txBody>
      </p:sp>
      <p:grpSp>
        <p:nvGrpSpPr>
          <p:cNvPr id="44" name="Grupp 24">
            <a:extLst>
              <a:ext uri="{FF2B5EF4-FFF2-40B4-BE49-F238E27FC236}">
                <a16:creationId xmlns:a16="http://schemas.microsoft.com/office/drawing/2014/main" id="{448D84BE-6EDB-4C25-BC12-A3664ECFD0DA}"/>
              </a:ext>
            </a:extLst>
          </p:cNvPr>
          <p:cNvGrpSpPr>
            <a:grpSpLocks/>
          </p:cNvGrpSpPr>
          <p:nvPr/>
        </p:nvGrpSpPr>
        <p:grpSpPr bwMode="auto">
          <a:xfrm>
            <a:off x="4852393" y="4414242"/>
            <a:ext cx="80963" cy="80963"/>
            <a:chOff x="7884368" y="3284984"/>
            <a:chExt cx="216024" cy="216024"/>
          </a:xfrm>
        </p:grpSpPr>
        <p:cxnSp>
          <p:nvCxnSpPr>
            <p:cNvPr id="45" name="Rak 25">
              <a:extLst>
                <a:ext uri="{FF2B5EF4-FFF2-40B4-BE49-F238E27FC236}">
                  <a16:creationId xmlns:a16="http://schemas.microsoft.com/office/drawing/2014/main" id="{F5674250-32CC-4E8A-B205-E8AF25973F3A}"/>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Rak 26">
              <a:extLst>
                <a:ext uri="{FF2B5EF4-FFF2-40B4-BE49-F238E27FC236}">
                  <a16:creationId xmlns:a16="http://schemas.microsoft.com/office/drawing/2014/main" id="{2C1878AE-1A10-410B-9A37-430FA1DA406D}"/>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4" name="Grupp 24">
            <a:extLst>
              <a:ext uri="{FF2B5EF4-FFF2-40B4-BE49-F238E27FC236}">
                <a16:creationId xmlns:a16="http://schemas.microsoft.com/office/drawing/2014/main" id="{307680A4-9EC2-F97B-8520-88B9994A6C94}"/>
              </a:ext>
            </a:extLst>
          </p:cNvPr>
          <p:cNvGrpSpPr>
            <a:grpSpLocks/>
          </p:cNvGrpSpPr>
          <p:nvPr/>
        </p:nvGrpSpPr>
        <p:grpSpPr bwMode="auto">
          <a:xfrm>
            <a:off x="3110906" y="4724713"/>
            <a:ext cx="80963" cy="80963"/>
            <a:chOff x="7884368" y="3284984"/>
            <a:chExt cx="216024" cy="216024"/>
          </a:xfrm>
        </p:grpSpPr>
        <p:cxnSp>
          <p:nvCxnSpPr>
            <p:cNvPr id="6" name="Rak 25">
              <a:extLst>
                <a:ext uri="{FF2B5EF4-FFF2-40B4-BE49-F238E27FC236}">
                  <a16:creationId xmlns:a16="http://schemas.microsoft.com/office/drawing/2014/main" id="{6A96182A-6ED5-888C-4D49-14DD9D403BC5}"/>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 name="Rak 26">
              <a:extLst>
                <a:ext uri="{FF2B5EF4-FFF2-40B4-BE49-F238E27FC236}">
                  <a16:creationId xmlns:a16="http://schemas.microsoft.com/office/drawing/2014/main" id="{5863A3D9-1090-45D7-22A3-2B7F8B6538DB}"/>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9" name="Grupp 24">
            <a:extLst>
              <a:ext uri="{FF2B5EF4-FFF2-40B4-BE49-F238E27FC236}">
                <a16:creationId xmlns:a16="http://schemas.microsoft.com/office/drawing/2014/main" id="{6E0C8854-72F2-9326-E490-782F89F899C5}"/>
              </a:ext>
            </a:extLst>
          </p:cNvPr>
          <p:cNvGrpSpPr>
            <a:grpSpLocks/>
          </p:cNvGrpSpPr>
          <p:nvPr/>
        </p:nvGrpSpPr>
        <p:grpSpPr bwMode="auto">
          <a:xfrm>
            <a:off x="1638953" y="1779662"/>
            <a:ext cx="80963" cy="80963"/>
            <a:chOff x="7884368" y="3284984"/>
            <a:chExt cx="216024" cy="216024"/>
          </a:xfrm>
        </p:grpSpPr>
        <p:cxnSp>
          <p:nvCxnSpPr>
            <p:cNvPr id="10" name="Rak 25">
              <a:extLst>
                <a:ext uri="{FF2B5EF4-FFF2-40B4-BE49-F238E27FC236}">
                  <a16:creationId xmlns:a16="http://schemas.microsoft.com/office/drawing/2014/main" id="{F4A1482F-1964-1F00-8796-67A7480BE5C0}"/>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 name="Rak 26">
              <a:extLst>
                <a:ext uri="{FF2B5EF4-FFF2-40B4-BE49-F238E27FC236}">
                  <a16:creationId xmlns:a16="http://schemas.microsoft.com/office/drawing/2014/main" id="{8EBCDC8B-698D-1961-7467-B70868D4D952}"/>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6" name="Grupp 24">
            <a:extLst>
              <a:ext uri="{FF2B5EF4-FFF2-40B4-BE49-F238E27FC236}">
                <a16:creationId xmlns:a16="http://schemas.microsoft.com/office/drawing/2014/main" id="{F33C27BE-1C5F-AFFA-CB1A-70E4C9119348}"/>
              </a:ext>
            </a:extLst>
          </p:cNvPr>
          <p:cNvGrpSpPr>
            <a:grpSpLocks/>
          </p:cNvGrpSpPr>
          <p:nvPr/>
        </p:nvGrpSpPr>
        <p:grpSpPr bwMode="auto">
          <a:xfrm>
            <a:off x="1750522" y="4083918"/>
            <a:ext cx="80963" cy="80963"/>
            <a:chOff x="7884368" y="3284984"/>
            <a:chExt cx="216024" cy="216024"/>
          </a:xfrm>
        </p:grpSpPr>
        <p:cxnSp>
          <p:nvCxnSpPr>
            <p:cNvPr id="19" name="Rak 25">
              <a:extLst>
                <a:ext uri="{FF2B5EF4-FFF2-40B4-BE49-F238E27FC236}">
                  <a16:creationId xmlns:a16="http://schemas.microsoft.com/office/drawing/2014/main" id="{1A01CFAD-3E84-AE59-33C9-E1385711EF3F}"/>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Rak 26">
              <a:extLst>
                <a:ext uri="{FF2B5EF4-FFF2-40B4-BE49-F238E27FC236}">
                  <a16:creationId xmlns:a16="http://schemas.microsoft.com/office/drawing/2014/main" id="{BA409D7F-D363-CB48-E873-3E040BE95B98}"/>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28" name="Grupp 24">
            <a:extLst>
              <a:ext uri="{FF2B5EF4-FFF2-40B4-BE49-F238E27FC236}">
                <a16:creationId xmlns:a16="http://schemas.microsoft.com/office/drawing/2014/main" id="{EAF0419C-E872-24C1-BA10-896782F8D6CC}"/>
              </a:ext>
            </a:extLst>
          </p:cNvPr>
          <p:cNvGrpSpPr>
            <a:grpSpLocks/>
          </p:cNvGrpSpPr>
          <p:nvPr/>
        </p:nvGrpSpPr>
        <p:grpSpPr bwMode="auto">
          <a:xfrm>
            <a:off x="4211960" y="1396603"/>
            <a:ext cx="80963" cy="80963"/>
            <a:chOff x="7884368" y="3284984"/>
            <a:chExt cx="216024" cy="216024"/>
          </a:xfrm>
        </p:grpSpPr>
        <p:cxnSp>
          <p:nvCxnSpPr>
            <p:cNvPr id="29" name="Rak 25">
              <a:extLst>
                <a:ext uri="{FF2B5EF4-FFF2-40B4-BE49-F238E27FC236}">
                  <a16:creationId xmlns:a16="http://schemas.microsoft.com/office/drawing/2014/main" id="{92E7DDE4-6283-CA35-FF40-E3EE5DF7E404}"/>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Rak 26">
              <a:extLst>
                <a:ext uri="{FF2B5EF4-FFF2-40B4-BE49-F238E27FC236}">
                  <a16:creationId xmlns:a16="http://schemas.microsoft.com/office/drawing/2014/main" id="{063F7979-EBAC-3400-2D57-2BF2A964C67D}"/>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1" name="Grupp 24">
            <a:extLst>
              <a:ext uri="{FF2B5EF4-FFF2-40B4-BE49-F238E27FC236}">
                <a16:creationId xmlns:a16="http://schemas.microsoft.com/office/drawing/2014/main" id="{5DB4F732-8D51-777E-FCEB-64F2F6CDDF38}"/>
              </a:ext>
            </a:extLst>
          </p:cNvPr>
          <p:cNvGrpSpPr>
            <a:grpSpLocks/>
          </p:cNvGrpSpPr>
          <p:nvPr/>
        </p:nvGrpSpPr>
        <p:grpSpPr bwMode="auto">
          <a:xfrm>
            <a:off x="2411760" y="4643750"/>
            <a:ext cx="80963" cy="80963"/>
            <a:chOff x="7884368" y="3284984"/>
            <a:chExt cx="216024" cy="216024"/>
          </a:xfrm>
        </p:grpSpPr>
        <p:cxnSp>
          <p:nvCxnSpPr>
            <p:cNvPr id="33" name="Rak 25">
              <a:extLst>
                <a:ext uri="{FF2B5EF4-FFF2-40B4-BE49-F238E27FC236}">
                  <a16:creationId xmlns:a16="http://schemas.microsoft.com/office/drawing/2014/main" id="{21CF17C8-09BC-8557-BCDA-B25D1C4CB8C8}"/>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 name="Rak 26">
              <a:extLst>
                <a:ext uri="{FF2B5EF4-FFF2-40B4-BE49-F238E27FC236}">
                  <a16:creationId xmlns:a16="http://schemas.microsoft.com/office/drawing/2014/main" id="{4E7E0128-42FB-CCFB-94B5-EA59ACF454ED}"/>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9" name="Grupp 24">
            <a:extLst>
              <a:ext uri="{FF2B5EF4-FFF2-40B4-BE49-F238E27FC236}">
                <a16:creationId xmlns:a16="http://schemas.microsoft.com/office/drawing/2014/main" id="{496A41FF-9276-E066-1176-5AF502CF6CB1}"/>
              </a:ext>
            </a:extLst>
          </p:cNvPr>
          <p:cNvGrpSpPr>
            <a:grpSpLocks/>
          </p:cNvGrpSpPr>
          <p:nvPr/>
        </p:nvGrpSpPr>
        <p:grpSpPr bwMode="auto">
          <a:xfrm>
            <a:off x="2195736" y="4414242"/>
            <a:ext cx="80963" cy="80963"/>
            <a:chOff x="7884368" y="3284984"/>
            <a:chExt cx="216024" cy="216024"/>
          </a:xfrm>
        </p:grpSpPr>
        <p:cxnSp>
          <p:nvCxnSpPr>
            <p:cNvPr id="40" name="Rak 25">
              <a:extLst>
                <a:ext uri="{FF2B5EF4-FFF2-40B4-BE49-F238E27FC236}">
                  <a16:creationId xmlns:a16="http://schemas.microsoft.com/office/drawing/2014/main" id="{C86E5F8A-BCB9-A132-D9FA-D496C4B1BAAF}"/>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1" name="Rak 26">
              <a:extLst>
                <a:ext uri="{FF2B5EF4-FFF2-40B4-BE49-F238E27FC236}">
                  <a16:creationId xmlns:a16="http://schemas.microsoft.com/office/drawing/2014/main" id="{F180C07F-31C4-0E6F-CD71-1C513F132118}"/>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42" name="Grupp 24">
            <a:extLst>
              <a:ext uri="{FF2B5EF4-FFF2-40B4-BE49-F238E27FC236}">
                <a16:creationId xmlns:a16="http://schemas.microsoft.com/office/drawing/2014/main" id="{114F9788-599B-341B-0FAC-BCE23AC0F84B}"/>
              </a:ext>
            </a:extLst>
          </p:cNvPr>
          <p:cNvGrpSpPr>
            <a:grpSpLocks/>
          </p:cNvGrpSpPr>
          <p:nvPr/>
        </p:nvGrpSpPr>
        <p:grpSpPr bwMode="auto">
          <a:xfrm>
            <a:off x="4755981" y="1995686"/>
            <a:ext cx="80963" cy="80963"/>
            <a:chOff x="7884368" y="3284984"/>
            <a:chExt cx="216024" cy="216024"/>
          </a:xfrm>
        </p:grpSpPr>
        <p:cxnSp>
          <p:nvCxnSpPr>
            <p:cNvPr id="43" name="Rak 25">
              <a:extLst>
                <a:ext uri="{FF2B5EF4-FFF2-40B4-BE49-F238E27FC236}">
                  <a16:creationId xmlns:a16="http://schemas.microsoft.com/office/drawing/2014/main" id="{6B1B4300-1C17-5DD2-F3B8-999222E3FBA7}"/>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7" name="Rak 26">
              <a:extLst>
                <a:ext uri="{FF2B5EF4-FFF2-40B4-BE49-F238E27FC236}">
                  <a16:creationId xmlns:a16="http://schemas.microsoft.com/office/drawing/2014/main" id="{70D79882-E366-18AD-C793-E5703ADED6F6}"/>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48" name="Grupp 24">
            <a:extLst>
              <a:ext uri="{FF2B5EF4-FFF2-40B4-BE49-F238E27FC236}">
                <a16:creationId xmlns:a16="http://schemas.microsoft.com/office/drawing/2014/main" id="{F87F90A5-E0C5-BA3F-7481-3A771F92D968}"/>
              </a:ext>
            </a:extLst>
          </p:cNvPr>
          <p:cNvGrpSpPr>
            <a:grpSpLocks/>
          </p:cNvGrpSpPr>
          <p:nvPr/>
        </p:nvGrpSpPr>
        <p:grpSpPr bwMode="auto">
          <a:xfrm>
            <a:off x="1331640" y="2355726"/>
            <a:ext cx="80963" cy="80963"/>
            <a:chOff x="7884368" y="3284984"/>
            <a:chExt cx="216024" cy="216024"/>
          </a:xfrm>
        </p:grpSpPr>
        <p:cxnSp>
          <p:nvCxnSpPr>
            <p:cNvPr id="49" name="Rak 25">
              <a:extLst>
                <a:ext uri="{FF2B5EF4-FFF2-40B4-BE49-F238E27FC236}">
                  <a16:creationId xmlns:a16="http://schemas.microsoft.com/office/drawing/2014/main" id="{64E0E487-3BF7-C1CC-CE3C-E0C8607949DA}"/>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0" name="Rak 26">
              <a:extLst>
                <a:ext uri="{FF2B5EF4-FFF2-40B4-BE49-F238E27FC236}">
                  <a16:creationId xmlns:a16="http://schemas.microsoft.com/office/drawing/2014/main" id="{CCDDBEAF-1905-0FE8-943C-96A54BD41E1B}"/>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51" name="Grupp 24">
            <a:extLst>
              <a:ext uri="{FF2B5EF4-FFF2-40B4-BE49-F238E27FC236}">
                <a16:creationId xmlns:a16="http://schemas.microsoft.com/office/drawing/2014/main" id="{CE4719A4-E141-32A6-33A0-2D0ED91E98F4}"/>
              </a:ext>
            </a:extLst>
          </p:cNvPr>
          <p:cNvGrpSpPr>
            <a:grpSpLocks/>
          </p:cNvGrpSpPr>
          <p:nvPr/>
        </p:nvGrpSpPr>
        <p:grpSpPr bwMode="auto">
          <a:xfrm>
            <a:off x="2371278" y="1485079"/>
            <a:ext cx="80963" cy="80963"/>
            <a:chOff x="7884368" y="3284984"/>
            <a:chExt cx="216024" cy="216024"/>
          </a:xfrm>
        </p:grpSpPr>
        <p:cxnSp>
          <p:nvCxnSpPr>
            <p:cNvPr id="52" name="Rak 25">
              <a:extLst>
                <a:ext uri="{FF2B5EF4-FFF2-40B4-BE49-F238E27FC236}">
                  <a16:creationId xmlns:a16="http://schemas.microsoft.com/office/drawing/2014/main" id="{BA636AD0-35EA-61D8-32C8-BA305393BE20}"/>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3" name="Rak 26">
              <a:extLst>
                <a:ext uri="{FF2B5EF4-FFF2-40B4-BE49-F238E27FC236}">
                  <a16:creationId xmlns:a16="http://schemas.microsoft.com/office/drawing/2014/main" id="{D9C13FC3-FEF8-C041-8661-A283048738C3}"/>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54" name="Grupp 24">
            <a:extLst>
              <a:ext uri="{FF2B5EF4-FFF2-40B4-BE49-F238E27FC236}">
                <a16:creationId xmlns:a16="http://schemas.microsoft.com/office/drawing/2014/main" id="{CB7B3EF0-0CDE-7BED-B3E9-4C43DD644C45}"/>
              </a:ext>
            </a:extLst>
          </p:cNvPr>
          <p:cNvGrpSpPr>
            <a:grpSpLocks/>
          </p:cNvGrpSpPr>
          <p:nvPr/>
        </p:nvGrpSpPr>
        <p:grpSpPr bwMode="auto">
          <a:xfrm>
            <a:off x="904677" y="2801540"/>
            <a:ext cx="80963" cy="80963"/>
            <a:chOff x="7884368" y="3284984"/>
            <a:chExt cx="216024" cy="216024"/>
          </a:xfrm>
        </p:grpSpPr>
        <p:cxnSp>
          <p:nvCxnSpPr>
            <p:cNvPr id="55" name="Rak 25">
              <a:extLst>
                <a:ext uri="{FF2B5EF4-FFF2-40B4-BE49-F238E27FC236}">
                  <a16:creationId xmlns:a16="http://schemas.microsoft.com/office/drawing/2014/main" id="{67016C00-4928-FA6A-0BA1-1378702BB5C8}"/>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6" name="Rak 26">
              <a:extLst>
                <a:ext uri="{FF2B5EF4-FFF2-40B4-BE49-F238E27FC236}">
                  <a16:creationId xmlns:a16="http://schemas.microsoft.com/office/drawing/2014/main" id="{D3DB808E-3967-9438-5FE8-7E05276FA9CC}"/>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57" name="Grupp 24">
            <a:extLst>
              <a:ext uri="{FF2B5EF4-FFF2-40B4-BE49-F238E27FC236}">
                <a16:creationId xmlns:a16="http://schemas.microsoft.com/office/drawing/2014/main" id="{DA66D0D2-4E77-2A3D-3279-BEA67D04610E}"/>
              </a:ext>
            </a:extLst>
          </p:cNvPr>
          <p:cNvGrpSpPr>
            <a:grpSpLocks/>
          </p:cNvGrpSpPr>
          <p:nvPr/>
        </p:nvGrpSpPr>
        <p:grpSpPr bwMode="auto">
          <a:xfrm>
            <a:off x="1187624" y="3507854"/>
            <a:ext cx="80963" cy="80963"/>
            <a:chOff x="7884368" y="3284984"/>
            <a:chExt cx="216024" cy="216024"/>
          </a:xfrm>
        </p:grpSpPr>
        <p:cxnSp>
          <p:nvCxnSpPr>
            <p:cNvPr id="58" name="Rak 25">
              <a:extLst>
                <a:ext uri="{FF2B5EF4-FFF2-40B4-BE49-F238E27FC236}">
                  <a16:creationId xmlns:a16="http://schemas.microsoft.com/office/drawing/2014/main" id="{C5083D95-3A71-2B08-5119-274B093E1081}"/>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9" name="Rak 26">
              <a:extLst>
                <a:ext uri="{FF2B5EF4-FFF2-40B4-BE49-F238E27FC236}">
                  <a16:creationId xmlns:a16="http://schemas.microsoft.com/office/drawing/2014/main" id="{0AEBEFEB-8A1B-FC4F-0EC2-718E495CFD63}"/>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61" name="Platshållare för innehåll 1">
            <a:extLst>
              <a:ext uri="{FF2B5EF4-FFF2-40B4-BE49-F238E27FC236}">
                <a16:creationId xmlns:a16="http://schemas.microsoft.com/office/drawing/2014/main" id="{7315A267-F79C-5727-2F37-6B90ABCA37DE}"/>
              </a:ext>
            </a:extLst>
          </p:cNvPr>
          <p:cNvSpPr txBox="1">
            <a:spLocks/>
          </p:cNvSpPr>
          <p:nvPr/>
        </p:nvSpPr>
        <p:spPr>
          <a:xfrm>
            <a:off x="5057775" y="1860625"/>
            <a:ext cx="3938305" cy="423093"/>
          </a:xfrm>
          <a:prstGeom prst="rect">
            <a:avLst/>
          </a:prstGeom>
        </p:spPr>
        <p:txBody>
          <a:bodyPr vert="horz" lIns="0" tIns="0" rIns="0" bIns="0" rtlCol="0">
            <a:normAutofit/>
          </a:bodyPr>
          <a:lstStyle>
            <a:lvl1pPr marL="180000" indent="-180000" algn="l" defTabSz="457200" rtl="0" eaLnBrk="1" fontAlgn="base" hangingPunct="1">
              <a:lnSpc>
                <a:spcPct val="110000"/>
              </a:lnSpc>
              <a:spcBef>
                <a:spcPts val="800"/>
              </a:spcBef>
              <a:spcAft>
                <a:spcPct val="0"/>
              </a:spcAft>
              <a:buFont typeface="Arial" charset="0"/>
              <a:buChar char="•"/>
              <a:defRPr lang="sv-SE" sz="1800" kern="1200" dirty="0" smtClean="0">
                <a:solidFill>
                  <a:schemeClr val="tx1">
                    <a:lumMod val="85000"/>
                    <a:lumOff val="15000"/>
                  </a:schemeClr>
                </a:solidFill>
                <a:latin typeface="+mj-lt"/>
                <a:ea typeface="ＭＳ Ｐゴシック" pitchFamily="-65" charset="-128"/>
                <a:cs typeface="Arial" panose="020B0604020202020204" pitchFamily="34" charset="0"/>
              </a:defRPr>
            </a:lvl1pPr>
            <a:lvl2pPr marL="501750" indent="-285750" algn="l" defTabSz="457200" rtl="0" eaLnBrk="1" fontAlgn="base" hangingPunct="1">
              <a:lnSpc>
                <a:spcPct val="100000"/>
              </a:lnSpc>
              <a:spcBef>
                <a:spcPts val="20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ＭＳ Ｐゴシック" pitchFamily="-65" charset="-128"/>
                <a:cs typeface="Arial" panose="020B0604020202020204" pitchFamily="34" charset="0"/>
              </a:defRPr>
            </a:lvl2pPr>
            <a:lvl3pPr marL="717750" indent="-285750" algn="l" defTabSz="457200" rtl="0" eaLnBrk="1" fontAlgn="base" hangingPunct="1">
              <a:spcBef>
                <a:spcPts val="0"/>
              </a:spcBef>
              <a:spcAft>
                <a:spcPts val="300"/>
              </a:spcAft>
              <a:buFont typeface="Wingdings" panose="05000000000000000000" pitchFamily="2" charset="2"/>
              <a:buChar char="§"/>
              <a:defRPr lang="sv-SE" sz="1600" kern="1200" dirty="0" smtClean="0">
                <a:solidFill>
                  <a:schemeClr val="tx1">
                    <a:lumMod val="85000"/>
                    <a:lumOff val="15000"/>
                  </a:schemeClr>
                </a:solidFill>
                <a:latin typeface="+mj-lt"/>
                <a:ea typeface="ＭＳ Ｐゴシック" charset="0"/>
                <a:cs typeface="Arial" panose="020B0604020202020204" pitchFamily="34" charset="0"/>
              </a:defRPr>
            </a:lvl3pPr>
            <a:lvl4pPr marL="933750" indent="-285750" algn="l" defTabSz="457200" rtl="0" eaLnBrk="1" fontAlgn="base" hangingPunct="1">
              <a:spcBef>
                <a:spcPts val="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Helvetica" charset="0"/>
                <a:cs typeface="Arial" panose="020B0604020202020204" pitchFamily="34" charset="0"/>
              </a:defRPr>
            </a:lvl4pPr>
            <a:lvl5pPr marL="1149750" indent="-285750" algn="l" defTabSz="457200" rtl="0" eaLnBrk="1" fontAlgn="base" hangingPunct="1">
              <a:spcBef>
                <a:spcPts val="0"/>
              </a:spcBef>
              <a:spcAft>
                <a:spcPct val="0"/>
              </a:spcAft>
              <a:buFont typeface="Arial" panose="020B0604020202020204" pitchFamily="34" charset="0"/>
              <a:buChar char="–"/>
              <a:defRPr lang="sv-SE" sz="1600" kern="1200" dirty="0">
                <a:solidFill>
                  <a:schemeClr val="tx1">
                    <a:lumMod val="85000"/>
                    <a:lumOff val="15000"/>
                  </a:schemeClr>
                </a:solidFill>
                <a:latin typeface="+mj-lt"/>
                <a:ea typeface="Helvetica" charset="0"/>
                <a:cs typeface="Arial" panose="020B0604020202020204" pitchFamily="34" charset="0"/>
              </a:defRPr>
            </a:lvl5pPr>
            <a:lvl6pPr marL="1616075" indent="-215900" algn="l" defTabSz="457200" rtl="0" eaLnBrk="1" latinLnBrk="0" hangingPunct="1">
              <a:spcBef>
                <a:spcPts val="0"/>
              </a:spcBef>
              <a:buFont typeface="Wingdings" panose="05000000000000000000" pitchFamily="2" charset="2"/>
              <a:buChar char="§"/>
              <a:defRPr sz="17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US" sz="2100" dirty="0">
                <a:solidFill>
                  <a:srgbClr val="002060"/>
                </a:solidFill>
                <a:latin typeface="Verdana" panose="020B0604030504040204" pitchFamily="34" charset="0"/>
                <a:ea typeface="Verdana" panose="020B0604030504040204" pitchFamily="34" charset="0"/>
                <a:cs typeface="Times New Roman" panose="02020603050405020304" pitchFamily="18" charset="0"/>
              </a:rPr>
              <a:t>Newborns babies,</a:t>
            </a:r>
          </a:p>
        </p:txBody>
      </p:sp>
      <p:sp>
        <p:nvSpPr>
          <p:cNvPr id="62" name="Platshållare för innehåll 1">
            <a:extLst>
              <a:ext uri="{FF2B5EF4-FFF2-40B4-BE49-F238E27FC236}">
                <a16:creationId xmlns:a16="http://schemas.microsoft.com/office/drawing/2014/main" id="{4C403B0A-27D0-747A-472E-0605B2BDDCC3}"/>
              </a:ext>
            </a:extLst>
          </p:cNvPr>
          <p:cNvSpPr txBox="1">
            <a:spLocks/>
          </p:cNvSpPr>
          <p:nvPr/>
        </p:nvSpPr>
        <p:spPr>
          <a:xfrm>
            <a:off x="5057774" y="2256607"/>
            <a:ext cx="3938305" cy="854497"/>
          </a:xfrm>
          <a:prstGeom prst="rect">
            <a:avLst/>
          </a:prstGeom>
        </p:spPr>
        <p:txBody>
          <a:bodyPr vert="horz" lIns="0" tIns="0" rIns="0" bIns="0" rtlCol="0">
            <a:normAutofit/>
          </a:bodyPr>
          <a:lstStyle>
            <a:lvl1pPr marL="180000" indent="-180000" algn="l" defTabSz="457200" rtl="0" eaLnBrk="1" fontAlgn="base" hangingPunct="1">
              <a:lnSpc>
                <a:spcPct val="110000"/>
              </a:lnSpc>
              <a:spcBef>
                <a:spcPts val="800"/>
              </a:spcBef>
              <a:spcAft>
                <a:spcPct val="0"/>
              </a:spcAft>
              <a:buFont typeface="Arial" charset="0"/>
              <a:buChar char="•"/>
              <a:defRPr lang="sv-SE" sz="1800" kern="1200" dirty="0" smtClean="0">
                <a:solidFill>
                  <a:schemeClr val="tx1">
                    <a:lumMod val="85000"/>
                    <a:lumOff val="15000"/>
                  </a:schemeClr>
                </a:solidFill>
                <a:latin typeface="+mj-lt"/>
                <a:ea typeface="ＭＳ Ｐゴシック" pitchFamily="-65" charset="-128"/>
                <a:cs typeface="Arial" panose="020B0604020202020204" pitchFamily="34" charset="0"/>
              </a:defRPr>
            </a:lvl1pPr>
            <a:lvl2pPr marL="501750" indent="-285750" algn="l" defTabSz="457200" rtl="0" eaLnBrk="1" fontAlgn="base" hangingPunct="1">
              <a:lnSpc>
                <a:spcPct val="100000"/>
              </a:lnSpc>
              <a:spcBef>
                <a:spcPts val="20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ＭＳ Ｐゴシック" pitchFamily="-65" charset="-128"/>
                <a:cs typeface="Arial" panose="020B0604020202020204" pitchFamily="34" charset="0"/>
              </a:defRPr>
            </a:lvl2pPr>
            <a:lvl3pPr marL="717750" indent="-285750" algn="l" defTabSz="457200" rtl="0" eaLnBrk="1" fontAlgn="base" hangingPunct="1">
              <a:spcBef>
                <a:spcPts val="0"/>
              </a:spcBef>
              <a:spcAft>
                <a:spcPts val="300"/>
              </a:spcAft>
              <a:buFont typeface="Wingdings" panose="05000000000000000000" pitchFamily="2" charset="2"/>
              <a:buChar char="§"/>
              <a:defRPr lang="sv-SE" sz="1600" kern="1200" dirty="0" smtClean="0">
                <a:solidFill>
                  <a:schemeClr val="tx1">
                    <a:lumMod val="85000"/>
                    <a:lumOff val="15000"/>
                  </a:schemeClr>
                </a:solidFill>
                <a:latin typeface="+mj-lt"/>
                <a:ea typeface="ＭＳ Ｐゴシック" charset="0"/>
                <a:cs typeface="Arial" panose="020B0604020202020204" pitchFamily="34" charset="0"/>
              </a:defRPr>
            </a:lvl3pPr>
            <a:lvl4pPr marL="933750" indent="-285750" algn="l" defTabSz="457200" rtl="0" eaLnBrk="1" fontAlgn="base" hangingPunct="1">
              <a:spcBef>
                <a:spcPts val="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Helvetica" charset="0"/>
                <a:cs typeface="Arial" panose="020B0604020202020204" pitchFamily="34" charset="0"/>
              </a:defRPr>
            </a:lvl4pPr>
            <a:lvl5pPr marL="1149750" indent="-285750" algn="l" defTabSz="457200" rtl="0" eaLnBrk="1" fontAlgn="base" hangingPunct="1">
              <a:spcBef>
                <a:spcPts val="0"/>
              </a:spcBef>
              <a:spcAft>
                <a:spcPct val="0"/>
              </a:spcAft>
              <a:buFont typeface="Arial" panose="020B0604020202020204" pitchFamily="34" charset="0"/>
              <a:buChar char="–"/>
              <a:defRPr lang="sv-SE" sz="1600" kern="1200" dirty="0">
                <a:solidFill>
                  <a:schemeClr val="tx1">
                    <a:lumMod val="85000"/>
                    <a:lumOff val="15000"/>
                  </a:schemeClr>
                </a:solidFill>
                <a:latin typeface="+mj-lt"/>
                <a:ea typeface="Helvetica" charset="0"/>
                <a:cs typeface="Arial" panose="020B0604020202020204" pitchFamily="34" charset="0"/>
              </a:defRPr>
            </a:lvl5pPr>
            <a:lvl6pPr marL="1616075" indent="-215900" algn="l" defTabSz="457200" rtl="0" eaLnBrk="1" latinLnBrk="0" hangingPunct="1">
              <a:spcBef>
                <a:spcPts val="0"/>
              </a:spcBef>
              <a:buFont typeface="Wingdings" panose="05000000000000000000" pitchFamily="2" charset="2"/>
              <a:buChar char="§"/>
              <a:defRPr sz="17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US" sz="2100" dirty="0">
                <a:solidFill>
                  <a:srgbClr val="002060"/>
                </a:solidFill>
                <a:latin typeface="Verdana" panose="020B0604030504040204" pitchFamily="34" charset="0"/>
                <a:ea typeface="Verdana" panose="020B0604030504040204" pitchFamily="34" charset="0"/>
                <a:cs typeface="Times New Roman" panose="02020603050405020304" pitchFamily="18" charset="0"/>
              </a:rPr>
              <a:t>diagnosed with bacterial sepsis, during 2023</a:t>
            </a:r>
          </a:p>
          <a:p>
            <a:pPr>
              <a:defRPr/>
            </a:pPr>
            <a:endParaRPr lang="en-US" sz="2100" dirty="0">
              <a:solidFill>
                <a:srgbClr val="002060"/>
              </a:solidFill>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57510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anim calcmode="lin" valueType="num">
                                      <p:cBhvr additive="base">
                                        <p:cTn id="11" dur="500" fill="hold"/>
                                        <p:tgtEl>
                                          <p:spTgt spid="61"/>
                                        </p:tgtEl>
                                        <p:attrNameLst>
                                          <p:attrName>ppt_x</p:attrName>
                                        </p:attrNameLst>
                                      </p:cBhvr>
                                      <p:tavLst>
                                        <p:tav tm="0">
                                          <p:val>
                                            <p:strVal val="#ppt_x"/>
                                          </p:val>
                                        </p:tav>
                                        <p:tav tm="100000">
                                          <p:val>
                                            <p:strVal val="#ppt_x"/>
                                          </p:val>
                                        </p:tav>
                                      </p:tavLst>
                                    </p:anim>
                                    <p:anim calcmode="lin" valueType="num">
                                      <p:cBhvr additive="base">
                                        <p:cTn id="12" dur="500" fill="hold"/>
                                        <p:tgtEl>
                                          <p:spTgt spid="61"/>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500"/>
                                        <p:tgtEl>
                                          <p:spTgt spid="28"/>
                                        </p:tgtEl>
                                        <p:attrNameLst>
                                          <p:attrName>ppt_x</p:attrName>
                                        </p:attrNameLst>
                                      </p:cBhvr>
                                      <p:tavLst>
                                        <p:tav tm="0">
                                          <p:val>
                                            <p:strVal val="ppt_x"/>
                                          </p:val>
                                        </p:tav>
                                        <p:tav tm="100000">
                                          <p:val>
                                            <p:strVal val="ppt_x"/>
                                          </p:val>
                                        </p:tav>
                                      </p:tavLst>
                                    </p:anim>
                                    <p:anim calcmode="lin" valueType="num">
                                      <p:cBhvr additive="base">
                                        <p:cTn id="17" dur="500"/>
                                        <p:tgtEl>
                                          <p:spTgt spid="28"/>
                                        </p:tgtEl>
                                        <p:attrNameLst>
                                          <p:attrName>ppt_y</p:attrName>
                                        </p:attrNameLst>
                                      </p:cBhvr>
                                      <p:tavLst>
                                        <p:tav tm="0">
                                          <p:val>
                                            <p:strVal val="ppt_y"/>
                                          </p:val>
                                        </p:tav>
                                        <p:tav tm="100000">
                                          <p:val>
                                            <p:strVal val="1+ppt_h/2"/>
                                          </p:val>
                                        </p:tav>
                                      </p:tavLst>
                                    </p:anim>
                                    <p:set>
                                      <p:cBhvr>
                                        <p:cTn id="18" dur="1" fill="hold">
                                          <p:stCondLst>
                                            <p:cond delay="499"/>
                                          </p:stCondLst>
                                        </p:cTn>
                                        <p:tgtEl>
                                          <p:spTgt spid="28"/>
                                        </p:tgtEl>
                                        <p:attrNameLst>
                                          <p:attrName>style.visibility</p:attrName>
                                        </p:attrNameLst>
                                      </p:cBhvr>
                                      <p:to>
                                        <p:strVal val="hidden"/>
                                      </p:to>
                                    </p:set>
                                  </p:childTnLst>
                                </p:cTn>
                              </p:par>
                              <p:par>
                                <p:cTn id="19" presetID="2" presetClass="exit" presetSubtype="4" fill="hold" nodeType="withEffect">
                                  <p:stCondLst>
                                    <p:cond delay="0"/>
                                  </p:stCondLst>
                                  <p:childTnLst>
                                    <p:anim calcmode="lin" valueType="num">
                                      <p:cBhvr additive="base">
                                        <p:cTn id="20" dur="500"/>
                                        <p:tgtEl>
                                          <p:spTgt spid="42"/>
                                        </p:tgtEl>
                                        <p:attrNameLst>
                                          <p:attrName>ppt_x</p:attrName>
                                        </p:attrNameLst>
                                      </p:cBhvr>
                                      <p:tavLst>
                                        <p:tav tm="0">
                                          <p:val>
                                            <p:strVal val="ppt_x"/>
                                          </p:val>
                                        </p:tav>
                                        <p:tav tm="100000">
                                          <p:val>
                                            <p:strVal val="ppt_x"/>
                                          </p:val>
                                        </p:tav>
                                      </p:tavLst>
                                    </p:anim>
                                    <p:anim calcmode="lin" valueType="num">
                                      <p:cBhvr additive="base">
                                        <p:cTn id="21" dur="500"/>
                                        <p:tgtEl>
                                          <p:spTgt spid="42"/>
                                        </p:tgtEl>
                                        <p:attrNameLst>
                                          <p:attrName>ppt_y</p:attrName>
                                        </p:attrNameLst>
                                      </p:cBhvr>
                                      <p:tavLst>
                                        <p:tav tm="0">
                                          <p:val>
                                            <p:strVal val="ppt_y"/>
                                          </p:val>
                                        </p:tav>
                                        <p:tav tm="100000">
                                          <p:val>
                                            <p:strVal val="1+ppt_h/2"/>
                                          </p:val>
                                        </p:tav>
                                      </p:tavLst>
                                    </p:anim>
                                    <p:set>
                                      <p:cBhvr>
                                        <p:cTn id="22" dur="1" fill="hold">
                                          <p:stCondLst>
                                            <p:cond delay="499"/>
                                          </p:stCondLst>
                                        </p:cTn>
                                        <p:tgtEl>
                                          <p:spTgt spid="42"/>
                                        </p:tgtEl>
                                        <p:attrNameLst>
                                          <p:attrName>style.visibility</p:attrName>
                                        </p:attrNameLst>
                                      </p:cBhvr>
                                      <p:to>
                                        <p:strVal val="hidden"/>
                                      </p:to>
                                    </p:set>
                                  </p:childTnLst>
                                </p:cTn>
                              </p:par>
                              <p:par>
                                <p:cTn id="23" presetID="2" presetClass="entr" presetSubtype="1" fill="hold" nodeType="withEffect">
                                  <p:stCondLst>
                                    <p:cond delay="0"/>
                                  </p:stCondLst>
                                  <p:childTnLst>
                                    <p:set>
                                      <p:cBhvr>
                                        <p:cTn id="24" dur="1" fill="hold">
                                          <p:stCondLst>
                                            <p:cond delay="0"/>
                                          </p:stCondLst>
                                        </p:cTn>
                                        <p:tgtEl>
                                          <p:spTgt spid="37898"/>
                                        </p:tgtEl>
                                        <p:attrNameLst>
                                          <p:attrName>style.visibility</p:attrName>
                                        </p:attrNameLst>
                                      </p:cBhvr>
                                      <p:to>
                                        <p:strVal val="visible"/>
                                      </p:to>
                                    </p:set>
                                    <p:anim calcmode="lin" valueType="num">
                                      <p:cBhvr additive="base">
                                        <p:cTn id="25" dur="500" fill="hold"/>
                                        <p:tgtEl>
                                          <p:spTgt spid="37898"/>
                                        </p:tgtEl>
                                        <p:attrNameLst>
                                          <p:attrName>ppt_x</p:attrName>
                                        </p:attrNameLst>
                                      </p:cBhvr>
                                      <p:tavLst>
                                        <p:tav tm="0">
                                          <p:val>
                                            <p:strVal val="#ppt_x"/>
                                          </p:val>
                                        </p:tav>
                                        <p:tav tm="100000">
                                          <p:val>
                                            <p:strVal val="#ppt_x"/>
                                          </p:val>
                                        </p:tav>
                                      </p:tavLst>
                                    </p:anim>
                                    <p:anim calcmode="lin" valueType="num">
                                      <p:cBhvr additive="base">
                                        <p:cTn id="26" dur="500" fill="hold"/>
                                        <p:tgtEl>
                                          <p:spTgt spid="37898"/>
                                        </p:tgtEl>
                                        <p:attrNameLst>
                                          <p:attrName>ppt_y</p:attrName>
                                        </p:attrNameLst>
                                      </p:cBhvr>
                                      <p:tavLst>
                                        <p:tav tm="0">
                                          <p:val>
                                            <p:strVal val="0-#ppt_h/2"/>
                                          </p:val>
                                        </p:tav>
                                        <p:tav tm="100000">
                                          <p:val>
                                            <p:strVal val="#ppt_y"/>
                                          </p:val>
                                        </p:tav>
                                      </p:tavLst>
                                    </p:anim>
                                  </p:childTnLst>
                                </p:cTn>
                              </p:par>
                              <p:par>
                                <p:cTn id="27" presetID="2" presetClass="entr" presetSubtype="1" fill="hold" nodeType="withEffect">
                                  <p:stCondLst>
                                    <p:cond delay="0"/>
                                  </p:stCondLst>
                                  <p:childTnLst>
                                    <p:set>
                                      <p:cBhvr>
                                        <p:cTn id="28" dur="1" fill="hold">
                                          <p:stCondLst>
                                            <p:cond delay="0"/>
                                          </p:stCondLst>
                                        </p:cTn>
                                        <p:tgtEl>
                                          <p:spTgt spid="37895"/>
                                        </p:tgtEl>
                                        <p:attrNameLst>
                                          <p:attrName>style.visibility</p:attrName>
                                        </p:attrNameLst>
                                      </p:cBhvr>
                                      <p:to>
                                        <p:strVal val="visible"/>
                                      </p:to>
                                    </p:set>
                                    <p:anim calcmode="lin" valueType="num">
                                      <p:cBhvr additive="base">
                                        <p:cTn id="29" dur="500" fill="hold"/>
                                        <p:tgtEl>
                                          <p:spTgt spid="37895"/>
                                        </p:tgtEl>
                                        <p:attrNameLst>
                                          <p:attrName>ppt_x</p:attrName>
                                        </p:attrNameLst>
                                      </p:cBhvr>
                                      <p:tavLst>
                                        <p:tav tm="0">
                                          <p:val>
                                            <p:strVal val="#ppt_x"/>
                                          </p:val>
                                        </p:tav>
                                        <p:tav tm="100000">
                                          <p:val>
                                            <p:strVal val="#ppt_x"/>
                                          </p:val>
                                        </p:tav>
                                      </p:tavLst>
                                    </p:anim>
                                    <p:anim calcmode="lin" valueType="num">
                                      <p:cBhvr additive="base">
                                        <p:cTn id="30" dur="500" fill="hold"/>
                                        <p:tgtEl>
                                          <p:spTgt spid="37895"/>
                                        </p:tgtEl>
                                        <p:attrNameLst>
                                          <p:attrName>ppt_y</p:attrName>
                                        </p:attrNameLst>
                                      </p:cBhvr>
                                      <p:tavLst>
                                        <p:tav tm="0">
                                          <p:val>
                                            <p:strVal val="0-#ppt_h/2"/>
                                          </p:val>
                                        </p:tav>
                                        <p:tav tm="100000">
                                          <p:val>
                                            <p:strVal val="#ppt_y"/>
                                          </p:val>
                                        </p:tav>
                                      </p:tavLst>
                                    </p:anim>
                                  </p:childTnLst>
                                </p:cTn>
                              </p:par>
                              <p:par>
                                <p:cTn id="31" presetID="2" presetClass="entr" presetSubtype="1" fill="hold" nodeType="withEffect">
                                  <p:stCondLst>
                                    <p:cond delay="0"/>
                                  </p:stCondLst>
                                  <p:childTnLst>
                                    <p:set>
                                      <p:cBhvr>
                                        <p:cTn id="32" dur="1" fill="hold">
                                          <p:stCondLst>
                                            <p:cond delay="0"/>
                                          </p:stCondLst>
                                        </p:cTn>
                                        <p:tgtEl>
                                          <p:spTgt spid="37896"/>
                                        </p:tgtEl>
                                        <p:attrNameLst>
                                          <p:attrName>style.visibility</p:attrName>
                                        </p:attrNameLst>
                                      </p:cBhvr>
                                      <p:to>
                                        <p:strVal val="visible"/>
                                      </p:to>
                                    </p:set>
                                    <p:anim calcmode="lin" valueType="num">
                                      <p:cBhvr additive="base">
                                        <p:cTn id="33" dur="500" fill="hold"/>
                                        <p:tgtEl>
                                          <p:spTgt spid="37896"/>
                                        </p:tgtEl>
                                        <p:attrNameLst>
                                          <p:attrName>ppt_x</p:attrName>
                                        </p:attrNameLst>
                                      </p:cBhvr>
                                      <p:tavLst>
                                        <p:tav tm="0">
                                          <p:val>
                                            <p:strVal val="#ppt_x"/>
                                          </p:val>
                                        </p:tav>
                                        <p:tav tm="100000">
                                          <p:val>
                                            <p:strVal val="#ppt_x"/>
                                          </p:val>
                                        </p:tav>
                                      </p:tavLst>
                                    </p:anim>
                                    <p:anim calcmode="lin" valueType="num">
                                      <p:cBhvr additive="base">
                                        <p:cTn id="34" dur="500" fill="hold"/>
                                        <p:tgtEl>
                                          <p:spTgt spid="37896"/>
                                        </p:tgtEl>
                                        <p:attrNameLst>
                                          <p:attrName>ppt_y</p:attrName>
                                        </p:attrNameLst>
                                      </p:cBhvr>
                                      <p:tavLst>
                                        <p:tav tm="0">
                                          <p:val>
                                            <p:strVal val="0-#ppt_h/2"/>
                                          </p:val>
                                        </p:tav>
                                        <p:tav tm="100000">
                                          <p:val>
                                            <p:strVal val="#ppt_y"/>
                                          </p:val>
                                        </p:tav>
                                      </p:tavLst>
                                    </p:anim>
                                  </p:childTnLst>
                                </p:cTn>
                              </p:par>
                              <p:par>
                                <p:cTn id="35" presetID="2" presetClass="entr" presetSubtype="1" fill="hold" nodeType="withEffect">
                                  <p:stCondLst>
                                    <p:cond delay="0"/>
                                  </p:stCondLst>
                                  <p:childTnLst>
                                    <p:set>
                                      <p:cBhvr>
                                        <p:cTn id="36" dur="1" fill="hold">
                                          <p:stCondLst>
                                            <p:cond delay="0"/>
                                          </p:stCondLst>
                                        </p:cTn>
                                        <p:tgtEl>
                                          <p:spTgt spid="37894"/>
                                        </p:tgtEl>
                                        <p:attrNameLst>
                                          <p:attrName>style.visibility</p:attrName>
                                        </p:attrNameLst>
                                      </p:cBhvr>
                                      <p:to>
                                        <p:strVal val="visible"/>
                                      </p:to>
                                    </p:set>
                                    <p:anim calcmode="lin" valueType="num">
                                      <p:cBhvr additive="base">
                                        <p:cTn id="37" dur="500" fill="hold"/>
                                        <p:tgtEl>
                                          <p:spTgt spid="37894"/>
                                        </p:tgtEl>
                                        <p:attrNameLst>
                                          <p:attrName>ppt_x</p:attrName>
                                        </p:attrNameLst>
                                      </p:cBhvr>
                                      <p:tavLst>
                                        <p:tav tm="0">
                                          <p:val>
                                            <p:strVal val="#ppt_x"/>
                                          </p:val>
                                        </p:tav>
                                        <p:tav tm="100000">
                                          <p:val>
                                            <p:strVal val="#ppt_x"/>
                                          </p:val>
                                        </p:tav>
                                      </p:tavLst>
                                    </p:anim>
                                    <p:anim calcmode="lin" valueType="num">
                                      <p:cBhvr additive="base">
                                        <p:cTn id="38" dur="500" fill="hold"/>
                                        <p:tgtEl>
                                          <p:spTgt spid="37894"/>
                                        </p:tgtEl>
                                        <p:attrNameLst>
                                          <p:attrName>ppt_y</p:attrName>
                                        </p:attrNameLst>
                                      </p:cBhvr>
                                      <p:tavLst>
                                        <p:tav tm="0">
                                          <p:val>
                                            <p:strVal val="0-#ppt_h/2"/>
                                          </p:val>
                                        </p:tav>
                                        <p:tav tm="100000">
                                          <p:val>
                                            <p:strVal val="#ppt_y"/>
                                          </p:val>
                                        </p:tav>
                                      </p:tavLst>
                                    </p:anim>
                                  </p:childTnLst>
                                </p:cTn>
                              </p:par>
                              <p:par>
                                <p:cTn id="39" presetID="2" presetClass="entr" presetSubtype="1" fill="hold" nodeType="withEffect">
                                  <p:stCondLst>
                                    <p:cond delay="0"/>
                                  </p:stCondLst>
                                  <p:childTnLst>
                                    <p:set>
                                      <p:cBhvr>
                                        <p:cTn id="40" dur="1" fill="hold">
                                          <p:stCondLst>
                                            <p:cond delay="0"/>
                                          </p:stCondLst>
                                        </p:cTn>
                                        <p:tgtEl>
                                          <p:spTgt spid="37897"/>
                                        </p:tgtEl>
                                        <p:attrNameLst>
                                          <p:attrName>style.visibility</p:attrName>
                                        </p:attrNameLst>
                                      </p:cBhvr>
                                      <p:to>
                                        <p:strVal val="visible"/>
                                      </p:to>
                                    </p:set>
                                    <p:anim calcmode="lin" valueType="num">
                                      <p:cBhvr additive="base">
                                        <p:cTn id="41" dur="500" fill="hold"/>
                                        <p:tgtEl>
                                          <p:spTgt spid="37897"/>
                                        </p:tgtEl>
                                        <p:attrNameLst>
                                          <p:attrName>ppt_x</p:attrName>
                                        </p:attrNameLst>
                                      </p:cBhvr>
                                      <p:tavLst>
                                        <p:tav tm="0">
                                          <p:val>
                                            <p:strVal val="#ppt_x"/>
                                          </p:val>
                                        </p:tav>
                                        <p:tav tm="100000">
                                          <p:val>
                                            <p:strVal val="#ppt_x"/>
                                          </p:val>
                                        </p:tav>
                                      </p:tavLst>
                                    </p:anim>
                                    <p:anim calcmode="lin" valueType="num">
                                      <p:cBhvr additive="base">
                                        <p:cTn id="42" dur="500" fill="hold"/>
                                        <p:tgtEl>
                                          <p:spTgt spid="37897"/>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0"/>
                                  </p:stCondLst>
                                  <p:childTnLst>
                                    <p:set>
                                      <p:cBhvr>
                                        <p:cTn id="44" dur="1" fill="hold">
                                          <p:stCondLst>
                                            <p:cond delay="0"/>
                                          </p:stCondLst>
                                        </p:cTn>
                                        <p:tgtEl>
                                          <p:spTgt spid="37893"/>
                                        </p:tgtEl>
                                        <p:attrNameLst>
                                          <p:attrName>style.visibility</p:attrName>
                                        </p:attrNameLst>
                                      </p:cBhvr>
                                      <p:to>
                                        <p:strVal val="visible"/>
                                      </p:to>
                                    </p:set>
                                    <p:anim calcmode="lin" valueType="num">
                                      <p:cBhvr additive="base">
                                        <p:cTn id="45" dur="500" fill="hold"/>
                                        <p:tgtEl>
                                          <p:spTgt spid="37893"/>
                                        </p:tgtEl>
                                        <p:attrNameLst>
                                          <p:attrName>ppt_x</p:attrName>
                                        </p:attrNameLst>
                                      </p:cBhvr>
                                      <p:tavLst>
                                        <p:tav tm="0">
                                          <p:val>
                                            <p:strVal val="#ppt_x"/>
                                          </p:val>
                                        </p:tav>
                                        <p:tav tm="100000">
                                          <p:val>
                                            <p:strVal val="#ppt_x"/>
                                          </p:val>
                                        </p:tav>
                                      </p:tavLst>
                                    </p:anim>
                                    <p:anim calcmode="lin" valueType="num">
                                      <p:cBhvr additive="base">
                                        <p:cTn id="46" dur="500" fill="hold"/>
                                        <p:tgtEl>
                                          <p:spTgt spid="37893"/>
                                        </p:tgtEl>
                                        <p:attrNameLst>
                                          <p:attrName>ppt_y</p:attrName>
                                        </p:attrNameLst>
                                      </p:cBhvr>
                                      <p:tavLst>
                                        <p:tav tm="0">
                                          <p:val>
                                            <p:strVal val="0-#ppt_h/2"/>
                                          </p:val>
                                        </p:tav>
                                        <p:tav tm="100000">
                                          <p:val>
                                            <p:strVal val="#ppt_y"/>
                                          </p:val>
                                        </p:tav>
                                      </p:tavLst>
                                    </p:anim>
                                  </p:childTnLst>
                                </p:cTn>
                              </p:par>
                              <p:par>
                                <p:cTn id="47" presetID="2" presetClass="entr" presetSubtype="1" fill="hold" nodeType="withEffect">
                                  <p:stCondLst>
                                    <p:cond delay="0"/>
                                  </p:stCondLst>
                                  <p:childTnLst>
                                    <p:set>
                                      <p:cBhvr>
                                        <p:cTn id="48" dur="1" fill="hold">
                                          <p:stCondLst>
                                            <p:cond delay="0"/>
                                          </p:stCondLst>
                                        </p:cTn>
                                        <p:tgtEl>
                                          <p:spTgt spid="51"/>
                                        </p:tgtEl>
                                        <p:attrNameLst>
                                          <p:attrName>style.visibility</p:attrName>
                                        </p:attrNameLst>
                                      </p:cBhvr>
                                      <p:to>
                                        <p:strVal val="visible"/>
                                      </p:to>
                                    </p:set>
                                    <p:anim calcmode="lin" valueType="num">
                                      <p:cBhvr additive="base">
                                        <p:cTn id="49" dur="500" fill="hold"/>
                                        <p:tgtEl>
                                          <p:spTgt spid="51"/>
                                        </p:tgtEl>
                                        <p:attrNameLst>
                                          <p:attrName>ppt_x</p:attrName>
                                        </p:attrNameLst>
                                      </p:cBhvr>
                                      <p:tavLst>
                                        <p:tav tm="0">
                                          <p:val>
                                            <p:strVal val="#ppt_x"/>
                                          </p:val>
                                        </p:tav>
                                        <p:tav tm="100000">
                                          <p:val>
                                            <p:strVal val="#ppt_x"/>
                                          </p:val>
                                        </p:tav>
                                      </p:tavLst>
                                    </p:anim>
                                    <p:anim calcmode="lin" valueType="num">
                                      <p:cBhvr additive="base">
                                        <p:cTn id="50" dur="500" fill="hold"/>
                                        <p:tgtEl>
                                          <p:spTgt spid="51"/>
                                        </p:tgtEl>
                                        <p:attrNameLst>
                                          <p:attrName>ppt_y</p:attrName>
                                        </p:attrNameLst>
                                      </p:cBhvr>
                                      <p:tavLst>
                                        <p:tav tm="0">
                                          <p:val>
                                            <p:strVal val="0-#ppt_h/2"/>
                                          </p:val>
                                        </p:tav>
                                        <p:tav tm="100000">
                                          <p:val>
                                            <p:strVal val="#ppt_y"/>
                                          </p:val>
                                        </p:tav>
                                      </p:tavLst>
                                    </p:anim>
                                  </p:childTnLst>
                                </p:cTn>
                              </p:par>
                              <p:par>
                                <p:cTn id="51" presetID="2" presetClass="entr" presetSubtype="1" fill="hold" nodeType="with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ppt_x"/>
                                          </p:val>
                                        </p:tav>
                                        <p:tav tm="100000">
                                          <p:val>
                                            <p:strVal val="#ppt_x"/>
                                          </p:val>
                                        </p:tav>
                                      </p:tavLst>
                                    </p:anim>
                                    <p:anim calcmode="lin" valueType="num">
                                      <p:cBhvr additive="base">
                                        <p:cTn id="54" dur="500" fill="hold"/>
                                        <p:tgtEl>
                                          <p:spTgt spid="9"/>
                                        </p:tgtEl>
                                        <p:attrNameLst>
                                          <p:attrName>ppt_y</p:attrName>
                                        </p:attrNameLst>
                                      </p:cBhvr>
                                      <p:tavLst>
                                        <p:tav tm="0">
                                          <p:val>
                                            <p:strVal val="0-#ppt_h/2"/>
                                          </p:val>
                                        </p:tav>
                                        <p:tav tm="100000">
                                          <p:val>
                                            <p:strVal val="#ppt_y"/>
                                          </p:val>
                                        </p:tav>
                                      </p:tavLst>
                                    </p:anim>
                                  </p:childTnLst>
                                </p:cTn>
                              </p:par>
                              <p:par>
                                <p:cTn id="55" presetID="2" presetClass="entr" presetSubtype="1" fill="hold" nodeType="withEffect">
                                  <p:stCondLst>
                                    <p:cond delay="0"/>
                                  </p:stCondLst>
                                  <p:childTnLst>
                                    <p:set>
                                      <p:cBhvr>
                                        <p:cTn id="56" dur="1" fill="hold">
                                          <p:stCondLst>
                                            <p:cond delay="0"/>
                                          </p:stCondLst>
                                        </p:cTn>
                                        <p:tgtEl>
                                          <p:spTgt spid="48"/>
                                        </p:tgtEl>
                                        <p:attrNameLst>
                                          <p:attrName>style.visibility</p:attrName>
                                        </p:attrNameLst>
                                      </p:cBhvr>
                                      <p:to>
                                        <p:strVal val="visible"/>
                                      </p:to>
                                    </p:set>
                                    <p:anim calcmode="lin" valueType="num">
                                      <p:cBhvr additive="base">
                                        <p:cTn id="57" dur="500" fill="hold"/>
                                        <p:tgtEl>
                                          <p:spTgt spid="48"/>
                                        </p:tgtEl>
                                        <p:attrNameLst>
                                          <p:attrName>ppt_x</p:attrName>
                                        </p:attrNameLst>
                                      </p:cBhvr>
                                      <p:tavLst>
                                        <p:tav tm="0">
                                          <p:val>
                                            <p:strVal val="#ppt_x"/>
                                          </p:val>
                                        </p:tav>
                                        <p:tav tm="100000">
                                          <p:val>
                                            <p:strVal val="#ppt_x"/>
                                          </p:val>
                                        </p:tav>
                                      </p:tavLst>
                                    </p:anim>
                                    <p:anim calcmode="lin" valueType="num">
                                      <p:cBhvr additive="base">
                                        <p:cTn id="58" dur="500" fill="hold"/>
                                        <p:tgtEl>
                                          <p:spTgt spid="48"/>
                                        </p:tgtEl>
                                        <p:attrNameLst>
                                          <p:attrName>ppt_y</p:attrName>
                                        </p:attrNameLst>
                                      </p:cBhvr>
                                      <p:tavLst>
                                        <p:tav tm="0">
                                          <p:val>
                                            <p:strVal val="0-#ppt_h/2"/>
                                          </p:val>
                                        </p:tav>
                                        <p:tav tm="100000">
                                          <p:val>
                                            <p:strVal val="#ppt_y"/>
                                          </p:val>
                                        </p:tav>
                                      </p:tavLst>
                                    </p:anim>
                                  </p:childTnLst>
                                </p:cTn>
                              </p:par>
                              <p:par>
                                <p:cTn id="59" presetID="2" presetClass="exit" presetSubtype="4" fill="hold" nodeType="withEffect">
                                  <p:stCondLst>
                                    <p:cond delay="0"/>
                                  </p:stCondLst>
                                  <p:childTnLst>
                                    <p:anim calcmode="lin" valueType="num">
                                      <p:cBhvr additive="base">
                                        <p:cTn id="60" dur="500"/>
                                        <p:tgtEl>
                                          <p:spTgt spid="54"/>
                                        </p:tgtEl>
                                        <p:attrNameLst>
                                          <p:attrName>ppt_x</p:attrName>
                                        </p:attrNameLst>
                                      </p:cBhvr>
                                      <p:tavLst>
                                        <p:tav tm="0">
                                          <p:val>
                                            <p:strVal val="ppt_x"/>
                                          </p:val>
                                        </p:tav>
                                        <p:tav tm="100000">
                                          <p:val>
                                            <p:strVal val="ppt_x"/>
                                          </p:val>
                                        </p:tav>
                                      </p:tavLst>
                                    </p:anim>
                                    <p:anim calcmode="lin" valueType="num">
                                      <p:cBhvr additive="base">
                                        <p:cTn id="61" dur="500"/>
                                        <p:tgtEl>
                                          <p:spTgt spid="54"/>
                                        </p:tgtEl>
                                        <p:attrNameLst>
                                          <p:attrName>ppt_y</p:attrName>
                                        </p:attrNameLst>
                                      </p:cBhvr>
                                      <p:tavLst>
                                        <p:tav tm="0">
                                          <p:val>
                                            <p:strVal val="ppt_y"/>
                                          </p:val>
                                        </p:tav>
                                        <p:tav tm="100000">
                                          <p:val>
                                            <p:strVal val="1+ppt_h/2"/>
                                          </p:val>
                                        </p:tav>
                                      </p:tavLst>
                                    </p:anim>
                                    <p:set>
                                      <p:cBhvr>
                                        <p:cTn id="62" dur="1" fill="hold">
                                          <p:stCondLst>
                                            <p:cond delay="499"/>
                                          </p:stCondLst>
                                        </p:cTn>
                                        <p:tgtEl>
                                          <p:spTgt spid="54"/>
                                        </p:tgtEl>
                                        <p:attrNameLst>
                                          <p:attrName>style.visibility</p:attrName>
                                        </p:attrNameLst>
                                      </p:cBhvr>
                                      <p:to>
                                        <p:strVal val="hidden"/>
                                      </p:to>
                                    </p:set>
                                  </p:childTnLst>
                                </p:cTn>
                              </p:par>
                              <p:par>
                                <p:cTn id="63" presetID="2" presetClass="entr" presetSubtype="1" fill="hold" nodeType="withEffect">
                                  <p:stCondLst>
                                    <p:cond delay="0"/>
                                  </p:stCondLst>
                                  <p:childTnLst>
                                    <p:set>
                                      <p:cBhvr>
                                        <p:cTn id="64" dur="1" fill="hold">
                                          <p:stCondLst>
                                            <p:cond delay="0"/>
                                          </p:stCondLst>
                                        </p:cTn>
                                        <p:tgtEl>
                                          <p:spTgt spid="34"/>
                                        </p:tgtEl>
                                        <p:attrNameLst>
                                          <p:attrName>style.visibility</p:attrName>
                                        </p:attrNameLst>
                                      </p:cBhvr>
                                      <p:to>
                                        <p:strVal val="visible"/>
                                      </p:to>
                                    </p:set>
                                    <p:anim calcmode="lin" valueType="num">
                                      <p:cBhvr additive="base">
                                        <p:cTn id="65" dur="500" fill="hold"/>
                                        <p:tgtEl>
                                          <p:spTgt spid="34"/>
                                        </p:tgtEl>
                                        <p:attrNameLst>
                                          <p:attrName>ppt_x</p:attrName>
                                        </p:attrNameLst>
                                      </p:cBhvr>
                                      <p:tavLst>
                                        <p:tav tm="0">
                                          <p:val>
                                            <p:strVal val="#ppt_x"/>
                                          </p:val>
                                        </p:tav>
                                        <p:tav tm="100000">
                                          <p:val>
                                            <p:strVal val="#ppt_x"/>
                                          </p:val>
                                        </p:tav>
                                      </p:tavLst>
                                    </p:anim>
                                    <p:anim calcmode="lin" valueType="num">
                                      <p:cBhvr additive="base">
                                        <p:cTn id="66" dur="500" fill="hold"/>
                                        <p:tgtEl>
                                          <p:spTgt spid="34"/>
                                        </p:tgtEl>
                                        <p:attrNameLst>
                                          <p:attrName>ppt_y</p:attrName>
                                        </p:attrNameLst>
                                      </p:cBhvr>
                                      <p:tavLst>
                                        <p:tav tm="0">
                                          <p:val>
                                            <p:strVal val="0-#ppt_h/2"/>
                                          </p:val>
                                        </p:tav>
                                        <p:tav tm="100000">
                                          <p:val>
                                            <p:strVal val="#ppt_y"/>
                                          </p:val>
                                        </p:tav>
                                      </p:tavLst>
                                    </p:anim>
                                  </p:childTnLst>
                                </p:cTn>
                              </p:par>
                              <p:par>
                                <p:cTn id="67" presetID="2" presetClass="exit" presetSubtype="4" fill="hold" nodeType="withEffect">
                                  <p:stCondLst>
                                    <p:cond delay="0"/>
                                  </p:stCondLst>
                                  <p:childTnLst>
                                    <p:anim calcmode="lin" valueType="num">
                                      <p:cBhvr additive="base">
                                        <p:cTn id="68" dur="500"/>
                                        <p:tgtEl>
                                          <p:spTgt spid="57"/>
                                        </p:tgtEl>
                                        <p:attrNameLst>
                                          <p:attrName>ppt_x</p:attrName>
                                        </p:attrNameLst>
                                      </p:cBhvr>
                                      <p:tavLst>
                                        <p:tav tm="0">
                                          <p:val>
                                            <p:strVal val="ppt_x"/>
                                          </p:val>
                                        </p:tav>
                                        <p:tav tm="100000">
                                          <p:val>
                                            <p:strVal val="ppt_x"/>
                                          </p:val>
                                        </p:tav>
                                      </p:tavLst>
                                    </p:anim>
                                    <p:anim calcmode="lin" valueType="num">
                                      <p:cBhvr additive="base">
                                        <p:cTn id="69" dur="500"/>
                                        <p:tgtEl>
                                          <p:spTgt spid="57"/>
                                        </p:tgtEl>
                                        <p:attrNameLst>
                                          <p:attrName>ppt_y</p:attrName>
                                        </p:attrNameLst>
                                      </p:cBhvr>
                                      <p:tavLst>
                                        <p:tav tm="0">
                                          <p:val>
                                            <p:strVal val="ppt_y"/>
                                          </p:val>
                                        </p:tav>
                                        <p:tav tm="100000">
                                          <p:val>
                                            <p:strVal val="1+ppt_h/2"/>
                                          </p:val>
                                        </p:tav>
                                      </p:tavLst>
                                    </p:anim>
                                    <p:set>
                                      <p:cBhvr>
                                        <p:cTn id="70" dur="1" fill="hold">
                                          <p:stCondLst>
                                            <p:cond delay="499"/>
                                          </p:stCondLst>
                                        </p:cTn>
                                        <p:tgtEl>
                                          <p:spTgt spid="57"/>
                                        </p:tgtEl>
                                        <p:attrNameLst>
                                          <p:attrName>style.visibility</p:attrName>
                                        </p:attrNameLst>
                                      </p:cBhvr>
                                      <p:to>
                                        <p:strVal val="hidden"/>
                                      </p:to>
                                    </p:set>
                                  </p:childTnLst>
                                </p:cTn>
                              </p:par>
                              <p:par>
                                <p:cTn id="71" presetID="2" presetClass="exit" presetSubtype="4" fill="hold" nodeType="withEffect">
                                  <p:stCondLst>
                                    <p:cond delay="0"/>
                                  </p:stCondLst>
                                  <p:childTnLst>
                                    <p:anim calcmode="lin" valueType="num">
                                      <p:cBhvr additive="base">
                                        <p:cTn id="72" dur="500"/>
                                        <p:tgtEl>
                                          <p:spTgt spid="16"/>
                                        </p:tgtEl>
                                        <p:attrNameLst>
                                          <p:attrName>ppt_x</p:attrName>
                                        </p:attrNameLst>
                                      </p:cBhvr>
                                      <p:tavLst>
                                        <p:tav tm="0">
                                          <p:val>
                                            <p:strVal val="ppt_x"/>
                                          </p:val>
                                        </p:tav>
                                        <p:tav tm="100000">
                                          <p:val>
                                            <p:strVal val="ppt_x"/>
                                          </p:val>
                                        </p:tav>
                                      </p:tavLst>
                                    </p:anim>
                                    <p:anim calcmode="lin" valueType="num">
                                      <p:cBhvr additive="base">
                                        <p:cTn id="73" dur="500"/>
                                        <p:tgtEl>
                                          <p:spTgt spid="16"/>
                                        </p:tgtEl>
                                        <p:attrNameLst>
                                          <p:attrName>ppt_y</p:attrName>
                                        </p:attrNameLst>
                                      </p:cBhvr>
                                      <p:tavLst>
                                        <p:tav tm="0">
                                          <p:val>
                                            <p:strVal val="ppt_y"/>
                                          </p:val>
                                        </p:tav>
                                        <p:tav tm="100000">
                                          <p:val>
                                            <p:strVal val="1+ppt_h/2"/>
                                          </p:val>
                                        </p:tav>
                                      </p:tavLst>
                                    </p:anim>
                                    <p:set>
                                      <p:cBhvr>
                                        <p:cTn id="74" dur="1" fill="hold">
                                          <p:stCondLst>
                                            <p:cond delay="499"/>
                                          </p:stCondLst>
                                        </p:cTn>
                                        <p:tgtEl>
                                          <p:spTgt spid="16"/>
                                        </p:tgtEl>
                                        <p:attrNameLst>
                                          <p:attrName>style.visibility</p:attrName>
                                        </p:attrNameLst>
                                      </p:cBhvr>
                                      <p:to>
                                        <p:strVal val="hidden"/>
                                      </p:to>
                                    </p:set>
                                  </p:childTnLst>
                                </p:cTn>
                              </p:par>
                              <p:par>
                                <p:cTn id="75" presetID="2" presetClass="exit" presetSubtype="4" fill="hold" nodeType="withEffect">
                                  <p:stCondLst>
                                    <p:cond delay="0"/>
                                  </p:stCondLst>
                                  <p:childTnLst>
                                    <p:anim calcmode="lin" valueType="num">
                                      <p:cBhvr additive="base">
                                        <p:cTn id="76" dur="500"/>
                                        <p:tgtEl>
                                          <p:spTgt spid="39"/>
                                        </p:tgtEl>
                                        <p:attrNameLst>
                                          <p:attrName>ppt_x</p:attrName>
                                        </p:attrNameLst>
                                      </p:cBhvr>
                                      <p:tavLst>
                                        <p:tav tm="0">
                                          <p:val>
                                            <p:strVal val="ppt_x"/>
                                          </p:val>
                                        </p:tav>
                                        <p:tav tm="100000">
                                          <p:val>
                                            <p:strVal val="ppt_x"/>
                                          </p:val>
                                        </p:tav>
                                      </p:tavLst>
                                    </p:anim>
                                    <p:anim calcmode="lin" valueType="num">
                                      <p:cBhvr additive="base">
                                        <p:cTn id="77" dur="500"/>
                                        <p:tgtEl>
                                          <p:spTgt spid="39"/>
                                        </p:tgtEl>
                                        <p:attrNameLst>
                                          <p:attrName>ppt_y</p:attrName>
                                        </p:attrNameLst>
                                      </p:cBhvr>
                                      <p:tavLst>
                                        <p:tav tm="0">
                                          <p:val>
                                            <p:strVal val="ppt_y"/>
                                          </p:val>
                                        </p:tav>
                                        <p:tav tm="100000">
                                          <p:val>
                                            <p:strVal val="1+ppt_h/2"/>
                                          </p:val>
                                        </p:tav>
                                      </p:tavLst>
                                    </p:anim>
                                    <p:set>
                                      <p:cBhvr>
                                        <p:cTn id="78" dur="1" fill="hold">
                                          <p:stCondLst>
                                            <p:cond delay="499"/>
                                          </p:stCondLst>
                                        </p:cTn>
                                        <p:tgtEl>
                                          <p:spTgt spid="39"/>
                                        </p:tgtEl>
                                        <p:attrNameLst>
                                          <p:attrName>style.visibility</p:attrName>
                                        </p:attrNameLst>
                                      </p:cBhvr>
                                      <p:to>
                                        <p:strVal val="hidden"/>
                                      </p:to>
                                    </p:set>
                                  </p:childTnLst>
                                </p:cTn>
                              </p:par>
                              <p:par>
                                <p:cTn id="79" presetID="2" presetClass="exit" presetSubtype="4" fill="hold" nodeType="withEffect">
                                  <p:stCondLst>
                                    <p:cond delay="0"/>
                                  </p:stCondLst>
                                  <p:childTnLst>
                                    <p:anim calcmode="lin" valueType="num">
                                      <p:cBhvr additive="base">
                                        <p:cTn id="80" dur="500"/>
                                        <p:tgtEl>
                                          <p:spTgt spid="31"/>
                                        </p:tgtEl>
                                        <p:attrNameLst>
                                          <p:attrName>ppt_x</p:attrName>
                                        </p:attrNameLst>
                                      </p:cBhvr>
                                      <p:tavLst>
                                        <p:tav tm="0">
                                          <p:val>
                                            <p:strVal val="ppt_x"/>
                                          </p:val>
                                        </p:tav>
                                        <p:tav tm="100000">
                                          <p:val>
                                            <p:strVal val="ppt_x"/>
                                          </p:val>
                                        </p:tav>
                                      </p:tavLst>
                                    </p:anim>
                                    <p:anim calcmode="lin" valueType="num">
                                      <p:cBhvr additive="base">
                                        <p:cTn id="81" dur="500"/>
                                        <p:tgtEl>
                                          <p:spTgt spid="31"/>
                                        </p:tgtEl>
                                        <p:attrNameLst>
                                          <p:attrName>ppt_y</p:attrName>
                                        </p:attrNameLst>
                                      </p:cBhvr>
                                      <p:tavLst>
                                        <p:tav tm="0">
                                          <p:val>
                                            <p:strVal val="ppt_y"/>
                                          </p:val>
                                        </p:tav>
                                        <p:tav tm="100000">
                                          <p:val>
                                            <p:strVal val="1+ppt_h/2"/>
                                          </p:val>
                                        </p:tav>
                                      </p:tavLst>
                                    </p:anim>
                                    <p:set>
                                      <p:cBhvr>
                                        <p:cTn id="82" dur="1" fill="hold">
                                          <p:stCondLst>
                                            <p:cond delay="499"/>
                                          </p:stCondLst>
                                        </p:cTn>
                                        <p:tgtEl>
                                          <p:spTgt spid="31"/>
                                        </p:tgtEl>
                                        <p:attrNameLst>
                                          <p:attrName>style.visibility</p:attrName>
                                        </p:attrNameLst>
                                      </p:cBhvr>
                                      <p:to>
                                        <p:strVal val="hidden"/>
                                      </p:to>
                                    </p:set>
                                  </p:childTnLst>
                                </p:cTn>
                              </p:par>
                              <p:par>
                                <p:cTn id="83" presetID="2" presetClass="exit" presetSubtype="4" fill="hold" nodeType="withEffect">
                                  <p:stCondLst>
                                    <p:cond delay="0"/>
                                  </p:stCondLst>
                                  <p:childTnLst>
                                    <p:anim calcmode="lin" valueType="num">
                                      <p:cBhvr additive="base">
                                        <p:cTn id="84" dur="500"/>
                                        <p:tgtEl>
                                          <p:spTgt spid="4"/>
                                        </p:tgtEl>
                                        <p:attrNameLst>
                                          <p:attrName>ppt_x</p:attrName>
                                        </p:attrNameLst>
                                      </p:cBhvr>
                                      <p:tavLst>
                                        <p:tav tm="0">
                                          <p:val>
                                            <p:strVal val="ppt_x"/>
                                          </p:val>
                                        </p:tav>
                                        <p:tav tm="100000">
                                          <p:val>
                                            <p:strVal val="ppt_x"/>
                                          </p:val>
                                        </p:tav>
                                      </p:tavLst>
                                    </p:anim>
                                    <p:anim calcmode="lin" valueType="num">
                                      <p:cBhvr additive="base">
                                        <p:cTn id="85" dur="500"/>
                                        <p:tgtEl>
                                          <p:spTgt spid="4"/>
                                        </p:tgtEl>
                                        <p:attrNameLst>
                                          <p:attrName>ppt_y</p:attrName>
                                        </p:attrNameLst>
                                      </p:cBhvr>
                                      <p:tavLst>
                                        <p:tav tm="0">
                                          <p:val>
                                            <p:strVal val="ppt_y"/>
                                          </p:val>
                                        </p:tav>
                                        <p:tav tm="100000">
                                          <p:val>
                                            <p:strVal val="1+ppt_h/2"/>
                                          </p:val>
                                        </p:tav>
                                      </p:tavLst>
                                    </p:anim>
                                    <p:set>
                                      <p:cBhvr>
                                        <p:cTn id="86" dur="1" fill="hold">
                                          <p:stCondLst>
                                            <p:cond delay="499"/>
                                          </p:stCondLst>
                                        </p:cTn>
                                        <p:tgtEl>
                                          <p:spTgt spid="4"/>
                                        </p:tgtEl>
                                        <p:attrNameLst>
                                          <p:attrName>style.visibility</p:attrName>
                                        </p:attrNameLst>
                                      </p:cBhvr>
                                      <p:to>
                                        <p:strVal val="hidden"/>
                                      </p:to>
                                    </p:set>
                                  </p:childTnLst>
                                </p:cTn>
                              </p:par>
                              <p:par>
                                <p:cTn id="87" presetID="2" presetClass="exit" presetSubtype="4" fill="hold" nodeType="withEffect">
                                  <p:stCondLst>
                                    <p:cond delay="0"/>
                                  </p:stCondLst>
                                  <p:childTnLst>
                                    <p:anim calcmode="lin" valueType="num">
                                      <p:cBhvr additive="base">
                                        <p:cTn id="88" dur="500"/>
                                        <p:tgtEl>
                                          <p:spTgt spid="25"/>
                                        </p:tgtEl>
                                        <p:attrNameLst>
                                          <p:attrName>ppt_x</p:attrName>
                                        </p:attrNameLst>
                                      </p:cBhvr>
                                      <p:tavLst>
                                        <p:tav tm="0">
                                          <p:val>
                                            <p:strVal val="ppt_x"/>
                                          </p:val>
                                        </p:tav>
                                        <p:tav tm="100000">
                                          <p:val>
                                            <p:strVal val="ppt_x"/>
                                          </p:val>
                                        </p:tav>
                                      </p:tavLst>
                                    </p:anim>
                                    <p:anim calcmode="lin" valueType="num">
                                      <p:cBhvr additive="base">
                                        <p:cTn id="89" dur="500"/>
                                        <p:tgtEl>
                                          <p:spTgt spid="25"/>
                                        </p:tgtEl>
                                        <p:attrNameLst>
                                          <p:attrName>ppt_y</p:attrName>
                                        </p:attrNameLst>
                                      </p:cBhvr>
                                      <p:tavLst>
                                        <p:tav tm="0">
                                          <p:val>
                                            <p:strVal val="ppt_y"/>
                                          </p:val>
                                        </p:tav>
                                        <p:tav tm="100000">
                                          <p:val>
                                            <p:strVal val="1+ppt_h/2"/>
                                          </p:val>
                                        </p:tav>
                                      </p:tavLst>
                                    </p:anim>
                                    <p:set>
                                      <p:cBhvr>
                                        <p:cTn id="90" dur="1" fill="hold">
                                          <p:stCondLst>
                                            <p:cond delay="499"/>
                                          </p:stCondLst>
                                        </p:cTn>
                                        <p:tgtEl>
                                          <p:spTgt spid="25"/>
                                        </p:tgtEl>
                                        <p:attrNameLst>
                                          <p:attrName>style.visibility</p:attrName>
                                        </p:attrNameLst>
                                      </p:cBhvr>
                                      <p:to>
                                        <p:strVal val="hidden"/>
                                      </p:to>
                                    </p:set>
                                  </p:childTnLst>
                                </p:cTn>
                              </p:par>
                              <p:par>
                                <p:cTn id="91" presetID="2" presetClass="exit" presetSubtype="4" fill="hold" nodeType="withEffect">
                                  <p:stCondLst>
                                    <p:cond delay="0"/>
                                  </p:stCondLst>
                                  <p:childTnLst>
                                    <p:anim calcmode="lin" valueType="num">
                                      <p:cBhvr additive="base">
                                        <p:cTn id="92" dur="500"/>
                                        <p:tgtEl>
                                          <p:spTgt spid="44"/>
                                        </p:tgtEl>
                                        <p:attrNameLst>
                                          <p:attrName>ppt_x</p:attrName>
                                        </p:attrNameLst>
                                      </p:cBhvr>
                                      <p:tavLst>
                                        <p:tav tm="0">
                                          <p:val>
                                            <p:strVal val="ppt_x"/>
                                          </p:val>
                                        </p:tav>
                                        <p:tav tm="100000">
                                          <p:val>
                                            <p:strVal val="ppt_x"/>
                                          </p:val>
                                        </p:tav>
                                      </p:tavLst>
                                    </p:anim>
                                    <p:anim calcmode="lin" valueType="num">
                                      <p:cBhvr additive="base">
                                        <p:cTn id="93" dur="500"/>
                                        <p:tgtEl>
                                          <p:spTgt spid="44"/>
                                        </p:tgtEl>
                                        <p:attrNameLst>
                                          <p:attrName>ppt_y</p:attrName>
                                        </p:attrNameLst>
                                      </p:cBhvr>
                                      <p:tavLst>
                                        <p:tav tm="0">
                                          <p:val>
                                            <p:strVal val="ppt_y"/>
                                          </p:val>
                                        </p:tav>
                                        <p:tav tm="100000">
                                          <p:val>
                                            <p:strVal val="1+ppt_h/2"/>
                                          </p:val>
                                        </p:tav>
                                      </p:tavLst>
                                    </p:anim>
                                    <p:set>
                                      <p:cBhvr>
                                        <p:cTn id="94" dur="1" fill="hold">
                                          <p:stCondLst>
                                            <p:cond delay="499"/>
                                          </p:stCondLst>
                                        </p:cTn>
                                        <p:tgtEl>
                                          <p:spTgt spid="44"/>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63"/>
                                        </p:tgtEl>
                                        <p:attrNameLst>
                                          <p:attrName>style.visibility</p:attrName>
                                        </p:attrNameLst>
                                      </p:cBhvr>
                                      <p:to>
                                        <p:strVal val="visible"/>
                                      </p:to>
                                    </p:set>
                                    <p:animEffect transition="in" filter="fade">
                                      <p:cBhvr>
                                        <p:cTn id="99" dur="500"/>
                                        <p:tgtEl>
                                          <p:spTgt spid="6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62"/>
                                        </p:tgtEl>
                                        <p:attrNameLst>
                                          <p:attrName>style.visibility</p:attrName>
                                        </p:attrNameLst>
                                      </p:cBhvr>
                                      <p:to>
                                        <p:strVal val="visible"/>
                                      </p:to>
                                    </p:set>
                                    <p:animEffect transition="in" filter="fade">
                                      <p:cBhvr>
                                        <p:cTn id="10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2" grpId="0" uiExpand="1"/>
      <p:bldP spid="61" grpId="0"/>
      <p:bldP spid="6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Ellips 31">
            <a:extLst>
              <a:ext uri="{FF2B5EF4-FFF2-40B4-BE49-F238E27FC236}">
                <a16:creationId xmlns:a16="http://schemas.microsoft.com/office/drawing/2014/main" id="{6862A797-57B3-6CDB-34DD-46AB626CCA8E}"/>
              </a:ext>
            </a:extLst>
          </p:cNvPr>
          <p:cNvSpPr/>
          <p:nvPr/>
        </p:nvSpPr>
        <p:spPr>
          <a:xfrm>
            <a:off x="1162121" y="1234943"/>
            <a:ext cx="2299595" cy="259227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sv-SE">
              <a:solidFill>
                <a:prstClr val="white"/>
              </a:solidFill>
              <a:latin typeface="Tahoma"/>
            </a:endParaRPr>
          </a:p>
        </p:txBody>
      </p:sp>
      <p:grpSp>
        <p:nvGrpSpPr>
          <p:cNvPr id="37893" name="Grupp 3"/>
          <p:cNvGrpSpPr>
            <a:grpSpLocks/>
          </p:cNvGrpSpPr>
          <p:nvPr/>
        </p:nvGrpSpPr>
        <p:grpSpPr bwMode="auto">
          <a:xfrm>
            <a:off x="2797969" y="2801541"/>
            <a:ext cx="80963" cy="80963"/>
            <a:chOff x="7884368" y="3284984"/>
            <a:chExt cx="216024" cy="216024"/>
          </a:xfrm>
        </p:grpSpPr>
        <p:cxnSp>
          <p:nvCxnSpPr>
            <p:cNvPr id="3" name="Rak 2"/>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Rak 7"/>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894" name="Grupp 9"/>
          <p:cNvGrpSpPr>
            <a:grpSpLocks/>
          </p:cNvGrpSpPr>
          <p:nvPr/>
        </p:nvGrpSpPr>
        <p:grpSpPr bwMode="auto">
          <a:xfrm>
            <a:off x="2912269" y="2915841"/>
            <a:ext cx="80963" cy="80963"/>
            <a:chOff x="7884368" y="3284984"/>
            <a:chExt cx="216024" cy="216024"/>
          </a:xfrm>
        </p:grpSpPr>
        <p:cxnSp>
          <p:nvCxnSpPr>
            <p:cNvPr id="11" name="Rak 10"/>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Rak 11"/>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895" name="Grupp 12"/>
          <p:cNvGrpSpPr>
            <a:grpSpLocks/>
          </p:cNvGrpSpPr>
          <p:nvPr/>
        </p:nvGrpSpPr>
        <p:grpSpPr bwMode="auto">
          <a:xfrm>
            <a:off x="3026569" y="2855119"/>
            <a:ext cx="80963" cy="82154"/>
            <a:chOff x="7884368" y="3284984"/>
            <a:chExt cx="216024" cy="216024"/>
          </a:xfrm>
        </p:grpSpPr>
        <p:cxnSp>
          <p:nvCxnSpPr>
            <p:cNvPr id="14" name="Rak 13"/>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Rak 14"/>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896" name="Grupp 15"/>
          <p:cNvGrpSpPr>
            <a:grpSpLocks/>
          </p:cNvGrpSpPr>
          <p:nvPr/>
        </p:nvGrpSpPr>
        <p:grpSpPr bwMode="auto">
          <a:xfrm>
            <a:off x="3140869" y="2969419"/>
            <a:ext cx="80963" cy="82154"/>
            <a:chOff x="7884368" y="3284984"/>
            <a:chExt cx="216024" cy="216024"/>
          </a:xfrm>
        </p:grpSpPr>
        <p:cxnSp>
          <p:nvCxnSpPr>
            <p:cNvPr id="17" name="Rak 16"/>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 name="Rak 17"/>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897" name="Grupp 18"/>
          <p:cNvGrpSpPr>
            <a:grpSpLocks/>
          </p:cNvGrpSpPr>
          <p:nvPr/>
        </p:nvGrpSpPr>
        <p:grpSpPr bwMode="auto">
          <a:xfrm>
            <a:off x="2851547" y="3030141"/>
            <a:ext cx="80963" cy="80963"/>
            <a:chOff x="7884368" y="3284984"/>
            <a:chExt cx="216024" cy="216024"/>
          </a:xfrm>
        </p:grpSpPr>
        <p:cxnSp>
          <p:nvCxnSpPr>
            <p:cNvPr id="20" name="Rak 19"/>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Rak 20"/>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898" name="Grupp 21"/>
          <p:cNvGrpSpPr>
            <a:grpSpLocks/>
          </p:cNvGrpSpPr>
          <p:nvPr/>
        </p:nvGrpSpPr>
        <p:grpSpPr bwMode="auto">
          <a:xfrm>
            <a:off x="3013472" y="2720578"/>
            <a:ext cx="80963" cy="80963"/>
            <a:chOff x="7884368" y="3284984"/>
            <a:chExt cx="216024" cy="216024"/>
          </a:xfrm>
        </p:grpSpPr>
        <p:cxnSp>
          <p:nvCxnSpPr>
            <p:cNvPr id="23" name="Rak 22"/>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Rak 23"/>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25" name="Grupp 24"/>
          <p:cNvGrpSpPr>
            <a:grpSpLocks/>
          </p:cNvGrpSpPr>
          <p:nvPr/>
        </p:nvGrpSpPr>
        <p:grpSpPr bwMode="auto">
          <a:xfrm>
            <a:off x="4738093" y="4299942"/>
            <a:ext cx="80963" cy="80963"/>
            <a:chOff x="7884368" y="3284984"/>
            <a:chExt cx="216024" cy="216024"/>
          </a:xfrm>
        </p:grpSpPr>
        <p:cxnSp>
          <p:nvCxnSpPr>
            <p:cNvPr id="26" name="Rak 25"/>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Rak 26"/>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4" name="Grupp 27"/>
          <p:cNvGrpSpPr>
            <a:grpSpLocks/>
          </p:cNvGrpSpPr>
          <p:nvPr/>
        </p:nvGrpSpPr>
        <p:grpSpPr bwMode="auto">
          <a:xfrm>
            <a:off x="1790691" y="2842022"/>
            <a:ext cx="80963" cy="80963"/>
            <a:chOff x="7884368" y="3284984"/>
            <a:chExt cx="216024" cy="216024"/>
          </a:xfrm>
        </p:grpSpPr>
        <p:cxnSp>
          <p:nvCxnSpPr>
            <p:cNvPr id="35" name="Rak 28"/>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6" name="Rak 29"/>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5" name="Slide Number Placeholder 4">
            <a:extLst>
              <a:ext uri="{FF2B5EF4-FFF2-40B4-BE49-F238E27FC236}">
                <a16:creationId xmlns:a16="http://schemas.microsoft.com/office/drawing/2014/main" id="{360181C2-E97F-4A0B-8B2F-A92407920026}"/>
              </a:ext>
            </a:extLst>
          </p:cNvPr>
          <p:cNvSpPr>
            <a:spLocks noGrp="1"/>
          </p:cNvSpPr>
          <p:nvPr>
            <p:ph type="sldNum" sz="quarter" idx="12"/>
          </p:nvPr>
        </p:nvSpPr>
        <p:spPr/>
        <p:txBody>
          <a:bodyPr/>
          <a:lstStyle/>
          <a:p>
            <a:pPr>
              <a:defRPr/>
            </a:pPr>
            <a:fld id="{F93A8683-B3F0-4451-9D03-D239B7B635C5}" type="slidenum">
              <a:rPr lang="sv-SE" smtClean="0"/>
              <a:pPr>
                <a:defRPr/>
              </a:pPr>
              <a:t>12</a:t>
            </a:fld>
            <a:endParaRPr lang="sv-SE"/>
          </a:p>
        </p:txBody>
      </p:sp>
      <p:grpSp>
        <p:nvGrpSpPr>
          <p:cNvPr id="44" name="Grupp 24">
            <a:extLst>
              <a:ext uri="{FF2B5EF4-FFF2-40B4-BE49-F238E27FC236}">
                <a16:creationId xmlns:a16="http://schemas.microsoft.com/office/drawing/2014/main" id="{448D84BE-6EDB-4C25-BC12-A3664ECFD0DA}"/>
              </a:ext>
            </a:extLst>
          </p:cNvPr>
          <p:cNvGrpSpPr>
            <a:grpSpLocks/>
          </p:cNvGrpSpPr>
          <p:nvPr/>
        </p:nvGrpSpPr>
        <p:grpSpPr bwMode="auto">
          <a:xfrm>
            <a:off x="4852393" y="4414242"/>
            <a:ext cx="80963" cy="80963"/>
            <a:chOff x="7884368" y="3284984"/>
            <a:chExt cx="216024" cy="216024"/>
          </a:xfrm>
        </p:grpSpPr>
        <p:cxnSp>
          <p:nvCxnSpPr>
            <p:cNvPr id="45" name="Rak 25">
              <a:extLst>
                <a:ext uri="{FF2B5EF4-FFF2-40B4-BE49-F238E27FC236}">
                  <a16:creationId xmlns:a16="http://schemas.microsoft.com/office/drawing/2014/main" id="{F5674250-32CC-4E8A-B205-E8AF25973F3A}"/>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Rak 26">
              <a:extLst>
                <a:ext uri="{FF2B5EF4-FFF2-40B4-BE49-F238E27FC236}">
                  <a16:creationId xmlns:a16="http://schemas.microsoft.com/office/drawing/2014/main" id="{2C1878AE-1A10-410B-9A37-430FA1DA406D}"/>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4" name="Grupp 24">
            <a:extLst>
              <a:ext uri="{FF2B5EF4-FFF2-40B4-BE49-F238E27FC236}">
                <a16:creationId xmlns:a16="http://schemas.microsoft.com/office/drawing/2014/main" id="{307680A4-9EC2-F97B-8520-88B9994A6C94}"/>
              </a:ext>
            </a:extLst>
          </p:cNvPr>
          <p:cNvGrpSpPr>
            <a:grpSpLocks/>
          </p:cNvGrpSpPr>
          <p:nvPr/>
        </p:nvGrpSpPr>
        <p:grpSpPr bwMode="auto">
          <a:xfrm>
            <a:off x="3110906" y="4724713"/>
            <a:ext cx="80963" cy="80963"/>
            <a:chOff x="7884368" y="3284984"/>
            <a:chExt cx="216024" cy="216024"/>
          </a:xfrm>
        </p:grpSpPr>
        <p:cxnSp>
          <p:nvCxnSpPr>
            <p:cNvPr id="6" name="Rak 25">
              <a:extLst>
                <a:ext uri="{FF2B5EF4-FFF2-40B4-BE49-F238E27FC236}">
                  <a16:creationId xmlns:a16="http://schemas.microsoft.com/office/drawing/2014/main" id="{6A96182A-6ED5-888C-4D49-14DD9D403BC5}"/>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 name="Rak 26">
              <a:extLst>
                <a:ext uri="{FF2B5EF4-FFF2-40B4-BE49-F238E27FC236}">
                  <a16:creationId xmlns:a16="http://schemas.microsoft.com/office/drawing/2014/main" id="{5863A3D9-1090-45D7-22A3-2B7F8B6538DB}"/>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9" name="Grupp 24">
            <a:extLst>
              <a:ext uri="{FF2B5EF4-FFF2-40B4-BE49-F238E27FC236}">
                <a16:creationId xmlns:a16="http://schemas.microsoft.com/office/drawing/2014/main" id="{6E0C8854-72F2-9326-E490-782F89F899C5}"/>
              </a:ext>
            </a:extLst>
          </p:cNvPr>
          <p:cNvGrpSpPr>
            <a:grpSpLocks/>
          </p:cNvGrpSpPr>
          <p:nvPr/>
        </p:nvGrpSpPr>
        <p:grpSpPr bwMode="auto">
          <a:xfrm>
            <a:off x="1638953" y="1779662"/>
            <a:ext cx="80963" cy="80963"/>
            <a:chOff x="7884368" y="3284984"/>
            <a:chExt cx="216024" cy="216024"/>
          </a:xfrm>
        </p:grpSpPr>
        <p:cxnSp>
          <p:nvCxnSpPr>
            <p:cNvPr id="10" name="Rak 25">
              <a:extLst>
                <a:ext uri="{FF2B5EF4-FFF2-40B4-BE49-F238E27FC236}">
                  <a16:creationId xmlns:a16="http://schemas.microsoft.com/office/drawing/2014/main" id="{F4A1482F-1964-1F00-8796-67A7480BE5C0}"/>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 name="Rak 26">
              <a:extLst>
                <a:ext uri="{FF2B5EF4-FFF2-40B4-BE49-F238E27FC236}">
                  <a16:creationId xmlns:a16="http://schemas.microsoft.com/office/drawing/2014/main" id="{8EBCDC8B-698D-1961-7467-B70868D4D952}"/>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16" name="Grupp 24">
            <a:extLst>
              <a:ext uri="{FF2B5EF4-FFF2-40B4-BE49-F238E27FC236}">
                <a16:creationId xmlns:a16="http://schemas.microsoft.com/office/drawing/2014/main" id="{F33C27BE-1C5F-AFFA-CB1A-70E4C9119348}"/>
              </a:ext>
            </a:extLst>
          </p:cNvPr>
          <p:cNvGrpSpPr>
            <a:grpSpLocks/>
          </p:cNvGrpSpPr>
          <p:nvPr/>
        </p:nvGrpSpPr>
        <p:grpSpPr bwMode="auto">
          <a:xfrm>
            <a:off x="1750522" y="4083918"/>
            <a:ext cx="80963" cy="80963"/>
            <a:chOff x="7884368" y="3284984"/>
            <a:chExt cx="216024" cy="216024"/>
          </a:xfrm>
        </p:grpSpPr>
        <p:cxnSp>
          <p:nvCxnSpPr>
            <p:cNvPr id="19" name="Rak 25">
              <a:extLst>
                <a:ext uri="{FF2B5EF4-FFF2-40B4-BE49-F238E27FC236}">
                  <a16:creationId xmlns:a16="http://schemas.microsoft.com/office/drawing/2014/main" id="{1A01CFAD-3E84-AE59-33C9-E1385711EF3F}"/>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Rak 26">
              <a:extLst>
                <a:ext uri="{FF2B5EF4-FFF2-40B4-BE49-F238E27FC236}">
                  <a16:creationId xmlns:a16="http://schemas.microsoft.com/office/drawing/2014/main" id="{BA409D7F-D363-CB48-E873-3E040BE95B98}"/>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28" name="Grupp 24">
            <a:extLst>
              <a:ext uri="{FF2B5EF4-FFF2-40B4-BE49-F238E27FC236}">
                <a16:creationId xmlns:a16="http://schemas.microsoft.com/office/drawing/2014/main" id="{EAF0419C-E872-24C1-BA10-896782F8D6CC}"/>
              </a:ext>
            </a:extLst>
          </p:cNvPr>
          <p:cNvGrpSpPr>
            <a:grpSpLocks/>
          </p:cNvGrpSpPr>
          <p:nvPr/>
        </p:nvGrpSpPr>
        <p:grpSpPr bwMode="auto">
          <a:xfrm>
            <a:off x="4211960" y="1396603"/>
            <a:ext cx="80963" cy="80963"/>
            <a:chOff x="7884368" y="3284984"/>
            <a:chExt cx="216024" cy="216024"/>
          </a:xfrm>
        </p:grpSpPr>
        <p:cxnSp>
          <p:nvCxnSpPr>
            <p:cNvPr id="29" name="Rak 25">
              <a:extLst>
                <a:ext uri="{FF2B5EF4-FFF2-40B4-BE49-F238E27FC236}">
                  <a16:creationId xmlns:a16="http://schemas.microsoft.com/office/drawing/2014/main" id="{92E7DDE4-6283-CA35-FF40-E3EE5DF7E404}"/>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Rak 26">
              <a:extLst>
                <a:ext uri="{FF2B5EF4-FFF2-40B4-BE49-F238E27FC236}">
                  <a16:creationId xmlns:a16="http://schemas.microsoft.com/office/drawing/2014/main" id="{063F7979-EBAC-3400-2D57-2BF2A964C67D}"/>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1" name="Grupp 24">
            <a:extLst>
              <a:ext uri="{FF2B5EF4-FFF2-40B4-BE49-F238E27FC236}">
                <a16:creationId xmlns:a16="http://schemas.microsoft.com/office/drawing/2014/main" id="{5DB4F732-8D51-777E-FCEB-64F2F6CDDF38}"/>
              </a:ext>
            </a:extLst>
          </p:cNvPr>
          <p:cNvGrpSpPr>
            <a:grpSpLocks/>
          </p:cNvGrpSpPr>
          <p:nvPr/>
        </p:nvGrpSpPr>
        <p:grpSpPr bwMode="auto">
          <a:xfrm>
            <a:off x="2411760" y="4643750"/>
            <a:ext cx="80963" cy="80963"/>
            <a:chOff x="7884368" y="3284984"/>
            <a:chExt cx="216024" cy="216024"/>
          </a:xfrm>
        </p:grpSpPr>
        <p:cxnSp>
          <p:nvCxnSpPr>
            <p:cNvPr id="33" name="Rak 25">
              <a:extLst>
                <a:ext uri="{FF2B5EF4-FFF2-40B4-BE49-F238E27FC236}">
                  <a16:creationId xmlns:a16="http://schemas.microsoft.com/office/drawing/2014/main" id="{21CF17C8-09BC-8557-BCDA-B25D1C4CB8C8}"/>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 name="Rak 26">
              <a:extLst>
                <a:ext uri="{FF2B5EF4-FFF2-40B4-BE49-F238E27FC236}">
                  <a16:creationId xmlns:a16="http://schemas.microsoft.com/office/drawing/2014/main" id="{4E7E0128-42FB-CCFB-94B5-EA59ACF454ED}"/>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9" name="Grupp 24">
            <a:extLst>
              <a:ext uri="{FF2B5EF4-FFF2-40B4-BE49-F238E27FC236}">
                <a16:creationId xmlns:a16="http://schemas.microsoft.com/office/drawing/2014/main" id="{496A41FF-9276-E066-1176-5AF502CF6CB1}"/>
              </a:ext>
            </a:extLst>
          </p:cNvPr>
          <p:cNvGrpSpPr>
            <a:grpSpLocks/>
          </p:cNvGrpSpPr>
          <p:nvPr/>
        </p:nvGrpSpPr>
        <p:grpSpPr bwMode="auto">
          <a:xfrm>
            <a:off x="2195736" y="4414242"/>
            <a:ext cx="80963" cy="80963"/>
            <a:chOff x="7884368" y="3284984"/>
            <a:chExt cx="216024" cy="216024"/>
          </a:xfrm>
        </p:grpSpPr>
        <p:cxnSp>
          <p:nvCxnSpPr>
            <p:cNvPr id="40" name="Rak 25">
              <a:extLst>
                <a:ext uri="{FF2B5EF4-FFF2-40B4-BE49-F238E27FC236}">
                  <a16:creationId xmlns:a16="http://schemas.microsoft.com/office/drawing/2014/main" id="{C86E5F8A-BCB9-A132-D9FA-D496C4B1BAAF}"/>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1" name="Rak 26">
              <a:extLst>
                <a:ext uri="{FF2B5EF4-FFF2-40B4-BE49-F238E27FC236}">
                  <a16:creationId xmlns:a16="http://schemas.microsoft.com/office/drawing/2014/main" id="{F180C07F-31C4-0E6F-CD71-1C513F132118}"/>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42" name="Grupp 24">
            <a:extLst>
              <a:ext uri="{FF2B5EF4-FFF2-40B4-BE49-F238E27FC236}">
                <a16:creationId xmlns:a16="http://schemas.microsoft.com/office/drawing/2014/main" id="{114F9788-599B-341B-0FAC-BCE23AC0F84B}"/>
              </a:ext>
            </a:extLst>
          </p:cNvPr>
          <p:cNvGrpSpPr>
            <a:grpSpLocks/>
          </p:cNvGrpSpPr>
          <p:nvPr/>
        </p:nvGrpSpPr>
        <p:grpSpPr bwMode="auto">
          <a:xfrm>
            <a:off x="4755981" y="1995686"/>
            <a:ext cx="80963" cy="80963"/>
            <a:chOff x="7884368" y="3284984"/>
            <a:chExt cx="216024" cy="216024"/>
          </a:xfrm>
        </p:grpSpPr>
        <p:cxnSp>
          <p:nvCxnSpPr>
            <p:cNvPr id="43" name="Rak 25">
              <a:extLst>
                <a:ext uri="{FF2B5EF4-FFF2-40B4-BE49-F238E27FC236}">
                  <a16:creationId xmlns:a16="http://schemas.microsoft.com/office/drawing/2014/main" id="{6B1B4300-1C17-5DD2-F3B8-999222E3FBA7}"/>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7" name="Rak 26">
              <a:extLst>
                <a:ext uri="{FF2B5EF4-FFF2-40B4-BE49-F238E27FC236}">
                  <a16:creationId xmlns:a16="http://schemas.microsoft.com/office/drawing/2014/main" id="{70D79882-E366-18AD-C793-E5703ADED6F6}"/>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48" name="Grupp 24">
            <a:extLst>
              <a:ext uri="{FF2B5EF4-FFF2-40B4-BE49-F238E27FC236}">
                <a16:creationId xmlns:a16="http://schemas.microsoft.com/office/drawing/2014/main" id="{F87F90A5-E0C5-BA3F-7481-3A771F92D968}"/>
              </a:ext>
            </a:extLst>
          </p:cNvPr>
          <p:cNvGrpSpPr>
            <a:grpSpLocks/>
          </p:cNvGrpSpPr>
          <p:nvPr/>
        </p:nvGrpSpPr>
        <p:grpSpPr bwMode="auto">
          <a:xfrm>
            <a:off x="1331640" y="2355726"/>
            <a:ext cx="80963" cy="80963"/>
            <a:chOff x="7884368" y="3284984"/>
            <a:chExt cx="216024" cy="216024"/>
          </a:xfrm>
        </p:grpSpPr>
        <p:cxnSp>
          <p:nvCxnSpPr>
            <p:cNvPr id="49" name="Rak 25">
              <a:extLst>
                <a:ext uri="{FF2B5EF4-FFF2-40B4-BE49-F238E27FC236}">
                  <a16:creationId xmlns:a16="http://schemas.microsoft.com/office/drawing/2014/main" id="{64E0E487-3BF7-C1CC-CE3C-E0C8607949DA}"/>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0" name="Rak 26">
              <a:extLst>
                <a:ext uri="{FF2B5EF4-FFF2-40B4-BE49-F238E27FC236}">
                  <a16:creationId xmlns:a16="http://schemas.microsoft.com/office/drawing/2014/main" id="{CCDDBEAF-1905-0FE8-943C-96A54BD41E1B}"/>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51" name="Grupp 24">
            <a:extLst>
              <a:ext uri="{FF2B5EF4-FFF2-40B4-BE49-F238E27FC236}">
                <a16:creationId xmlns:a16="http://schemas.microsoft.com/office/drawing/2014/main" id="{CE4719A4-E141-32A6-33A0-2D0ED91E98F4}"/>
              </a:ext>
            </a:extLst>
          </p:cNvPr>
          <p:cNvGrpSpPr>
            <a:grpSpLocks/>
          </p:cNvGrpSpPr>
          <p:nvPr/>
        </p:nvGrpSpPr>
        <p:grpSpPr bwMode="auto">
          <a:xfrm>
            <a:off x="2371278" y="1485079"/>
            <a:ext cx="80963" cy="80963"/>
            <a:chOff x="7884368" y="3284984"/>
            <a:chExt cx="216024" cy="216024"/>
          </a:xfrm>
        </p:grpSpPr>
        <p:cxnSp>
          <p:nvCxnSpPr>
            <p:cNvPr id="52" name="Rak 25">
              <a:extLst>
                <a:ext uri="{FF2B5EF4-FFF2-40B4-BE49-F238E27FC236}">
                  <a16:creationId xmlns:a16="http://schemas.microsoft.com/office/drawing/2014/main" id="{BA636AD0-35EA-61D8-32C8-BA305393BE20}"/>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3" name="Rak 26">
              <a:extLst>
                <a:ext uri="{FF2B5EF4-FFF2-40B4-BE49-F238E27FC236}">
                  <a16:creationId xmlns:a16="http://schemas.microsoft.com/office/drawing/2014/main" id="{D9C13FC3-FEF8-C041-8661-A283048738C3}"/>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54" name="Grupp 24">
            <a:extLst>
              <a:ext uri="{FF2B5EF4-FFF2-40B4-BE49-F238E27FC236}">
                <a16:creationId xmlns:a16="http://schemas.microsoft.com/office/drawing/2014/main" id="{CB7B3EF0-0CDE-7BED-B3E9-4C43DD644C45}"/>
              </a:ext>
            </a:extLst>
          </p:cNvPr>
          <p:cNvGrpSpPr>
            <a:grpSpLocks/>
          </p:cNvGrpSpPr>
          <p:nvPr/>
        </p:nvGrpSpPr>
        <p:grpSpPr bwMode="auto">
          <a:xfrm>
            <a:off x="904677" y="2801540"/>
            <a:ext cx="80963" cy="80963"/>
            <a:chOff x="7884368" y="3284984"/>
            <a:chExt cx="216024" cy="216024"/>
          </a:xfrm>
        </p:grpSpPr>
        <p:cxnSp>
          <p:nvCxnSpPr>
            <p:cNvPr id="55" name="Rak 25">
              <a:extLst>
                <a:ext uri="{FF2B5EF4-FFF2-40B4-BE49-F238E27FC236}">
                  <a16:creationId xmlns:a16="http://schemas.microsoft.com/office/drawing/2014/main" id="{67016C00-4928-FA6A-0BA1-1378702BB5C8}"/>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6" name="Rak 26">
              <a:extLst>
                <a:ext uri="{FF2B5EF4-FFF2-40B4-BE49-F238E27FC236}">
                  <a16:creationId xmlns:a16="http://schemas.microsoft.com/office/drawing/2014/main" id="{D3DB808E-3967-9438-5FE8-7E05276FA9CC}"/>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57" name="Grupp 24">
            <a:extLst>
              <a:ext uri="{FF2B5EF4-FFF2-40B4-BE49-F238E27FC236}">
                <a16:creationId xmlns:a16="http://schemas.microsoft.com/office/drawing/2014/main" id="{DA66D0D2-4E77-2A3D-3279-BEA67D04610E}"/>
              </a:ext>
            </a:extLst>
          </p:cNvPr>
          <p:cNvGrpSpPr>
            <a:grpSpLocks/>
          </p:cNvGrpSpPr>
          <p:nvPr/>
        </p:nvGrpSpPr>
        <p:grpSpPr bwMode="auto">
          <a:xfrm>
            <a:off x="1187624" y="3507854"/>
            <a:ext cx="80963" cy="80963"/>
            <a:chOff x="7884368" y="3284984"/>
            <a:chExt cx="216024" cy="216024"/>
          </a:xfrm>
        </p:grpSpPr>
        <p:cxnSp>
          <p:nvCxnSpPr>
            <p:cNvPr id="58" name="Rak 25">
              <a:extLst>
                <a:ext uri="{FF2B5EF4-FFF2-40B4-BE49-F238E27FC236}">
                  <a16:creationId xmlns:a16="http://schemas.microsoft.com/office/drawing/2014/main" id="{C5083D95-3A71-2B08-5119-274B093E1081}"/>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9" name="Rak 26">
              <a:extLst>
                <a:ext uri="{FF2B5EF4-FFF2-40B4-BE49-F238E27FC236}">
                  <a16:creationId xmlns:a16="http://schemas.microsoft.com/office/drawing/2014/main" id="{0AEBEFEB-8A1B-FC4F-0EC2-718E495CFD63}"/>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32" name="Rubrik 1">
            <a:extLst>
              <a:ext uri="{FF2B5EF4-FFF2-40B4-BE49-F238E27FC236}">
                <a16:creationId xmlns:a16="http://schemas.microsoft.com/office/drawing/2014/main" id="{9F30B95D-CF38-D44B-69DC-55BFEF791DB0}"/>
              </a:ext>
            </a:extLst>
          </p:cNvPr>
          <p:cNvSpPr txBox="1">
            <a:spLocks/>
          </p:cNvSpPr>
          <p:nvPr/>
        </p:nvSpPr>
        <p:spPr bwMode="auto">
          <a:xfrm>
            <a:off x="1658772" y="51470"/>
            <a:ext cx="4497404" cy="590790"/>
          </a:xfrm>
          <a:prstGeom prst="rect">
            <a:avLst/>
          </a:prstGeom>
          <a:solidFill>
            <a:schemeClr val="bg1"/>
          </a:solid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l" defTabSz="457200" rtl="0" eaLnBrk="1" fontAlgn="base" hangingPunct="1">
              <a:lnSpc>
                <a:spcPct val="90000"/>
              </a:lnSpc>
              <a:spcBef>
                <a:spcPct val="0"/>
              </a:spcBef>
              <a:spcAft>
                <a:spcPct val="0"/>
              </a:spcAft>
              <a:defRPr sz="4400" b="1" i="0" kern="1200">
                <a:solidFill>
                  <a:schemeClr val="tx1">
                    <a:lumMod val="85000"/>
                    <a:lumOff val="15000"/>
                  </a:schemeClr>
                </a:solidFill>
                <a:latin typeface="+mj-lt"/>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sv-SE" sz="4000" dirty="0">
                <a:solidFill>
                  <a:srgbClr val="002060"/>
                </a:solidFill>
              </a:rPr>
              <a:t>Sampling </a:t>
            </a:r>
            <a:r>
              <a:rPr lang="sv-SE" sz="4000" dirty="0" err="1">
                <a:solidFill>
                  <a:srgbClr val="002060"/>
                </a:solidFill>
              </a:rPr>
              <a:t>units</a:t>
            </a:r>
            <a:endParaRPr lang="sv-SE" sz="4000" dirty="0">
              <a:solidFill>
                <a:srgbClr val="002060"/>
              </a:solidFill>
            </a:endParaRPr>
          </a:p>
        </p:txBody>
      </p:sp>
      <p:sp>
        <p:nvSpPr>
          <p:cNvPr id="37889" name="Platshållare för innehåll 1">
            <a:extLst>
              <a:ext uri="{FF2B5EF4-FFF2-40B4-BE49-F238E27FC236}">
                <a16:creationId xmlns:a16="http://schemas.microsoft.com/office/drawing/2014/main" id="{99042B3D-6F69-2CFD-4465-33B51414C6A6}"/>
              </a:ext>
            </a:extLst>
          </p:cNvPr>
          <p:cNvSpPr txBox="1">
            <a:spLocks/>
          </p:cNvSpPr>
          <p:nvPr/>
        </p:nvSpPr>
        <p:spPr>
          <a:xfrm>
            <a:off x="5003676" y="627534"/>
            <a:ext cx="3776380" cy="1647229"/>
          </a:xfrm>
          <a:prstGeom prst="rect">
            <a:avLst/>
          </a:prstGeom>
          <a:solidFill>
            <a:schemeClr val="bg1"/>
          </a:solidFill>
        </p:spPr>
        <p:txBody>
          <a:bodyPr vert="horz" lIns="0" tIns="0" rIns="0" bIns="0" rtlCol="0">
            <a:noAutofit/>
          </a:bodyPr>
          <a:lstStyle>
            <a:lvl1pPr marL="180000" indent="-180000" algn="l" defTabSz="457200" rtl="0" eaLnBrk="1" fontAlgn="base" hangingPunct="1">
              <a:lnSpc>
                <a:spcPct val="110000"/>
              </a:lnSpc>
              <a:spcBef>
                <a:spcPts val="800"/>
              </a:spcBef>
              <a:spcAft>
                <a:spcPct val="0"/>
              </a:spcAft>
              <a:buFont typeface="Arial" charset="0"/>
              <a:buChar char="•"/>
              <a:defRPr lang="sv-SE" sz="1800" kern="1200" dirty="0" smtClean="0">
                <a:solidFill>
                  <a:schemeClr val="tx1">
                    <a:lumMod val="85000"/>
                    <a:lumOff val="15000"/>
                  </a:schemeClr>
                </a:solidFill>
                <a:latin typeface="+mj-lt"/>
                <a:ea typeface="ＭＳ Ｐゴシック" pitchFamily="-65" charset="-128"/>
                <a:cs typeface="Arial" panose="020B0604020202020204" pitchFamily="34" charset="0"/>
              </a:defRPr>
            </a:lvl1pPr>
            <a:lvl2pPr marL="501750" indent="-285750" algn="l" defTabSz="457200" rtl="0" eaLnBrk="1" fontAlgn="base" hangingPunct="1">
              <a:lnSpc>
                <a:spcPct val="100000"/>
              </a:lnSpc>
              <a:spcBef>
                <a:spcPts val="20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ＭＳ Ｐゴシック" pitchFamily="-65" charset="-128"/>
                <a:cs typeface="Arial" panose="020B0604020202020204" pitchFamily="34" charset="0"/>
              </a:defRPr>
            </a:lvl2pPr>
            <a:lvl3pPr marL="717750" indent="-285750" algn="l" defTabSz="457200" rtl="0" eaLnBrk="1" fontAlgn="base" hangingPunct="1">
              <a:spcBef>
                <a:spcPts val="0"/>
              </a:spcBef>
              <a:spcAft>
                <a:spcPts val="300"/>
              </a:spcAft>
              <a:buFont typeface="Wingdings" panose="05000000000000000000" pitchFamily="2" charset="2"/>
              <a:buChar char="§"/>
              <a:defRPr lang="sv-SE" sz="1600" kern="1200" dirty="0" smtClean="0">
                <a:solidFill>
                  <a:schemeClr val="tx1">
                    <a:lumMod val="85000"/>
                    <a:lumOff val="15000"/>
                  </a:schemeClr>
                </a:solidFill>
                <a:latin typeface="+mj-lt"/>
                <a:ea typeface="ＭＳ Ｐゴシック" charset="0"/>
                <a:cs typeface="Arial" panose="020B0604020202020204" pitchFamily="34" charset="0"/>
              </a:defRPr>
            </a:lvl3pPr>
            <a:lvl4pPr marL="933750" indent="-285750" algn="l" defTabSz="457200" rtl="0" eaLnBrk="1" fontAlgn="base" hangingPunct="1">
              <a:spcBef>
                <a:spcPts val="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Helvetica" charset="0"/>
                <a:cs typeface="Arial" panose="020B0604020202020204" pitchFamily="34" charset="0"/>
              </a:defRPr>
            </a:lvl4pPr>
            <a:lvl5pPr marL="1149750" indent="-285750" algn="l" defTabSz="457200" rtl="0" eaLnBrk="1" fontAlgn="base" hangingPunct="1">
              <a:spcBef>
                <a:spcPts val="0"/>
              </a:spcBef>
              <a:spcAft>
                <a:spcPct val="0"/>
              </a:spcAft>
              <a:buFont typeface="Arial" panose="020B0604020202020204" pitchFamily="34" charset="0"/>
              <a:buChar char="–"/>
              <a:defRPr lang="sv-SE" sz="1600" kern="1200" dirty="0">
                <a:solidFill>
                  <a:schemeClr val="tx1">
                    <a:lumMod val="85000"/>
                    <a:lumOff val="15000"/>
                  </a:schemeClr>
                </a:solidFill>
                <a:latin typeface="+mj-lt"/>
                <a:ea typeface="Helvetica" charset="0"/>
                <a:cs typeface="Arial" panose="020B0604020202020204" pitchFamily="34" charset="0"/>
              </a:defRPr>
            </a:lvl5pPr>
            <a:lvl6pPr marL="1616075" indent="-215900" algn="l" defTabSz="457200" rtl="0" eaLnBrk="1" latinLnBrk="0" hangingPunct="1">
              <a:spcBef>
                <a:spcPts val="0"/>
              </a:spcBef>
              <a:buFont typeface="Wingdings" panose="05000000000000000000" pitchFamily="2" charset="2"/>
              <a:buChar char="§"/>
              <a:defRPr sz="17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charset="0"/>
              <a:buNone/>
              <a:defRPr/>
            </a:pPr>
            <a:r>
              <a:rPr lang="en-US" sz="2400" dirty="0">
                <a:solidFill>
                  <a:srgbClr val="002060"/>
                </a:solidFill>
                <a:latin typeface="Verdana" panose="020B0604030504040204" pitchFamily="34" charset="0"/>
                <a:ea typeface="Verdana" panose="020B0604030504040204" pitchFamily="34" charset="0"/>
                <a:cs typeface="Times New Roman" panose="02020603050405020304" pitchFamily="18" charset="0"/>
              </a:rPr>
              <a:t>Sampling units are observations</a:t>
            </a:r>
          </a:p>
          <a:p>
            <a:pPr marL="0" indent="0">
              <a:buFont typeface="Arial" charset="0"/>
              <a:buNone/>
              <a:defRPr/>
            </a:pPr>
            <a:r>
              <a:rPr lang="en-US" sz="2400" dirty="0">
                <a:solidFill>
                  <a:srgbClr val="002060"/>
                </a:solidFill>
                <a:latin typeface="Verdana" panose="020B0604030504040204" pitchFamily="34" charset="0"/>
                <a:ea typeface="Verdana" panose="020B0604030504040204" pitchFamily="34" charset="0"/>
                <a:cs typeface="Times New Roman" panose="02020603050405020304" pitchFamily="18" charset="0"/>
              </a:rPr>
              <a:t>Here we have units from </a:t>
            </a:r>
            <a:r>
              <a:rPr lang="en-US" sz="2400" dirty="0">
                <a:solidFill>
                  <a:srgbClr val="002060"/>
                </a:solidFill>
                <a:highlight>
                  <a:srgbClr val="C0C0C0"/>
                </a:highlight>
                <a:latin typeface="Verdana" panose="020B0604030504040204" pitchFamily="34" charset="0"/>
                <a:ea typeface="Verdana" panose="020B0604030504040204" pitchFamily="34" charset="0"/>
                <a:cs typeface="Times New Roman" panose="02020603050405020304" pitchFamily="18" charset="0"/>
              </a:rPr>
              <a:t>our population</a:t>
            </a:r>
          </a:p>
        </p:txBody>
      </p:sp>
      <p:sp>
        <p:nvSpPr>
          <p:cNvPr id="37891" name="Platshållare för innehåll 1">
            <a:extLst>
              <a:ext uri="{FF2B5EF4-FFF2-40B4-BE49-F238E27FC236}">
                <a16:creationId xmlns:a16="http://schemas.microsoft.com/office/drawing/2014/main" id="{D12B9AFE-4D19-A5C2-1D6B-6019FD56DFC2}"/>
              </a:ext>
            </a:extLst>
          </p:cNvPr>
          <p:cNvSpPr txBox="1">
            <a:spLocks/>
          </p:cNvSpPr>
          <p:nvPr/>
        </p:nvSpPr>
        <p:spPr>
          <a:xfrm>
            <a:off x="5022450" y="2483325"/>
            <a:ext cx="3776380" cy="952521"/>
          </a:xfrm>
          <a:prstGeom prst="rect">
            <a:avLst/>
          </a:prstGeom>
          <a:solidFill>
            <a:schemeClr val="bg1"/>
          </a:solidFill>
        </p:spPr>
        <p:txBody>
          <a:bodyPr vert="horz" lIns="0" tIns="0" rIns="0" bIns="0" rtlCol="0">
            <a:noAutofit/>
          </a:bodyPr>
          <a:lstStyle>
            <a:lvl1pPr marL="180000" indent="-180000" algn="l" defTabSz="457200" rtl="0" eaLnBrk="1" fontAlgn="base" hangingPunct="1">
              <a:lnSpc>
                <a:spcPct val="110000"/>
              </a:lnSpc>
              <a:spcBef>
                <a:spcPts val="800"/>
              </a:spcBef>
              <a:spcAft>
                <a:spcPct val="0"/>
              </a:spcAft>
              <a:buFont typeface="Arial" charset="0"/>
              <a:buChar char="•"/>
              <a:defRPr lang="sv-SE" sz="1800" kern="1200" dirty="0" smtClean="0">
                <a:solidFill>
                  <a:schemeClr val="tx1">
                    <a:lumMod val="85000"/>
                    <a:lumOff val="15000"/>
                  </a:schemeClr>
                </a:solidFill>
                <a:latin typeface="+mj-lt"/>
                <a:ea typeface="ＭＳ Ｐゴシック" pitchFamily="-65" charset="-128"/>
                <a:cs typeface="Arial" panose="020B0604020202020204" pitchFamily="34" charset="0"/>
              </a:defRPr>
            </a:lvl1pPr>
            <a:lvl2pPr marL="501750" indent="-285750" algn="l" defTabSz="457200" rtl="0" eaLnBrk="1" fontAlgn="base" hangingPunct="1">
              <a:lnSpc>
                <a:spcPct val="100000"/>
              </a:lnSpc>
              <a:spcBef>
                <a:spcPts val="20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ＭＳ Ｐゴシック" pitchFamily="-65" charset="-128"/>
                <a:cs typeface="Arial" panose="020B0604020202020204" pitchFamily="34" charset="0"/>
              </a:defRPr>
            </a:lvl2pPr>
            <a:lvl3pPr marL="717750" indent="-285750" algn="l" defTabSz="457200" rtl="0" eaLnBrk="1" fontAlgn="base" hangingPunct="1">
              <a:spcBef>
                <a:spcPts val="0"/>
              </a:spcBef>
              <a:spcAft>
                <a:spcPts val="300"/>
              </a:spcAft>
              <a:buFont typeface="Wingdings" panose="05000000000000000000" pitchFamily="2" charset="2"/>
              <a:buChar char="§"/>
              <a:defRPr lang="sv-SE" sz="1600" kern="1200" dirty="0" smtClean="0">
                <a:solidFill>
                  <a:schemeClr val="tx1">
                    <a:lumMod val="85000"/>
                    <a:lumOff val="15000"/>
                  </a:schemeClr>
                </a:solidFill>
                <a:latin typeface="+mj-lt"/>
                <a:ea typeface="ＭＳ Ｐゴシック" charset="0"/>
                <a:cs typeface="Arial" panose="020B0604020202020204" pitchFamily="34" charset="0"/>
              </a:defRPr>
            </a:lvl3pPr>
            <a:lvl4pPr marL="933750" indent="-285750" algn="l" defTabSz="457200" rtl="0" eaLnBrk="1" fontAlgn="base" hangingPunct="1">
              <a:spcBef>
                <a:spcPts val="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Helvetica" charset="0"/>
                <a:cs typeface="Arial" panose="020B0604020202020204" pitchFamily="34" charset="0"/>
              </a:defRPr>
            </a:lvl4pPr>
            <a:lvl5pPr marL="1149750" indent="-285750" algn="l" defTabSz="457200" rtl="0" eaLnBrk="1" fontAlgn="base" hangingPunct="1">
              <a:spcBef>
                <a:spcPts val="0"/>
              </a:spcBef>
              <a:spcAft>
                <a:spcPct val="0"/>
              </a:spcAft>
              <a:buFont typeface="Arial" panose="020B0604020202020204" pitchFamily="34" charset="0"/>
              <a:buChar char="–"/>
              <a:defRPr lang="sv-SE" sz="1600" kern="1200" dirty="0">
                <a:solidFill>
                  <a:schemeClr val="tx1">
                    <a:lumMod val="85000"/>
                    <a:lumOff val="15000"/>
                  </a:schemeClr>
                </a:solidFill>
                <a:latin typeface="+mj-lt"/>
                <a:ea typeface="Helvetica" charset="0"/>
                <a:cs typeface="Arial" panose="020B0604020202020204" pitchFamily="34" charset="0"/>
              </a:defRPr>
            </a:lvl5pPr>
            <a:lvl6pPr marL="1616075" indent="-215900" algn="l" defTabSz="457200" rtl="0" eaLnBrk="1" latinLnBrk="0" hangingPunct="1">
              <a:spcBef>
                <a:spcPts val="0"/>
              </a:spcBef>
              <a:buFont typeface="Wingdings" panose="05000000000000000000" pitchFamily="2" charset="2"/>
              <a:buChar char="§"/>
              <a:defRPr sz="17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charset="0"/>
              <a:buNone/>
              <a:defRPr/>
            </a:pPr>
            <a:r>
              <a:rPr lang="en-US" sz="2400" dirty="0">
                <a:solidFill>
                  <a:srgbClr val="002060"/>
                </a:solidFill>
                <a:latin typeface="Verdana" panose="020B0604030504040204" pitchFamily="34" charset="0"/>
                <a:ea typeface="Verdana" panose="020B0604030504040204" pitchFamily="34" charset="0"/>
                <a:cs typeface="Times New Roman" panose="02020603050405020304" pitchFamily="18" charset="0"/>
              </a:rPr>
              <a:t>and some observations outside our population</a:t>
            </a:r>
          </a:p>
        </p:txBody>
      </p:sp>
    </p:spTree>
    <p:extLst>
      <p:ext uri="{BB962C8B-B14F-4D97-AF65-F5344CB8AC3E}">
        <p14:creationId xmlns:p14="http://schemas.microsoft.com/office/powerpoint/2010/main" val="61205813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9" grpId="0" animBg="1"/>
      <p:bldP spid="3789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79" name="Platshållare för innehåll 1">
            <a:extLst>
              <a:ext uri="{FF2B5EF4-FFF2-40B4-BE49-F238E27FC236}">
                <a16:creationId xmlns:a16="http://schemas.microsoft.com/office/drawing/2014/main" id="{9E0E3F97-C8FF-5BE1-D222-1C403994BA93}"/>
              </a:ext>
            </a:extLst>
          </p:cNvPr>
          <p:cNvSpPr txBox="1">
            <a:spLocks/>
          </p:cNvSpPr>
          <p:nvPr/>
        </p:nvSpPr>
        <p:spPr>
          <a:xfrm>
            <a:off x="107504" y="771550"/>
            <a:ext cx="2592660" cy="4101469"/>
          </a:xfrm>
          <a:prstGeom prst="rect">
            <a:avLst/>
          </a:prstGeom>
          <a:solidFill>
            <a:schemeClr val="accent6">
              <a:lumMod val="60000"/>
              <a:lumOff val="40000"/>
            </a:schemeClr>
          </a:solidFill>
        </p:spPr>
        <p:txBody>
          <a:bodyPr vert="horz" lIns="0" tIns="0" rIns="0" bIns="0" rtlCol="0">
            <a:noAutofit/>
          </a:bodyPr>
          <a:lstStyle>
            <a:lvl1pPr marL="180000" indent="-180000" algn="l" defTabSz="457200" rtl="0" eaLnBrk="1" fontAlgn="base" hangingPunct="1">
              <a:lnSpc>
                <a:spcPct val="110000"/>
              </a:lnSpc>
              <a:spcBef>
                <a:spcPts val="800"/>
              </a:spcBef>
              <a:spcAft>
                <a:spcPct val="0"/>
              </a:spcAft>
              <a:buFont typeface="Arial" charset="0"/>
              <a:buChar char="•"/>
              <a:defRPr lang="sv-SE" sz="1800" kern="1200" dirty="0" smtClean="0">
                <a:solidFill>
                  <a:schemeClr val="tx1">
                    <a:lumMod val="85000"/>
                    <a:lumOff val="15000"/>
                  </a:schemeClr>
                </a:solidFill>
                <a:latin typeface="+mj-lt"/>
                <a:ea typeface="ＭＳ Ｐゴシック" pitchFamily="-65" charset="-128"/>
                <a:cs typeface="Arial" panose="020B0604020202020204" pitchFamily="34" charset="0"/>
              </a:defRPr>
            </a:lvl1pPr>
            <a:lvl2pPr marL="501750" indent="-285750" algn="l" defTabSz="457200" rtl="0" eaLnBrk="1" fontAlgn="base" hangingPunct="1">
              <a:lnSpc>
                <a:spcPct val="100000"/>
              </a:lnSpc>
              <a:spcBef>
                <a:spcPts val="20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ＭＳ Ｐゴシック" pitchFamily="-65" charset="-128"/>
                <a:cs typeface="Arial" panose="020B0604020202020204" pitchFamily="34" charset="0"/>
              </a:defRPr>
            </a:lvl2pPr>
            <a:lvl3pPr marL="717750" indent="-285750" algn="l" defTabSz="457200" rtl="0" eaLnBrk="1" fontAlgn="base" hangingPunct="1">
              <a:spcBef>
                <a:spcPts val="0"/>
              </a:spcBef>
              <a:spcAft>
                <a:spcPts val="300"/>
              </a:spcAft>
              <a:buFont typeface="Wingdings" panose="05000000000000000000" pitchFamily="2" charset="2"/>
              <a:buChar char="§"/>
              <a:defRPr lang="sv-SE" sz="1600" kern="1200" dirty="0" smtClean="0">
                <a:solidFill>
                  <a:schemeClr val="tx1">
                    <a:lumMod val="85000"/>
                    <a:lumOff val="15000"/>
                  </a:schemeClr>
                </a:solidFill>
                <a:latin typeface="+mj-lt"/>
                <a:ea typeface="ＭＳ Ｐゴシック" charset="0"/>
                <a:cs typeface="Arial" panose="020B0604020202020204" pitchFamily="34" charset="0"/>
              </a:defRPr>
            </a:lvl3pPr>
            <a:lvl4pPr marL="933750" indent="-285750" algn="l" defTabSz="457200" rtl="0" eaLnBrk="1" fontAlgn="base" hangingPunct="1">
              <a:spcBef>
                <a:spcPts val="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Helvetica" charset="0"/>
                <a:cs typeface="Arial" panose="020B0604020202020204" pitchFamily="34" charset="0"/>
              </a:defRPr>
            </a:lvl4pPr>
            <a:lvl5pPr marL="1149750" indent="-285750" algn="l" defTabSz="457200" rtl="0" eaLnBrk="1" fontAlgn="base" hangingPunct="1">
              <a:spcBef>
                <a:spcPts val="0"/>
              </a:spcBef>
              <a:spcAft>
                <a:spcPct val="0"/>
              </a:spcAft>
              <a:buFont typeface="Arial" panose="020B0604020202020204" pitchFamily="34" charset="0"/>
              <a:buChar char="–"/>
              <a:defRPr lang="sv-SE" sz="1600" kern="1200" dirty="0">
                <a:solidFill>
                  <a:schemeClr val="tx1">
                    <a:lumMod val="85000"/>
                    <a:lumOff val="15000"/>
                  </a:schemeClr>
                </a:solidFill>
                <a:latin typeface="+mj-lt"/>
                <a:ea typeface="Helvetica" charset="0"/>
                <a:cs typeface="Arial" panose="020B0604020202020204" pitchFamily="34" charset="0"/>
              </a:defRPr>
            </a:lvl5pPr>
            <a:lvl6pPr marL="1616075" indent="-215900" algn="l" defTabSz="457200" rtl="0" eaLnBrk="1" latinLnBrk="0" hangingPunct="1">
              <a:spcBef>
                <a:spcPts val="0"/>
              </a:spcBef>
              <a:buFont typeface="Wingdings" panose="05000000000000000000" pitchFamily="2" charset="2"/>
              <a:buChar char="§"/>
              <a:defRPr sz="17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charset="0"/>
              <a:buNone/>
              <a:defRPr/>
            </a:pPr>
            <a:r>
              <a:rPr lang="en-US" sz="2400" dirty="0">
                <a:solidFill>
                  <a:srgbClr val="002060"/>
                </a:solidFill>
                <a:latin typeface="Verdana" panose="020B0604030504040204" pitchFamily="34" charset="0"/>
                <a:ea typeface="Verdana" panose="020B0604030504040204" pitchFamily="34" charset="0"/>
                <a:cs typeface="Times New Roman" panose="02020603050405020304" pitchFamily="18" charset="0"/>
              </a:rPr>
              <a:t>Over coverage</a:t>
            </a:r>
            <a:endParaRPr lang="en-US" sz="2400" dirty="0">
              <a:solidFill>
                <a:srgbClr val="002060"/>
              </a:solidFill>
              <a:highlight>
                <a:srgbClr val="C0C0C0"/>
              </a:highlight>
              <a:latin typeface="Verdana" panose="020B0604030504040204" pitchFamily="34" charset="0"/>
              <a:ea typeface="Verdana" panose="020B060403050404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60181C2-E97F-4A0B-8B2F-A92407920026}"/>
              </a:ext>
            </a:extLst>
          </p:cNvPr>
          <p:cNvSpPr>
            <a:spLocks noGrp="1"/>
          </p:cNvSpPr>
          <p:nvPr>
            <p:ph type="sldNum" sz="quarter" idx="12"/>
          </p:nvPr>
        </p:nvSpPr>
        <p:spPr/>
        <p:txBody>
          <a:bodyPr/>
          <a:lstStyle/>
          <a:p>
            <a:pPr>
              <a:defRPr/>
            </a:pPr>
            <a:fld id="{F93A8683-B3F0-4451-9D03-D239B7B635C5}" type="slidenum">
              <a:rPr lang="sv-SE" smtClean="0"/>
              <a:pPr>
                <a:defRPr/>
              </a:pPr>
              <a:t>13</a:t>
            </a:fld>
            <a:endParaRPr lang="sv-SE"/>
          </a:p>
        </p:txBody>
      </p:sp>
      <p:sp>
        <p:nvSpPr>
          <p:cNvPr id="32" name="Rubrik 1">
            <a:extLst>
              <a:ext uri="{FF2B5EF4-FFF2-40B4-BE49-F238E27FC236}">
                <a16:creationId xmlns:a16="http://schemas.microsoft.com/office/drawing/2014/main" id="{9F30B95D-CF38-D44B-69DC-55BFEF791DB0}"/>
              </a:ext>
            </a:extLst>
          </p:cNvPr>
          <p:cNvSpPr txBox="1">
            <a:spLocks/>
          </p:cNvSpPr>
          <p:nvPr/>
        </p:nvSpPr>
        <p:spPr bwMode="auto">
          <a:xfrm>
            <a:off x="1658772" y="51470"/>
            <a:ext cx="6369612" cy="590790"/>
          </a:xfrm>
          <a:prstGeom prst="rect">
            <a:avLst/>
          </a:prstGeom>
          <a:solidFill>
            <a:schemeClr val="bg1"/>
          </a:solidFill>
          <a:ln>
            <a:noFill/>
          </a:ln>
          <a:extLs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l" defTabSz="457200" rtl="0" eaLnBrk="1" fontAlgn="base" hangingPunct="1">
              <a:lnSpc>
                <a:spcPct val="90000"/>
              </a:lnSpc>
              <a:spcBef>
                <a:spcPct val="0"/>
              </a:spcBef>
              <a:spcAft>
                <a:spcPct val="0"/>
              </a:spcAft>
              <a:defRPr sz="4400" b="1" i="0" kern="1200">
                <a:solidFill>
                  <a:schemeClr val="tx1">
                    <a:lumMod val="85000"/>
                    <a:lumOff val="15000"/>
                  </a:schemeClr>
                </a:solidFill>
                <a:latin typeface="+mj-lt"/>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sv-SE" sz="4000" dirty="0">
                <a:solidFill>
                  <a:srgbClr val="002060"/>
                </a:solidFill>
              </a:rPr>
              <a:t>Over and under </a:t>
            </a:r>
            <a:r>
              <a:rPr lang="sv-SE" sz="4000" dirty="0" err="1">
                <a:solidFill>
                  <a:srgbClr val="002060"/>
                </a:solidFill>
              </a:rPr>
              <a:t>coverage</a:t>
            </a:r>
            <a:endParaRPr lang="sv-SE" sz="4000" dirty="0">
              <a:solidFill>
                <a:srgbClr val="002060"/>
              </a:solidFill>
            </a:endParaRPr>
          </a:p>
        </p:txBody>
      </p:sp>
      <p:grpSp>
        <p:nvGrpSpPr>
          <p:cNvPr id="37956" name="Group 37955">
            <a:extLst>
              <a:ext uri="{FF2B5EF4-FFF2-40B4-BE49-F238E27FC236}">
                <a16:creationId xmlns:a16="http://schemas.microsoft.com/office/drawing/2014/main" id="{5C8878B2-DE8B-BEF6-0FED-20AFC419B7F0}"/>
              </a:ext>
            </a:extLst>
          </p:cNvPr>
          <p:cNvGrpSpPr/>
          <p:nvPr/>
        </p:nvGrpSpPr>
        <p:grpSpPr>
          <a:xfrm>
            <a:off x="5032218" y="1163128"/>
            <a:ext cx="4028679" cy="3570733"/>
            <a:chOff x="5032218" y="1163128"/>
            <a:chExt cx="4028679" cy="3570733"/>
          </a:xfrm>
        </p:grpSpPr>
        <p:sp>
          <p:nvSpPr>
            <p:cNvPr id="62" name="Ellips 31">
              <a:extLst>
                <a:ext uri="{FF2B5EF4-FFF2-40B4-BE49-F238E27FC236}">
                  <a16:creationId xmlns:a16="http://schemas.microsoft.com/office/drawing/2014/main" id="{7A2570C7-EA95-AB03-1A0E-E6D582526462}"/>
                </a:ext>
              </a:extLst>
            </p:cNvPr>
            <p:cNvSpPr/>
            <p:nvPr/>
          </p:nvSpPr>
          <p:spPr>
            <a:xfrm>
              <a:off x="5289662" y="1163128"/>
              <a:ext cx="2299595" cy="259227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sv-SE">
                <a:solidFill>
                  <a:prstClr val="white"/>
                </a:solidFill>
                <a:latin typeface="Tahoma"/>
              </a:endParaRPr>
            </a:p>
          </p:txBody>
        </p:sp>
        <p:grpSp>
          <p:nvGrpSpPr>
            <p:cNvPr id="37888" name="Grupp 3">
              <a:extLst>
                <a:ext uri="{FF2B5EF4-FFF2-40B4-BE49-F238E27FC236}">
                  <a16:creationId xmlns:a16="http://schemas.microsoft.com/office/drawing/2014/main" id="{F32A722A-27F4-E1AD-55D1-82FF8D7BF757}"/>
                </a:ext>
              </a:extLst>
            </p:cNvPr>
            <p:cNvGrpSpPr>
              <a:grpSpLocks/>
            </p:cNvGrpSpPr>
            <p:nvPr/>
          </p:nvGrpSpPr>
          <p:grpSpPr bwMode="auto">
            <a:xfrm>
              <a:off x="6925510" y="2729726"/>
              <a:ext cx="80963" cy="80963"/>
              <a:chOff x="7884368" y="3284984"/>
              <a:chExt cx="216024" cy="216024"/>
            </a:xfrm>
          </p:grpSpPr>
          <p:cxnSp>
            <p:nvCxnSpPr>
              <p:cNvPr id="37890" name="Rak 2">
                <a:extLst>
                  <a:ext uri="{FF2B5EF4-FFF2-40B4-BE49-F238E27FC236}">
                    <a16:creationId xmlns:a16="http://schemas.microsoft.com/office/drawing/2014/main" id="{435B3F93-6F1A-D54B-9E05-21DE9DACEC8D}"/>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892" name="Rak 7">
                <a:extLst>
                  <a:ext uri="{FF2B5EF4-FFF2-40B4-BE49-F238E27FC236}">
                    <a16:creationId xmlns:a16="http://schemas.microsoft.com/office/drawing/2014/main" id="{4A71609F-727B-3DE2-F1B7-93618A1FE0E5}"/>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899" name="Grupp 9">
              <a:extLst>
                <a:ext uri="{FF2B5EF4-FFF2-40B4-BE49-F238E27FC236}">
                  <a16:creationId xmlns:a16="http://schemas.microsoft.com/office/drawing/2014/main" id="{5E6E4056-4E81-5613-CCDC-93E10F1930FD}"/>
                </a:ext>
              </a:extLst>
            </p:cNvPr>
            <p:cNvGrpSpPr>
              <a:grpSpLocks/>
            </p:cNvGrpSpPr>
            <p:nvPr/>
          </p:nvGrpSpPr>
          <p:grpSpPr bwMode="auto">
            <a:xfrm>
              <a:off x="7039810" y="2844026"/>
              <a:ext cx="80963" cy="80963"/>
              <a:chOff x="7884368" y="3284984"/>
              <a:chExt cx="216024" cy="216024"/>
            </a:xfrm>
          </p:grpSpPr>
          <p:cxnSp>
            <p:nvCxnSpPr>
              <p:cNvPr id="37900" name="Rak 10">
                <a:extLst>
                  <a:ext uri="{FF2B5EF4-FFF2-40B4-BE49-F238E27FC236}">
                    <a16:creationId xmlns:a16="http://schemas.microsoft.com/office/drawing/2014/main" id="{296CF5E0-5A05-BB00-768F-86414DE75AFC}"/>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01" name="Rak 11">
                <a:extLst>
                  <a:ext uri="{FF2B5EF4-FFF2-40B4-BE49-F238E27FC236}">
                    <a16:creationId xmlns:a16="http://schemas.microsoft.com/office/drawing/2014/main" id="{231FDA7B-6C52-D544-4848-BF0E75559E1B}"/>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02" name="Grupp 12">
              <a:extLst>
                <a:ext uri="{FF2B5EF4-FFF2-40B4-BE49-F238E27FC236}">
                  <a16:creationId xmlns:a16="http://schemas.microsoft.com/office/drawing/2014/main" id="{E7034B7C-ED01-BA1A-515F-B9574C1C3070}"/>
                </a:ext>
              </a:extLst>
            </p:cNvPr>
            <p:cNvGrpSpPr>
              <a:grpSpLocks/>
            </p:cNvGrpSpPr>
            <p:nvPr/>
          </p:nvGrpSpPr>
          <p:grpSpPr bwMode="auto">
            <a:xfrm>
              <a:off x="7154110" y="2783304"/>
              <a:ext cx="80963" cy="82154"/>
              <a:chOff x="7884368" y="3284984"/>
              <a:chExt cx="216024" cy="216024"/>
            </a:xfrm>
          </p:grpSpPr>
          <p:cxnSp>
            <p:nvCxnSpPr>
              <p:cNvPr id="37903" name="Rak 13">
                <a:extLst>
                  <a:ext uri="{FF2B5EF4-FFF2-40B4-BE49-F238E27FC236}">
                    <a16:creationId xmlns:a16="http://schemas.microsoft.com/office/drawing/2014/main" id="{3812510A-DBDB-8D43-ABD4-CE2A4ED8CB0A}"/>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04" name="Rak 14">
                <a:extLst>
                  <a:ext uri="{FF2B5EF4-FFF2-40B4-BE49-F238E27FC236}">
                    <a16:creationId xmlns:a16="http://schemas.microsoft.com/office/drawing/2014/main" id="{CFB4B501-67CC-9409-87B5-375B74451A65}"/>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05" name="Grupp 15">
              <a:extLst>
                <a:ext uri="{FF2B5EF4-FFF2-40B4-BE49-F238E27FC236}">
                  <a16:creationId xmlns:a16="http://schemas.microsoft.com/office/drawing/2014/main" id="{147BCB6C-F344-F9BF-3937-85F8BB952079}"/>
                </a:ext>
              </a:extLst>
            </p:cNvPr>
            <p:cNvGrpSpPr>
              <a:grpSpLocks/>
            </p:cNvGrpSpPr>
            <p:nvPr/>
          </p:nvGrpSpPr>
          <p:grpSpPr bwMode="auto">
            <a:xfrm>
              <a:off x="7268410" y="2897604"/>
              <a:ext cx="80963" cy="82154"/>
              <a:chOff x="7884368" y="3284984"/>
              <a:chExt cx="216024" cy="216024"/>
            </a:xfrm>
          </p:grpSpPr>
          <p:cxnSp>
            <p:nvCxnSpPr>
              <p:cNvPr id="37906" name="Rak 16">
                <a:extLst>
                  <a:ext uri="{FF2B5EF4-FFF2-40B4-BE49-F238E27FC236}">
                    <a16:creationId xmlns:a16="http://schemas.microsoft.com/office/drawing/2014/main" id="{56615F8A-B808-DCD4-42AF-0BFD35A0DFC2}"/>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07" name="Rak 17">
                <a:extLst>
                  <a:ext uri="{FF2B5EF4-FFF2-40B4-BE49-F238E27FC236}">
                    <a16:creationId xmlns:a16="http://schemas.microsoft.com/office/drawing/2014/main" id="{285B92EA-F426-7E26-4394-B26C07FA9377}"/>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08" name="Grupp 18">
              <a:extLst>
                <a:ext uri="{FF2B5EF4-FFF2-40B4-BE49-F238E27FC236}">
                  <a16:creationId xmlns:a16="http://schemas.microsoft.com/office/drawing/2014/main" id="{FF4F11F3-B26C-FE09-1FE5-D1F813E94757}"/>
                </a:ext>
              </a:extLst>
            </p:cNvPr>
            <p:cNvGrpSpPr>
              <a:grpSpLocks/>
            </p:cNvGrpSpPr>
            <p:nvPr/>
          </p:nvGrpSpPr>
          <p:grpSpPr bwMode="auto">
            <a:xfrm>
              <a:off x="6979088" y="2958326"/>
              <a:ext cx="80963" cy="80963"/>
              <a:chOff x="7884368" y="3284984"/>
              <a:chExt cx="216024" cy="216024"/>
            </a:xfrm>
          </p:grpSpPr>
          <p:cxnSp>
            <p:nvCxnSpPr>
              <p:cNvPr id="37909" name="Rak 19">
                <a:extLst>
                  <a:ext uri="{FF2B5EF4-FFF2-40B4-BE49-F238E27FC236}">
                    <a16:creationId xmlns:a16="http://schemas.microsoft.com/office/drawing/2014/main" id="{F49F1127-1ECF-F476-9E0A-7E6193E6C262}"/>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10" name="Rak 20">
                <a:extLst>
                  <a:ext uri="{FF2B5EF4-FFF2-40B4-BE49-F238E27FC236}">
                    <a16:creationId xmlns:a16="http://schemas.microsoft.com/office/drawing/2014/main" id="{D5037CCD-A7CB-AD7F-713A-0F833B494F7F}"/>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11" name="Grupp 21">
              <a:extLst>
                <a:ext uri="{FF2B5EF4-FFF2-40B4-BE49-F238E27FC236}">
                  <a16:creationId xmlns:a16="http://schemas.microsoft.com/office/drawing/2014/main" id="{13EC5D13-3D8D-51E9-3193-B335AC6456BD}"/>
                </a:ext>
              </a:extLst>
            </p:cNvPr>
            <p:cNvGrpSpPr>
              <a:grpSpLocks/>
            </p:cNvGrpSpPr>
            <p:nvPr/>
          </p:nvGrpSpPr>
          <p:grpSpPr bwMode="auto">
            <a:xfrm>
              <a:off x="7141013" y="2648763"/>
              <a:ext cx="80963" cy="80963"/>
              <a:chOff x="7884368" y="3284984"/>
              <a:chExt cx="216024" cy="216024"/>
            </a:xfrm>
          </p:grpSpPr>
          <p:cxnSp>
            <p:nvCxnSpPr>
              <p:cNvPr id="37912" name="Rak 22">
                <a:extLst>
                  <a:ext uri="{FF2B5EF4-FFF2-40B4-BE49-F238E27FC236}">
                    <a16:creationId xmlns:a16="http://schemas.microsoft.com/office/drawing/2014/main" id="{79BEAB49-1D11-3524-8732-F9B0CC4C89F4}"/>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13" name="Rak 23">
                <a:extLst>
                  <a:ext uri="{FF2B5EF4-FFF2-40B4-BE49-F238E27FC236}">
                    <a16:creationId xmlns:a16="http://schemas.microsoft.com/office/drawing/2014/main" id="{AA8E0841-34C8-2018-9EB2-BEEA6A7AE003}"/>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14" name="Grupp 24">
              <a:extLst>
                <a:ext uri="{FF2B5EF4-FFF2-40B4-BE49-F238E27FC236}">
                  <a16:creationId xmlns:a16="http://schemas.microsoft.com/office/drawing/2014/main" id="{8CE2592B-9190-8B58-598F-EDD73DFBFCC4}"/>
                </a:ext>
              </a:extLst>
            </p:cNvPr>
            <p:cNvGrpSpPr>
              <a:grpSpLocks/>
            </p:cNvGrpSpPr>
            <p:nvPr/>
          </p:nvGrpSpPr>
          <p:grpSpPr bwMode="auto">
            <a:xfrm>
              <a:off x="8865634" y="4228127"/>
              <a:ext cx="80963" cy="80963"/>
              <a:chOff x="7884368" y="3284984"/>
              <a:chExt cx="216024" cy="216024"/>
            </a:xfrm>
          </p:grpSpPr>
          <p:cxnSp>
            <p:nvCxnSpPr>
              <p:cNvPr id="37915" name="Rak 25">
                <a:extLst>
                  <a:ext uri="{FF2B5EF4-FFF2-40B4-BE49-F238E27FC236}">
                    <a16:creationId xmlns:a16="http://schemas.microsoft.com/office/drawing/2014/main" id="{228EA7B1-1D04-D276-6F10-ADD468B9A0A4}"/>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16" name="Rak 26">
                <a:extLst>
                  <a:ext uri="{FF2B5EF4-FFF2-40B4-BE49-F238E27FC236}">
                    <a16:creationId xmlns:a16="http://schemas.microsoft.com/office/drawing/2014/main" id="{8D85B193-E6BB-2718-412E-9D7D8DEF8F45}"/>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17" name="Grupp 27">
              <a:extLst>
                <a:ext uri="{FF2B5EF4-FFF2-40B4-BE49-F238E27FC236}">
                  <a16:creationId xmlns:a16="http://schemas.microsoft.com/office/drawing/2014/main" id="{1BED97DE-872F-B23D-F84D-5CF6896A9A5C}"/>
                </a:ext>
              </a:extLst>
            </p:cNvPr>
            <p:cNvGrpSpPr>
              <a:grpSpLocks/>
            </p:cNvGrpSpPr>
            <p:nvPr/>
          </p:nvGrpSpPr>
          <p:grpSpPr bwMode="auto">
            <a:xfrm>
              <a:off x="5918232" y="2770207"/>
              <a:ext cx="80963" cy="80963"/>
              <a:chOff x="7884368" y="3284984"/>
              <a:chExt cx="216024" cy="216024"/>
            </a:xfrm>
          </p:grpSpPr>
          <p:cxnSp>
            <p:nvCxnSpPr>
              <p:cNvPr id="37918" name="Rak 28">
                <a:extLst>
                  <a:ext uri="{FF2B5EF4-FFF2-40B4-BE49-F238E27FC236}">
                    <a16:creationId xmlns:a16="http://schemas.microsoft.com/office/drawing/2014/main" id="{38A6F99B-9DD6-604B-6C67-25D2A82449F2}"/>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19" name="Rak 29">
                <a:extLst>
                  <a:ext uri="{FF2B5EF4-FFF2-40B4-BE49-F238E27FC236}">
                    <a16:creationId xmlns:a16="http://schemas.microsoft.com/office/drawing/2014/main" id="{6DED1D76-9B29-EC5A-E6E2-1F62DE2BAE0D}"/>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20" name="Grupp 24">
              <a:extLst>
                <a:ext uri="{FF2B5EF4-FFF2-40B4-BE49-F238E27FC236}">
                  <a16:creationId xmlns:a16="http://schemas.microsoft.com/office/drawing/2014/main" id="{41A1BCC9-D3FF-5DFD-C384-7C87FA054F05}"/>
                </a:ext>
              </a:extLst>
            </p:cNvPr>
            <p:cNvGrpSpPr>
              <a:grpSpLocks/>
            </p:cNvGrpSpPr>
            <p:nvPr/>
          </p:nvGrpSpPr>
          <p:grpSpPr bwMode="auto">
            <a:xfrm>
              <a:off x="8979934" y="4342427"/>
              <a:ext cx="80963" cy="80963"/>
              <a:chOff x="7884368" y="3284984"/>
              <a:chExt cx="216024" cy="216024"/>
            </a:xfrm>
          </p:grpSpPr>
          <p:cxnSp>
            <p:nvCxnSpPr>
              <p:cNvPr id="37921" name="Rak 25">
                <a:extLst>
                  <a:ext uri="{FF2B5EF4-FFF2-40B4-BE49-F238E27FC236}">
                    <a16:creationId xmlns:a16="http://schemas.microsoft.com/office/drawing/2014/main" id="{13B1E3A4-CD42-A626-F365-6E6A4075BE9C}"/>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22" name="Rak 26">
                <a:extLst>
                  <a:ext uri="{FF2B5EF4-FFF2-40B4-BE49-F238E27FC236}">
                    <a16:creationId xmlns:a16="http://schemas.microsoft.com/office/drawing/2014/main" id="{3632946C-1A04-FEE4-6B7E-CB2CF4A1B0C1}"/>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23" name="Grupp 24">
              <a:extLst>
                <a:ext uri="{FF2B5EF4-FFF2-40B4-BE49-F238E27FC236}">
                  <a16:creationId xmlns:a16="http://schemas.microsoft.com/office/drawing/2014/main" id="{B6B0A63E-4A5F-A8BB-FAD6-C10D8B6C0B13}"/>
                </a:ext>
              </a:extLst>
            </p:cNvPr>
            <p:cNvGrpSpPr>
              <a:grpSpLocks/>
            </p:cNvGrpSpPr>
            <p:nvPr/>
          </p:nvGrpSpPr>
          <p:grpSpPr bwMode="auto">
            <a:xfrm>
              <a:off x="7238447" y="4652898"/>
              <a:ext cx="80963" cy="80963"/>
              <a:chOff x="7884368" y="3284984"/>
              <a:chExt cx="216024" cy="216024"/>
            </a:xfrm>
          </p:grpSpPr>
          <p:cxnSp>
            <p:nvCxnSpPr>
              <p:cNvPr id="37924" name="Rak 25">
                <a:extLst>
                  <a:ext uri="{FF2B5EF4-FFF2-40B4-BE49-F238E27FC236}">
                    <a16:creationId xmlns:a16="http://schemas.microsoft.com/office/drawing/2014/main" id="{47A21138-BE60-AA29-D1C2-6F19296DFA06}"/>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25" name="Rak 26">
                <a:extLst>
                  <a:ext uri="{FF2B5EF4-FFF2-40B4-BE49-F238E27FC236}">
                    <a16:creationId xmlns:a16="http://schemas.microsoft.com/office/drawing/2014/main" id="{4979EAF6-4DAA-4F3C-68A9-E259AF16C0C4}"/>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26" name="Grupp 24">
              <a:extLst>
                <a:ext uri="{FF2B5EF4-FFF2-40B4-BE49-F238E27FC236}">
                  <a16:creationId xmlns:a16="http://schemas.microsoft.com/office/drawing/2014/main" id="{8BFF1BC5-751E-D60B-E3D0-122F01FCA8DC}"/>
                </a:ext>
              </a:extLst>
            </p:cNvPr>
            <p:cNvGrpSpPr>
              <a:grpSpLocks/>
            </p:cNvGrpSpPr>
            <p:nvPr/>
          </p:nvGrpSpPr>
          <p:grpSpPr bwMode="auto">
            <a:xfrm>
              <a:off x="5766494" y="1707847"/>
              <a:ext cx="80963" cy="80963"/>
              <a:chOff x="7884368" y="3284984"/>
              <a:chExt cx="216024" cy="216024"/>
            </a:xfrm>
          </p:grpSpPr>
          <p:cxnSp>
            <p:nvCxnSpPr>
              <p:cNvPr id="37927" name="Rak 25">
                <a:extLst>
                  <a:ext uri="{FF2B5EF4-FFF2-40B4-BE49-F238E27FC236}">
                    <a16:creationId xmlns:a16="http://schemas.microsoft.com/office/drawing/2014/main" id="{77B12E54-7C42-4D6F-EC9C-77A4CAB62849}"/>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28" name="Rak 26">
                <a:extLst>
                  <a:ext uri="{FF2B5EF4-FFF2-40B4-BE49-F238E27FC236}">
                    <a16:creationId xmlns:a16="http://schemas.microsoft.com/office/drawing/2014/main" id="{DBEA6CB4-4BB9-BA44-30C7-68F8A87AC291}"/>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29" name="Grupp 24">
              <a:extLst>
                <a:ext uri="{FF2B5EF4-FFF2-40B4-BE49-F238E27FC236}">
                  <a16:creationId xmlns:a16="http://schemas.microsoft.com/office/drawing/2014/main" id="{97DDC107-8310-01D7-7C58-047FA8588456}"/>
                </a:ext>
              </a:extLst>
            </p:cNvPr>
            <p:cNvGrpSpPr>
              <a:grpSpLocks/>
            </p:cNvGrpSpPr>
            <p:nvPr/>
          </p:nvGrpSpPr>
          <p:grpSpPr bwMode="auto">
            <a:xfrm>
              <a:off x="5878063" y="4012103"/>
              <a:ext cx="80963" cy="80963"/>
              <a:chOff x="7884368" y="3284984"/>
              <a:chExt cx="216024" cy="216024"/>
            </a:xfrm>
          </p:grpSpPr>
          <p:cxnSp>
            <p:nvCxnSpPr>
              <p:cNvPr id="37930" name="Rak 25">
                <a:extLst>
                  <a:ext uri="{FF2B5EF4-FFF2-40B4-BE49-F238E27FC236}">
                    <a16:creationId xmlns:a16="http://schemas.microsoft.com/office/drawing/2014/main" id="{317B114B-AFBB-2985-464A-6139672BE031}"/>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31" name="Rak 26">
                <a:extLst>
                  <a:ext uri="{FF2B5EF4-FFF2-40B4-BE49-F238E27FC236}">
                    <a16:creationId xmlns:a16="http://schemas.microsoft.com/office/drawing/2014/main" id="{BAE11DF7-DA49-EDE1-DF54-09A1E0446C6D}"/>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32" name="Grupp 24">
              <a:extLst>
                <a:ext uri="{FF2B5EF4-FFF2-40B4-BE49-F238E27FC236}">
                  <a16:creationId xmlns:a16="http://schemas.microsoft.com/office/drawing/2014/main" id="{6AEEDB41-73CE-98AA-7337-1D35A997E27B}"/>
                </a:ext>
              </a:extLst>
            </p:cNvPr>
            <p:cNvGrpSpPr>
              <a:grpSpLocks/>
            </p:cNvGrpSpPr>
            <p:nvPr/>
          </p:nvGrpSpPr>
          <p:grpSpPr bwMode="auto">
            <a:xfrm>
              <a:off x="8339501" y="1324788"/>
              <a:ext cx="80963" cy="80963"/>
              <a:chOff x="7884368" y="3284984"/>
              <a:chExt cx="216024" cy="216024"/>
            </a:xfrm>
          </p:grpSpPr>
          <p:cxnSp>
            <p:nvCxnSpPr>
              <p:cNvPr id="37933" name="Rak 25">
                <a:extLst>
                  <a:ext uri="{FF2B5EF4-FFF2-40B4-BE49-F238E27FC236}">
                    <a16:creationId xmlns:a16="http://schemas.microsoft.com/office/drawing/2014/main" id="{4C0CED05-9406-E936-5AF1-F3211B3F0617}"/>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34" name="Rak 26">
                <a:extLst>
                  <a:ext uri="{FF2B5EF4-FFF2-40B4-BE49-F238E27FC236}">
                    <a16:creationId xmlns:a16="http://schemas.microsoft.com/office/drawing/2014/main" id="{FF3949EA-E93F-78FD-8300-374282B7B91B}"/>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35" name="Grupp 24">
              <a:extLst>
                <a:ext uri="{FF2B5EF4-FFF2-40B4-BE49-F238E27FC236}">
                  <a16:creationId xmlns:a16="http://schemas.microsoft.com/office/drawing/2014/main" id="{68FF4AEF-8055-9FC1-5261-45F135CEC58E}"/>
                </a:ext>
              </a:extLst>
            </p:cNvPr>
            <p:cNvGrpSpPr>
              <a:grpSpLocks/>
            </p:cNvGrpSpPr>
            <p:nvPr/>
          </p:nvGrpSpPr>
          <p:grpSpPr bwMode="auto">
            <a:xfrm>
              <a:off x="6539301" y="4571935"/>
              <a:ext cx="80963" cy="80963"/>
              <a:chOff x="7884368" y="3284984"/>
              <a:chExt cx="216024" cy="216024"/>
            </a:xfrm>
          </p:grpSpPr>
          <p:cxnSp>
            <p:nvCxnSpPr>
              <p:cNvPr id="37936" name="Rak 25">
                <a:extLst>
                  <a:ext uri="{FF2B5EF4-FFF2-40B4-BE49-F238E27FC236}">
                    <a16:creationId xmlns:a16="http://schemas.microsoft.com/office/drawing/2014/main" id="{26686973-F83E-EC1D-B184-32AE18ACF4BE}"/>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37" name="Rak 26">
                <a:extLst>
                  <a:ext uri="{FF2B5EF4-FFF2-40B4-BE49-F238E27FC236}">
                    <a16:creationId xmlns:a16="http://schemas.microsoft.com/office/drawing/2014/main" id="{96B616AC-9770-60C1-2DB3-B6DC7BE932E5}"/>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38" name="Grupp 24">
              <a:extLst>
                <a:ext uri="{FF2B5EF4-FFF2-40B4-BE49-F238E27FC236}">
                  <a16:creationId xmlns:a16="http://schemas.microsoft.com/office/drawing/2014/main" id="{F5001CCD-B441-4BE5-80D3-12FEFB3533BA}"/>
                </a:ext>
              </a:extLst>
            </p:cNvPr>
            <p:cNvGrpSpPr>
              <a:grpSpLocks/>
            </p:cNvGrpSpPr>
            <p:nvPr/>
          </p:nvGrpSpPr>
          <p:grpSpPr bwMode="auto">
            <a:xfrm>
              <a:off x="6323277" y="4342427"/>
              <a:ext cx="80963" cy="80963"/>
              <a:chOff x="7884368" y="3284984"/>
              <a:chExt cx="216024" cy="216024"/>
            </a:xfrm>
          </p:grpSpPr>
          <p:cxnSp>
            <p:nvCxnSpPr>
              <p:cNvPr id="37939" name="Rak 25">
                <a:extLst>
                  <a:ext uri="{FF2B5EF4-FFF2-40B4-BE49-F238E27FC236}">
                    <a16:creationId xmlns:a16="http://schemas.microsoft.com/office/drawing/2014/main" id="{4A4A8E6A-926A-FEE1-0328-5BF43407D697}"/>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40" name="Rak 26">
                <a:extLst>
                  <a:ext uri="{FF2B5EF4-FFF2-40B4-BE49-F238E27FC236}">
                    <a16:creationId xmlns:a16="http://schemas.microsoft.com/office/drawing/2014/main" id="{B934873F-0D19-7ED7-B659-8BBC144E9E0F}"/>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41" name="Grupp 24">
              <a:extLst>
                <a:ext uri="{FF2B5EF4-FFF2-40B4-BE49-F238E27FC236}">
                  <a16:creationId xmlns:a16="http://schemas.microsoft.com/office/drawing/2014/main" id="{59B53907-00AD-FD57-C011-8EA13FEBCEAF}"/>
                </a:ext>
              </a:extLst>
            </p:cNvPr>
            <p:cNvGrpSpPr>
              <a:grpSpLocks/>
            </p:cNvGrpSpPr>
            <p:nvPr/>
          </p:nvGrpSpPr>
          <p:grpSpPr bwMode="auto">
            <a:xfrm>
              <a:off x="8883522" y="1923871"/>
              <a:ext cx="80963" cy="80963"/>
              <a:chOff x="7884368" y="3284984"/>
              <a:chExt cx="216024" cy="216024"/>
            </a:xfrm>
          </p:grpSpPr>
          <p:cxnSp>
            <p:nvCxnSpPr>
              <p:cNvPr id="37942" name="Rak 25">
                <a:extLst>
                  <a:ext uri="{FF2B5EF4-FFF2-40B4-BE49-F238E27FC236}">
                    <a16:creationId xmlns:a16="http://schemas.microsoft.com/office/drawing/2014/main" id="{499684D7-39BB-B879-40B6-37AB39C84BC7}"/>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43" name="Rak 26">
                <a:extLst>
                  <a:ext uri="{FF2B5EF4-FFF2-40B4-BE49-F238E27FC236}">
                    <a16:creationId xmlns:a16="http://schemas.microsoft.com/office/drawing/2014/main" id="{C069038F-5FF3-6398-25CD-C76EEA013138}"/>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44" name="Grupp 24">
              <a:extLst>
                <a:ext uri="{FF2B5EF4-FFF2-40B4-BE49-F238E27FC236}">
                  <a16:creationId xmlns:a16="http://schemas.microsoft.com/office/drawing/2014/main" id="{E150F2EC-32C6-674F-B6D5-2017F364B97B}"/>
                </a:ext>
              </a:extLst>
            </p:cNvPr>
            <p:cNvGrpSpPr>
              <a:grpSpLocks/>
            </p:cNvGrpSpPr>
            <p:nvPr/>
          </p:nvGrpSpPr>
          <p:grpSpPr bwMode="auto">
            <a:xfrm>
              <a:off x="5459181" y="2283911"/>
              <a:ext cx="80963" cy="80963"/>
              <a:chOff x="7884368" y="3284984"/>
              <a:chExt cx="216024" cy="216024"/>
            </a:xfrm>
          </p:grpSpPr>
          <p:cxnSp>
            <p:nvCxnSpPr>
              <p:cNvPr id="37945" name="Rak 25">
                <a:extLst>
                  <a:ext uri="{FF2B5EF4-FFF2-40B4-BE49-F238E27FC236}">
                    <a16:creationId xmlns:a16="http://schemas.microsoft.com/office/drawing/2014/main" id="{27D09233-FCE3-72E2-DA52-012974062897}"/>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46" name="Rak 26">
                <a:extLst>
                  <a:ext uri="{FF2B5EF4-FFF2-40B4-BE49-F238E27FC236}">
                    <a16:creationId xmlns:a16="http://schemas.microsoft.com/office/drawing/2014/main" id="{121CE2DD-79FB-94C2-62DD-B3634D9DF037}"/>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47" name="Grupp 24">
              <a:extLst>
                <a:ext uri="{FF2B5EF4-FFF2-40B4-BE49-F238E27FC236}">
                  <a16:creationId xmlns:a16="http://schemas.microsoft.com/office/drawing/2014/main" id="{A515DFE0-B3BD-0EFA-93EE-5DC72155AF05}"/>
                </a:ext>
              </a:extLst>
            </p:cNvPr>
            <p:cNvGrpSpPr>
              <a:grpSpLocks/>
            </p:cNvGrpSpPr>
            <p:nvPr/>
          </p:nvGrpSpPr>
          <p:grpSpPr bwMode="auto">
            <a:xfrm>
              <a:off x="6498819" y="1413264"/>
              <a:ext cx="80963" cy="80963"/>
              <a:chOff x="7884368" y="3284984"/>
              <a:chExt cx="216024" cy="216024"/>
            </a:xfrm>
          </p:grpSpPr>
          <p:cxnSp>
            <p:nvCxnSpPr>
              <p:cNvPr id="37948" name="Rak 25">
                <a:extLst>
                  <a:ext uri="{FF2B5EF4-FFF2-40B4-BE49-F238E27FC236}">
                    <a16:creationId xmlns:a16="http://schemas.microsoft.com/office/drawing/2014/main" id="{E239E0AA-1617-BF53-7CEF-FA3654CAF42A}"/>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49" name="Rak 26">
                <a:extLst>
                  <a:ext uri="{FF2B5EF4-FFF2-40B4-BE49-F238E27FC236}">
                    <a16:creationId xmlns:a16="http://schemas.microsoft.com/office/drawing/2014/main" id="{8E663238-DA90-8422-0FAF-0F52B66D74C8}"/>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50" name="Grupp 24">
              <a:extLst>
                <a:ext uri="{FF2B5EF4-FFF2-40B4-BE49-F238E27FC236}">
                  <a16:creationId xmlns:a16="http://schemas.microsoft.com/office/drawing/2014/main" id="{52C88384-C2B8-4582-FCB0-DAE3537B8485}"/>
                </a:ext>
              </a:extLst>
            </p:cNvPr>
            <p:cNvGrpSpPr>
              <a:grpSpLocks/>
            </p:cNvGrpSpPr>
            <p:nvPr/>
          </p:nvGrpSpPr>
          <p:grpSpPr bwMode="auto">
            <a:xfrm>
              <a:off x="5032218" y="2729725"/>
              <a:ext cx="80963" cy="80963"/>
              <a:chOff x="7884368" y="3284984"/>
              <a:chExt cx="216024" cy="216024"/>
            </a:xfrm>
          </p:grpSpPr>
          <p:cxnSp>
            <p:nvCxnSpPr>
              <p:cNvPr id="37951" name="Rak 25">
                <a:extLst>
                  <a:ext uri="{FF2B5EF4-FFF2-40B4-BE49-F238E27FC236}">
                    <a16:creationId xmlns:a16="http://schemas.microsoft.com/office/drawing/2014/main" id="{A6730381-6AFA-EF31-05D6-FC2D1533D9F8}"/>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52" name="Rak 26">
                <a:extLst>
                  <a:ext uri="{FF2B5EF4-FFF2-40B4-BE49-F238E27FC236}">
                    <a16:creationId xmlns:a16="http://schemas.microsoft.com/office/drawing/2014/main" id="{449D3447-E484-9191-22CD-27EB52000772}"/>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7953" name="Grupp 24">
              <a:extLst>
                <a:ext uri="{FF2B5EF4-FFF2-40B4-BE49-F238E27FC236}">
                  <a16:creationId xmlns:a16="http://schemas.microsoft.com/office/drawing/2014/main" id="{84A422CB-ECBC-4AF5-C5AD-5A9F9D01EBF5}"/>
                </a:ext>
              </a:extLst>
            </p:cNvPr>
            <p:cNvGrpSpPr>
              <a:grpSpLocks/>
            </p:cNvGrpSpPr>
            <p:nvPr/>
          </p:nvGrpSpPr>
          <p:grpSpPr bwMode="auto">
            <a:xfrm>
              <a:off x="5315165" y="3436039"/>
              <a:ext cx="80963" cy="80963"/>
              <a:chOff x="7884368" y="3284984"/>
              <a:chExt cx="216024" cy="216024"/>
            </a:xfrm>
          </p:grpSpPr>
          <p:cxnSp>
            <p:nvCxnSpPr>
              <p:cNvPr id="37954" name="Rak 25">
                <a:extLst>
                  <a:ext uri="{FF2B5EF4-FFF2-40B4-BE49-F238E27FC236}">
                    <a16:creationId xmlns:a16="http://schemas.microsoft.com/office/drawing/2014/main" id="{98433E13-0D46-CFE0-7EC9-F98EA3E5AB80}"/>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955" name="Rak 26">
                <a:extLst>
                  <a:ext uri="{FF2B5EF4-FFF2-40B4-BE49-F238E27FC236}">
                    <a16:creationId xmlns:a16="http://schemas.microsoft.com/office/drawing/2014/main" id="{A2D20C16-F799-F57F-56D2-239100D32DCD}"/>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sp>
        <p:nvSpPr>
          <p:cNvPr id="38018" name="Ellips 31">
            <a:extLst>
              <a:ext uri="{FF2B5EF4-FFF2-40B4-BE49-F238E27FC236}">
                <a16:creationId xmlns:a16="http://schemas.microsoft.com/office/drawing/2014/main" id="{DE6DE4D4-14A1-6F92-EBAD-842B5F35E9DF}"/>
              </a:ext>
            </a:extLst>
          </p:cNvPr>
          <p:cNvSpPr/>
          <p:nvPr/>
        </p:nvSpPr>
        <p:spPr>
          <a:xfrm>
            <a:off x="388195" y="1234943"/>
            <a:ext cx="2299595" cy="259227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sv-SE">
              <a:solidFill>
                <a:prstClr val="white"/>
              </a:solidFill>
              <a:latin typeface="Tahoma"/>
            </a:endParaRPr>
          </a:p>
        </p:txBody>
      </p:sp>
      <p:grpSp>
        <p:nvGrpSpPr>
          <p:cNvPr id="38019" name="Grupp 3">
            <a:extLst>
              <a:ext uri="{FF2B5EF4-FFF2-40B4-BE49-F238E27FC236}">
                <a16:creationId xmlns:a16="http://schemas.microsoft.com/office/drawing/2014/main" id="{8353EA12-5B94-CEED-8D97-3E8ABC8EC0AD}"/>
              </a:ext>
            </a:extLst>
          </p:cNvPr>
          <p:cNvGrpSpPr>
            <a:grpSpLocks/>
          </p:cNvGrpSpPr>
          <p:nvPr/>
        </p:nvGrpSpPr>
        <p:grpSpPr bwMode="auto">
          <a:xfrm>
            <a:off x="2024043" y="2801541"/>
            <a:ext cx="80963" cy="80963"/>
            <a:chOff x="7884368" y="3284984"/>
            <a:chExt cx="216024" cy="216024"/>
          </a:xfrm>
        </p:grpSpPr>
        <p:cxnSp>
          <p:nvCxnSpPr>
            <p:cNvPr id="38020" name="Rak 2">
              <a:extLst>
                <a:ext uri="{FF2B5EF4-FFF2-40B4-BE49-F238E27FC236}">
                  <a16:creationId xmlns:a16="http://schemas.microsoft.com/office/drawing/2014/main" id="{544BBB1E-D0C2-CB04-3395-DF791118AEF1}"/>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21" name="Rak 7">
              <a:extLst>
                <a:ext uri="{FF2B5EF4-FFF2-40B4-BE49-F238E27FC236}">
                  <a16:creationId xmlns:a16="http://schemas.microsoft.com/office/drawing/2014/main" id="{83A7EC37-DE16-2587-DEDC-18CCB91B41E3}"/>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22" name="Grupp 9">
            <a:extLst>
              <a:ext uri="{FF2B5EF4-FFF2-40B4-BE49-F238E27FC236}">
                <a16:creationId xmlns:a16="http://schemas.microsoft.com/office/drawing/2014/main" id="{7C4D764C-CA4E-7328-1AFF-A406A8665A61}"/>
              </a:ext>
            </a:extLst>
          </p:cNvPr>
          <p:cNvGrpSpPr>
            <a:grpSpLocks/>
          </p:cNvGrpSpPr>
          <p:nvPr/>
        </p:nvGrpSpPr>
        <p:grpSpPr bwMode="auto">
          <a:xfrm>
            <a:off x="2138343" y="2915841"/>
            <a:ext cx="80963" cy="80963"/>
            <a:chOff x="7884368" y="3284984"/>
            <a:chExt cx="216024" cy="216024"/>
          </a:xfrm>
        </p:grpSpPr>
        <p:cxnSp>
          <p:nvCxnSpPr>
            <p:cNvPr id="38023" name="Rak 10">
              <a:extLst>
                <a:ext uri="{FF2B5EF4-FFF2-40B4-BE49-F238E27FC236}">
                  <a16:creationId xmlns:a16="http://schemas.microsoft.com/office/drawing/2014/main" id="{F05B47D9-2CBA-FA43-3DDD-F7E4CAF2DC39}"/>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24" name="Rak 11">
              <a:extLst>
                <a:ext uri="{FF2B5EF4-FFF2-40B4-BE49-F238E27FC236}">
                  <a16:creationId xmlns:a16="http://schemas.microsoft.com/office/drawing/2014/main" id="{43D72643-DBA9-703C-33AD-3CCE6EAC5888}"/>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25" name="Grupp 12">
            <a:extLst>
              <a:ext uri="{FF2B5EF4-FFF2-40B4-BE49-F238E27FC236}">
                <a16:creationId xmlns:a16="http://schemas.microsoft.com/office/drawing/2014/main" id="{7D0F3113-05F9-3D16-9269-C343EC8E1866}"/>
              </a:ext>
            </a:extLst>
          </p:cNvPr>
          <p:cNvGrpSpPr>
            <a:grpSpLocks/>
          </p:cNvGrpSpPr>
          <p:nvPr/>
        </p:nvGrpSpPr>
        <p:grpSpPr bwMode="auto">
          <a:xfrm>
            <a:off x="2252643" y="2855119"/>
            <a:ext cx="80963" cy="82154"/>
            <a:chOff x="7884368" y="3284984"/>
            <a:chExt cx="216024" cy="216024"/>
          </a:xfrm>
        </p:grpSpPr>
        <p:cxnSp>
          <p:nvCxnSpPr>
            <p:cNvPr id="38026" name="Rak 13">
              <a:extLst>
                <a:ext uri="{FF2B5EF4-FFF2-40B4-BE49-F238E27FC236}">
                  <a16:creationId xmlns:a16="http://schemas.microsoft.com/office/drawing/2014/main" id="{DCA8BC68-5C91-E246-5E84-E615F3F0C14A}"/>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27" name="Rak 14">
              <a:extLst>
                <a:ext uri="{FF2B5EF4-FFF2-40B4-BE49-F238E27FC236}">
                  <a16:creationId xmlns:a16="http://schemas.microsoft.com/office/drawing/2014/main" id="{BFEC5C05-1A23-0FF8-823A-E59A78C7FF2E}"/>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28" name="Grupp 15">
            <a:extLst>
              <a:ext uri="{FF2B5EF4-FFF2-40B4-BE49-F238E27FC236}">
                <a16:creationId xmlns:a16="http://schemas.microsoft.com/office/drawing/2014/main" id="{B6AA0D92-23B8-633B-CE35-35D3EF22AE27}"/>
              </a:ext>
            </a:extLst>
          </p:cNvPr>
          <p:cNvGrpSpPr>
            <a:grpSpLocks/>
          </p:cNvGrpSpPr>
          <p:nvPr/>
        </p:nvGrpSpPr>
        <p:grpSpPr bwMode="auto">
          <a:xfrm>
            <a:off x="2366943" y="2969419"/>
            <a:ext cx="80963" cy="82154"/>
            <a:chOff x="7884368" y="3284984"/>
            <a:chExt cx="216024" cy="216024"/>
          </a:xfrm>
        </p:grpSpPr>
        <p:cxnSp>
          <p:nvCxnSpPr>
            <p:cNvPr id="38029" name="Rak 16">
              <a:extLst>
                <a:ext uri="{FF2B5EF4-FFF2-40B4-BE49-F238E27FC236}">
                  <a16:creationId xmlns:a16="http://schemas.microsoft.com/office/drawing/2014/main" id="{2682099C-8ACB-873A-26FA-8EB1E6A98B21}"/>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30" name="Rak 17">
              <a:extLst>
                <a:ext uri="{FF2B5EF4-FFF2-40B4-BE49-F238E27FC236}">
                  <a16:creationId xmlns:a16="http://schemas.microsoft.com/office/drawing/2014/main" id="{0DE5D7E8-F19F-8467-CF90-171B8F3FAC47}"/>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31" name="Grupp 18">
            <a:extLst>
              <a:ext uri="{FF2B5EF4-FFF2-40B4-BE49-F238E27FC236}">
                <a16:creationId xmlns:a16="http://schemas.microsoft.com/office/drawing/2014/main" id="{725A24B2-C90D-8479-F8EA-8B1EC5B033BF}"/>
              </a:ext>
            </a:extLst>
          </p:cNvPr>
          <p:cNvGrpSpPr>
            <a:grpSpLocks/>
          </p:cNvGrpSpPr>
          <p:nvPr/>
        </p:nvGrpSpPr>
        <p:grpSpPr bwMode="auto">
          <a:xfrm>
            <a:off x="2077621" y="3030141"/>
            <a:ext cx="80963" cy="80963"/>
            <a:chOff x="7884368" y="3284984"/>
            <a:chExt cx="216024" cy="216024"/>
          </a:xfrm>
        </p:grpSpPr>
        <p:cxnSp>
          <p:nvCxnSpPr>
            <p:cNvPr id="38032" name="Rak 19">
              <a:extLst>
                <a:ext uri="{FF2B5EF4-FFF2-40B4-BE49-F238E27FC236}">
                  <a16:creationId xmlns:a16="http://schemas.microsoft.com/office/drawing/2014/main" id="{0D6CC743-838A-39DF-6D5F-44AC0281ED56}"/>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33" name="Rak 20">
              <a:extLst>
                <a:ext uri="{FF2B5EF4-FFF2-40B4-BE49-F238E27FC236}">
                  <a16:creationId xmlns:a16="http://schemas.microsoft.com/office/drawing/2014/main" id="{9BA3945D-9F0F-5B60-FA5A-6B56408E7D5A}"/>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34" name="Grupp 21">
            <a:extLst>
              <a:ext uri="{FF2B5EF4-FFF2-40B4-BE49-F238E27FC236}">
                <a16:creationId xmlns:a16="http://schemas.microsoft.com/office/drawing/2014/main" id="{4E7FAD4D-D3AD-67F3-A322-7C2DB652F8F8}"/>
              </a:ext>
            </a:extLst>
          </p:cNvPr>
          <p:cNvGrpSpPr>
            <a:grpSpLocks/>
          </p:cNvGrpSpPr>
          <p:nvPr/>
        </p:nvGrpSpPr>
        <p:grpSpPr bwMode="auto">
          <a:xfrm>
            <a:off x="2239546" y="2720578"/>
            <a:ext cx="80963" cy="80963"/>
            <a:chOff x="7884368" y="3284984"/>
            <a:chExt cx="216024" cy="216024"/>
          </a:xfrm>
        </p:grpSpPr>
        <p:cxnSp>
          <p:nvCxnSpPr>
            <p:cNvPr id="38035" name="Rak 22">
              <a:extLst>
                <a:ext uri="{FF2B5EF4-FFF2-40B4-BE49-F238E27FC236}">
                  <a16:creationId xmlns:a16="http://schemas.microsoft.com/office/drawing/2014/main" id="{99172BA2-AA04-7823-6718-AF5009975561}"/>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36" name="Rak 23">
              <a:extLst>
                <a:ext uri="{FF2B5EF4-FFF2-40B4-BE49-F238E27FC236}">
                  <a16:creationId xmlns:a16="http://schemas.microsoft.com/office/drawing/2014/main" id="{3AD5D18D-D5AB-1F18-EC0B-862526703544}"/>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37" name="Grupp 24">
            <a:extLst>
              <a:ext uri="{FF2B5EF4-FFF2-40B4-BE49-F238E27FC236}">
                <a16:creationId xmlns:a16="http://schemas.microsoft.com/office/drawing/2014/main" id="{AB7F9DB9-3C04-F343-1D2B-E27D6CA86103}"/>
              </a:ext>
            </a:extLst>
          </p:cNvPr>
          <p:cNvGrpSpPr>
            <a:grpSpLocks/>
          </p:cNvGrpSpPr>
          <p:nvPr/>
        </p:nvGrpSpPr>
        <p:grpSpPr bwMode="auto">
          <a:xfrm>
            <a:off x="3308352" y="4299942"/>
            <a:ext cx="80963" cy="80963"/>
            <a:chOff x="7884368" y="3284984"/>
            <a:chExt cx="216024" cy="216024"/>
          </a:xfrm>
        </p:grpSpPr>
        <p:cxnSp>
          <p:nvCxnSpPr>
            <p:cNvPr id="38038" name="Rak 25">
              <a:extLst>
                <a:ext uri="{FF2B5EF4-FFF2-40B4-BE49-F238E27FC236}">
                  <a16:creationId xmlns:a16="http://schemas.microsoft.com/office/drawing/2014/main" id="{3ECC209F-901E-F291-3EBD-ED3BA5C21F16}"/>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39" name="Rak 26">
              <a:extLst>
                <a:ext uri="{FF2B5EF4-FFF2-40B4-BE49-F238E27FC236}">
                  <a16:creationId xmlns:a16="http://schemas.microsoft.com/office/drawing/2014/main" id="{1313DF64-ED83-6931-C2C2-407F96366B88}"/>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40" name="Grupp 27">
            <a:extLst>
              <a:ext uri="{FF2B5EF4-FFF2-40B4-BE49-F238E27FC236}">
                <a16:creationId xmlns:a16="http://schemas.microsoft.com/office/drawing/2014/main" id="{ABF16421-2344-B046-5ECD-6E9054DD34D6}"/>
              </a:ext>
            </a:extLst>
          </p:cNvPr>
          <p:cNvGrpSpPr>
            <a:grpSpLocks/>
          </p:cNvGrpSpPr>
          <p:nvPr/>
        </p:nvGrpSpPr>
        <p:grpSpPr bwMode="auto">
          <a:xfrm>
            <a:off x="1016765" y="2842022"/>
            <a:ext cx="80963" cy="80963"/>
            <a:chOff x="7884368" y="3284984"/>
            <a:chExt cx="216024" cy="216024"/>
          </a:xfrm>
        </p:grpSpPr>
        <p:cxnSp>
          <p:nvCxnSpPr>
            <p:cNvPr id="38041" name="Rak 28">
              <a:extLst>
                <a:ext uri="{FF2B5EF4-FFF2-40B4-BE49-F238E27FC236}">
                  <a16:creationId xmlns:a16="http://schemas.microsoft.com/office/drawing/2014/main" id="{CB6DF57D-3C54-5CBA-FDEC-190CAE90CC4C}"/>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42" name="Rak 29">
              <a:extLst>
                <a:ext uri="{FF2B5EF4-FFF2-40B4-BE49-F238E27FC236}">
                  <a16:creationId xmlns:a16="http://schemas.microsoft.com/office/drawing/2014/main" id="{1ADEE6F5-8A62-DC73-A17F-3DD10D324FB4}"/>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43" name="Grupp 24">
            <a:extLst>
              <a:ext uri="{FF2B5EF4-FFF2-40B4-BE49-F238E27FC236}">
                <a16:creationId xmlns:a16="http://schemas.microsoft.com/office/drawing/2014/main" id="{2291B445-D219-B103-E6DE-2DEB6C62C779}"/>
              </a:ext>
            </a:extLst>
          </p:cNvPr>
          <p:cNvGrpSpPr>
            <a:grpSpLocks/>
          </p:cNvGrpSpPr>
          <p:nvPr/>
        </p:nvGrpSpPr>
        <p:grpSpPr bwMode="auto">
          <a:xfrm>
            <a:off x="3532361" y="4509711"/>
            <a:ext cx="80963" cy="80963"/>
            <a:chOff x="7884368" y="3284984"/>
            <a:chExt cx="216024" cy="216024"/>
          </a:xfrm>
        </p:grpSpPr>
        <p:cxnSp>
          <p:nvCxnSpPr>
            <p:cNvPr id="38044" name="Rak 25">
              <a:extLst>
                <a:ext uri="{FF2B5EF4-FFF2-40B4-BE49-F238E27FC236}">
                  <a16:creationId xmlns:a16="http://schemas.microsoft.com/office/drawing/2014/main" id="{95200B47-6951-DF86-B18F-3AF84ABFF94D}"/>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45" name="Rak 26">
              <a:extLst>
                <a:ext uri="{FF2B5EF4-FFF2-40B4-BE49-F238E27FC236}">
                  <a16:creationId xmlns:a16="http://schemas.microsoft.com/office/drawing/2014/main" id="{E123D426-38E8-DE7A-93A6-5CDBC2B9D393}"/>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46" name="Grupp 24">
            <a:extLst>
              <a:ext uri="{FF2B5EF4-FFF2-40B4-BE49-F238E27FC236}">
                <a16:creationId xmlns:a16="http://schemas.microsoft.com/office/drawing/2014/main" id="{F6A244F1-8F3F-0ADA-3094-D64DCE2807B3}"/>
              </a:ext>
            </a:extLst>
          </p:cNvPr>
          <p:cNvGrpSpPr>
            <a:grpSpLocks/>
          </p:cNvGrpSpPr>
          <p:nvPr/>
        </p:nvGrpSpPr>
        <p:grpSpPr bwMode="auto">
          <a:xfrm>
            <a:off x="2336980" y="4724713"/>
            <a:ext cx="80963" cy="80963"/>
            <a:chOff x="7884368" y="3284984"/>
            <a:chExt cx="216024" cy="216024"/>
          </a:xfrm>
        </p:grpSpPr>
        <p:cxnSp>
          <p:nvCxnSpPr>
            <p:cNvPr id="38047" name="Rak 25">
              <a:extLst>
                <a:ext uri="{FF2B5EF4-FFF2-40B4-BE49-F238E27FC236}">
                  <a16:creationId xmlns:a16="http://schemas.microsoft.com/office/drawing/2014/main" id="{BBD79922-C21D-E130-7D24-2B84B11C22B6}"/>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48" name="Rak 26">
              <a:extLst>
                <a:ext uri="{FF2B5EF4-FFF2-40B4-BE49-F238E27FC236}">
                  <a16:creationId xmlns:a16="http://schemas.microsoft.com/office/drawing/2014/main" id="{5CD54D3A-BD08-9088-C313-0AA316D38972}"/>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49" name="Grupp 24">
            <a:extLst>
              <a:ext uri="{FF2B5EF4-FFF2-40B4-BE49-F238E27FC236}">
                <a16:creationId xmlns:a16="http://schemas.microsoft.com/office/drawing/2014/main" id="{99601E06-6CA1-97E3-D531-0F56D662CF1A}"/>
              </a:ext>
            </a:extLst>
          </p:cNvPr>
          <p:cNvGrpSpPr>
            <a:grpSpLocks/>
          </p:cNvGrpSpPr>
          <p:nvPr/>
        </p:nvGrpSpPr>
        <p:grpSpPr bwMode="auto">
          <a:xfrm>
            <a:off x="865027" y="1779662"/>
            <a:ext cx="80963" cy="80963"/>
            <a:chOff x="7884368" y="3284984"/>
            <a:chExt cx="216024" cy="216024"/>
          </a:xfrm>
        </p:grpSpPr>
        <p:cxnSp>
          <p:nvCxnSpPr>
            <p:cNvPr id="38050" name="Rak 25">
              <a:extLst>
                <a:ext uri="{FF2B5EF4-FFF2-40B4-BE49-F238E27FC236}">
                  <a16:creationId xmlns:a16="http://schemas.microsoft.com/office/drawing/2014/main" id="{C54A98DE-A3C3-6630-8CB7-D9D6CF29233A}"/>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51" name="Rak 26">
              <a:extLst>
                <a:ext uri="{FF2B5EF4-FFF2-40B4-BE49-F238E27FC236}">
                  <a16:creationId xmlns:a16="http://schemas.microsoft.com/office/drawing/2014/main" id="{C8537553-281C-01D7-913D-FB549399DB61}"/>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52" name="Grupp 24">
            <a:extLst>
              <a:ext uri="{FF2B5EF4-FFF2-40B4-BE49-F238E27FC236}">
                <a16:creationId xmlns:a16="http://schemas.microsoft.com/office/drawing/2014/main" id="{03BE2926-36B8-DA02-0AAA-1E71238D5547}"/>
              </a:ext>
            </a:extLst>
          </p:cNvPr>
          <p:cNvGrpSpPr>
            <a:grpSpLocks/>
          </p:cNvGrpSpPr>
          <p:nvPr/>
        </p:nvGrpSpPr>
        <p:grpSpPr bwMode="auto">
          <a:xfrm>
            <a:off x="976596" y="4083918"/>
            <a:ext cx="80963" cy="80963"/>
            <a:chOff x="7884368" y="3284984"/>
            <a:chExt cx="216024" cy="216024"/>
          </a:xfrm>
        </p:grpSpPr>
        <p:cxnSp>
          <p:nvCxnSpPr>
            <p:cNvPr id="38053" name="Rak 25">
              <a:extLst>
                <a:ext uri="{FF2B5EF4-FFF2-40B4-BE49-F238E27FC236}">
                  <a16:creationId xmlns:a16="http://schemas.microsoft.com/office/drawing/2014/main" id="{53A35C9E-D030-376A-F8D0-1E9E04B8168A}"/>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54" name="Rak 26">
              <a:extLst>
                <a:ext uri="{FF2B5EF4-FFF2-40B4-BE49-F238E27FC236}">
                  <a16:creationId xmlns:a16="http://schemas.microsoft.com/office/drawing/2014/main" id="{8CF3DB52-4755-2A0E-0BD1-349D5B164157}"/>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55" name="Grupp 24">
            <a:extLst>
              <a:ext uri="{FF2B5EF4-FFF2-40B4-BE49-F238E27FC236}">
                <a16:creationId xmlns:a16="http://schemas.microsoft.com/office/drawing/2014/main" id="{7757C856-CCCA-4DB6-0368-36B7B42BF135}"/>
              </a:ext>
            </a:extLst>
          </p:cNvPr>
          <p:cNvGrpSpPr>
            <a:grpSpLocks/>
          </p:cNvGrpSpPr>
          <p:nvPr/>
        </p:nvGrpSpPr>
        <p:grpSpPr bwMode="auto">
          <a:xfrm>
            <a:off x="3123938" y="1396603"/>
            <a:ext cx="80963" cy="80963"/>
            <a:chOff x="7884368" y="3284984"/>
            <a:chExt cx="216024" cy="216024"/>
          </a:xfrm>
        </p:grpSpPr>
        <p:cxnSp>
          <p:nvCxnSpPr>
            <p:cNvPr id="38056" name="Rak 25">
              <a:extLst>
                <a:ext uri="{FF2B5EF4-FFF2-40B4-BE49-F238E27FC236}">
                  <a16:creationId xmlns:a16="http://schemas.microsoft.com/office/drawing/2014/main" id="{A949B35B-744C-ACCD-95E7-0EABBF4AE5AC}"/>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57" name="Rak 26">
              <a:extLst>
                <a:ext uri="{FF2B5EF4-FFF2-40B4-BE49-F238E27FC236}">
                  <a16:creationId xmlns:a16="http://schemas.microsoft.com/office/drawing/2014/main" id="{84BA2CCD-227D-DDFF-338E-E241937FE463}"/>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58" name="Grupp 24">
            <a:extLst>
              <a:ext uri="{FF2B5EF4-FFF2-40B4-BE49-F238E27FC236}">
                <a16:creationId xmlns:a16="http://schemas.microsoft.com/office/drawing/2014/main" id="{2BC802D6-8877-25BC-5B28-5CF9CFEC3272}"/>
              </a:ext>
            </a:extLst>
          </p:cNvPr>
          <p:cNvGrpSpPr>
            <a:grpSpLocks/>
          </p:cNvGrpSpPr>
          <p:nvPr/>
        </p:nvGrpSpPr>
        <p:grpSpPr bwMode="auto">
          <a:xfrm>
            <a:off x="1637834" y="4643750"/>
            <a:ext cx="80963" cy="80963"/>
            <a:chOff x="7884368" y="3284984"/>
            <a:chExt cx="216024" cy="216024"/>
          </a:xfrm>
        </p:grpSpPr>
        <p:cxnSp>
          <p:nvCxnSpPr>
            <p:cNvPr id="38059" name="Rak 25">
              <a:extLst>
                <a:ext uri="{FF2B5EF4-FFF2-40B4-BE49-F238E27FC236}">
                  <a16:creationId xmlns:a16="http://schemas.microsoft.com/office/drawing/2014/main" id="{2EB3D9CB-D64A-D12B-0B5F-32E017872D38}"/>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60" name="Rak 26">
              <a:extLst>
                <a:ext uri="{FF2B5EF4-FFF2-40B4-BE49-F238E27FC236}">
                  <a16:creationId xmlns:a16="http://schemas.microsoft.com/office/drawing/2014/main" id="{6D51961E-0AD8-7FA5-4417-F19B19B30990}"/>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61" name="Grupp 24">
            <a:extLst>
              <a:ext uri="{FF2B5EF4-FFF2-40B4-BE49-F238E27FC236}">
                <a16:creationId xmlns:a16="http://schemas.microsoft.com/office/drawing/2014/main" id="{A8EE81F2-A5AD-6310-DE49-229330734036}"/>
              </a:ext>
            </a:extLst>
          </p:cNvPr>
          <p:cNvGrpSpPr>
            <a:grpSpLocks/>
          </p:cNvGrpSpPr>
          <p:nvPr/>
        </p:nvGrpSpPr>
        <p:grpSpPr bwMode="auto">
          <a:xfrm>
            <a:off x="1421810" y="4414242"/>
            <a:ext cx="80963" cy="80963"/>
            <a:chOff x="7884368" y="3284984"/>
            <a:chExt cx="216024" cy="216024"/>
          </a:xfrm>
        </p:grpSpPr>
        <p:cxnSp>
          <p:nvCxnSpPr>
            <p:cNvPr id="38062" name="Rak 25">
              <a:extLst>
                <a:ext uri="{FF2B5EF4-FFF2-40B4-BE49-F238E27FC236}">
                  <a16:creationId xmlns:a16="http://schemas.microsoft.com/office/drawing/2014/main" id="{427431C4-6483-C4E5-C0CA-BD07BFEA59AA}"/>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63" name="Rak 26">
              <a:extLst>
                <a:ext uri="{FF2B5EF4-FFF2-40B4-BE49-F238E27FC236}">
                  <a16:creationId xmlns:a16="http://schemas.microsoft.com/office/drawing/2014/main" id="{0C46B08C-B30F-7748-E640-A7209670A9B9}"/>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64" name="Grupp 24">
            <a:extLst>
              <a:ext uri="{FF2B5EF4-FFF2-40B4-BE49-F238E27FC236}">
                <a16:creationId xmlns:a16="http://schemas.microsoft.com/office/drawing/2014/main" id="{724E33F1-45A5-D252-D04B-BB03AA93FC30}"/>
              </a:ext>
            </a:extLst>
          </p:cNvPr>
          <p:cNvGrpSpPr>
            <a:grpSpLocks/>
          </p:cNvGrpSpPr>
          <p:nvPr/>
        </p:nvGrpSpPr>
        <p:grpSpPr bwMode="auto">
          <a:xfrm>
            <a:off x="3491880" y="2004834"/>
            <a:ext cx="80963" cy="80963"/>
            <a:chOff x="7884368" y="3284984"/>
            <a:chExt cx="216024" cy="216024"/>
          </a:xfrm>
        </p:grpSpPr>
        <p:cxnSp>
          <p:nvCxnSpPr>
            <p:cNvPr id="38065" name="Rak 25">
              <a:extLst>
                <a:ext uri="{FF2B5EF4-FFF2-40B4-BE49-F238E27FC236}">
                  <a16:creationId xmlns:a16="http://schemas.microsoft.com/office/drawing/2014/main" id="{FF8F8372-EF82-6989-2DCE-EBB9F563AF27}"/>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66" name="Rak 26">
              <a:extLst>
                <a:ext uri="{FF2B5EF4-FFF2-40B4-BE49-F238E27FC236}">
                  <a16:creationId xmlns:a16="http://schemas.microsoft.com/office/drawing/2014/main" id="{1466D381-B9DC-0B02-2265-7A7B0CF92807}"/>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67" name="Grupp 24">
            <a:extLst>
              <a:ext uri="{FF2B5EF4-FFF2-40B4-BE49-F238E27FC236}">
                <a16:creationId xmlns:a16="http://schemas.microsoft.com/office/drawing/2014/main" id="{4ED0FBD2-FE4D-36E6-F524-4AEFBFCF7EAE}"/>
              </a:ext>
            </a:extLst>
          </p:cNvPr>
          <p:cNvGrpSpPr>
            <a:grpSpLocks/>
          </p:cNvGrpSpPr>
          <p:nvPr/>
        </p:nvGrpSpPr>
        <p:grpSpPr bwMode="auto">
          <a:xfrm>
            <a:off x="557714" y="2355726"/>
            <a:ext cx="80963" cy="80963"/>
            <a:chOff x="7884368" y="3284984"/>
            <a:chExt cx="216024" cy="216024"/>
          </a:xfrm>
        </p:grpSpPr>
        <p:cxnSp>
          <p:nvCxnSpPr>
            <p:cNvPr id="38068" name="Rak 25">
              <a:extLst>
                <a:ext uri="{FF2B5EF4-FFF2-40B4-BE49-F238E27FC236}">
                  <a16:creationId xmlns:a16="http://schemas.microsoft.com/office/drawing/2014/main" id="{C3CBC74E-E815-BE78-A5A2-30E21C64D278}"/>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69" name="Rak 26">
              <a:extLst>
                <a:ext uri="{FF2B5EF4-FFF2-40B4-BE49-F238E27FC236}">
                  <a16:creationId xmlns:a16="http://schemas.microsoft.com/office/drawing/2014/main" id="{85C38E67-9B0D-2545-ADFF-CBDF5909EC56}"/>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70" name="Grupp 24">
            <a:extLst>
              <a:ext uri="{FF2B5EF4-FFF2-40B4-BE49-F238E27FC236}">
                <a16:creationId xmlns:a16="http://schemas.microsoft.com/office/drawing/2014/main" id="{10BABE50-0AAC-CA20-39C0-633D242D81AF}"/>
              </a:ext>
            </a:extLst>
          </p:cNvPr>
          <p:cNvGrpSpPr>
            <a:grpSpLocks/>
          </p:cNvGrpSpPr>
          <p:nvPr/>
        </p:nvGrpSpPr>
        <p:grpSpPr bwMode="auto">
          <a:xfrm>
            <a:off x="1597352" y="1485079"/>
            <a:ext cx="80963" cy="80963"/>
            <a:chOff x="7884368" y="3284984"/>
            <a:chExt cx="216024" cy="216024"/>
          </a:xfrm>
        </p:grpSpPr>
        <p:cxnSp>
          <p:nvCxnSpPr>
            <p:cNvPr id="38071" name="Rak 25">
              <a:extLst>
                <a:ext uri="{FF2B5EF4-FFF2-40B4-BE49-F238E27FC236}">
                  <a16:creationId xmlns:a16="http://schemas.microsoft.com/office/drawing/2014/main" id="{DA685C7C-088F-040F-EED4-DD3FD6FECEF3}"/>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72" name="Rak 26">
              <a:extLst>
                <a:ext uri="{FF2B5EF4-FFF2-40B4-BE49-F238E27FC236}">
                  <a16:creationId xmlns:a16="http://schemas.microsoft.com/office/drawing/2014/main" id="{06D0ABCC-B82C-3EE0-EB43-D1BF3950F6C9}"/>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73" name="Grupp 24">
            <a:extLst>
              <a:ext uri="{FF2B5EF4-FFF2-40B4-BE49-F238E27FC236}">
                <a16:creationId xmlns:a16="http://schemas.microsoft.com/office/drawing/2014/main" id="{A642DDFE-CA1A-6C29-C523-E40622A45511}"/>
              </a:ext>
            </a:extLst>
          </p:cNvPr>
          <p:cNvGrpSpPr>
            <a:grpSpLocks/>
          </p:cNvGrpSpPr>
          <p:nvPr/>
        </p:nvGrpSpPr>
        <p:grpSpPr bwMode="auto">
          <a:xfrm>
            <a:off x="130751" y="2801540"/>
            <a:ext cx="80963" cy="80963"/>
            <a:chOff x="7884368" y="3284984"/>
            <a:chExt cx="216024" cy="216024"/>
          </a:xfrm>
        </p:grpSpPr>
        <p:cxnSp>
          <p:nvCxnSpPr>
            <p:cNvPr id="38074" name="Rak 25">
              <a:extLst>
                <a:ext uri="{FF2B5EF4-FFF2-40B4-BE49-F238E27FC236}">
                  <a16:creationId xmlns:a16="http://schemas.microsoft.com/office/drawing/2014/main" id="{458B73FD-D329-B09F-5F28-5D3FAA63E817}"/>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75" name="Rak 26">
              <a:extLst>
                <a:ext uri="{FF2B5EF4-FFF2-40B4-BE49-F238E27FC236}">
                  <a16:creationId xmlns:a16="http://schemas.microsoft.com/office/drawing/2014/main" id="{C0253F91-FFD6-F7CF-4EE5-285D6F52673C}"/>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8076" name="Grupp 24">
            <a:extLst>
              <a:ext uri="{FF2B5EF4-FFF2-40B4-BE49-F238E27FC236}">
                <a16:creationId xmlns:a16="http://schemas.microsoft.com/office/drawing/2014/main" id="{9670B223-09FC-968F-0A66-814DD76CFDE2}"/>
              </a:ext>
            </a:extLst>
          </p:cNvPr>
          <p:cNvGrpSpPr>
            <a:grpSpLocks/>
          </p:cNvGrpSpPr>
          <p:nvPr/>
        </p:nvGrpSpPr>
        <p:grpSpPr bwMode="auto">
          <a:xfrm>
            <a:off x="413698" y="3507854"/>
            <a:ext cx="80963" cy="80963"/>
            <a:chOff x="7884368" y="3284984"/>
            <a:chExt cx="216024" cy="216024"/>
          </a:xfrm>
        </p:grpSpPr>
        <p:cxnSp>
          <p:nvCxnSpPr>
            <p:cNvPr id="38077" name="Rak 25">
              <a:extLst>
                <a:ext uri="{FF2B5EF4-FFF2-40B4-BE49-F238E27FC236}">
                  <a16:creationId xmlns:a16="http://schemas.microsoft.com/office/drawing/2014/main" id="{005A7CF9-E17C-7474-CCD7-AA235ED7B319}"/>
                </a:ext>
              </a:extLst>
            </p:cNvPr>
            <p:cNvCxnSpPr/>
            <p:nvPr/>
          </p:nvCxnSpPr>
          <p:spPr>
            <a:xfrm>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078" name="Rak 26">
              <a:extLst>
                <a:ext uri="{FF2B5EF4-FFF2-40B4-BE49-F238E27FC236}">
                  <a16:creationId xmlns:a16="http://schemas.microsoft.com/office/drawing/2014/main" id="{018D6B4B-543A-BEAC-1A89-0B8E4FEA8012}"/>
                </a:ext>
              </a:extLst>
            </p:cNvPr>
            <p:cNvCxnSpPr/>
            <p:nvPr/>
          </p:nvCxnSpPr>
          <p:spPr>
            <a:xfrm flipH="1">
              <a:off x="7884368" y="3284984"/>
              <a:ext cx="216024" cy="2160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61" name="Rektangel 4">
            <a:extLst>
              <a:ext uri="{FF2B5EF4-FFF2-40B4-BE49-F238E27FC236}">
                <a16:creationId xmlns:a16="http://schemas.microsoft.com/office/drawing/2014/main" id="{124B4054-7AAB-4A36-B4CD-5C2B258203D7}"/>
              </a:ext>
            </a:extLst>
          </p:cNvPr>
          <p:cNvSpPr/>
          <p:nvPr/>
        </p:nvSpPr>
        <p:spPr>
          <a:xfrm>
            <a:off x="6290388" y="1131590"/>
            <a:ext cx="1154847" cy="1979515"/>
          </a:xfrm>
          <a:prstGeom prst="rect">
            <a:avLst/>
          </a:prstGeom>
          <a:solidFill>
            <a:schemeClr val="accent3">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sv-SE" dirty="0">
              <a:solidFill>
                <a:prstClr val="white"/>
              </a:solidFill>
              <a:highlight>
                <a:srgbClr val="FFFF00"/>
              </a:highlight>
              <a:latin typeface="Tahoma"/>
            </a:endParaRPr>
          </a:p>
        </p:txBody>
      </p:sp>
      <p:sp>
        <p:nvSpPr>
          <p:cNvPr id="60" name="Platshållare för innehåll 1">
            <a:extLst>
              <a:ext uri="{FF2B5EF4-FFF2-40B4-BE49-F238E27FC236}">
                <a16:creationId xmlns:a16="http://schemas.microsoft.com/office/drawing/2014/main" id="{1EB7D209-9911-063C-1AB2-EB58C62544B9}"/>
              </a:ext>
            </a:extLst>
          </p:cNvPr>
          <p:cNvSpPr txBox="1">
            <a:spLocks/>
          </p:cNvSpPr>
          <p:nvPr/>
        </p:nvSpPr>
        <p:spPr>
          <a:xfrm>
            <a:off x="5452551" y="673798"/>
            <a:ext cx="2592660" cy="457792"/>
          </a:xfrm>
          <a:prstGeom prst="rect">
            <a:avLst/>
          </a:prstGeom>
          <a:solidFill>
            <a:schemeClr val="accent3">
              <a:lumMod val="60000"/>
              <a:lumOff val="40000"/>
            </a:schemeClr>
          </a:solidFill>
        </p:spPr>
        <p:txBody>
          <a:bodyPr vert="horz" lIns="0" tIns="0" rIns="0" bIns="0" rtlCol="0">
            <a:noAutofit/>
          </a:bodyPr>
          <a:lstStyle>
            <a:lvl1pPr marL="180000" indent="-180000" algn="l" defTabSz="457200" rtl="0" eaLnBrk="1" fontAlgn="base" hangingPunct="1">
              <a:lnSpc>
                <a:spcPct val="110000"/>
              </a:lnSpc>
              <a:spcBef>
                <a:spcPts val="800"/>
              </a:spcBef>
              <a:spcAft>
                <a:spcPct val="0"/>
              </a:spcAft>
              <a:buFont typeface="Arial" charset="0"/>
              <a:buChar char="•"/>
              <a:defRPr lang="sv-SE" sz="1800" kern="1200" dirty="0" smtClean="0">
                <a:solidFill>
                  <a:schemeClr val="tx1">
                    <a:lumMod val="85000"/>
                    <a:lumOff val="15000"/>
                  </a:schemeClr>
                </a:solidFill>
                <a:latin typeface="+mj-lt"/>
                <a:ea typeface="ＭＳ Ｐゴシック" pitchFamily="-65" charset="-128"/>
                <a:cs typeface="Arial" panose="020B0604020202020204" pitchFamily="34" charset="0"/>
              </a:defRPr>
            </a:lvl1pPr>
            <a:lvl2pPr marL="501750" indent="-285750" algn="l" defTabSz="457200" rtl="0" eaLnBrk="1" fontAlgn="base" hangingPunct="1">
              <a:lnSpc>
                <a:spcPct val="100000"/>
              </a:lnSpc>
              <a:spcBef>
                <a:spcPts val="20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ＭＳ Ｐゴシック" pitchFamily="-65" charset="-128"/>
                <a:cs typeface="Arial" panose="020B0604020202020204" pitchFamily="34" charset="0"/>
              </a:defRPr>
            </a:lvl2pPr>
            <a:lvl3pPr marL="717750" indent="-285750" algn="l" defTabSz="457200" rtl="0" eaLnBrk="1" fontAlgn="base" hangingPunct="1">
              <a:spcBef>
                <a:spcPts val="0"/>
              </a:spcBef>
              <a:spcAft>
                <a:spcPts val="300"/>
              </a:spcAft>
              <a:buFont typeface="Wingdings" panose="05000000000000000000" pitchFamily="2" charset="2"/>
              <a:buChar char="§"/>
              <a:defRPr lang="sv-SE" sz="1600" kern="1200" dirty="0" smtClean="0">
                <a:solidFill>
                  <a:schemeClr val="tx1">
                    <a:lumMod val="85000"/>
                    <a:lumOff val="15000"/>
                  </a:schemeClr>
                </a:solidFill>
                <a:latin typeface="+mj-lt"/>
                <a:ea typeface="ＭＳ Ｐゴシック" charset="0"/>
                <a:cs typeface="Arial" panose="020B0604020202020204" pitchFamily="34" charset="0"/>
              </a:defRPr>
            </a:lvl3pPr>
            <a:lvl4pPr marL="933750" indent="-285750" algn="l" defTabSz="457200" rtl="0" eaLnBrk="1" fontAlgn="base" hangingPunct="1">
              <a:spcBef>
                <a:spcPts val="0"/>
              </a:spcBef>
              <a:spcAft>
                <a:spcPts val="300"/>
              </a:spcAft>
              <a:buFont typeface="Arial" panose="020B0604020202020204" pitchFamily="34" charset="0"/>
              <a:buChar char="•"/>
              <a:defRPr lang="sv-SE" sz="1600" kern="1200" baseline="0" dirty="0" smtClean="0">
                <a:solidFill>
                  <a:schemeClr val="tx1">
                    <a:lumMod val="85000"/>
                    <a:lumOff val="15000"/>
                  </a:schemeClr>
                </a:solidFill>
                <a:latin typeface="+mj-lt"/>
                <a:ea typeface="Helvetica" charset="0"/>
                <a:cs typeface="Arial" panose="020B0604020202020204" pitchFamily="34" charset="0"/>
              </a:defRPr>
            </a:lvl4pPr>
            <a:lvl5pPr marL="1149750" indent="-285750" algn="l" defTabSz="457200" rtl="0" eaLnBrk="1" fontAlgn="base" hangingPunct="1">
              <a:spcBef>
                <a:spcPts val="0"/>
              </a:spcBef>
              <a:spcAft>
                <a:spcPct val="0"/>
              </a:spcAft>
              <a:buFont typeface="Arial" panose="020B0604020202020204" pitchFamily="34" charset="0"/>
              <a:buChar char="–"/>
              <a:defRPr lang="sv-SE" sz="1600" kern="1200" dirty="0">
                <a:solidFill>
                  <a:schemeClr val="tx1">
                    <a:lumMod val="85000"/>
                    <a:lumOff val="15000"/>
                  </a:schemeClr>
                </a:solidFill>
                <a:latin typeface="+mj-lt"/>
                <a:ea typeface="Helvetica" charset="0"/>
                <a:cs typeface="Arial" panose="020B0604020202020204" pitchFamily="34" charset="0"/>
              </a:defRPr>
            </a:lvl5pPr>
            <a:lvl6pPr marL="1616075" indent="-215900" algn="l" defTabSz="457200" rtl="0" eaLnBrk="1" latinLnBrk="0" hangingPunct="1">
              <a:spcBef>
                <a:spcPts val="0"/>
              </a:spcBef>
              <a:buFont typeface="Wingdings" panose="05000000000000000000" pitchFamily="2" charset="2"/>
              <a:buChar char="§"/>
              <a:defRPr sz="17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charset="0"/>
              <a:buNone/>
              <a:defRPr/>
            </a:pPr>
            <a:r>
              <a:rPr lang="en-US" sz="2400" dirty="0">
                <a:solidFill>
                  <a:srgbClr val="002060"/>
                </a:solidFill>
                <a:latin typeface="Verdana" panose="020B0604030504040204" pitchFamily="34" charset="0"/>
                <a:ea typeface="Verdana" panose="020B0604030504040204" pitchFamily="34" charset="0"/>
                <a:cs typeface="Times New Roman" panose="02020603050405020304" pitchFamily="18" charset="0"/>
              </a:rPr>
              <a:t>under coverage</a:t>
            </a:r>
            <a:endParaRPr lang="en-US" sz="2400" dirty="0">
              <a:solidFill>
                <a:srgbClr val="002060"/>
              </a:solidFill>
              <a:highlight>
                <a:srgbClr val="C0C0C0"/>
              </a:highlight>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0424451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nodeType="clickEffect">
                                  <p:stCondLst>
                                    <p:cond delay="0"/>
                                  </p:stCondLst>
                                  <p:childTnLst>
                                    <p:anim calcmode="lin" valueType="num">
                                      <p:cBhvr additive="base">
                                        <p:cTn id="10" dur="500"/>
                                        <p:tgtEl>
                                          <p:spTgt spid="38055"/>
                                        </p:tgtEl>
                                        <p:attrNameLst>
                                          <p:attrName>ppt_x</p:attrName>
                                        </p:attrNameLst>
                                      </p:cBhvr>
                                      <p:tavLst>
                                        <p:tav tm="0">
                                          <p:val>
                                            <p:strVal val="ppt_x"/>
                                          </p:val>
                                        </p:tav>
                                        <p:tav tm="100000">
                                          <p:val>
                                            <p:strVal val="ppt_x"/>
                                          </p:val>
                                        </p:tav>
                                      </p:tavLst>
                                    </p:anim>
                                    <p:anim calcmode="lin" valueType="num">
                                      <p:cBhvr additive="base">
                                        <p:cTn id="11" dur="500"/>
                                        <p:tgtEl>
                                          <p:spTgt spid="38055"/>
                                        </p:tgtEl>
                                        <p:attrNameLst>
                                          <p:attrName>ppt_y</p:attrName>
                                        </p:attrNameLst>
                                      </p:cBhvr>
                                      <p:tavLst>
                                        <p:tav tm="0">
                                          <p:val>
                                            <p:strVal val="ppt_y"/>
                                          </p:val>
                                        </p:tav>
                                        <p:tav tm="100000">
                                          <p:val>
                                            <p:strVal val="1+ppt_h/2"/>
                                          </p:val>
                                        </p:tav>
                                      </p:tavLst>
                                    </p:anim>
                                    <p:set>
                                      <p:cBhvr>
                                        <p:cTn id="12" dur="1" fill="hold">
                                          <p:stCondLst>
                                            <p:cond delay="499"/>
                                          </p:stCondLst>
                                        </p:cTn>
                                        <p:tgtEl>
                                          <p:spTgt spid="38055"/>
                                        </p:tgtEl>
                                        <p:attrNameLst>
                                          <p:attrName>style.visibility</p:attrName>
                                        </p:attrNameLst>
                                      </p:cBhvr>
                                      <p:to>
                                        <p:strVal val="hidden"/>
                                      </p:to>
                                    </p:set>
                                  </p:childTnLst>
                                </p:cTn>
                              </p:par>
                              <p:par>
                                <p:cTn id="13" presetID="2" presetClass="exit" presetSubtype="4" fill="hold" nodeType="withEffect">
                                  <p:stCondLst>
                                    <p:cond delay="0"/>
                                  </p:stCondLst>
                                  <p:childTnLst>
                                    <p:anim calcmode="lin" valueType="num">
                                      <p:cBhvr additive="base">
                                        <p:cTn id="14" dur="500"/>
                                        <p:tgtEl>
                                          <p:spTgt spid="38064"/>
                                        </p:tgtEl>
                                        <p:attrNameLst>
                                          <p:attrName>ppt_x</p:attrName>
                                        </p:attrNameLst>
                                      </p:cBhvr>
                                      <p:tavLst>
                                        <p:tav tm="0">
                                          <p:val>
                                            <p:strVal val="ppt_x"/>
                                          </p:val>
                                        </p:tav>
                                        <p:tav tm="100000">
                                          <p:val>
                                            <p:strVal val="ppt_x"/>
                                          </p:val>
                                        </p:tav>
                                      </p:tavLst>
                                    </p:anim>
                                    <p:anim calcmode="lin" valueType="num">
                                      <p:cBhvr additive="base">
                                        <p:cTn id="15" dur="500"/>
                                        <p:tgtEl>
                                          <p:spTgt spid="38064"/>
                                        </p:tgtEl>
                                        <p:attrNameLst>
                                          <p:attrName>ppt_y</p:attrName>
                                        </p:attrNameLst>
                                      </p:cBhvr>
                                      <p:tavLst>
                                        <p:tav tm="0">
                                          <p:val>
                                            <p:strVal val="ppt_y"/>
                                          </p:val>
                                        </p:tav>
                                        <p:tav tm="100000">
                                          <p:val>
                                            <p:strVal val="1+ppt_h/2"/>
                                          </p:val>
                                        </p:tav>
                                      </p:tavLst>
                                    </p:anim>
                                    <p:set>
                                      <p:cBhvr>
                                        <p:cTn id="16" dur="1" fill="hold">
                                          <p:stCondLst>
                                            <p:cond delay="499"/>
                                          </p:stCondLst>
                                        </p:cTn>
                                        <p:tgtEl>
                                          <p:spTgt spid="38064"/>
                                        </p:tgtEl>
                                        <p:attrNameLst>
                                          <p:attrName>style.visibility</p:attrName>
                                        </p:attrNameLst>
                                      </p:cBhvr>
                                      <p:to>
                                        <p:strVal val="hidden"/>
                                      </p:to>
                                    </p:set>
                                  </p:childTnLst>
                                </p:cTn>
                              </p:par>
                              <p:par>
                                <p:cTn id="17" presetID="2" presetClass="entr" presetSubtype="1" fill="hold" nodeType="withEffect">
                                  <p:stCondLst>
                                    <p:cond delay="0"/>
                                  </p:stCondLst>
                                  <p:childTnLst>
                                    <p:set>
                                      <p:cBhvr>
                                        <p:cTn id="18" dur="1" fill="hold">
                                          <p:stCondLst>
                                            <p:cond delay="0"/>
                                          </p:stCondLst>
                                        </p:cTn>
                                        <p:tgtEl>
                                          <p:spTgt spid="38034"/>
                                        </p:tgtEl>
                                        <p:attrNameLst>
                                          <p:attrName>style.visibility</p:attrName>
                                        </p:attrNameLst>
                                      </p:cBhvr>
                                      <p:to>
                                        <p:strVal val="visible"/>
                                      </p:to>
                                    </p:set>
                                    <p:anim calcmode="lin" valueType="num">
                                      <p:cBhvr additive="base">
                                        <p:cTn id="19" dur="500" fill="hold"/>
                                        <p:tgtEl>
                                          <p:spTgt spid="38034"/>
                                        </p:tgtEl>
                                        <p:attrNameLst>
                                          <p:attrName>ppt_x</p:attrName>
                                        </p:attrNameLst>
                                      </p:cBhvr>
                                      <p:tavLst>
                                        <p:tav tm="0">
                                          <p:val>
                                            <p:strVal val="#ppt_x"/>
                                          </p:val>
                                        </p:tav>
                                        <p:tav tm="100000">
                                          <p:val>
                                            <p:strVal val="#ppt_x"/>
                                          </p:val>
                                        </p:tav>
                                      </p:tavLst>
                                    </p:anim>
                                    <p:anim calcmode="lin" valueType="num">
                                      <p:cBhvr additive="base">
                                        <p:cTn id="20" dur="500" fill="hold"/>
                                        <p:tgtEl>
                                          <p:spTgt spid="38034"/>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38025"/>
                                        </p:tgtEl>
                                        <p:attrNameLst>
                                          <p:attrName>style.visibility</p:attrName>
                                        </p:attrNameLst>
                                      </p:cBhvr>
                                      <p:to>
                                        <p:strVal val="visible"/>
                                      </p:to>
                                    </p:set>
                                    <p:anim calcmode="lin" valueType="num">
                                      <p:cBhvr additive="base">
                                        <p:cTn id="23" dur="500" fill="hold"/>
                                        <p:tgtEl>
                                          <p:spTgt spid="38025"/>
                                        </p:tgtEl>
                                        <p:attrNameLst>
                                          <p:attrName>ppt_x</p:attrName>
                                        </p:attrNameLst>
                                      </p:cBhvr>
                                      <p:tavLst>
                                        <p:tav tm="0">
                                          <p:val>
                                            <p:strVal val="#ppt_x"/>
                                          </p:val>
                                        </p:tav>
                                        <p:tav tm="100000">
                                          <p:val>
                                            <p:strVal val="#ppt_x"/>
                                          </p:val>
                                        </p:tav>
                                      </p:tavLst>
                                    </p:anim>
                                    <p:anim calcmode="lin" valueType="num">
                                      <p:cBhvr additive="base">
                                        <p:cTn id="24" dur="500" fill="hold"/>
                                        <p:tgtEl>
                                          <p:spTgt spid="38025"/>
                                        </p:tgtEl>
                                        <p:attrNameLst>
                                          <p:attrName>ppt_y</p:attrName>
                                        </p:attrNameLst>
                                      </p:cBhvr>
                                      <p:tavLst>
                                        <p:tav tm="0">
                                          <p:val>
                                            <p:strVal val="0-#ppt_h/2"/>
                                          </p:val>
                                        </p:tav>
                                        <p:tav tm="100000">
                                          <p:val>
                                            <p:strVal val="#ppt_y"/>
                                          </p:val>
                                        </p:tav>
                                      </p:tavLst>
                                    </p:anim>
                                  </p:childTnLst>
                                </p:cTn>
                              </p:par>
                              <p:par>
                                <p:cTn id="25" presetID="2" presetClass="entr" presetSubtype="1" fill="hold" nodeType="withEffect">
                                  <p:stCondLst>
                                    <p:cond delay="0"/>
                                  </p:stCondLst>
                                  <p:childTnLst>
                                    <p:set>
                                      <p:cBhvr>
                                        <p:cTn id="26" dur="1" fill="hold">
                                          <p:stCondLst>
                                            <p:cond delay="0"/>
                                          </p:stCondLst>
                                        </p:cTn>
                                        <p:tgtEl>
                                          <p:spTgt spid="38028"/>
                                        </p:tgtEl>
                                        <p:attrNameLst>
                                          <p:attrName>style.visibility</p:attrName>
                                        </p:attrNameLst>
                                      </p:cBhvr>
                                      <p:to>
                                        <p:strVal val="visible"/>
                                      </p:to>
                                    </p:set>
                                    <p:anim calcmode="lin" valueType="num">
                                      <p:cBhvr additive="base">
                                        <p:cTn id="27" dur="500" fill="hold"/>
                                        <p:tgtEl>
                                          <p:spTgt spid="38028"/>
                                        </p:tgtEl>
                                        <p:attrNameLst>
                                          <p:attrName>ppt_x</p:attrName>
                                        </p:attrNameLst>
                                      </p:cBhvr>
                                      <p:tavLst>
                                        <p:tav tm="0">
                                          <p:val>
                                            <p:strVal val="#ppt_x"/>
                                          </p:val>
                                        </p:tav>
                                        <p:tav tm="100000">
                                          <p:val>
                                            <p:strVal val="#ppt_x"/>
                                          </p:val>
                                        </p:tav>
                                      </p:tavLst>
                                    </p:anim>
                                    <p:anim calcmode="lin" valueType="num">
                                      <p:cBhvr additive="base">
                                        <p:cTn id="28" dur="500" fill="hold"/>
                                        <p:tgtEl>
                                          <p:spTgt spid="38028"/>
                                        </p:tgtEl>
                                        <p:attrNameLst>
                                          <p:attrName>ppt_y</p:attrName>
                                        </p:attrNameLst>
                                      </p:cBhvr>
                                      <p:tavLst>
                                        <p:tav tm="0">
                                          <p:val>
                                            <p:strVal val="0-#ppt_h/2"/>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38022"/>
                                        </p:tgtEl>
                                        <p:attrNameLst>
                                          <p:attrName>style.visibility</p:attrName>
                                        </p:attrNameLst>
                                      </p:cBhvr>
                                      <p:to>
                                        <p:strVal val="visible"/>
                                      </p:to>
                                    </p:set>
                                    <p:anim calcmode="lin" valueType="num">
                                      <p:cBhvr additive="base">
                                        <p:cTn id="31" dur="500" fill="hold"/>
                                        <p:tgtEl>
                                          <p:spTgt spid="38022"/>
                                        </p:tgtEl>
                                        <p:attrNameLst>
                                          <p:attrName>ppt_x</p:attrName>
                                        </p:attrNameLst>
                                      </p:cBhvr>
                                      <p:tavLst>
                                        <p:tav tm="0">
                                          <p:val>
                                            <p:strVal val="#ppt_x"/>
                                          </p:val>
                                        </p:tav>
                                        <p:tav tm="100000">
                                          <p:val>
                                            <p:strVal val="#ppt_x"/>
                                          </p:val>
                                        </p:tav>
                                      </p:tavLst>
                                    </p:anim>
                                    <p:anim calcmode="lin" valueType="num">
                                      <p:cBhvr additive="base">
                                        <p:cTn id="32" dur="500" fill="hold"/>
                                        <p:tgtEl>
                                          <p:spTgt spid="38022"/>
                                        </p:tgtEl>
                                        <p:attrNameLst>
                                          <p:attrName>ppt_y</p:attrName>
                                        </p:attrNameLst>
                                      </p:cBhvr>
                                      <p:tavLst>
                                        <p:tav tm="0">
                                          <p:val>
                                            <p:strVal val="0-#ppt_h/2"/>
                                          </p:val>
                                        </p:tav>
                                        <p:tav tm="100000">
                                          <p:val>
                                            <p:strVal val="#ppt_y"/>
                                          </p:val>
                                        </p:tav>
                                      </p:tavLst>
                                    </p:anim>
                                  </p:childTnLst>
                                </p:cTn>
                              </p:par>
                              <p:par>
                                <p:cTn id="33" presetID="2" presetClass="entr" presetSubtype="1" fill="hold" nodeType="withEffect">
                                  <p:stCondLst>
                                    <p:cond delay="0"/>
                                  </p:stCondLst>
                                  <p:childTnLst>
                                    <p:set>
                                      <p:cBhvr>
                                        <p:cTn id="34" dur="1" fill="hold">
                                          <p:stCondLst>
                                            <p:cond delay="0"/>
                                          </p:stCondLst>
                                        </p:cTn>
                                        <p:tgtEl>
                                          <p:spTgt spid="38031"/>
                                        </p:tgtEl>
                                        <p:attrNameLst>
                                          <p:attrName>style.visibility</p:attrName>
                                        </p:attrNameLst>
                                      </p:cBhvr>
                                      <p:to>
                                        <p:strVal val="visible"/>
                                      </p:to>
                                    </p:set>
                                    <p:anim calcmode="lin" valueType="num">
                                      <p:cBhvr additive="base">
                                        <p:cTn id="35" dur="500" fill="hold"/>
                                        <p:tgtEl>
                                          <p:spTgt spid="38031"/>
                                        </p:tgtEl>
                                        <p:attrNameLst>
                                          <p:attrName>ppt_x</p:attrName>
                                        </p:attrNameLst>
                                      </p:cBhvr>
                                      <p:tavLst>
                                        <p:tav tm="0">
                                          <p:val>
                                            <p:strVal val="#ppt_x"/>
                                          </p:val>
                                        </p:tav>
                                        <p:tav tm="100000">
                                          <p:val>
                                            <p:strVal val="#ppt_x"/>
                                          </p:val>
                                        </p:tav>
                                      </p:tavLst>
                                    </p:anim>
                                    <p:anim calcmode="lin" valueType="num">
                                      <p:cBhvr additive="base">
                                        <p:cTn id="36" dur="500" fill="hold"/>
                                        <p:tgtEl>
                                          <p:spTgt spid="38031"/>
                                        </p:tgtEl>
                                        <p:attrNameLst>
                                          <p:attrName>ppt_y</p:attrName>
                                        </p:attrNameLst>
                                      </p:cBhvr>
                                      <p:tavLst>
                                        <p:tav tm="0">
                                          <p:val>
                                            <p:strVal val="0-#ppt_h/2"/>
                                          </p:val>
                                        </p:tav>
                                        <p:tav tm="100000">
                                          <p:val>
                                            <p:strVal val="#ppt_y"/>
                                          </p:val>
                                        </p:tav>
                                      </p:tavLst>
                                    </p:anim>
                                  </p:childTnLst>
                                </p:cTn>
                              </p:par>
                              <p:par>
                                <p:cTn id="37" presetID="2" presetClass="entr" presetSubtype="1" fill="hold" nodeType="withEffect">
                                  <p:stCondLst>
                                    <p:cond delay="0"/>
                                  </p:stCondLst>
                                  <p:childTnLst>
                                    <p:set>
                                      <p:cBhvr>
                                        <p:cTn id="38" dur="1" fill="hold">
                                          <p:stCondLst>
                                            <p:cond delay="0"/>
                                          </p:stCondLst>
                                        </p:cTn>
                                        <p:tgtEl>
                                          <p:spTgt spid="38019"/>
                                        </p:tgtEl>
                                        <p:attrNameLst>
                                          <p:attrName>style.visibility</p:attrName>
                                        </p:attrNameLst>
                                      </p:cBhvr>
                                      <p:to>
                                        <p:strVal val="visible"/>
                                      </p:to>
                                    </p:set>
                                    <p:anim calcmode="lin" valueType="num">
                                      <p:cBhvr additive="base">
                                        <p:cTn id="39" dur="500" fill="hold"/>
                                        <p:tgtEl>
                                          <p:spTgt spid="38019"/>
                                        </p:tgtEl>
                                        <p:attrNameLst>
                                          <p:attrName>ppt_x</p:attrName>
                                        </p:attrNameLst>
                                      </p:cBhvr>
                                      <p:tavLst>
                                        <p:tav tm="0">
                                          <p:val>
                                            <p:strVal val="#ppt_x"/>
                                          </p:val>
                                        </p:tav>
                                        <p:tav tm="100000">
                                          <p:val>
                                            <p:strVal val="#ppt_x"/>
                                          </p:val>
                                        </p:tav>
                                      </p:tavLst>
                                    </p:anim>
                                    <p:anim calcmode="lin" valueType="num">
                                      <p:cBhvr additive="base">
                                        <p:cTn id="40" dur="500" fill="hold"/>
                                        <p:tgtEl>
                                          <p:spTgt spid="38019"/>
                                        </p:tgtEl>
                                        <p:attrNameLst>
                                          <p:attrName>ppt_y</p:attrName>
                                        </p:attrNameLst>
                                      </p:cBhvr>
                                      <p:tavLst>
                                        <p:tav tm="0">
                                          <p:val>
                                            <p:strVal val="0-#ppt_h/2"/>
                                          </p:val>
                                        </p:tav>
                                        <p:tav tm="100000">
                                          <p:val>
                                            <p:strVal val="#ppt_y"/>
                                          </p:val>
                                        </p:tav>
                                      </p:tavLst>
                                    </p:anim>
                                  </p:childTnLst>
                                </p:cTn>
                              </p:par>
                              <p:par>
                                <p:cTn id="41" presetID="2" presetClass="entr" presetSubtype="1" fill="hold" nodeType="withEffect">
                                  <p:stCondLst>
                                    <p:cond delay="0"/>
                                  </p:stCondLst>
                                  <p:childTnLst>
                                    <p:set>
                                      <p:cBhvr>
                                        <p:cTn id="42" dur="1" fill="hold">
                                          <p:stCondLst>
                                            <p:cond delay="0"/>
                                          </p:stCondLst>
                                        </p:cTn>
                                        <p:tgtEl>
                                          <p:spTgt spid="38070"/>
                                        </p:tgtEl>
                                        <p:attrNameLst>
                                          <p:attrName>style.visibility</p:attrName>
                                        </p:attrNameLst>
                                      </p:cBhvr>
                                      <p:to>
                                        <p:strVal val="visible"/>
                                      </p:to>
                                    </p:set>
                                    <p:anim calcmode="lin" valueType="num">
                                      <p:cBhvr additive="base">
                                        <p:cTn id="43" dur="500" fill="hold"/>
                                        <p:tgtEl>
                                          <p:spTgt spid="38070"/>
                                        </p:tgtEl>
                                        <p:attrNameLst>
                                          <p:attrName>ppt_x</p:attrName>
                                        </p:attrNameLst>
                                      </p:cBhvr>
                                      <p:tavLst>
                                        <p:tav tm="0">
                                          <p:val>
                                            <p:strVal val="#ppt_x"/>
                                          </p:val>
                                        </p:tav>
                                        <p:tav tm="100000">
                                          <p:val>
                                            <p:strVal val="#ppt_x"/>
                                          </p:val>
                                        </p:tav>
                                      </p:tavLst>
                                    </p:anim>
                                    <p:anim calcmode="lin" valueType="num">
                                      <p:cBhvr additive="base">
                                        <p:cTn id="44" dur="500" fill="hold"/>
                                        <p:tgtEl>
                                          <p:spTgt spid="38070"/>
                                        </p:tgtEl>
                                        <p:attrNameLst>
                                          <p:attrName>ppt_y</p:attrName>
                                        </p:attrNameLst>
                                      </p:cBhvr>
                                      <p:tavLst>
                                        <p:tav tm="0">
                                          <p:val>
                                            <p:strVal val="0-#ppt_h/2"/>
                                          </p:val>
                                        </p:tav>
                                        <p:tav tm="100000">
                                          <p:val>
                                            <p:strVal val="#ppt_y"/>
                                          </p:val>
                                        </p:tav>
                                      </p:tavLst>
                                    </p:anim>
                                  </p:childTnLst>
                                </p:cTn>
                              </p:par>
                              <p:par>
                                <p:cTn id="45" presetID="2" presetClass="entr" presetSubtype="1" fill="hold" nodeType="withEffect">
                                  <p:stCondLst>
                                    <p:cond delay="0"/>
                                  </p:stCondLst>
                                  <p:childTnLst>
                                    <p:set>
                                      <p:cBhvr>
                                        <p:cTn id="46" dur="1" fill="hold">
                                          <p:stCondLst>
                                            <p:cond delay="0"/>
                                          </p:stCondLst>
                                        </p:cTn>
                                        <p:tgtEl>
                                          <p:spTgt spid="38049"/>
                                        </p:tgtEl>
                                        <p:attrNameLst>
                                          <p:attrName>style.visibility</p:attrName>
                                        </p:attrNameLst>
                                      </p:cBhvr>
                                      <p:to>
                                        <p:strVal val="visible"/>
                                      </p:to>
                                    </p:set>
                                    <p:anim calcmode="lin" valueType="num">
                                      <p:cBhvr additive="base">
                                        <p:cTn id="47" dur="500" fill="hold"/>
                                        <p:tgtEl>
                                          <p:spTgt spid="38049"/>
                                        </p:tgtEl>
                                        <p:attrNameLst>
                                          <p:attrName>ppt_x</p:attrName>
                                        </p:attrNameLst>
                                      </p:cBhvr>
                                      <p:tavLst>
                                        <p:tav tm="0">
                                          <p:val>
                                            <p:strVal val="#ppt_x"/>
                                          </p:val>
                                        </p:tav>
                                        <p:tav tm="100000">
                                          <p:val>
                                            <p:strVal val="#ppt_x"/>
                                          </p:val>
                                        </p:tav>
                                      </p:tavLst>
                                    </p:anim>
                                    <p:anim calcmode="lin" valueType="num">
                                      <p:cBhvr additive="base">
                                        <p:cTn id="48" dur="500" fill="hold"/>
                                        <p:tgtEl>
                                          <p:spTgt spid="38049"/>
                                        </p:tgtEl>
                                        <p:attrNameLst>
                                          <p:attrName>ppt_y</p:attrName>
                                        </p:attrNameLst>
                                      </p:cBhvr>
                                      <p:tavLst>
                                        <p:tav tm="0">
                                          <p:val>
                                            <p:strVal val="0-#ppt_h/2"/>
                                          </p:val>
                                        </p:tav>
                                        <p:tav tm="100000">
                                          <p:val>
                                            <p:strVal val="#ppt_y"/>
                                          </p:val>
                                        </p:tav>
                                      </p:tavLst>
                                    </p:anim>
                                  </p:childTnLst>
                                </p:cTn>
                              </p:par>
                              <p:par>
                                <p:cTn id="49" presetID="2" presetClass="entr" presetSubtype="1" fill="hold" nodeType="withEffect">
                                  <p:stCondLst>
                                    <p:cond delay="0"/>
                                  </p:stCondLst>
                                  <p:childTnLst>
                                    <p:set>
                                      <p:cBhvr>
                                        <p:cTn id="50" dur="1" fill="hold">
                                          <p:stCondLst>
                                            <p:cond delay="0"/>
                                          </p:stCondLst>
                                        </p:cTn>
                                        <p:tgtEl>
                                          <p:spTgt spid="38067"/>
                                        </p:tgtEl>
                                        <p:attrNameLst>
                                          <p:attrName>style.visibility</p:attrName>
                                        </p:attrNameLst>
                                      </p:cBhvr>
                                      <p:to>
                                        <p:strVal val="visible"/>
                                      </p:to>
                                    </p:set>
                                    <p:anim calcmode="lin" valueType="num">
                                      <p:cBhvr additive="base">
                                        <p:cTn id="51" dur="500" fill="hold"/>
                                        <p:tgtEl>
                                          <p:spTgt spid="38067"/>
                                        </p:tgtEl>
                                        <p:attrNameLst>
                                          <p:attrName>ppt_x</p:attrName>
                                        </p:attrNameLst>
                                      </p:cBhvr>
                                      <p:tavLst>
                                        <p:tav tm="0">
                                          <p:val>
                                            <p:strVal val="#ppt_x"/>
                                          </p:val>
                                        </p:tav>
                                        <p:tav tm="100000">
                                          <p:val>
                                            <p:strVal val="#ppt_x"/>
                                          </p:val>
                                        </p:tav>
                                      </p:tavLst>
                                    </p:anim>
                                    <p:anim calcmode="lin" valueType="num">
                                      <p:cBhvr additive="base">
                                        <p:cTn id="52" dur="500" fill="hold"/>
                                        <p:tgtEl>
                                          <p:spTgt spid="38067"/>
                                        </p:tgtEl>
                                        <p:attrNameLst>
                                          <p:attrName>ppt_y</p:attrName>
                                        </p:attrNameLst>
                                      </p:cBhvr>
                                      <p:tavLst>
                                        <p:tav tm="0">
                                          <p:val>
                                            <p:strVal val="0-#ppt_h/2"/>
                                          </p:val>
                                        </p:tav>
                                        <p:tav tm="100000">
                                          <p:val>
                                            <p:strVal val="#ppt_y"/>
                                          </p:val>
                                        </p:tav>
                                      </p:tavLst>
                                    </p:anim>
                                  </p:childTnLst>
                                </p:cTn>
                              </p:par>
                              <p:par>
                                <p:cTn id="53" presetID="2" presetClass="exit" presetSubtype="4" fill="hold" nodeType="withEffect">
                                  <p:stCondLst>
                                    <p:cond delay="0"/>
                                  </p:stCondLst>
                                  <p:childTnLst>
                                    <p:anim calcmode="lin" valueType="num">
                                      <p:cBhvr additive="base">
                                        <p:cTn id="54" dur="500"/>
                                        <p:tgtEl>
                                          <p:spTgt spid="38073"/>
                                        </p:tgtEl>
                                        <p:attrNameLst>
                                          <p:attrName>ppt_x</p:attrName>
                                        </p:attrNameLst>
                                      </p:cBhvr>
                                      <p:tavLst>
                                        <p:tav tm="0">
                                          <p:val>
                                            <p:strVal val="ppt_x"/>
                                          </p:val>
                                        </p:tav>
                                        <p:tav tm="100000">
                                          <p:val>
                                            <p:strVal val="ppt_x"/>
                                          </p:val>
                                        </p:tav>
                                      </p:tavLst>
                                    </p:anim>
                                    <p:anim calcmode="lin" valueType="num">
                                      <p:cBhvr additive="base">
                                        <p:cTn id="55" dur="500"/>
                                        <p:tgtEl>
                                          <p:spTgt spid="38073"/>
                                        </p:tgtEl>
                                        <p:attrNameLst>
                                          <p:attrName>ppt_y</p:attrName>
                                        </p:attrNameLst>
                                      </p:cBhvr>
                                      <p:tavLst>
                                        <p:tav tm="0">
                                          <p:val>
                                            <p:strVal val="ppt_y"/>
                                          </p:val>
                                        </p:tav>
                                        <p:tav tm="100000">
                                          <p:val>
                                            <p:strVal val="1+ppt_h/2"/>
                                          </p:val>
                                        </p:tav>
                                      </p:tavLst>
                                    </p:anim>
                                    <p:set>
                                      <p:cBhvr>
                                        <p:cTn id="56" dur="1" fill="hold">
                                          <p:stCondLst>
                                            <p:cond delay="499"/>
                                          </p:stCondLst>
                                        </p:cTn>
                                        <p:tgtEl>
                                          <p:spTgt spid="38073"/>
                                        </p:tgtEl>
                                        <p:attrNameLst>
                                          <p:attrName>style.visibility</p:attrName>
                                        </p:attrNameLst>
                                      </p:cBhvr>
                                      <p:to>
                                        <p:strVal val="hidden"/>
                                      </p:to>
                                    </p:set>
                                  </p:childTnLst>
                                </p:cTn>
                              </p:par>
                              <p:par>
                                <p:cTn id="57" presetID="2" presetClass="entr" presetSubtype="1" fill="hold" nodeType="withEffect">
                                  <p:stCondLst>
                                    <p:cond delay="0"/>
                                  </p:stCondLst>
                                  <p:childTnLst>
                                    <p:set>
                                      <p:cBhvr>
                                        <p:cTn id="58" dur="1" fill="hold">
                                          <p:stCondLst>
                                            <p:cond delay="0"/>
                                          </p:stCondLst>
                                        </p:cTn>
                                        <p:tgtEl>
                                          <p:spTgt spid="38040"/>
                                        </p:tgtEl>
                                        <p:attrNameLst>
                                          <p:attrName>style.visibility</p:attrName>
                                        </p:attrNameLst>
                                      </p:cBhvr>
                                      <p:to>
                                        <p:strVal val="visible"/>
                                      </p:to>
                                    </p:set>
                                    <p:anim calcmode="lin" valueType="num">
                                      <p:cBhvr additive="base">
                                        <p:cTn id="59" dur="500" fill="hold"/>
                                        <p:tgtEl>
                                          <p:spTgt spid="38040"/>
                                        </p:tgtEl>
                                        <p:attrNameLst>
                                          <p:attrName>ppt_x</p:attrName>
                                        </p:attrNameLst>
                                      </p:cBhvr>
                                      <p:tavLst>
                                        <p:tav tm="0">
                                          <p:val>
                                            <p:strVal val="#ppt_x"/>
                                          </p:val>
                                        </p:tav>
                                        <p:tav tm="100000">
                                          <p:val>
                                            <p:strVal val="#ppt_x"/>
                                          </p:val>
                                        </p:tav>
                                      </p:tavLst>
                                    </p:anim>
                                    <p:anim calcmode="lin" valueType="num">
                                      <p:cBhvr additive="base">
                                        <p:cTn id="60" dur="500" fill="hold"/>
                                        <p:tgtEl>
                                          <p:spTgt spid="38040"/>
                                        </p:tgtEl>
                                        <p:attrNameLst>
                                          <p:attrName>ppt_y</p:attrName>
                                        </p:attrNameLst>
                                      </p:cBhvr>
                                      <p:tavLst>
                                        <p:tav tm="0">
                                          <p:val>
                                            <p:strVal val="0-#ppt_h/2"/>
                                          </p:val>
                                        </p:tav>
                                        <p:tav tm="100000">
                                          <p:val>
                                            <p:strVal val="#ppt_y"/>
                                          </p:val>
                                        </p:tav>
                                      </p:tavLst>
                                    </p:anim>
                                  </p:childTnLst>
                                </p:cTn>
                              </p:par>
                              <p:par>
                                <p:cTn id="61" presetID="2" presetClass="exit" presetSubtype="4" fill="hold" nodeType="withEffect">
                                  <p:stCondLst>
                                    <p:cond delay="0"/>
                                  </p:stCondLst>
                                  <p:childTnLst>
                                    <p:anim calcmode="lin" valueType="num">
                                      <p:cBhvr additive="base">
                                        <p:cTn id="62" dur="500"/>
                                        <p:tgtEl>
                                          <p:spTgt spid="38076"/>
                                        </p:tgtEl>
                                        <p:attrNameLst>
                                          <p:attrName>ppt_x</p:attrName>
                                        </p:attrNameLst>
                                      </p:cBhvr>
                                      <p:tavLst>
                                        <p:tav tm="0">
                                          <p:val>
                                            <p:strVal val="ppt_x"/>
                                          </p:val>
                                        </p:tav>
                                        <p:tav tm="100000">
                                          <p:val>
                                            <p:strVal val="ppt_x"/>
                                          </p:val>
                                        </p:tav>
                                      </p:tavLst>
                                    </p:anim>
                                    <p:anim calcmode="lin" valueType="num">
                                      <p:cBhvr additive="base">
                                        <p:cTn id="63" dur="500"/>
                                        <p:tgtEl>
                                          <p:spTgt spid="38076"/>
                                        </p:tgtEl>
                                        <p:attrNameLst>
                                          <p:attrName>ppt_y</p:attrName>
                                        </p:attrNameLst>
                                      </p:cBhvr>
                                      <p:tavLst>
                                        <p:tav tm="0">
                                          <p:val>
                                            <p:strVal val="ppt_y"/>
                                          </p:val>
                                        </p:tav>
                                        <p:tav tm="100000">
                                          <p:val>
                                            <p:strVal val="1+ppt_h/2"/>
                                          </p:val>
                                        </p:tav>
                                      </p:tavLst>
                                    </p:anim>
                                    <p:set>
                                      <p:cBhvr>
                                        <p:cTn id="64" dur="1" fill="hold">
                                          <p:stCondLst>
                                            <p:cond delay="499"/>
                                          </p:stCondLst>
                                        </p:cTn>
                                        <p:tgtEl>
                                          <p:spTgt spid="38076"/>
                                        </p:tgtEl>
                                        <p:attrNameLst>
                                          <p:attrName>style.visibility</p:attrName>
                                        </p:attrNameLst>
                                      </p:cBhvr>
                                      <p:to>
                                        <p:strVal val="hidden"/>
                                      </p:to>
                                    </p:set>
                                  </p:childTnLst>
                                </p:cTn>
                              </p:par>
                              <p:par>
                                <p:cTn id="65" presetID="2" presetClass="exit" presetSubtype="4" fill="hold" nodeType="withEffect">
                                  <p:stCondLst>
                                    <p:cond delay="0"/>
                                  </p:stCondLst>
                                  <p:childTnLst>
                                    <p:anim calcmode="lin" valueType="num">
                                      <p:cBhvr additive="base">
                                        <p:cTn id="66" dur="500"/>
                                        <p:tgtEl>
                                          <p:spTgt spid="38052"/>
                                        </p:tgtEl>
                                        <p:attrNameLst>
                                          <p:attrName>ppt_x</p:attrName>
                                        </p:attrNameLst>
                                      </p:cBhvr>
                                      <p:tavLst>
                                        <p:tav tm="0">
                                          <p:val>
                                            <p:strVal val="ppt_x"/>
                                          </p:val>
                                        </p:tav>
                                        <p:tav tm="100000">
                                          <p:val>
                                            <p:strVal val="ppt_x"/>
                                          </p:val>
                                        </p:tav>
                                      </p:tavLst>
                                    </p:anim>
                                    <p:anim calcmode="lin" valueType="num">
                                      <p:cBhvr additive="base">
                                        <p:cTn id="67" dur="500"/>
                                        <p:tgtEl>
                                          <p:spTgt spid="38052"/>
                                        </p:tgtEl>
                                        <p:attrNameLst>
                                          <p:attrName>ppt_y</p:attrName>
                                        </p:attrNameLst>
                                      </p:cBhvr>
                                      <p:tavLst>
                                        <p:tav tm="0">
                                          <p:val>
                                            <p:strVal val="ppt_y"/>
                                          </p:val>
                                        </p:tav>
                                        <p:tav tm="100000">
                                          <p:val>
                                            <p:strVal val="1+ppt_h/2"/>
                                          </p:val>
                                        </p:tav>
                                      </p:tavLst>
                                    </p:anim>
                                    <p:set>
                                      <p:cBhvr>
                                        <p:cTn id="68" dur="1" fill="hold">
                                          <p:stCondLst>
                                            <p:cond delay="499"/>
                                          </p:stCondLst>
                                        </p:cTn>
                                        <p:tgtEl>
                                          <p:spTgt spid="38052"/>
                                        </p:tgtEl>
                                        <p:attrNameLst>
                                          <p:attrName>style.visibility</p:attrName>
                                        </p:attrNameLst>
                                      </p:cBhvr>
                                      <p:to>
                                        <p:strVal val="hidden"/>
                                      </p:to>
                                    </p:set>
                                  </p:childTnLst>
                                </p:cTn>
                              </p:par>
                              <p:par>
                                <p:cTn id="69" presetID="2" presetClass="exit" presetSubtype="4" fill="hold" nodeType="withEffect">
                                  <p:stCondLst>
                                    <p:cond delay="0"/>
                                  </p:stCondLst>
                                  <p:childTnLst>
                                    <p:anim calcmode="lin" valueType="num">
                                      <p:cBhvr additive="base">
                                        <p:cTn id="70" dur="500"/>
                                        <p:tgtEl>
                                          <p:spTgt spid="38061"/>
                                        </p:tgtEl>
                                        <p:attrNameLst>
                                          <p:attrName>ppt_x</p:attrName>
                                        </p:attrNameLst>
                                      </p:cBhvr>
                                      <p:tavLst>
                                        <p:tav tm="0">
                                          <p:val>
                                            <p:strVal val="ppt_x"/>
                                          </p:val>
                                        </p:tav>
                                        <p:tav tm="100000">
                                          <p:val>
                                            <p:strVal val="ppt_x"/>
                                          </p:val>
                                        </p:tav>
                                      </p:tavLst>
                                    </p:anim>
                                    <p:anim calcmode="lin" valueType="num">
                                      <p:cBhvr additive="base">
                                        <p:cTn id="71" dur="500"/>
                                        <p:tgtEl>
                                          <p:spTgt spid="38061"/>
                                        </p:tgtEl>
                                        <p:attrNameLst>
                                          <p:attrName>ppt_y</p:attrName>
                                        </p:attrNameLst>
                                      </p:cBhvr>
                                      <p:tavLst>
                                        <p:tav tm="0">
                                          <p:val>
                                            <p:strVal val="ppt_y"/>
                                          </p:val>
                                        </p:tav>
                                        <p:tav tm="100000">
                                          <p:val>
                                            <p:strVal val="1+ppt_h/2"/>
                                          </p:val>
                                        </p:tav>
                                      </p:tavLst>
                                    </p:anim>
                                    <p:set>
                                      <p:cBhvr>
                                        <p:cTn id="72" dur="1" fill="hold">
                                          <p:stCondLst>
                                            <p:cond delay="499"/>
                                          </p:stCondLst>
                                        </p:cTn>
                                        <p:tgtEl>
                                          <p:spTgt spid="38061"/>
                                        </p:tgtEl>
                                        <p:attrNameLst>
                                          <p:attrName>style.visibility</p:attrName>
                                        </p:attrNameLst>
                                      </p:cBhvr>
                                      <p:to>
                                        <p:strVal val="hidden"/>
                                      </p:to>
                                    </p:set>
                                  </p:childTnLst>
                                </p:cTn>
                              </p:par>
                              <p:par>
                                <p:cTn id="73" presetID="2" presetClass="exit" presetSubtype="4" fill="hold" nodeType="withEffect">
                                  <p:stCondLst>
                                    <p:cond delay="0"/>
                                  </p:stCondLst>
                                  <p:childTnLst>
                                    <p:anim calcmode="lin" valueType="num">
                                      <p:cBhvr additive="base">
                                        <p:cTn id="74" dur="500"/>
                                        <p:tgtEl>
                                          <p:spTgt spid="38058"/>
                                        </p:tgtEl>
                                        <p:attrNameLst>
                                          <p:attrName>ppt_x</p:attrName>
                                        </p:attrNameLst>
                                      </p:cBhvr>
                                      <p:tavLst>
                                        <p:tav tm="0">
                                          <p:val>
                                            <p:strVal val="ppt_x"/>
                                          </p:val>
                                        </p:tav>
                                        <p:tav tm="100000">
                                          <p:val>
                                            <p:strVal val="ppt_x"/>
                                          </p:val>
                                        </p:tav>
                                      </p:tavLst>
                                    </p:anim>
                                    <p:anim calcmode="lin" valueType="num">
                                      <p:cBhvr additive="base">
                                        <p:cTn id="75" dur="500"/>
                                        <p:tgtEl>
                                          <p:spTgt spid="38058"/>
                                        </p:tgtEl>
                                        <p:attrNameLst>
                                          <p:attrName>ppt_y</p:attrName>
                                        </p:attrNameLst>
                                      </p:cBhvr>
                                      <p:tavLst>
                                        <p:tav tm="0">
                                          <p:val>
                                            <p:strVal val="ppt_y"/>
                                          </p:val>
                                        </p:tav>
                                        <p:tav tm="100000">
                                          <p:val>
                                            <p:strVal val="1+ppt_h/2"/>
                                          </p:val>
                                        </p:tav>
                                      </p:tavLst>
                                    </p:anim>
                                    <p:set>
                                      <p:cBhvr>
                                        <p:cTn id="76" dur="1" fill="hold">
                                          <p:stCondLst>
                                            <p:cond delay="499"/>
                                          </p:stCondLst>
                                        </p:cTn>
                                        <p:tgtEl>
                                          <p:spTgt spid="38058"/>
                                        </p:tgtEl>
                                        <p:attrNameLst>
                                          <p:attrName>style.visibility</p:attrName>
                                        </p:attrNameLst>
                                      </p:cBhvr>
                                      <p:to>
                                        <p:strVal val="hidden"/>
                                      </p:to>
                                    </p:set>
                                  </p:childTnLst>
                                </p:cTn>
                              </p:par>
                              <p:par>
                                <p:cTn id="77" presetID="2" presetClass="exit" presetSubtype="4" fill="hold" nodeType="withEffect">
                                  <p:stCondLst>
                                    <p:cond delay="0"/>
                                  </p:stCondLst>
                                  <p:childTnLst>
                                    <p:anim calcmode="lin" valueType="num">
                                      <p:cBhvr additive="base">
                                        <p:cTn id="78" dur="500"/>
                                        <p:tgtEl>
                                          <p:spTgt spid="38046"/>
                                        </p:tgtEl>
                                        <p:attrNameLst>
                                          <p:attrName>ppt_x</p:attrName>
                                        </p:attrNameLst>
                                      </p:cBhvr>
                                      <p:tavLst>
                                        <p:tav tm="0">
                                          <p:val>
                                            <p:strVal val="ppt_x"/>
                                          </p:val>
                                        </p:tav>
                                        <p:tav tm="100000">
                                          <p:val>
                                            <p:strVal val="ppt_x"/>
                                          </p:val>
                                        </p:tav>
                                      </p:tavLst>
                                    </p:anim>
                                    <p:anim calcmode="lin" valueType="num">
                                      <p:cBhvr additive="base">
                                        <p:cTn id="79" dur="500"/>
                                        <p:tgtEl>
                                          <p:spTgt spid="38046"/>
                                        </p:tgtEl>
                                        <p:attrNameLst>
                                          <p:attrName>ppt_y</p:attrName>
                                        </p:attrNameLst>
                                      </p:cBhvr>
                                      <p:tavLst>
                                        <p:tav tm="0">
                                          <p:val>
                                            <p:strVal val="ppt_y"/>
                                          </p:val>
                                        </p:tav>
                                        <p:tav tm="100000">
                                          <p:val>
                                            <p:strVal val="1+ppt_h/2"/>
                                          </p:val>
                                        </p:tav>
                                      </p:tavLst>
                                    </p:anim>
                                    <p:set>
                                      <p:cBhvr>
                                        <p:cTn id="80" dur="1" fill="hold">
                                          <p:stCondLst>
                                            <p:cond delay="499"/>
                                          </p:stCondLst>
                                        </p:cTn>
                                        <p:tgtEl>
                                          <p:spTgt spid="38046"/>
                                        </p:tgtEl>
                                        <p:attrNameLst>
                                          <p:attrName>style.visibility</p:attrName>
                                        </p:attrNameLst>
                                      </p:cBhvr>
                                      <p:to>
                                        <p:strVal val="hidden"/>
                                      </p:to>
                                    </p:set>
                                  </p:childTnLst>
                                </p:cTn>
                              </p:par>
                              <p:par>
                                <p:cTn id="81" presetID="2" presetClass="exit" presetSubtype="4" fill="hold" nodeType="withEffect">
                                  <p:stCondLst>
                                    <p:cond delay="0"/>
                                  </p:stCondLst>
                                  <p:childTnLst>
                                    <p:anim calcmode="lin" valueType="num">
                                      <p:cBhvr additive="base">
                                        <p:cTn id="82" dur="500"/>
                                        <p:tgtEl>
                                          <p:spTgt spid="38037"/>
                                        </p:tgtEl>
                                        <p:attrNameLst>
                                          <p:attrName>ppt_x</p:attrName>
                                        </p:attrNameLst>
                                      </p:cBhvr>
                                      <p:tavLst>
                                        <p:tav tm="0">
                                          <p:val>
                                            <p:strVal val="ppt_x"/>
                                          </p:val>
                                        </p:tav>
                                        <p:tav tm="100000">
                                          <p:val>
                                            <p:strVal val="ppt_x"/>
                                          </p:val>
                                        </p:tav>
                                      </p:tavLst>
                                    </p:anim>
                                    <p:anim calcmode="lin" valueType="num">
                                      <p:cBhvr additive="base">
                                        <p:cTn id="83" dur="500"/>
                                        <p:tgtEl>
                                          <p:spTgt spid="38037"/>
                                        </p:tgtEl>
                                        <p:attrNameLst>
                                          <p:attrName>ppt_y</p:attrName>
                                        </p:attrNameLst>
                                      </p:cBhvr>
                                      <p:tavLst>
                                        <p:tav tm="0">
                                          <p:val>
                                            <p:strVal val="ppt_y"/>
                                          </p:val>
                                        </p:tav>
                                        <p:tav tm="100000">
                                          <p:val>
                                            <p:strVal val="1+ppt_h/2"/>
                                          </p:val>
                                        </p:tav>
                                      </p:tavLst>
                                    </p:anim>
                                    <p:set>
                                      <p:cBhvr>
                                        <p:cTn id="84" dur="1" fill="hold">
                                          <p:stCondLst>
                                            <p:cond delay="499"/>
                                          </p:stCondLst>
                                        </p:cTn>
                                        <p:tgtEl>
                                          <p:spTgt spid="38037"/>
                                        </p:tgtEl>
                                        <p:attrNameLst>
                                          <p:attrName>style.visibility</p:attrName>
                                        </p:attrNameLst>
                                      </p:cBhvr>
                                      <p:to>
                                        <p:strVal val="hidden"/>
                                      </p:to>
                                    </p:set>
                                  </p:childTnLst>
                                </p:cTn>
                              </p:par>
                              <p:par>
                                <p:cTn id="85" presetID="2" presetClass="exit" presetSubtype="4" fill="hold" nodeType="withEffect">
                                  <p:stCondLst>
                                    <p:cond delay="0"/>
                                  </p:stCondLst>
                                  <p:childTnLst>
                                    <p:anim calcmode="lin" valueType="num">
                                      <p:cBhvr additive="base">
                                        <p:cTn id="86" dur="500"/>
                                        <p:tgtEl>
                                          <p:spTgt spid="38043"/>
                                        </p:tgtEl>
                                        <p:attrNameLst>
                                          <p:attrName>ppt_x</p:attrName>
                                        </p:attrNameLst>
                                      </p:cBhvr>
                                      <p:tavLst>
                                        <p:tav tm="0">
                                          <p:val>
                                            <p:strVal val="ppt_x"/>
                                          </p:val>
                                        </p:tav>
                                        <p:tav tm="100000">
                                          <p:val>
                                            <p:strVal val="ppt_x"/>
                                          </p:val>
                                        </p:tav>
                                      </p:tavLst>
                                    </p:anim>
                                    <p:anim calcmode="lin" valueType="num">
                                      <p:cBhvr additive="base">
                                        <p:cTn id="87" dur="500"/>
                                        <p:tgtEl>
                                          <p:spTgt spid="38043"/>
                                        </p:tgtEl>
                                        <p:attrNameLst>
                                          <p:attrName>ppt_y</p:attrName>
                                        </p:attrNameLst>
                                      </p:cBhvr>
                                      <p:tavLst>
                                        <p:tav tm="0">
                                          <p:val>
                                            <p:strVal val="ppt_y"/>
                                          </p:val>
                                        </p:tav>
                                        <p:tav tm="100000">
                                          <p:val>
                                            <p:strVal val="1+ppt_h/2"/>
                                          </p:val>
                                        </p:tav>
                                      </p:tavLst>
                                    </p:anim>
                                    <p:set>
                                      <p:cBhvr>
                                        <p:cTn id="88" dur="1" fill="hold">
                                          <p:stCondLst>
                                            <p:cond delay="499"/>
                                          </p:stCondLst>
                                        </p:cTn>
                                        <p:tgtEl>
                                          <p:spTgt spid="38043"/>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8018"/>
                                        </p:tgtEl>
                                        <p:attrNameLst>
                                          <p:attrName>style.visibility</p:attrName>
                                        </p:attrNameLst>
                                      </p:cBhvr>
                                      <p:to>
                                        <p:strVal val="visible"/>
                                      </p:to>
                                    </p:set>
                                    <p:animEffect transition="in" filter="fade">
                                      <p:cBhvr>
                                        <p:cTn id="93" dur="500"/>
                                        <p:tgtEl>
                                          <p:spTgt spid="38018"/>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380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79" grpId="0" animBg="1"/>
      <p:bldP spid="38018" grpId="0" animBg="1"/>
      <p:bldP spid="6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2411760" y="195487"/>
            <a:ext cx="4401489" cy="594122"/>
          </a:xfrm>
        </p:spPr>
        <p:txBody>
          <a:bodyPr>
            <a:normAutofit/>
          </a:bodyPr>
          <a:lstStyle/>
          <a:p>
            <a:r>
              <a:rPr lang="sv-SE" sz="3900" kern="0" dirty="0"/>
              <a:t>Sampling </a:t>
            </a:r>
            <a:r>
              <a:rPr lang="sv-SE" sz="3900" kern="0" dirty="0" err="1"/>
              <a:t>methods</a:t>
            </a:r>
            <a:endParaRPr lang="en-US" sz="3900" dirty="0"/>
          </a:p>
        </p:txBody>
      </p:sp>
      <p:sp>
        <p:nvSpPr>
          <p:cNvPr id="3" name="Platshållare för innehåll 2"/>
          <p:cNvSpPr>
            <a:spLocks noGrp="1"/>
          </p:cNvSpPr>
          <p:nvPr>
            <p:ph idx="1"/>
          </p:nvPr>
        </p:nvSpPr>
        <p:spPr>
          <a:xfrm>
            <a:off x="1656000" y="978573"/>
            <a:ext cx="6444392" cy="3888432"/>
          </a:xfrm>
        </p:spPr>
        <p:txBody>
          <a:bodyPr>
            <a:normAutofit/>
          </a:bodyPr>
          <a:lstStyle/>
          <a:p>
            <a:r>
              <a:rPr lang="en-US" sz="2400" dirty="0">
                <a:latin typeface="+mn-lt"/>
                <a:ea typeface="Verdana" panose="020B0604030504040204" pitchFamily="34" charset="0"/>
              </a:rPr>
              <a:t>Simple random sampling</a:t>
            </a:r>
          </a:p>
          <a:p>
            <a:r>
              <a:rPr lang="en-US" sz="2400" dirty="0">
                <a:latin typeface="+mn-lt"/>
                <a:ea typeface="Verdana" panose="020B0604030504040204" pitchFamily="34" charset="0"/>
              </a:rPr>
              <a:t>Systematic sampling</a:t>
            </a:r>
          </a:p>
          <a:p>
            <a:r>
              <a:rPr lang="en-US" sz="2400" dirty="0">
                <a:latin typeface="+mn-lt"/>
                <a:ea typeface="Verdana" panose="020B0604030504040204" pitchFamily="34" charset="0"/>
              </a:rPr>
              <a:t>Stratified sampling </a:t>
            </a:r>
          </a:p>
          <a:p>
            <a:r>
              <a:rPr lang="en-US" sz="2400" dirty="0">
                <a:latin typeface="+mn-lt"/>
                <a:ea typeface="Verdana" panose="020B0604030504040204" pitchFamily="34" charset="0"/>
              </a:rPr>
              <a:t>Cluster sampling </a:t>
            </a:r>
          </a:p>
          <a:p>
            <a:r>
              <a:rPr lang="en-US" sz="2400" dirty="0">
                <a:latin typeface="+mn-lt"/>
                <a:ea typeface="Verdana" panose="020B0604030504040204" pitchFamily="34" charset="0"/>
              </a:rPr>
              <a:t>Case-control or choice-based sampling</a:t>
            </a:r>
          </a:p>
          <a:p>
            <a:r>
              <a:rPr lang="en-US" sz="2400" dirty="0">
                <a:latin typeface="+mn-lt"/>
                <a:ea typeface="Verdana" panose="020B0604030504040204" pitchFamily="34" charset="0"/>
              </a:rPr>
              <a:t>Voluntary Sampling</a:t>
            </a:r>
          </a:p>
          <a:p>
            <a:r>
              <a:rPr lang="en-US" sz="2400" dirty="0">
                <a:latin typeface="+mn-lt"/>
                <a:ea typeface="Verdana" panose="020B0604030504040204" pitchFamily="34" charset="0"/>
              </a:rPr>
              <a:t>Convenience sampling</a:t>
            </a:r>
          </a:p>
        </p:txBody>
      </p:sp>
      <p:sp>
        <p:nvSpPr>
          <p:cNvPr id="5" name="Slide Number Placeholder 4">
            <a:extLst>
              <a:ext uri="{FF2B5EF4-FFF2-40B4-BE49-F238E27FC236}">
                <a16:creationId xmlns:a16="http://schemas.microsoft.com/office/drawing/2014/main" id="{08AF0992-4D5E-4505-A53C-AEFD1E819744}"/>
              </a:ext>
            </a:extLst>
          </p:cNvPr>
          <p:cNvSpPr>
            <a:spLocks noGrp="1"/>
          </p:cNvSpPr>
          <p:nvPr>
            <p:ph type="sldNum" sz="quarter" idx="12"/>
          </p:nvPr>
        </p:nvSpPr>
        <p:spPr/>
        <p:txBody>
          <a:bodyPr/>
          <a:lstStyle/>
          <a:p>
            <a:fld id="{227F0B53-9592-4779-891F-997228E46E01}" type="slidenum">
              <a:rPr lang="sv-SE" smtClean="0"/>
              <a:t>14</a:t>
            </a:fld>
            <a:endParaRPr lang="sv-SE"/>
          </a:p>
        </p:txBody>
      </p:sp>
    </p:spTree>
    <p:extLst>
      <p:ext uri="{BB962C8B-B14F-4D97-AF65-F5344CB8AC3E}">
        <p14:creationId xmlns:p14="http://schemas.microsoft.com/office/powerpoint/2010/main" val="1788208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2411760" y="195487"/>
            <a:ext cx="4401489" cy="594122"/>
          </a:xfrm>
        </p:spPr>
        <p:txBody>
          <a:bodyPr>
            <a:normAutofit/>
          </a:bodyPr>
          <a:lstStyle/>
          <a:p>
            <a:r>
              <a:rPr lang="sv-SE" sz="3900" kern="0" dirty="0" err="1">
                <a:latin typeface="Verdana" panose="020B0604030504040204" pitchFamily="34" charset="0"/>
                <a:ea typeface="Verdana" panose="020B0604030504040204" pitchFamily="34" charset="0"/>
              </a:rPr>
              <a:t>Drop</a:t>
            </a:r>
            <a:r>
              <a:rPr lang="sv-SE" sz="3900" kern="0" dirty="0">
                <a:latin typeface="Verdana" panose="020B0604030504040204" pitchFamily="34" charset="0"/>
                <a:ea typeface="Verdana" panose="020B0604030504040204" pitchFamily="34" charset="0"/>
              </a:rPr>
              <a:t> </a:t>
            </a:r>
            <a:r>
              <a:rPr lang="sv-SE" sz="3900" kern="0" dirty="0" err="1">
                <a:latin typeface="Verdana" panose="020B0604030504040204" pitchFamily="34" charset="0"/>
                <a:ea typeface="Verdana" panose="020B0604030504040204" pitchFamily="34" charset="0"/>
              </a:rPr>
              <a:t>outs</a:t>
            </a:r>
            <a:endParaRPr lang="en-US" sz="3900" dirty="0">
              <a:latin typeface="Verdana" panose="020B0604030504040204" pitchFamily="34" charset="0"/>
              <a:ea typeface="Verdana" panose="020B0604030504040204" pitchFamily="34" charset="0"/>
            </a:endParaRPr>
          </a:p>
        </p:txBody>
      </p:sp>
      <p:sp>
        <p:nvSpPr>
          <p:cNvPr id="3" name="Platshållare för innehåll 2"/>
          <p:cNvSpPr>
            <a:spLocks noGrp="1"/>
          </p:cNvSpPr>
          <p:nvPr>
            <p:ph idx="1"/>
          </p:nvPr>
        </p:nvSpPr>
        <p:spPr>
          <a:xfrm>
            <a:off x="1656000" y="978573"/>
            <a:ext cx="5616000" cy="3888432"/>
          </a:xfrm>
        </p:spPr>
        <p:txBody>
          <a:bodyPr>
            <a:normAutofit/>
          </a:bodyPr>
          <a:lstStyle/>
          <a:p>
            <a:r>
              <a:rPr lang="en-US" sz="2400" dirty="0">
                <a:latin typeface="Verdana" panose="020B0604030504040204" pitchFamily="34" charset="0"/>
                <a:ea typeface="Verdana" panose="020B0604030504040204" pitchFamily="34" charset="0"/>
              </a:rPr>
              <a:t>Breakoff </a:t>
            </a:r>
          </a:p>
          <a:p>
            <a:r>
              <a:rPr lang="en-US" sz="2400" dirty="0">
                <a:latin typeface="Verdana" panose="020B0604030504040204" pitchFamily="34" charset="0"/>
                <a:ea typeface="Verdana" panose="020B0604030504040204" pitchFamily="34" charset="0"/>
              </a:rPr>
              <a:t>Unit Nonresponse </a:t>
            </a:r>
          </a:p>
        </p:txBody>
      </p:sp>
      <p:sp>
        <p:nvSpPr>
          <p:cNvPr id="5" name="Slide Number Placeholder 4">
            <a:extLst>
              <a:ext uri="{FF2B5EF4-FFF2-40B4-BE49-F238E27FC236}">
                <a16:creationId xmlns:a16="http://schemas.microsoft.com/office/drawing/2014/main" id="{0820D43D-136A-4330-A5E2-207DBA6390B6}"/>
              </a:ext>
            </a:extLst>
          </p:cNvPr>
          <p:cNvSpPr>
            <a:spLocks noGrp="1"/>
          </p:cNvSpPr>
          <p:nvPr>
            <p:ph type="sldNum" sz="quarter" idx="12"/>
          </p:nvPr>
        </p:nvSpPr>
        <p:spPr/>
        <p:txBody>
          <a:bodyPr/>
          <a:lstStyle/>
          <a:p>
            <a:fld id="{227F0B53-9592-4779-891F-997228E46E01}" type="slidenum">
              <a:rPr lang="sv-SE" smtClean="0"/>
              <a:t>15</a:t>
            </a:fld>
            <a:endParaRPr lang="sv-SE"/>
          </a:p>
        </p:txBody>
      </p:sp>
    </p:spTree>
    <p:extLst>
      <p:ext uri="{BB962C8B-B14F-4D97-AF65-F5344CB8AC3E}">
        <p14:creationId xmlns:p14="http://schemas.microsoft.com/office/powerpoint/2010/main" val="423761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971600" y="1545636"/>
            <a:ext cx="7128791" cy="2970330"/>
          </a:xfrm>
        </p:spPr>
        <p:txBody>
          <a:bodyPr>
            <a:noAutofit/>
          </a:bodyPr>
          <a:lstStyle/>
          <a:p>
            <a:r>
              <a:rPr lang="en-US" sz="2000" dirty="0">
                <a:highlight>
                  <a:srgbClr val="FFFF00"/>
                </a:highlight>
                <a:latin typeface="Verdana" panose="020B0604030504040204" pitchFamily="34" charset="0"/>
                <a:ea typeface="Verdana" panose="020B0604030504040204" pitchFamily="34" charset="0"/>
              </a:rPr>
              <a:t>The conclusions are never better than the sample.</a:t>
            </a:r>
          </a:p>
          <a:p>
            <a:pPr>
              <a:spcAft>
                <a:spcPts val="900"/>
              </a:spcAft>
            </a:pPr>
            <a:r>
              <a:rPr lang="en-US" sz="2000" dirty="0">
                <a:latin typeface="Verdana" panose="020B0604030504040204" pitchFamily="34" charset="0"/>
                <a:ea typeface="Verdana" panose="020B0604030504040204" pitchFamily="34" charset="0"/>
              </a:rPr>
              <a:t>Always be clear as to what population(s) your statistic is meant to generalize to. </a:t>
            </a:r>
          </a:p>
          <a:p>
            <a:pPr marL="322362" lvl="1" indent="0">
              <a:buNone/>
            </a:pPr>
            <a:r>
              <a:rPr lang="en-US" sz="2000" dirty="0">
                <a:latin typeface="Verdana" panose="020B0604030504040204" pitchFamily="34" charset="0"/>
                <a:ea typeface="Verdana" panose="020B0604030504040204" pitchFamily="34" charset="0"/>
              </a:rPr>
              <a:t>Don't imply that your sample generalizes to everyone if your statistic was calculated from a more specific population!</a:t>
            </a:r>
          </a:p>
          <a:p>
            <a:pPr marL="322362" lvl="1" indent="0">
              <a:buNone/>
            </a:pPr>
            <a:r>
              <a:rPr lang="en-US" sz="2000" b="1" dirty="0">
                <a:latin typeface="Verdana" panose="020B0604030504040204" pitchFamily="34" charset="0"/>
                <a:ea typeface="Verdana" panose="020B0604030504040204" pitchFamily="34" charset="0"/>
              </a:rPr>
              <a:t>E.g., </a:t>
            </a:r>
            <a:r>
              <a:rPr lang="en-US" sz="2000" dirty="0">
                <a:latin typeface="Verdana" panose="020B0604030504040204" pitchFamily="34" charset="0"/>
                <a:ea typeface="Verdana" panose="020B0604030504040204" pitchFamily="34" charset="0"/>
              </a:rPr>
              <a:t>If your sample included only medical college students, you could not generalize your results to </a:t>
            </a:r>
            <a:r>
              <a:rPr lang="en-US" sz="2000" b="1" dirty="0">
                <a:latin typeface="Verdana" panose="020B0604030504040204" pitchFamily="34" charset="0"/>
                <a:ea typeface="Verdana" panose="020B0604030504040204" pitchFamily="34" charset="0"/>
              </a:rPr>
              <a:t>all</a:t>
            </a:r>
            <a:r>
              <a:rPr lang="en-US" sz="2000" dirty="0">
                <a:latin typeface="Verdana" panose="020B0604030504040204" pitchFamily="34" charset="0"/>
                <a:ea typeface="Verdana" panose="020B0604030504040204" pitchFamily="34" charset="0"/>
              </a:rPr>
              <a:t> students</a:t>
            </a:r>
          </a:p>
        </p:txBody>
      </p:sp>
      <p:sp>
        <p:nvSpPr>
          <p:cNvPr id="4" name="Platshållare för bildnummer 3"/>
          <p:cNvSpPr>
            <a:spLocks noGrp="1"/>
          </p:cNvSpPr>
          <p:nvPr>
            <p:ph type="sldNum" sz="quarter" idx="12"/>
          </p:nvPr>
        </p:nvSpPr>
        <p:spPr/>
        <p:txBody>
          <a:bodyPr/>
          <a:lstStyle/>
          <a:p>
            <a:fld id="{49D34020-361E-4A13-8C95-66E98A929282}" type="slidenum">
              <a:rPr lang="sv-SE" smtClean="0"/>
              <a:pPr/>
              <a:t>16</a:t>
            </a:fld>
            <a:endParaRPr lang="sv-SE"/>
          </a:p>
        </p:txBody>
      </p:sp>
      <p:sp>
        <p:nvSpPr>
          <p:cNvPr id="6" name="Rektangel 5"/>
          <p:cNvSpPr/>
          <p:nvPr/>
        </p:nvSpPr>
        <p:spPr>
          <a:xfrm>
            <a:off x="971601" y="385377"/>
            <a:ext cx="3571812" cy="646331"/>
          </a:xfrm>
          <a:prstGeom prst="rect">
            <a:avLst/>
          </a:prstGeom>
        </p:spPr>
        <p:txBody>
          <a:bodyPr wrap="none">
            <a:spAutoFit/>
          </a:bodyPr>
          <a:lstStyle/>
          <a:p>
            <a:pPr algn="ctr" defTabSz="342900">
              <a:spcAft>
                <a:spcPts val="1350"/>
              </a:spcAft>
              <a:defRPr/>
            </a:pPr>
            <a:r>
              <a:rPr lang="en-US" sz="3600" b="1" dirty="0">
                <a:solidFill>
                  <a:prstClr val="black"/>
                </a:solidFill>
                <a:latin typeface="Verdana" panose="020B0604030504040204" pitchFamily="34" charset="0"/>
                <a:ea typeface="Verdana" panose="020B0604030504040204" pitchFamily="34" charset="0"/>
              </a:rPr>
              <a:t>Keep in mind</a:t>
            </a:r>
            <a:endParaRPr lang="en-US" sz="3600" dirty="0">
              <a:solidFill>
                <a:prstClr val="black"/>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104275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ruta 3"/>
          <p:cNvSpPr txBox="1"/>
          <p:nvPr/>
        </p:nvSpPr>
        <p:spPr>
          <a:xfrm>
            <a:off x="971600" y="555526"/>
            <a:ext cx="7992888" cy="3477875"/>
          </a:xfrm>
          <a:prstGeom prst="rect">
            <a:avLst/>
          </a:prstGeom>
          <a:noFill/>
        </p:spPr>
        <p:txBody>
          <a:bodyPr wrap="square" rtlCol="0">
            <a:spAutoFit/>
          </a:bodyPr>
          <a:lstStyle/>
          <a:p>
            <a:pPr>
              <a:lnSpc>
                <a:spcPct val="150000"/>
              </a:lnSpc>
            </a:pPr>
            <a:r>
              <a:rPr lang="en-US" sz="2200" b="1" dirty="0">
                <a:solidFill>
                  <a:srgbClr val="002060"/>
                </a:solidFill>
                <a:latin typeface="+mj-lt"/>
                <a:ea typeface="Verdana" panose="020B0604030504040204" pitchFamily="34" charset="0"/>
                <a:cs typeface="Times New Roman" panose="02020603050405020304" pitchFamily="18" charset="0"/>
              </a:rPr>
              <a:t>Population parameter</a:t>
            </a:r>
            <a:r>
              <a:rPr lang="en-US" sz="2200" b="1" dirty="0">
                <a:latin typeface="+mj-lt"/>
                <a:ea typeface="Verdana" panose="020B0604030504040204" pitchFamily="34" charset="0"/>
                <a:cs typeface="Times New Roman" panose="02020603050405020304" pitchFamily="18" charset="0"/>
              </a:rPr>
              <a:t> </a:t>
            </a:r>
            <a:r>
              <a:rPr lang="en-US" sz="2200" dirty="0">
                <a:latin typeface="+mj-lt"/>
                <a:ea typeface="Verdana" panose="020B0604030504040204" pitchFamily="34" charset="0"/>
                <a:cs typeface="Times New Roman" panose="02020603050405020304" pitchFamily="18" charset="0"/>
              </a:rPr>
              <a:t>is </a:t>
            </a:r>
            <a:r>
              <a:rPr lang="en-US" sz="2200" i="1" dirty="0">
                <a:latin typeface="+mj-lt"/>
                <a:ea typeface="Verdana" panose="020B0604030504040204" pitchFamily="34" charset="0"/>
                <a:cs typeface="Times New Roman" panose="02020603050405020304" pitchFamily="18" charset="0"/>
              </a:rPr>
              <a:t>descriptive</a:t>
            </a:r>
            <a:r>
              <a:rPr lang="en-US" sz="2200" dirty="0">
                <a:latin typeface="+mj-lt"/>
                <a:ea typeface="Verdana" panose="020B0604030504040204" pitchFamily="34" charset="0"/>
                <a:cs typeface="Times New Roman" panose="02020603050405020304" pitchFamily="18" charset="0"/>
              </a:rPr>
              <a:t> statistics (numeric summary) of some attribute of a </a:t>
            </a:r>
            <a:r>
              <a:rPr lang="en-US" sz="2200" b="1" dirty="0">
                <a:latin typeface="+mj-lt"/>
                <a:ea typeface="Verdana" panose="020B0604030504040204" pitchFamily="34" charset="0"/>
                <a:cs typeface="Times New Roman" panose="02020603050405020304" pitchFamily="18" charset="0"/>
              </a:rPr>
              <a:t>population</a:t>
            </a:r>
            <a:r>
              <a:rPr lang="en-US" sz="2200" dirty="0">
                <a:latin typeface="+mj-lt"/>
                <a:ea typeface="Verdana" panose="020B0604030504040204" pitchFamily="34" charset="0"/>
                <a:cs typeface="Times New Roman" panose="02020603050405020304" pitchFamily="18" charset="0"/>
              </a:rPr>
              <a:t> (e.g., the population mean)</a:t>
            </a:r>
          </a:p>
          <a:p>
            <a:pPr>
              <a:lnSpc>
                <a:spcPct val="150000"/>
              </a:lnSpc>
            </a:pPr>
            <a:r>
              <a:rPr lang="en-US" sz="2200" b="1" dirty="0">
                <a:solidFill>
                  <a:srgbClr val="002060"/>
                </a:solidFill>
                <a:latin typeface="+mj-lt"/>
                <a:ea typeface="Verdana" panose="020B0604030504040204" pitchFamily="34" charset="0"/>
                <a:cs typeface="Times New Roman" panose="02020603050405020304" pitchFamily="18" charset="0"/>
              </a:rPr>
              <a:t>Sample statistic</a:t>
            </a:r>
            <a:r>
              <a:rPr lang="en-US" sz="2200" dirty="0">
                <a:latin typeface="+mj-lt"/>
                <a:ea typeface="Verdana" panose="020B0604030504040204" pitchFamily="34" charset="0"/>
                <a:cs typeface="Times New Roman" panose="02020603050405020304" pitchFamily="18" charset="0"/>
              </a:rPr>
              <a:t> (singular) is </a:t>
            </a:r>
            <a:r>
              <a:rPr lang="en-US" sz="2200" i="1" dirty="0">
                <a:latin typeface="+mj-lt"/>
                <a:ea typeface="Verdana" panose="020B0604030504040204" pitchFamily="34" charset="0"/>
                <a:cs typeface="Times New Roman" panose="02020603050405020304" pitchFamily="18" charset="0"/>
              </a:rPr>
              <a:t>descriptive</a:t>
            </a:r>
            <a:r>
              <a:rPr lang="en-US" sz="2200" dirty="0">
                <a:latin typeface="+mj-lt"/>
                <a:ea typeface="Verdana" panose="020B0604030504040204" pitchFamily="34" charset="0"/>
                <a:cs typeface="Times New Roman" panose="02020603050405020304" pitchFamily="18" charset="0"/>
              </a:rPr>
              <a:t> statistics summary of some attribute of a sample (e.g., the sample specific mean)</a:t>
            </a:r>
          </a:p>
          <a:p>
            <a:pPr>
              <a:lnSpc>
                <a:spcPct val="150000"/>
              </a:lnSpc>
            </a:pPr>
            <a:r>
              <a:rPr lang="en-US" sz="2200" b="1" dirty="0">
                <a:solidFill>
                  <a:srgbClr val="002060"/>
                </a:solidFill>
                <a:latin typeface="+mj-lt"/>
                <a:ea typeface="Verdana" panose="020B0604030504040204" pitchFamily="34" charset="0"/>
                <a:cs typeface="Times New Roman" panose="02020603050405020304" pitchFamily="18" charset="0"/>
              </a:rPr>
              <a:t>Parameter estimate</a:t>
            </a:r>
            <a:r>
              <a:rPr lang="en-US" sz="2200" dirty="0">
                <a:latin typeface="+mj-lt"/>
                <a:ea typeface="Verdana" panose="020B0604030504040204" pitchFamily="34" charset="0"/>
                <a:cs typeface="Times New Roman" panose="02020603050405020304" pitchFamily="18" charset="0"/>
              </a:rPr>
              <a:t> are sample specific attribute (statistic) which we assume as estimates/representative for the  population parameters</a:t>
            </a:r>
            <a:endParaRPr lang="en-US" sz="2200" b="1" dirty="0">
              <a:latin typeface="+mj-lt"/>
              <a:ea typeface="Verdana" panose="020B0604030504040204" pitchFamily="34" charset="0"/>
              <a:cs typeface="Times New Roman" panose="02020603050405020304" pitchFamily="18" charset="0"/>
            </a:endParaRPr>
          </a:p>
          <a:p>
            <a:endParaRPr lang="en-US" sz="2200" dirty="0">
              <a:latin typeface="+mj-lt"/>
              <a:ea typeface="Verdana" panose="020B0604030504040204" pitchFamily="34" charset="0"/>
              <a:cs typeface="Times New Roman" panose="02020603050405020304" pitchFamily="18" charset="0"/>
            </a:endParaRP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17</a:t>
            </a:fld>
            <a:endParaRPr lang="sv-SE"/>
          </a:p>
        </p:txBody>
      </p:sp>
      <p:sp>
        <p:nvSpPr>
          <p:cNvPr id="5" name="Rektangel 4"/>
          <p:cNvSpPr/>
          <p:nvPr/>
        </p:nvSpPr>
        <p:spPr>
          <a:xfrm>
            <a:off x="2357754" y="97056"/>
            <a:ext cx="5560753" cy="507831"/>
          </a:xfrm>
          <a:prstGeom prst="rect">
            <a:avLst/>
          </a:prstGeom>
        </p:spPr>
        <p:txBody>
          <a:bodyPr wrap="none">
            <a:spAutoFit/>
          </a:bodyPr>
          <a:lstStyle/>
          <a:p>
            <a:pPr defTabSz="342900">
              <a:spcAft>
                <a:spcPts val="1350"/>
              </a:spcAft>
              <a:defRPr/>
            </a:pPr>
            <a:r>
              <a:rPr lang="en-US" sz="2700" b="1" dirty="0">
                <a:solidFill>
                  <a:prstClr val="black"/>
                </a:solidFill>
                <a:latin typeface="Trebuchet MS" panose="020B0603020202020204" pitchFamily="34" charset="0"/>
              </a:rPr>
              <a:t>Parameter, Statistic and Estimate</a:t>
            </a:r>
            <a:endParaRPr lang="en-US" sz="2700" dirty="0">
              <a:solidFill>
                <a:prstClr val="black"/>
              </a:solidFill>
              <a:latin typeface="Trebuchet MS" panose="020B0603020202020204" pitchFamily="34" charset="0"/>
            </a:endParaRPr>
          </a:p>
        </p:txBody>
      </p:sp>
    </p:spTree>
    <p:extLst>
      <p:ext uri="{BB962C8B-B14F-4D97-AF65-F5344CB8AC3E}">
        <p14:creationId xmlns:p14="http://schemas.microsoft.com/office/powerpoint/2010/main" val="3521621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ruta 3"/>
          <p:cNvSpPr txBox="1"/>
          <p:nvPr/>
        </p:nvSpPr>
        <p:spPr>
          <a:xfrm>
            <a:off x="395536" y="956597"/>
            <a:ext cx="8352928" cy="3159839"/>
          </a:xfrm>
          <a:prstGeom prst="rect">
            <a:avLst/>
          </a:prstGeom>
          <a:noFill/>
        </p:spPr>
        <p:txBody>
          <a:bodyPr wrap="square" rtlCol="0">
            <a:spAutoFit/>
          </a:bodyPr>
          <a:lstStyle/>
          <a:p>
            <a:pPr defTabSz="342900">
              <a:spcAft>
                <a:spcPts val="1350"/>
              </a:spcAft>
              <a:defRPr/>
            </a:pPr>
            <a:r>
              <a:rPr lang="en-US" sz="2200" dirty="0">
                <a:solidFill>
                  <a:prstClr val="black"/>
                </a:solidFill>
                <a:latin typeface="+mn-lt"/>
                <a:ea typeface="Verdana" panose="020B0604030504040204" pitchFamily="34" charset="0"/>
                <a:cs typeface="Times New Roman" panose="02020603050405020304" pitchFamily="18" charset="0"/>
              </a:rPr>
              <a:t>Characteristic of an object that can be </a:t>
            </a:r>
            <a:r>
              <a:rPr lang="en-US" sz="2200" b="1" dirty="0">
                <a:solidFill>
                  <a:prstClr val="black"/>
                </a:solidFill>
                <a:latin typeface="+mn-lt"/>
                <a:ea typeface="Verdana" panose="020B0604030504040204" pitchFamily="34" charset="0"/>
                <a:cs typeface="Times New Roman" panose="02020603050405020304" pitchFamily="18" charset="0"/>
              </a:rPr>
              <a:t>quantified</a:t>
            </a:r>
            <a:r>
              <a:rPr lang="en-US" sz="2200" dirty="0">
                <a:solidFill>
                  <a:prstClr val="black"/>
                </a:solidFill>
                <a:latin typeface="+mn-lt"/>
                <a:ea typeface="Verdana" panose="020B0604030504040204" pitchFamily="34" charset="0"/>
                <a:cs typeface="Times New Roman" panose="02020603050405020304" pitchFamily="18" charset="0"/>
              </a:rPr>
              <a:t> (measured) and that can vary, between or/and within object (in contrast to </a:t>
            </a:r>
            <a:r>
              <a:rPr lang="en-US" sz="2200" b="1" dirty="0">
                <a:solidFill>
                  <a:prstClr val="black"/>
                </a:solidFill>
                <a:latin typeface="+mn-lt"/>
                <a:ea typeface="Verdana" panose="020B0604030504040204" pitchFamily="34" charset="0"/>
                <a:cs typeface="Times New Roman" panose="02020603050405020304" pitchFamily="18" charset="0"/>
              </a:rPr>
              <a:t>a constant </a:t>
            </a:r>
            <a:r>
              <a:rPr lang="en-US" sz="2200" dirty="0">
                <a:solidFill>
                  <a:prstClr val="black"/>
                </a:solidFill>
                <a:latin typeface="+mn-lt"/>
                <a:ea typeface="Verdana" panose="020B0604030504040204" pitchFamily="34" charset="0"/>
                <a:cs typeface="Times New Roman" panose="02020603050405020304" pitchFamily="18" charset="0"/>
              </a:rPr>
              <a:t>that always have the same value)</a:t>
            </a:r>
          </a:p>
          <a:p>
            <a:pPr defTabSz="342900">
              <a:spcAft>
                <a:spcPts val="1350"/>
              </a:spcAft>
              <a:defRPr/>
            </a:pPr>
            <a:r>
              <a:rPr lang="en-US" sz="2200" dirty="0">
                <a:solidFill>
                  <a:prstClr val="black"/>
                </a:solidFill>
                <a:latin typeface="+mn-lt"/>
                <a:ea typeface="Verdana" panose="020B0604030504040204" pitchFamily="34" charset="0"/>
                <a:cs typeface="Times New Roman" panose="02020603050405020304" pitchFamily="18" charset="0"/>
              </a:rPr>
              <a:t>I</a:t>
            </a:r>
            <a:r>
              <a:rPr lang="en-US" sz="2200" b="1" dirty="0">
                <a:solidFill>
                  <a:prstClr val="black"/>
                </a:solidFill>
                <a:latin typeface="+mn-lt"/>
                <a:ea typeface="Verdana" panose="020B0604030504040204" pitchFamily="34" charset="0"/>
                <a:cs typeface="Times New Roman" panose="02020603050405020304" pitchFamily="18" charset="0"/>
              </a:rPr>
              <a:t>ndependent variable </a:t>
            </a:r>
            <a:r>
              <a:rPr lang="en-US" sz="2200" dirty="0">
                <a:solidFill>
                  <a:prstClr val="black"/>
                </a:solidFill>
                <a:latin typeface="+mn-lt"/>
                <a:ea typeface="Verdana" panose="020B0604030504040204" pitchFamily="34" charset="0"/>
                <a:cs typeface="Times New Roman" panose="02020603050405020304" pitchFamily="18" charset="0"/>
              </a:rPr>
              <a:t>is measured, manipulated, or selected with the purpose to determine its relationship to the </a:t>
            </a:r>
            <a:r>
              <a:rPr lang="en-US" sz="2200" b="1" dirty="0">
                <a:solidFill>
                  <a:prstClr val="black"/>
                </a:solidFill>
                <a:latin typeface="+mn-lt"/>
                <a:ea typeface="Verdana" panose="020B0604030504040204" pitchFamily="34" charset="0"/>
                <a:cs typeface="Times New Roman" panose="02020603050405020304" pitchFamily="18" charset="0"/>
              </a:rPr>
              <a:t>dependent</a:t>
            </a:r>
            <a:r>
              <a:rPr lang="en-US" sz="2200" dirty="0">
                <a:solidFill>
                  <a:prstClr val="black"/>
                </a:solidFill>
                <a:latin typeface="+mn-lt"/>
                <a:ea typeface="Verdana" panose="020B0604030504040204" pitchFamily="34" charset="0"/>
                <a:cs typeface="Times New Roman" panose="02020603050405020304" pitchFamily="18" charset="0"/>
              </a:rPr>
              <a:t> variable. </a:t>
            </a:r>
          </a:p>
          <a:p>
            <a:pPr>
              <a:spcAft>
                <a:spcPts val="1350"/>
              </a:spcAft>
              <a:defRPr/>
            </a:pPr>
            <a:r>
              <a:rPr lang="en-US" sz="2200" dirty="0">
                <a:solidFill>
                  <a:prstClr val="black"/>
                </a:solidFill>
                <a:latin typeface="+mn-lt"/>
                <a:ea typeface="Verdana" panose="020B0604030504040204" pitchFamily="34" charset="0"/>
                <a:cs typeface="Times New Roman" panose="02020603050405020304" pitchFamily="18" charset="0"/>
              </a:rPr>
              <a:t>The </a:t>
            </a:r>
            <a:r>
              <a:rPr lang="en-US" sz="2200" b="1" dirty="0">
                <a:solidFill>
                  <a:prstClr val="black"/>
                </a:solidFill>
                <a:latin typeface="+mn-lt"/>
                <a:ea typeface="Verdana" panose="020B0604030504040204" pitchFamily="34" charset="0"/>
                <a:cs typeface="Times New Roman" panose="02020603050405020304" pitchFamily="18" charset="0"/>
              </a:rPr>
              <a:t>dependent (outcome) variable </a:t>
            </a:r>
            <a:r>
              <a:rPr lang="en-US" sz="2200" dirty="0">
                <a:solidFill>
                  <a:prstClr val="black"/>
                </a:solidFill>
                <a:latin typeface="+mn-lt"/>
                <a:ea typeface="Verdana" panose="020B0604030504040204" pitchFamily="34" charset="0"/>
                <a:cs typeface="Times New Roman" panose="02020603050405020304" pitchFamily="18" charset="0"/>
              </a:rPr>
              <a:t>is often “the star of the show”. The aim of our study is usually to answer whether or not outcome variable is affected by our independent variable/s. </a:t>
            </a:r>
          </a:p>
        </p:txBody>
      </p:sp>
      <p:sp>
        <p:nvSpPr>
          <p:cNvPr id="2" name="Platshållare för bildnummer 1"/>
          <p:cNvSpPr>
            <a:spLocks noGrp="1"/>
          </p:cNvSpPr>
          <p:nvPr>
            <p:ph type="sldNum" sz="quarter" idx="12"/>
          </p:nvPr>
        </p:nvSpPr>
        <p:spPr/>
        <p:txBody>
          <a:bodyPr/>
          <a:lstStyle/>
          <a:p>
            <a:pPr defTabSz="685800" fontAlgn="auto">
              <a:spcBef>
                <a:spcPts val="0"/>
              </a:spcBef>
              <a:spcAft>
                <a:spcPts val="0"/>
              </a:spcAft>
              <a:defRPr/>
            </a:pPr>
            <a:fld id="{49D34020-361E-4A13-8C95-66E98A929282}" type="slidenum">
              <a:rPr lang="sv-SE" sz="1200" b="1">
                <a:solidFill>
                  <a:prstClr val="black">
                    <a:tint val="75000"/>
                  </a:prstClr>
                </a:solidFill>
                <a:latin typeface="Calibri"/>
                <a:ea typeface="+mn-ea"/>
                <a:cs typeface="+mn-cs"/>
              </a:rPr>
              <a:pPr defTabSz="685800" fontAlgn="auto">
                <a:spcBef>
                  <a:spcPts val="0"/>
                </a:spcBef>
                <a:spcAft>
                  <a:spcPts val="0"/>
                </a:spcAft>
                <a:defRPr/>
              </a:pPr>
              <a:t>18</a:t>
            </a:fld>
            <a:endParaRPr lang="sv-SE" sz="1200" b="1">
              <a:solidFill>
                <a:prstClr val="black">
                  <a:tint val="75000"/>
                </a:prstClr>
              </a:solidFill>
              <a:latin typeface="Calibri"/>
              <a:ea typeface="+mn-ea"/>
              <a:cs typeface="+mn-cs"/>
            </a:endParaRPr>
          </a:p>
        </p:txBody>
      </p:sp>
      <p:sp>
        <p:nvSpPr>
          <p:cNvPr id="7" name="Rektangel 6"/>
          <p:cNvSpPr/>
          <p:nvPr/>
        </p:nvSpPr>
        <p:spPr>
          <a:xfrm>
            <a:off x="3203848" y="139918"/>
            <a:ext cx="1943353" cy="646331"/>
          </a:xfrm>
          <a:prstGeom prst="rect">
            <a:avLst/>
          </a:prstGeom>
        </p:spPr>
        <p:txBody>
          <a:bodyPr wrap="none">
            <a:spAutoFit/>
          </a:bodyPr>
          <a:lstStyle/>
          <a:p>
            <a:pPr defTabSz="342900">
              <a:spcAft>
                <a:spcPts val="1350"/>
              </a:spcAft>
              <a:defRPr/>
            </a:pPr>
            <a:r>
              <a:rPr lang="en-US" sz="3600" b="1" dirty="0">
                <a:solidFill>
                  <a:prstClr val="black"/>
                </a:solidFill>
                <a:latin typeface="+mj-lt"/>
              </a:rPr>
              <a:t>Variables</a:t>
            </a:r>
            <a:endParaRPr lang="en-US" sz="3600" dirty="0">
              <a:solidFill>
                <a:prstClr val="black"/>
              </a:solidFill>
              <a:latin typeface="+mj-lt"/>
            </a:endParaRPr>
          </a:p>
        </p:txBody>
      </p:sp>
    </p:spTree>
    <p:extLst>
      <p:ext uri="{BB962C8B-B14F-4D97-AF65-F5344CB8AC3E}">
        <p14:creationId xmlns:p14="http://schemas.microsoft.com/office/powerpoint/2010/main" val="2881251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ubrik 1"/>
          <p:cNvSpPr>
            <a:spLocks noGrp="1"/>
          </p:cNvSpPr>
          <p:nvPr>
            <p:ph type="title"/>
          </p:nvPr>
        </p:nvSpPr>
        <p:spPr>
          <a:xfrm>
            <a:off x="2459720" y="249492"/>
            <a:ext cx="3410136" cy="540060"/>
          </a:xfrm>
        </p:spPr>
        <p:txBody>
          <a:bodyPr>
            <a:normAutofit/>
          </a:bodyPr>
          <a:lstStyle/>
          <a:p>
            <a:r>
              <a:rPr lang="en-US" sz="3600" dirty="0"/>
              <a:t>Types of variables</a:t>
            </a:r>
          </a:p>
        </p:txBody>
      </p:sp>
      <p:sp>
        <p:nvSpPr>
          <p:cNvPr id="4" name="Platshållare för bildnummer 3"/>
          <p:cNvSpPr>
            <a:spLocks noGrp="1"/>
          </p:cNvSpPr>
          <p:nvPr>
            <p:ph type="sldNum" sz="quarter" idx="12"/>
          </p:nvPr>
        </p:nvSpPr>
        <p:spPr/>
        <p:txBody>
          <a:bodyPr/>
          <a:lstStyle/>
          <a:p>
            <a:pPr>
              <a:defRPr/>
            </a:pPr>
            <a:fld id="{E5496AA5-12E0-44CF-B508-2AC3C50218AF}" type="slidenum">
              <a:rPr lang="sv-SE" smtClean="0">
                <a:solidFill>
                  <a:srgbClr val="000000">
                    <a:tint val="75000"/>
                  </a:srgbClr>
                </a:solidFill>
              </a:rPr>
              <a:pPr>
                <a:defRPr/>
              </a:pPr>
              <a:t>19</a:t>
            </a:fld>
            <a:endParaRPr lang="sv-SE">
              <a:solidFill>
                <a:srgbClr val="000000">
                  <a:tint val="75000"/>
                </a:srgbClr>
              </a:solidFill>
            </a:endParaRPr>
          </a:p>
        </p:txBody>
      </p:sp>
      <p:pic>
        <p:nvPicPr>
          <p:cNvPr id="3074" name="Picture 2" descr="C:\Users\SaraG\Documents\Kurs\Handledning\VT13\Medicinsk statistik_eng\population_sample\Schematic classification of variabl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5695" y="1005577"/>
            <a:ext cx="4844805" cy="3495581"/>
          </a:xfrm>
          <a:prstGeom prst="rect">
            <a:avLst/>
          </a:prstGeom>
          <a:noFill/>
          <a:extLst>
            <a:ext uri="{909E8E84-426E-40DD-AFC4-6F175D3DCCD1}">
              <a14:hiddenFill xmlns:a14="http://schemas.microsoft.com/office/drawing/2010/main">
                <a:solidFill>
                  <a:srgbClr val="FFFFFF"/>
                </a:solidFill>
              </a14:hiddenFill>
            </a:ext>
          </a:extLst>
        </p:spPr>
      </p:pic>
      <p:sp>
        <p:nvSpPr>
          <p:cNvPr id="6" name="Star: 5 Points 5">
            <a:extLst>
              <a:ext uri="{FF2B5EF4-FFF2-40B4-BE49-F238E27FC236}">
                <a16:creationId xmlns:a16="http://schemas.microsoft.com/office/drawing/2014/main" id="{DF50F9F1-E85A-4973-87F8-AB53AFD56298}"/>
              </a:ext>
            </a:extLst>
          </p:cNvPr>
          <p:cNvSpPr/>
          <p:nvPr/>
        </p:nvSpPr>
        <p:spPr>
          <a:xfrm>
            <a:off x="6948264" y="114477"/>
            <a:ext cx="351039" cy="378042"/>
          </a:xfrm>
          <a:prstGeom prst="star5">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838494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ubrik 1"/>
          <p:cNvSpPr>
            <a:spLocks noGrp="1"/>
          </p:cNvSpPr>
          <p:nvPr>
            <p:ph type="title"/>
          </p:nvPr>
        </p:nvSpPr>
        <p:spPr>
          <a:xfrm>
            <a:off x="2458389" y="140277"/>
            <a:ext cx="4597887" cy="487257"/>
          </a:xfrm>
        </p:spPr>
        <p:txBody>
          <a:bodyPr>
            <a:noAutofit/>
          </a:bodyPr>
          <a:lstStyle/>
          <a:p>
            <a:r>
              <a:rPr lang="en-US" sz="3600" dirty="0"/>
              <a:t>Levels of measurement</a:t>
            </a:r>
            <a:endParaRPr lang="sv-SE" sz="3600" dirty="0"/>
          </a:p>
        </p:txBody>
      </p:sp>
      <p:sp>
        <p:nvSpPr>
          <p:cNvPr id="4" name="Platshållare för bildnummer 3"/>
          <p:cNvSpPr>
            <a:spLocks noGrp="1"/>
          </p:cNvSpPr>
          <p:nvPr>
            <p:ph type="sldNum" sz="quarter" idx="12"/>
          </p:nvPr>
        </p:nvSpPr>
        <p:spPr/>
        <p:txBody>
          <a:bodyPr/>
          <a:lstStyle/>
          <a:p>
            <a:pPr>
              <a:defRPr/>
            </a:pPr>
            <a:fld id="{AB3B9699-4152-454D-B933-2BE2B3F560F4}" type="slidenum">
              <a:rPr lang="sv-SE" smtClean="0">
                <a:solidFill>
                  <a:srgbClr val="000000">
                    <a:tint val="75000"/>
                  </a:srgbClr>
                </a:solidFill>
              </a:rPr>
              <a:pPr>
                <a:defRPr/>
              </a:pPr>
              <a:t>20</a:t>
            </a:fld>
            <a:endParaRPr lang="sv-SE">
              <a:solidFill>
                <a:srgbClr val="000000">
                  <a:tint val="75000"/>
                </a:srgbClr>
              </a:solidFill>
            </a:endParaRPr>
          </a:p>
        </p:txBody>
      </p:sp>
      <p:pic>
        <p:nvPicPr>
          <p:cNvPr id="4099" name="Picture 3" descr="C:\Users\SaraG\Documents\Kurs\Handledning\VT13\Medicinsk statistik_eng\population_sample\scale typ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9329" y="726544"/>
            <a:ext cx="4708905" cy="3429382"/>
          </a:xfrm>
          <a:prstGeom prst="rect">
            <a:avLst/>
          </a:prstGeom>
          <a:noFill/>
          <a:extLst>
            <a:ext uri="{909E8E84-426E-40DD-AFC4-6F175D3DCCD1}">
              <a14:hiddenFill xmlns:a14="http://schemas.microsoft.com/office/drawing/2010/main">
                <a:solidFill>
                  <a:srgbClr val="FFFFFF"/>
                </a:solidFill>
              </a14:hiddenFill>
            </a:ext>
          </a:extLst>
        </p:spPr>
      </p:pic>
      <p:sp>
        <p:nvSpPr>
          <p:cNvPr id="6" name="Rubrik 1"/>
          <p:cNvSpPr txBox="1">
            <a:spLocks/>
          </p:cNvSpPr>
          <p:nvPr/>
        </p:nvSpPr>
        <p:spPr>
          <a:xfrm>
            <a:off x="1405272" y="4112412"/>
            <a:ext cx="6515100" cy="691586"/>
          </a:xfrm>
          <a:prstGeom prst="rect">
            <a:avLst/>
          </a:prstGeom>
        </p:spPr>
        <p:txBody>
          <a:bodyPr vert="horz" lIns="27000" tIns="0" rIns="2700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ct val="120000"/>
              </a:lnSpc>
              <a:spcAft>
                <a:spcPts val="0"/>
              </a:spcAft>
            </a:pPr>
            <a:r>
              <a:rPr lang="en-US" sz="1500" dirty="0">
                <a:solidFill>
                  <a:srgbClr val="000000"/>
                </a:solidFill>
                <a:latin typeface="Verdana" panose="020B0604030504040204" pitchFamily="34" charset="0"/>
                <a:ea typeface="Verdana" panose="020B0604030504040204" pitchFamily="34" charset="0"/>
              </a:rPr>
              <a:t>The </a:t>
            </a:r>
            <a:r>
              <a:rPr lang="en-US" sz="1500" b="1" dirty="0">
                <a:solidFill>
                  <a:srgbClr val="000000"/>
                </a:solidFill>
                <a:latin typeface="Verdana" panose="020B0604030504040204" pitchFamily="34" charset="0"/>
                <a:ea typeface="Verdana" panose="020B0604030504040204" pitchFamily="34" charset="0"/>
              </a:rPr>
              <a:t>type of scale </a:t>
            </a:r>
            <a:r>
              <a:rPr lang="en-US" sz="1500" dirty="0">
                <a:solidFill>
                  <a:srgbClr val="000000"/>
                </a:solidFill>
                <a:latin typeface="Verdana" panose="020B0604030504040204" pitchFamily="34" charset="0"/>
                <a:ea typeface="Verdana" panose="020B0604030504040204" pitchFamily="34" charset="0"/>
              </a:rPr>
              <a:t>the variables are measured on influences the choice of </a:t>
            </a:r>
            <a:r>
              <a:rPr lang="en-US" sz="1500" b="1" dirty="0">
                <a:solidFill>
                  <a:srgbClr val="000000"/>
                </a:solidFill>
                <a:latin typeface="Verdana" panose="020B0604030504040204" pitchFamily="34" charset="0"/>
                <a:ea typeface="Verdana" panose="020B0604030504040204" pitchFamily="34" charset="0"/>
              </a:rPr>
              <a:t>statistical methods </a:t>
            </a:r>
            <a:r>
              <a:rPr lang="en-US" sz="1500" dirty="0">
                <a:solidFill>
                  <a:srgbClr val="000000"/>
                </a:solidFill>
                <a:latin typeface="Verdana" panose="020B0604030504040204" pitchFamily="34" charset="0"/>
                <a:ea typeface="Verdana" panose="020B0604030504040204" pitchFamily="34" charset="0"/>
              </a:rPr>
              <a:t>for analyzing the data. </a:t>
            </a:r>
            <a:endParaRPr lang="sv-SE" sz="1500" dirty="0">
              <a:solidFill>
                <a:srgbClr val="000000"/>
              </a:solidFill>
              <a:latin typeface="Verdana" panose="020B0604030504040204" pitchFamily="34" charset="0"/>
              <a:ea typeface="Verdana" panose="020B0604030504040204" pitchFamily="34" charset="0"/>
            </a:endParaRPr>
          </a:p>
        </p:txBody>
      </p:sp>
      <p:sp>
        <p:nvSpPr>
          <p:cNvPr id="8" name="Star: 5 Points 7">
            <a:extLst>
              <a:ext uri="{FF2B5EF4-FFF2-40B4-BE49-F238E27FC236}">
                <a16:creationId xmlns:a16="http://schemas.microsoft.com/office/drawing/2014/main" id="{1D754899-0F09-4F91-AC65-8227E82A70E1}"/>
              </a:ext>
            </a:extLst>
          </p:cNvPr>
          <p:cNvSpPr/>
          <p:nvPr/>
        </p:nvSpPr>
        <p:spPr>
          <a:xfrm>
            <a:off x="6948264" y="114477"/>
            <a:ext cx="351039" cy="378042"/>
          </a:xfrm>
          <a:prstGeom prst="star5">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2116623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SaraG\Documents\Kurs\Handledning\VT13\Medicinsk statistik_eng\population_sample\scale type.png"/>
          <p:cNvPicPr>
            <a:picLocks noChangeAspect="1" noChangeArrowheads="1"/>
          </p:cNvPicPr>
          <p:nvPr/>
        </p:nvPicPr>
        <p:blipFill rotWithShape="1">
          <a:blip r:embed="rId3">
            <a:extLst>
              <a:ext uri="{28A0092B-C50C-407E-A947-70E740481C1C}">
                <a14:useLocalDpi xmlns:a14="http://schemas.microsoft.com/office/drawing/2010/main" val="0"/>
              </a:ext>
            </a:extLst>
          </a:blip>
          <a:srcRect t="5040" b="13374"/>
          <a:stretch/>
        </p:blipFill>
        <p:spPr bwMode="auto">
          <a:xfrm>
            <a:off x="5732497" y="60471"/>
            <a:ext cx="2207009" cy="1311342"/>
          </a:xfrm>
          <a:prstGeom prst="rect">
            <a:avLst/>
          </a:prstGeom>
          <a:noFill/>
          <a:extLst>
            <a:ext uri="{909E8E84-426E-40DD-AFC4-6F175D3DCCD1}">
              <a14:hiddenFill xmlns:a14="http://schemas.microsoft.com/office/drawing/2010/main">
                <a:solidFill>
                  <a:srgbClr val="FFFFFF"/>
                </a:solidFill>
              </a14:hiddenFill>
            </a:ext>
          </a:extLst>
        </p:spPr>
      </p:pic>
      <p:sp>
        <p:nvSpPr>
          <p:cNvPr id="23554" name="Rubrik 1"/>
          <p:cNvSpPr>
            <a:spLocks noGrp="1"/>
          </p:cNvSpPr>
          <p:nvPr>
            <p:ph type="title"/>
          </p:nvPr>
        </p:nvSpPr>
        <p:spPr>
          <a:xfrm>
            <a:off x="2573778" y="123478"/>
            <a:ext cx="3807423" cy="594066"/>
          </a:xfrm>
        </p:spPr>
        <p:txBody>
          <a:bodyPr>
            <a:normAutofit/>
          </a:bodyPr>
          <a:lstStyle/>
          <a:p>
            <a:r>
              <a:rPr lang="en-US" sz="3600" dirty="0"/>
              <a:t>Types of scales </a:t>
            </a:r>
            <a:endParaRPr lang="sv-SE" sz="3600" dirty="0"/>
          </a:p>
        </p:txBody>
      </p:sp>
      <p:sp>
        <p:nvSpPr>
          <p:cNvPr id="23555" name="Platshållare för innehåll 2"/>
          <p:cNvSpPr>
            <a:spLocks noGrp="1"/>
          </p:cNvSpPr>
          <p:nvPr>
            <p:ph idx="1"/>
          </p:nvPr>
        </p:nvSpPr>
        <p:spPr>
          <a:xfrm>
            <a:off x="1358643" y="1337518"/>
            <a:ext cx="6172200" cy="3394472"/>
          </a:xfrm>
        </p:spPr>
        <p:txBody>
          <a:bodyPr>
            <a:normAutofit fontScale="92500" lnSpcReduction="20000"/>
          </a:bodyPr>
          <a:lstStyle/>
          <a:p>
            <a:r>
              <a:rPr lang="en-US" sz="2100" b="1" dirty="0"/>
              <a:t>Nominal scale</a:t>
            </a:r>
            <a:r>
              <a:rPr lang="en-US" sz="2100" dirty="0"/>
              <a:t>: Name, Gender, color, brand</a:t>
            </a:r>
          </a:p>
          <a:p>
            <a:pPr marL="300038" lvl="1" indent="0">
              <a:spcBef>
                <a:spcPts val="450"/>
              </a:spcBef>
              <a:spcAft>
                <a:spcPts val="1350"/>
              </a:spcAft>
              <a:buNone/>
            </a:pPr>
            <a:r>
              <a:rPr lang="en-US" sz="1800" dirty="0"/>
              <a:t>	Is the ”lowest” level. </a:t>
            </a:r>
            <a:r>
              <a:rPr lang="en-US" sz="1800" u="sng" dirty="0"/>
              <a:t>No particular order</a:t>
            </a:r>
            <a:endParaRPr lang="en-US" sz="2100" u="sng" dirty="0"/>
          </a:p>
          <a:p>
            <a:r>
              <a:rPr lang="en-US" sz="2100" b="1" dirty="0"/>
              <a:t>Ordinal scale:</a:t>
            </a:r>
            <a:r>
              <a:rPr lang="en-US" sz="2100" dirty="0"/>
              <a:t> Good-Better-Best, Age category</a:t>
            </a:r>
          </a:p>
          <a:p>
            <a:pPr marL="0" lvl="1" indent="0">
              <a:spcBef>
                <a:spcPts val="450"/>
              </a:spcBef>
              <a:spcAft>
                <a:spcPts val="1350"/>
              </a:spcAft>
              <a:buNone/>
            </a:pPr>
            <a:r>
              <a:rPr lang="en-US" sz="2100" dirty="0"/>
              <a:t> </a:t>
            </a:r>
            <a:r>
              <a:rPr lang="en-US" dirty="0"/>
              <a:t>    	</a:t>
            </a:r>
            <a:r>
              <a:rPr lang="en-US" sz="1800" u="sng" dirty="0"/>
              <a:t>Has a natural order</a:t>
            </a:r>
            <a:endParaRPr lang="en-US" sz="2100" u="sng" dirty="0"/>
          </a:p>
          <a:p>
            <a:r>
              <a:rPr lang="en-US" sz="2100" b="1" dirty="0"/>
              <a:t>Interval scale:</a:t>
            </a:r>
            <a:r>
              <a:rPr lang="en-US" sz="2100" dirty="0"/>
              <a:t> Temperature </a:t>
            </a:r>
          </a:p>
          <a:p>
            <a:pPr marL="0" indent="0">
              <a:spcBef>
                <a:spcPts val="450"/>
              </a:spcBef>
              <a:spcAft>
                <a:spcPts val="1350"/>
              </a:spcAft>
              <a:buNone/>
            </a:pPr>
            <a:r>
              <a:rPr lang="en-US" sz="2100" dirty="0"/>
              <a:t>	</a:t>
            </a:r>
            <a:r>
              <a:rPr lang="en-US" u="sng" dirty="0"/>
              <a:t>Has an natural order </a:t>
            </a:r>
            <a:r>
              <a:rPr lang="en-US" dirty="0"/>
              <a:t>and a defined “distance” (negative, 0, positive)</a:t>
            </a:r>
          </a:p>
          <a:p>
            <a:r>
              <a:rPr lang="en-US" sz="2100" b="1" dirty="0"/>
              <a:t>Ratio scale:</a:t>
            </a:r>
            <a:r>
              <a:rPr lang="en-US" sz="2100" dirty="0"/>
              <a:t> Weights </a:t>
            </a:r>
          </a:p>
          <a:p>
            <a:pPr marL="0" indent="0">
              <a:buNone/>
            </a:pPr>
            <a:r>
              <a:rPr lang="sv-SE" dirty="0"/>
              <a:t>	</a:t>
            </a:r>
            <a:r>
              <a:rPr lang="en-US" u="sng" dirty="0"/>
              <a:t>Has an natural order</a:t>
            </a:r>
            <a:r>
              <a:rPr lang="en-US" dirty="0"/>
              <a:t>, “distance” and a “Zero-value”</a:t>
            </a:r>
          </a:p>
          <a:p>
            <a:pPr marL="0" indent="0">
              <a:buNone/>
            </a:pPr>
            <a:endParaRPr lang="sv-SE" dirty="0"/>
          </a:p>
        </p:txBody>
      </p:sp>
      <p:sp>
        <p:nvSpPr>
          <p:cNvPr id="4" name="Platshållare för bildnummer 3"/>
          <p:cNvSpPr>
            <a:spLocks noGrp="1"/>
          </p:cNvSpPr>
          <p:nvPr>
            <p:ph type="sldNum" sz="quarter" idx="12"/>
          </p:nvPr>
        </p:nvSpPr>
        <p:spPr/>
        <p:txBody>
          <a:bodyPr/>
          <a:lstStyle/>
          <a:p>
            <a:pPr>
              <a:defRPr/>
            </a:pPr>
            <a:fld id="{16DFEED4-8269-4E9E-94F4-7AD1E9C38893}" type="slidenum">
              <a:rPr lang="sv-SE" smtClean="0">
                <a:solidFill>
                  <a:srgbClr val="000000">
                    <a:tint val="75000"/>
                  </a:srgbClr>
                </a:solidFill>
              </a:rPr>
              <a:pPr>
                <a:defRPr/>
              </a:pPr>
              <a:t>21</a:t>
            </a:fld>
            <a:endParaRPr lang="sv-SE">
              <a:solidFill>
                <a:srgbClr val="000000">
                  <a:tint val="75000"/>
                </a:srgbClr>
              </a:solidFill>
            </a:endParaRPr>
          </a:p>
        </p:txBody>
      </p:sp>
      <p:sp>
        <p:nvSpPr>
          <p:cNvPr id="3" name="Rectangle: Rounded Corners 2">
            <a:extLst>
              <a:ext uri="{FF2B5EF4-FFF2-40B4-BE49-F238E27FC236}">
                <a16:creationId xmlns:a16="http://schemas.microsoft.com/office/drawing/2014/main" id="{663051A1-CEA6-4280-A354-F185866EF35B}"/>
              </a:ext>
            </a:extLst>
          </p:cNvPr>
          <p:cNvSpPr/>
          <p:nvPr/>
        </p:nvSpPr>
        <p:spPr>
          <a:xfrm>
            <a:off x="1250631" y="708544"/>
            <a:ext cx="6345705" cy="2007222"/>
          </a:xfrm>
          <a:prstGeom prst="roundRect">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solidFill>
                <a:schemeClr val="tx1"/>
              </a:solidFill>
            </a:endParaRPr>
          </a:p>
        </p:txBody>
      </p:sp>
      <p:sp>
        <p:nvSpPr>
          <p:cNvPr id="6" name="TextBox 5">
            <a:extLst>
              <a:ext uri="{FF2B5EF4-FFF2-40B4-BE49-F238E27FC236}">
                <a16:creationId xmlns:a16="http://schemas.microsoft.com/office/drawing/2014/main" id="{23181883-DB47-49B7-B695-13A46FBF5C90}"/>
              </a:ext>
            </a:extLst>
          </p:cNvPr>
          <p:cNvSpPr txBox="1"/>
          <p:nvPr/>
        </p:nvSpPr>
        <p:spPr>
          <a:xfrm>
            <a:off x="1817694" y="789552"/>
            <a:ext cx="2754306" cy="415498"/>
          </a:xfrm>
          <a:prstGeom prst="rect">
            <a:avLst/>
          </a:prstGeom>
          <a:noFill/>
        </p:spPr>
        <p:txBody>
          <a:bodyPr wrap="square" rtlCol="0">
            <a:spAutoFit/>
          </a:bodyPr>
          <a:lstStyle/>
          <a:p>
            <a:r>
              <a:rPr lang="sv-SE" sz="2100" dirty="0" err="1">
                <a:ln>
                  <a:solidFill>
                    <a:srgbClr val="0070C0"/>
                  </a:solidFill>
                </a:ln>
                <a:solidFill>
                  <a:srgbClr val="0070C0"/>
                </a:solidFill>
              </a:rPr>
              <a:t>Categorical</a:t>
            </a:r>
            <a:r>
              <a:rPr lang="sv-SE" sz="2100" dirty="0">
                <a:ln>
                  <a:solidFill>
                    <a:srgbClr val="0070C0"/>
                  </a:solidFill>
                </a:ln>
                <a:solidFill>
                  <a:srgbClr val="0070C0"/>
                </a:solidFill>
              </a:rPr>
              <a:t> data </a:t>
            </a:r>
          </a:p>
        </p:txBody>
      </p:sp>
      <p:sp>
        <p:nvSpPr>
          <p:cNvPr id="9" name="Rectangle: Rounded Corners 8">
            <a:extLst>
              <a:ext uri="{FF2B5EF4-FFF2-40B4-BE49-F238E27FC236}">
                <a16:creationId xmlns:a16="http://schemas.microsoft.com/office/drawing/2014/main" id="{18BB71EC-26D6-4B7A-B08E-3175A3BE843C}"/>
              </a:ext>
            </a:extLst>
          </p:cNvPr>
          <p:cNvSpPr/>
          <p:nvPr/>
        </p:nvSpPr>
        <p:spPr>
          <a:xfrm>
            <a:off x="1238110" y="2914885"/>
            <a:ext cx="6345705" cy="1889114"/>
          </a:xfrm>
          <a:prstGeom prst="roundRect">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solidFill>
                <a:schemeClr val="tx1"/>
              </a:solidFill>
            </a:endParaRPr>
          </a:p>
        </p:txBody>
      </p:sp>
      <p:sp>
        <p:nvSpPr>
          <p:cNvPr id="10" name="TextBox 9">
            <a:extLst>
              <a:ext uri="{FF2B5EF4-FFF2-40B4-BE49-F238E27FC236}">
                <a16:creationId xmlns:a16="http://schemas.microsoft.com/office/drawing/2014/main" id="{E4221999-9B3A-4AFB-9083-E29FC909DBBC}"/>
              </a:ext>
            </a:extLst>
          </p:cNvPr>
          <p:cNvSpPr txBox="1"/>
          <p:nvPr/>
        </p:nvSpPr>
        <p:spPr>
          <a:xfrm>
            <a:off x="5004048" y="3557359"/>
            <a:ext cx="2376264" cy="738664"/>
          </a:xfrm>
          <a:prstGeom prst="rect">
            <a:avLst/>
          </a:prstGeom>
          <a:noFill/>
        </p:spPr>
        <p:txBody>
          <a:bodyPr wrap="square" rtlCol="0">
            <a:spAutoFit/>
          </a:bodyPr>
          <a:lstStyle/>
          <a:p>
            <a:r>
              <a:rPr lang="sv-SE" sz="2100" dirty="0" err="1">
                <a:ln>
                  <a:solidFill>
                    <a:srgbClr val="0070C0"/>
                  </a:solidFill>
                </a:ln>
                <a:solidFill>
                  <a:srgbClr val="0070C0"/>
                </a:solidFill>
              </a:rPr>
              <a:t>Quantitative</a:t>
            </a:r>
            <a:r>
              <a:rPr lang="sv-SE" sz="2100" dirty="0">
                <a:ln>
                  <a:solidFill>
                    <a:srgbClr val="0070C0"/>
                  </a:solidFill>
                </a:ln>
                <a:solidFill>
                  <a:srgbClr val="0070C0"/>
                </a:solidFill>
              </a:rPr>
              <a:t> / </a:t>
            </a:r>
            <a:r>
              <a:rPr lang="sv-SE" sz="2100" dirty="0" err="1">
                <a:ln>
                  <a:solidFill>
                    <a:srgbClr val="0070C0"/>
                  </a:solidFill>
                </a:ln>
                <a:solidFill>
                  <a:srgbClr val="0070C0"/>
                </a:solidFill>
              </a:rPr>
              <a:t>Numerical</a:t>
            </a:r>
            <a:r>
              <a:rPr lang="sv-SE" sz="2100" dirty="0">
                <a:ln>
                  <a:solidFill>
                    <a:srgbClr val="0070C0"/>
                  </a:solidFill>
                </a:ln>
                <a:solidFill>
                  <a:srgbClr val="0070C0"/>
                </a:solidFill>
              </a:rPr>
              <a:t> data </a:t>
            </a:r>
          </a:p>
        </p:txBody>
      </p:sp>
    </p:spTree>
    <p:extLst>
      <p:ext uri="{BB962C8B-B14F-4D97-AF65-F5344CB8AC3E}">
        <p14:creationId xmlns:p14="http://schemas.microsoft.com/office/powerpoint/2010/main" val="4102604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fade">
                                      <p:cBhvr>
                                        <p:cTn id="7" dur="500"/>
                                        <p:tgtEl>
                                          <p:spTgt spid="2355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555">
                                            <p:txEl>
                                              <p:pRg st="1" end="1"/>
                                            </p:txEl>
                                          </p:spTgt>
                                        </p:tgtEl>
                                        <p:attrNameLst>
                                          <p:attrName>style.visibility</p:attrName>
                                        </p:attrNameLst>
                                      </p:cBhvr>
                                      <p:to>
                                        <p:strVal val="visible"/>
                                      </p:to>
                                    </p:set>
                                    <p:animEffect transition="in" filter="fade">
                                      <p:cBhvr>
                                        <p:cTn id="10" dur="500"/>
                                        <p:tgtEl>
                                          <p:spTgt spid="2355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animEffect transition="in" filter="fade">
                                      <p:cBhvr>
                                        <p:cTn id="15" dur="500"/>
                                        <p:tgtEl>
                                          <p:spTgt spid="2355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3555">
                                            <p:txEl>
                                              <p:pRg st="3" end="3"/>
                                            </p:txEl>
                                          </p:spTgt>
                                        </p:tgtEl>
                                        <p:attrNameLst>
                                          <p:attrName>style.visibility</p:attrName>
                                        </p:attrNameLst>
                                      </p:cBhvr>
                                      <p:to>
                                        <p:strVal val="visible"/>
                                      </p:to>
                                    </p:set>
                                    <p:animEffect transition="in" filter="fade">
                                      <p:cBhvr>
                                        <p:cTn id="18" dur="500"/>
                                        <p:tgtEl>
                                          <p:spTgt spid="2355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3555">
                                            <p:txEl>
                                              <p:pRg st="4" end="4"/>
                                            </p:txEl>
                                          </p:spTgt>
                                        </p:tgtEl>
                                        <p:attrNameLst>
                                          <p:attrName>style.visibility</p:attrName>
                                        </p:attrNameLst>
                                      </p:cBhvr>
                                      <p:to>
                                        <p:strVal val="visible"/>
                                      </p:to>
                                    </p:set>
                                    <p:animEffect transition="in" filter="fade">
                                      <p:cBhvr>
                                        <p:cTn id="29" dur="500"/>
                                        <p:tgtEl>
                                          <p:spTgt spid="23555">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3555">
                                            <p:txEl>
                                              <p:pRg st="5" end="5"/>
                                            </p:txEl>
                                          </p:spTgt>
                                        </p:tgtEl>
                                        <p:attrNameLst>
                                          <p:attrName>style.visibility</p:attrName>
                                        </p:attrNameLst>
                                      </p:cBhvr>
                                      <p:to>
                                        <p:strVal val="visible"/>
                                      </p:to>
                                    </p:set>
                                    <p:animEffect transition="in" filter="fade">
                                      <p:cBhvr>
                                        <p:cTn id="32" dur="500"/>
                                        <p:tgtEl>
                                          <p:spTgt spid="2355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555">
                                            <p:txEl>
                                              <p:pRg st="6" end="6"/>
                                            </p:txEl>
                                          </p:spTgt>
                                        </p:tgtEl>
                                        <p:attrNameLst>
                                          <p:attrName>style.visibility</p:attrName>
                                        </p:attrNameLst>
                                      </p:cBhvr>
                                      <p:to>
                                        <p:strVal val="visible"/>
                                      </p:to>
                                    </p:set>
                                    <p:animEffect transition="in" filter="fade">
                                      <p:cBhvr>
                                        <p:cTn id="37" dur="500"/>
                                        <p:tgtEl>
                                          <p:spTgt spid="23555">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23555">
                                            <p:txEl>
                                              <p:pRg st="7" end="7"/>
                                            </p:txEl>
                                          </p:spTgt>
                                        </p:tgtEl>
                                        <p:attrNameLst>
                                          <p:attrName>style.visibility</p:attrName>
                                        </p:attrNameLst>
                                      </p:cBhvr>
                                      <p:to>
                                        <p:strVal val="visible"/>
                                      </p:to>
                                    </p:set>
                                    <p:animEffect transition="in" filter="fade">
                                      <p:cBhvr>
                                        <p:cTn id="40" dur="500"/>
                                        <p:tgtEl>
                                          <p:spTgt spid="23555">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randombar(horizontal)">
                                      <p:cBhvr>
                                        <p:cTn id="5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9" grpId="0" animBg="1"/>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187624" y="141481"/>
            <a:ext cx="6696744" cy="486054"/>
          </a:xfrm>
        </p:spPr>
        <p:txBody>
          <a:bodyPr>
            <a:noAutofit/>
          </a:bodyPr>
          <a:lstStyle/>
          <a:p>
            <a:r>
              <a:rPr lang="en-US" sz="3600" dirty="0"/>
              <a:t>Relative &amp; Absolute measurements</a:t>
            </a:r>
          </a:p>
        </p:txBody>
      </p:sp>
      <p:sp>
        <p:nvSpPr>
          <p:cNvPr id="3" name="Platshållare för bildnummer 2"/>
          <p:cNvSpPr>
            <a:spLocks noGrp="1"/>
          </p:cNvSpPr>
          <p:nvPr>
            <p:ph type="sldNum" sz="quarter" idx="12"/>
          </p:nvPr>
        </p:nvSpPr>
        <p:spPr/>
        <p:txBody>
          <a:bodyPr/>
          <a:lstStyle/>
          <a:p>
            <a:fld id="{49D34020-361E-4A13-8C95-66E98A929282}" type="slidenum">
              <a:rPr lang="sv-SE" smtClean="0"/>
              <a:pPr/>
              <a:t>22</a:t>
            </a:fld>
            <a:endParaRPr lang="sv-SE"/>
          </a:p>
        </p:txBody>
      </p:sp>
      <p:sp>
        <p:nvSpPr>
          <p:cNvPr id="4" name="Rektangel 3"/>
          <p:cNvSpPr/>
          <p:nvPr/>
        </p:nvSpPr>
        <p:spPr>
          <a:xfrm>
            <a:off x="251520" y="771550"/>
            <a:ext cx="8640960" cy="3891835"/>
          </a:xfrm>
          <a:prstGeom prst="rect">
            <a:avLst/>
          </a:prstGeom>
        </p:spPr>
        <p:txBody>
          <a:bodyPr wrap="square">
            <a:spAutoFit/>
          </a:bodyPr>
          <a:lstStyle/>
          <a:p>
            <a:pPr>
              <a:lnSpc>
                <a:spcPct val="130000"/>
              </a:lnSpc>
            </a:pPr>
            <a:r>
              <a:rPr lang="en-US" sz="2000" b="1" dirty="0">
                <a:solidFill>
                  <a:srgbClr val="002060"/>
                </a:solidFill>
                <a:latin typeface="+mn-lt"/>
                <a:ea typeface="Verdana" panose="020B0604030504040204" pitchFamily="34" charset="0"/>
                <a:cs typeface="Times New Roman" panose="02020603050405020304" pitchFamily="18" charset="0"/>
              </a:rPr>
              <a:t>Absolute measurements</a:t>
            </a:r>
            <a:r>
              <a:rPr lang="en-US" sz="2000" b="1" dirty="0">
                <a:latin typeface="+mn-lt"/>
                <a:ea typeface="Verdana" panose="020B0604030504040204" pitchFamily="34" charset="0"/>
                <a:cs typeface="Times New Roman" panose="02020603050405020304" pitchFamily="18" charset="0"/>
              </a:rPr>
              <a:t> </a:t>
            </a:r>
            <a:r>
              <a:rPr lang="en-US" sz="2000" dirty="0">
                <a:latin typeface="+mn-lt"/>
                <a:ea typeface="Verdana" panose="020B0604030504040204" pitchFamily="34" charset="0"/>
                <a:cs typeface="Times New Roman" panose="02020603050405020304" pitchFamily="18" charset="0"/>
              </a:rPr>
              <a:t>(numbers with units) e.g., 100 cm or 5 kg. All </a:t>
            </a:r>
            <a:r>
              <a:rPr lang="en-US" sz="2000" b="1" dirty="0">
                <a:latin typeface="+mn-lt"/>
                <a:ea typeface="Verdana" panose="020B0604030504040204" pitchFamily="34" charset="0"/>
                <a:cs typeface="Times New Roman" panose="02020603050405020304" pitchFamily="18" charset="0"/>
              </a:rPr>
              <a:t>quantitative</a:t>
            </a:r>
            <a:r>
              <a:rPr lang="en-US" sz="2000" dirty="0">
                <a:latin typeface="+mn-lt"/>
                <a:ea typeface="Verdana" panose="020B0604030504040204" pitchFamily="34" charset="0"/>
                <a:cs typeface="Times New Roman" panose="02020603050405020304" pitchFamily="18" charset="0"/>
              </a:rPr>
              <a:t> variables have absolute measurements. Absolute measurements should </a:t>
            </a:r>
            <a:r>
              <a:rPr lang="en-US" sz="2000" u="sng" dirty="0">
                <a:latin typeface="+mn-lt"/>
                <a:ea typeface="Verdana" panose="020B0604030504040204" pitchFamily="34" charset="0"/>
                <a:cs typeface="Times New Roman" panose="02020603050405020304" pitchFamily="18" charset="0"/>
              </a:rPr>
              <a:t>always  include the unit of measure</a:t>
            </a:r>
            <a:endParaRPr lang="en-US" sz="2000" dirty="0">
              <a:latin typeface="+mn-lt"/>
              <a:ea typeface="Verdana" panose="020B0604030504040204" pitchFamily="34" charset="0"/>
              <a:cs typeface="Times New Roman" panose="02020603050405020304" pitchFamily="18" charset="0"/>
            </a:endParaRPr>
          </a:p>
          <a:p>
            <a:pPr>
              <a:lnSpc>
                <a:spcPct val="130000"/>
              </a:lnSpc>
              <a:spcBef>
                <a:spcPts val="900"/>
              </a:spcBef>
            </a:pPr>
            <a:r>
              <a:rPr lang="en-US" sz="2000" b="1" dirty="0">
                <a:solidFill>
                  <a:srgbClr val="002060"/>
                </a:solidFill>
                <a:latin typeface="+mn-lt"/>
                <a:ea typeface="Verdana" panose="020B0604030504040204" pitchFamily="34" charset="0"/>
                <a:cs typeface="Times New Roman" panose="02020603050405020304" pitchFamily="18" charset="0"/>
              </a:rPr>
              <a:t>Relative measurements</a:t>
            </a:r>
            <a:r>
              <a:rPr lang="en-US" sz="2000" b="1" dirty="0">
                <a:latin typeface="+mn-lt"/>
                <a:ea typeface="Verdana" panose="020B0604030504040204" pitchFamily="34" charset="0"/>
                <a:cs typeface="Times New Roman" panose="02020603050405020304" pitchFamily="18" charset="0"/>
              </a:rPr>
              <a:t> </a:t>
            </a:r>
            <a:r>
              <a:rPr lang="en-US" sz="2000" dirty="0">
                <a:latin typeface="+mn-lt"/>
                <a:ea typeface="Verdana" panose="020B0604030504040204" pitchFamily="34" charset="0"/>
                <a:cs typeface="Times New Roman" panose="02020603050405020304" pitchFamily="18" charset="0"/>
              </a:rPr>
              <a:t>tell us the </a:t>
            </a:r>
            <a:r>
              <a:rPr lang="en-US" sz="2000" u="sng" dirty="0">
                <a:latin typeface="+mn-lt"/>
                <a:ea typeface="Verdana" panose="020B0604030504040204" pitchFamily="34" charset="0"/>
                <a:cs typeface="Times New Roman" panose="02020603050405020304" pitchFamily="18" charset="0"/>
              </a:rPr>
              <a:t>relationship between two measurements</a:t>
            </a:r>
            <a:r>
              <a:rPr lang="en-US" sz="2000" dirty="0">
                <a:latin typeface="+mn-lt"/>
                <a:ea typeface="Verdana" panose="020B0604030504040204" pitchFamily="34" charset="0"/>
                <a:cs typeface="Times New Roman" panose="02020603050405020304" pitchFamily="18" charset="0"/>
              </a:rPr>
              <a:t> with </a:t>
            </a:r>
            <a:r>
              <a:rPr lang="en-US" sz="2000" u="sng" dirty="0">
                <a:latin typeface="+mn-lt"/>
                <a:ea typeface="Verdana" panose="020B0604030504040204" pitchFamily="34" charset="0"/>
                <a:cs typeface="Times New Roman" panose="02020603050405020304" pitchFamily="18" charset="0"/>
              </a:rPr>
              <a:t>the same unit</a:t>
            </a:r>
            <a:r>
              <a:rPr lang="en-US" sz="2000" dirty="0">
                <a:latin typeface="+mn-lt"/>
                <a:ea typeface="Verdana" panose="020B0604030504040204" pitchFamily="34" charset="0"/>
                <a:cs typeface="Times New Roman" panose="02020603050405020304" pitchFamily="18" charset="0"/>
              </a:rPr>
              <a:t>. Ex: “youth unemployment's has decreased by 16% since last year.” </a:t>
            </a:r>
            <a:r>
              <a:rPr lang="en-US" sz="2000" u="sng" dirty="0">
                <a:latin typeface="+mn-lt"/>
                <a:ea typeface="Verdana" panose="020B0604030504040204" pitchFamily="34" charset="0"/>
                <a:cs typeface="Times New Roman" panose="02020603050405020304" pitchFamily="18" charset="0"/>
              </a:rPr>
              <a:t>Relative measurements are ratios</a:t>
            </a:r>
            <a:r>
              <a:rPr lang="en-US" sz="2000" dirty="0">
                <a:latin typeface="+mn-lt"/>
                <a:ea typeface="Verdana" panose="020B0604030504040204" pitchFamily="34" charset="0"/>
                <a:cs typeface="Times New Roman" panose="02020603050405020304" pitchFamily="18" charset="0"/>
              </a:rPr>
              <a:t>. The most common relative measurement is %.. Can only be used for variables with ratio scale.</a:t>
            </a:r>
          </a:p>
          <a:p>
            <a:pPr>
              <a:lnSpc>
                <a:spcPct val="130000"/>
              </a:lnSpc>
              <a:spcBef>
                <a:spcPts val="900"/>
              </a:spcBef>
            </a:pPr>
            <a:r>
              <a:rPr lang="en-US" sz="2000" dirty="0">
                <a:latin typeface="+mn-lt"/>
                <a:ea typeface="Verdana" panose="020B0604030504040204" pitchFamily="34" charset="0"/>
                <a:cs typeface="Times New Roman" panose="02020603050405020304" pitchFamily="18" charset="0"/>
              </a:rPr>
              <a:t>If possible, </a:t>
            </a:r>
            <a:r>
              <a:rPr lang="en-US" sz="2000" u="sng" dirty="0">
                <a:latin typeface="+mn-lt"/>
                <a:ea typeface="Verdana" panose="020B0604030504040204" pitchFamily="34" charset="0"/>
                <a:cs typeface="Times New Roman" panose="02020603050405020304" pitchFamily="18" charset="0"/>
              </a:rPr>
              <a:t>always report </a:t>
            </a:r>
            <a:r>
              <a:rPr lang="en-US" sz="2000" dirty="0">
                <a:latin typeface="+mn-lt"/>
                <a:ea typeface="Verdana" panose="020B0604030504040204" pitchFamily="34" charset="0"/>
                <a:cs typeface="Times New Roman" panose="02020603050405020304" pitchFamily="18" charset="0"/>
              </a:rPr>
              <a:t>the </a:t>
            </a:r>
            <a:r>
              <a:rPr lang="en-US" sz="2000" u="sng" dirty="0">
                <a:latin typeface="+mn-lt"/>
                <a:ea typeface="Verdana" panose="020B0604030504040204" pitchFamily="34" charset="0"/>
                <a:cs typeface="Times New Roman" panose="02020603050405020304" pitchFamily="18" charset="0"/>
              </a:rPr>
              <a:t>at least one of absolute measurement </a:t>
            </a:r>
            <a:r>
              <a:rPr lang="en-US" sz="2000" dirty="0">
                <a:latin typeface="+mn-lt"/>
                <a:ea typeface="Verdana" panose="020B0604030504040204" pitchFamily="34" charset="0"/>
                <a:cs typeface="Times New Roman" panose="02020603050405020304" pitchFamily="18" charset="0"/>
              </a:rPr>
              <a:t>compared </a:t>
            </a:r>
            <a:r>
              <a:rPr lang="en-US" sz="2000" u="sng" dirty="0">
                <a:latin typeface="+mn-lt"/>
                <a:ea typeface="Verdana" panose="020B0604030504040204" pitchFamily="34" charset="0"/>
                <a:cs typeface="Times New Roman" panose="02020603050405020304" pitchFamily="18" charset="0"/>
              </a:rPr>
              <a:t>with the relative measurement</a:t>
            </a:r>
            <a:r>
              <a:rPr lang="en-US" sz="2000" dirty="0">
                <a:latin typeface="+mn-lt"/>
                <a:ea typeface="Verdana" panose="020B0604030504040204" pitchFamily="34" charset="0"/>
                <a:cs typeface="Times New Roman" panose="02020603050405020304" pitchFamily="18" charset="0"/>
              </a:rPr>
              <a:t>. </a:t>
            </a:r>
          </a:p>
        </p:txBody>
      </p:sp>
    </p:spTree>
    <p:extLst>
      <p:ext uri="{BB962C8B-B14F-4D97-AF65-F5344CB8AC3E}">
        <p14:creationId xmlns:p14="http://schemas.microsoft.com/office/powerpoint/2010/main" val="3044271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objekt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116" y="1279029"/>
            <a:ext cx="6858000" cy="3857625"/>
          </a:xfrm>
          <a:prstGeom prst="rect">
            <a:avLst/>
          </a:prstGeom>
        </p:spPr>
      </p:pic>
      <p:sp>
        <p:nvSpPr>
          <p:cNvPr id="4" name="Rubrik 3"/>
          <p:cNvSpPr>
            <a:spLocks noGrp="1"/>
          </p:cNvSpPr>
          <p:nvPr>
            <p:ph type="title"/>
          </p:nvPr>
        </p:nvSpPr>
        <p:spPr>
          <a:xfrm>
            <a:off x="971600" y="298997"/>
            <a:ext cx="7272808" cy="904601"/>
          </a:xfrm>
          <a:effectLst>
            <a:outerShdw blurRad="50800" dist="38100" dir="2700000" algn="tl" rotWithShape="0">
              <a:prstClr val="black">
                <a:alpha val="40000"/>
              </a:prstClr>
            </a:outerShdw>
          </a:effectLst>
        </p:spPr>
        <p:txBody>
          <a:bodyPr>
            <a:noAutofit/>
          </a:bodyPr>
          <a:lstStyle/>
          <a:p>
            <a:pPr algn="ctr"/>
            <a:r>
              <a:rPr lang="en-US" sz="4800" dirty="0"/>
              <a:t>Descriptive statistics</a:t>
            </a:r>
          </a:p>
        </p:txBody>
      </p:sp>
      <p:sp>
        <p:nvSpPr>
          <p:cNvPr id="3" name="Platshållare för bildnummer 2"/>
          <p:cNvSpPr>
            <a:spLocks noGrp="1"/>
          </p:cNvSpPr>
          <p:nvPr>
            <p:ph type="sldNum" sz="quarter" idx="12"/>
          </p:nvPr>
        </p:nvSpPr>
        <p:spPr/>
        <p:txBody>
          <a:bodyPr/>
          <a:lstStyle/>
          <a:p>
            <a:fld id="{49D34020-361E-4A13-8C95-66E98A929282}" type="slidenum">
              <a:rPr lang="sv-SE" smtClean="0"/>
              <a:pPr/>
              <a:t>23</a:t>
            </a:fld>
            <a:endParaRPr lang="sv-SE"/>
          </a:p>
        </p:txBody>
      </p:sp>
    </p:spTree>
    <p:extLst>
      <p:ext uri="{BB962C8B-B14F-4D97-AF65-F5344CB8AC3E}">
        <p14:creationId xmlns:p14="http://schemas.microsoft.com/office/powerpoint/2010/main" val="1249594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p:cNvSpPr>
            <a:spLocks noGrp="1"/>
          </p:cNvSpPr>
          <p:nvPr>
            <p:ph type="title"/>
          </p:nvPr>
        </p:nvSpPr>
        <p:spPr>
          <a:xfrm>
            <a:off x="971600" y="195486"/>
            <a:ext cx="6952556" cy="648071"/>
          </a:xfrm>
        </p:spPr>
        <p:txBody>
          <a:bodyPr>
            <a:noAutofit/>
          </a:bodyPr>
          <a:lstStyle/>
          <a:p>
            <a:r>
              <a:rPr lang="en-US" sz="3600" dirty="0"/>
              <a:t>Descriptive statistics</a:t>
            </a: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24</a:t>
            </a:fld>
            <a:endParaRPr lang="sv-SE"/>
          </a:p>
        </p:txBody>
      </p:sp>
      <p:sp>
        <p:nvSpPr>
          <p:cNvPr id="6" name="textruta 5"/>
          <p:cNvSpPr txBox="1"/>
          <p:nvPr/>
        </p:nvSpPr>
        <p:spPr>
          <a:xfrm>
            <a:off x="323528" y="843557"/>
            <a:ext cx="4614060" cy="3647152"/>
          </a:xfrm>
          <a:prstGeom prst="rect">
            <a:avLst/>
          </a:prstGeom>
          <a:noFill/>
        </p:spPr>
        <p:txBody>
          <a:bodyPr wrap="square" rtlCol="0">
            <a:spAutoFit/>
          </a:bodyPr>
          <a:lstStyle/>
          <a:p>
            <a:pPr>
              <a:spcAft>
                <a:spcPts val="900"/>
              </a:spcAft>
            </a:pPr>
            <a:r>
              <a:rPr lang="sv-SE" sz="2400" dirty="0">
                <a:latin typeface="+mn-lt"/>
              </a:rPr>
              <a:t>Simple</a:t>
            </a:r>
            <a:r>
              <a:rPr lang="en-US" sz="2400" dirty="0">
                <a:latin typeface="+mn-lt"/>
              </a:rPr>
              <a:t>, easy to read, </a:t>
            </a:r>
            <a:r>
              <a:rPr lang="en-US" sz="2400" b="1" dirty="0">
                <a:solidFill>
                  <a:srgbClr val="002060"/>
                </a:solidFill>
                <a:latin typeface="+mn-lt"/>
              </a:rPr>
              <a:t>summaries</a:t>
            </a:r>
            <a:r>
              <a:rPr lang="en-US" sz="2400" dirty="0">
                <a:latin typeface="+mn-lt"/>
              </a:rPr>
              <a:t> about the sample, without losing vital information. </a:t>
            </a:r>
          </a:p>
          <a:p>
            <a:pPr>
              <a:spcAft>
                <a:spcPts val="900"/>
              </a:spcAft>
            </a:pPr>
            <a:r>
              <a:rPr lang="en-US" sz="2400" dirty="0">
                <a:latin typeface="+mn-lt"/>
              </a:rPr>
              <a:t>Together with simple </a:t>
            </a:r>
            <a:r>
              <a:rPr lang="en-US" sz="2400" b="1" dirty="0">
                <a:solidFill>
                  <a:srgbClr val="002060"/>
                </a:solidFill>
                <a:latin typeface="+mn-lt"/>
              </a:rPr>
              <a:t>graphical</a:t>
            </a:r>
            <a:r>
              <a:rPr lang="en-US" sz="2400" dirty="0">
                <a:latin typeface="+mn-lt"/>
              </a:rPr>
              <a:t> illustrations, they form the basis of virtually every quantitative analysis of data.</a:t>
            </a:r>
          </a:p>
          <a:p>
            <a:pPr>
              <a:spcAft>
                <a:spcPts val="900"/>
              </a:spcAft>
            </a:pPr>
            <a:r>
              <a:rPr lang="en-US" sz="2400" dirty="0">
                <a:latin typeface="+mn-lt"/>
              </a:rPr>
              <a:t>Descriptive statistics do not involve generalizing beyond the sample</a:t>
            </a:r>
            <a:endParaRPr lang="sv-SE" sz="2400" dirty="0">
              <a:latin typeface="+mn-lt"/>
            </a:endParaRPr>
          </a:p>
        </p:txBody>
      </p:sp>
      <p:pic>
        <p:nvPicPr>
          <p:cNvPr id="3" name="Bildobjekt 2"/>
          <p:cNvPicPr>
            <a:picLocks noChangeAspect="1"/>
          </p:cNvPicPr>
          <p:nvPr/>
        </p:nvPicPr>
        <p:blipFill rotWithShape="1">
          <a:blip r:embed="rId3">
            <a:extLst>
              <a:ext uri="{28A0092B-C50C-407E-A947-70E740481C1C}">
                <a14:useLocalDpi xmlns:a14="http://schemas.microsoft.com/office/drawing/2010/main" val="0"/>
              </a:ext>
            </a:extLst>
          </a:blip>
          <a:srcRect r="51181"/>
          <a:stretch/>
        </p:blipFill>
        <p:spPr>
          <a:xfrm>
            <a:off x="4860032" y="498316"/>
            <a:ext cx="3347991" cy="4377690"/>
          </a:xfrm>
          <a:prstGeom prst="rect">
            <a:avLst/>
          </a:prstGeom>
        </p:spPr>
      </p:pic>
    </p:spTree>
    <p:extLst>
      <p:ext uri="{BB962C8B-B14F-4D97-AF65-F5344CB8AC3E}">
        <p14:creationId xmlns:p14="http://schemas.microsoft.com/office/powerpoint/2010/main" val="77336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931184" y="194086"/>
            <a:ext cx="7848872" cy="459051"/>
          </a:xfrm>
        </p:spPr>
        <p:txBody>
          <a:bodyPr>
            <a:noAutofit/>
          </a:bodyPr>
          <a:lstStyle/>
          <a:p>
            <a:r>
              <a:rPr lang="en-US" sz="3600" dirty="0"/>
              <a:t>Descriptive statistics – categorical data</a:t>
            </a:r>
          </a:p>
        </p:txBody>
      </p:sp>
      <p:sp>
        <p:nvSpPr>
          <p:cNvPr id="3" name="Platshållare för innehåll 2"/>
          <p:cNvSpPr>
            <a:spLocks noGrp="1"/>
          </p:cNvSpPr>
          <p:nvPr>
            <p:ph idx="1"/>
          </p:nvPr>
        </p:nvSpPr>
        <p:spPr>
          <a:xfrm>
            <a:off x="395536" y="1131590"/>
            <a:ext cx="8456528" cy="2160240"/>
          </a:xfrm>
        </p:spPr>
        <p:txBody>
          <a:bodyPr>
            <a:noAutofit/>
          </a:bodyPr>
          <a:lstStyle/>
          <a:p>
            <a:pPr>
              <a:lnSpc>
                <a:spcPct val="130000"/>
              </a:lnSpc>
            </a:pPr>
            <a:r>
              <a:rPr lang="en-US" sz="2400" b="1" dirty="0">
                <a:solidFill>
                  <a:srgbClr val="002060"/>
                </a:solidFill>
                <a:latin typeface="+mn-lt"/>
                <a:ea typeface="Verdana" panose="020B0604030504040204" pitchFamily="34" charset="0"/>
              </a:rPr>
              <a:t>Qualitative/Categorical</a:t>
            </a:r>
            <a:r>
              <a:rPr lang="en-US" sz="2400" dirty="0">
                <a:latin typeface="+mn-lt"/>
                <a:ea typeface="Verdana" panose="020B0604030504040204" pitchFamily="34" charset="0"/>
              </a:rPr>
              <a:t> variables,</a:t>
            </a:r>
            <a:r>
              <a:rPr lang="en-US" sz="2400" i="1" dirty="0">
                <a:latin typeface="+mn-lt"/>
                <a:ea typeface="Verdana" panose="020B0604030504040204" pitchFamily="34" charset="0"/>
              </a:rPr>
              <a:t> e.g., smoking status 			    </a:t>
            </a:r>
          </a:p>
          <a:p>
            <a:pPr>
              <a:lnSpc>
                <a:spcPct val="130000"/>
              </a:lnSpc>
            </a:pPr>
            <a:r>
              <a:rPr lang="en-US" sz="2400" b="1" dirty="0">
                <a:solidFill>
                  <a:srgbClr val="002060"/>
                </a:solidFill>
                <a:latin typeface="+mn-lt"/>
                <a:ea typeface="Verdana" panose="020B0604030504040204" pitchFamily="34" charset="0"/>
              </a:rPr>
              <a:t>Bar diagram</a:t>
            </a:r>
            <a:r>
              <a:rPr lang="en-US" sz="2400" i="1" dirty="0">
                <a:solidFill>
                  <a:srgbClr val="002060"/>
                </a:solidFill>
                <a:latin typeface="+mn-lt"/>
                <a:ea typeface="Verdana" panose="020B0604030504040204" pitchFamily="34" charset="0"/>
              </a:rPr>
              <a:t> </a:t>
            </a:r>
            <a:r>
              <a:rPr lang="en-US" sz="2400" dirty="0">
                <a:latin typeface="+mn-lt"/>
                <a:ea typeface="Verdana" panose="020B0604030504040204" pitchFamily="34" charset="0"/>
              </a:rPr>
              <a:t>and</a:t>
            </a:r>
            <a:r>
              <a:rPr lang="en-US" sz="2400" i="1" dirty="0">
                <a:latin typeface="+mn-lt"/>
                <a:ea typeface="Verdana" panose="020B0604030504040204" pitchFamily="34" charset="0"/>
              </a:rPr>
              <a:t> </a:t>
            </a:r>
            <a:r>
              <a:rPr lang="en-US" sz="2400" b="1" dirty="0">
                <a:solidFill>
                  <a:srgbClr val="002060"/>
                </a:solidFill>
                <a:latin typeface="+mn-lt"/>
                <a:ea typeface="Verdana" panose="020B0604030504040204" pitchFamily="34" charset="0"/>
              </a:rPr>
              <a:t>Frequency</a:t>
            </a:r>
            <a:r>
              <a:rPr lang="en-US" sz="2400" dirty="0">
                <a:solidFill>
                  <a:srgbClr val="002060"/>
                </a:solidFill>
                <a:latin typeface="+mn-lt"/>
                <a:ea typeface="Verdana" panose="020B0604030504040204" pitchFamily="34" charset="0"/>
              </a:rPr>
              <a:t> </a:t>
            </a:r>
            <a:r>
              <a:rPr lang="en-US" sz="2400" b="1" dirty="0">
                <a:solidFill>
                  <a:srgbClr val="002060"/>
                </a:solidFill>
                <a:latin typeface="+mn-lt"/>
                <a:ea typeface="Verdana" panose="020B0604030504040204" pitchFamily="34" charset="0"/>
              </a:rPr>
              <a:t>tables</a:t>
            </a:r>
            <a:r>
              <a:rPr lang="en-US" sz="2400" dirty="0">
                <a:solidFill>
                  <a:srgbClr val="002060"/>
                </a:solidFill>
                <a:latin typeface="+mn-lt"/>
                <a:ea typeface="Verdana" panose="020B0604030504040204" pitchFamily="34" charset="0"/>
              </a:rPr>
              <a:t> </a:t>
            </a:r>
            <a:r>
              <a:rPr lang="en-US" sz="2400" dirty="0">
                <a:latin typeface="+mn-lt"/>
                <a:ea typeface="Verdana" panose="020B0604030504040204" pitchFamily="34" charset="0"/>
              </a:rPr>
              <a:t>with </a:t>
            </a:r>
          </a:p>
          <a:p>
            <a:pPr lvl="1">
              <a:lnSpc>
                <a:spcPct val="130000"/>
              </a:lnSpc>
            </a:pPr>
            <a:r>
              <a:rPr lang="en-US" sz="2400" dirty="0">
                <a:latin typeface="+mn-lt"/>
                <a:ea typeface="Verdana" panose="020B0604030504040204" pitchFamily="34" charset="0"/>
              </a:rPr>
              <a:t>Count (number of obs. in each category) and </a:t>
            </a:r>
          </a:p>
          <a:p>
            <a:pPr lvl="1">
              <a:lnSpc>
                <a:spcPct val="130000"/>
              </a:lnSpc>
            </a:pPr>
            <a:r>
              <a:rPr lang="en-US" sz="2400" dirty="0">
                <a:latin typeface="+mn-lt"/>
                <a:ea typeface="Verdana" panose="020B0604030504040204" pitchFamily="34" charset="0"/>
              </a:rPr>
              <a:t>Proportion (proportion of obs. in each category) </a:t>
            </a:r>
          </a:p>
        </p:txBody>
      </p:sp>
      <p:sp>
        <p:nvSpPr>
          <p:cNvPr id="4" name="Platshållare för bildnummer 3"/>
          <p:cNvSpPr>
            <a:spLocks noGrp="1"/>
          </p:cNvSpPr>
          <p:nvPr>
            <p:ph type="sldNum" sz="quarter" idx="12"/>
          </p:nvPr>
        </p:nvSpPr>
        <p:spPr/>
        <p:txBody>
          <a:bodyPr/>
          <a:lstStyle/>
          <a:p>
            <a:fld id="{49D34020-361E-4A13-8C95-66E98A929282}" type="slidenum">
              <a:rPr lang="sv-SE" smtClean="0"/>
              <a:pPr/>
              <a:t>25</a:t>
            </a:fld>
            <a:endParaRPr lang="sv-SE"/>
          </a:p>
        </p:txBody>
      </p:sp>
    </p:spTree>
    <p:extLst>
      <p:ext uri="{BB962C8B-B14F-4D97-AF65-F5344CB8AC3E}">
        <p14:creationId xmlns:p14="http://schemas.microsoft.com/office/powerpoint/2010/main" val="2319453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tshållare för bildnummer 3"/>
          <p:cNvSpPr>
            <a:spLocks noGrp="1"/>
          </p:cNvSpPr>
          <p:nvPr>
            <p:ph type="sldNum" sz="quarter" idx="12"/>
          </p:nvPr>
        </p:nvSpPr>
        <p:spPr/>
        <p:txBody>
          <a:bodyPr/>
          <a:lstStyle/>
          <a:p>
            <a:fld id="{49D34020-361E-4A13-8C95-66E98A929282}" type="slidenum">
              <a:rPr lang="sv-SE" smtClean="0"/>
              <a:pPr/>
              <a:t>26</a:t>
            </a:fld>
            <a:endParaRPr lang="sv-SE"/>
          </a:p>
        </p:txBody>
      </p:sp>
      <p:sp>
        <p:nvSpPr>
          <p:cNvPr id="5" name="Platshållare för innehåll 2">
            <a:extLst>
              <a:ext uri="{FF2B5EF4-FFF2-40B4-BE49-F238E27FC236}">
                <a16:creationId xmlns:a16="http://schemas.microsoft.com/office/drawing/2014/main" id="{6672F82E-3F2E-49FA-9A5E-52E9924C1874}"/>
              </a:ext>
            </a:extLst>
          </p:cNvPr>
          <p:cNvSpPr>
            <a:spLocks noGrp="1"/>
          </p:cNvSpPr>
          <p:nvPr>
            <p:ph idx="1"/>
          </p:nvPr>
        </p:nvSpPr>
        <p:spPr>
          <a:xfrm>
            <a:off x="251520" y="704804"/>
            <a:ext cx="8456612" cy="3600400"/>
          </a:xfrm>
        </p:spPr>
        <p:txBody>
          <a:bodyPr>
            <a:noAutofit/>
          </a:bodyPr>
          <a:lstStyle/>
          <a:p>
            <a:pPr>
              <a:lnSpc>
                <a:spcPct val="130000"/>
              </a:lnSpc>
              <a:spcBef>
                <a:spcPts val="900"/>
              </a:spcBef>
            </a:pPr>
            <a:r>
              <a:rPr lang="en-US" sz="2400" b="1" dirty="0">
                <a:solidFill>
                  <a:schemeClr val="tx1"/>
                </a:solidFill>
                <a:latin typeface="+mn-lt"/>
                <a:ea typeface="Verdana" panose="020B0604030504040204" pitchFamily="34" charset="0"/>
              </a:rPr>
              <a:t>Plot histogram</a:t>
            </a:r>
            <a:r>
              <a:rPr lang="en-US" sz="2400" b="1" dirty="0">
                <a:solidFill>
                  <a:schemeClr val="tx1"/>
                </a:solidFill>
                <a:ea typeface="Verdana" panose="020B0604030504040204" pitchFamily="34" charset="0"/>
              </a:rPr>
              <a:t> </a:t>
            </a:r>
            <a:r>
              <a:rPr lang="en-US" sz="2400" b="1" dirty="0">
                <a:solidFill>
                  <a:schemeClr val="tx1"/>
                </a:solidFill>
                <a:ea typeface="Verdana" panose="020B0604030504040204" pitchFamily="34" charset="0"/>
                <a:sym typeface="Wingdings" panose="05000000000000000000" pitchFamily="2" charset="2"/>
              </a:rPr>
              <a:t> </a:t>
            </a:r>
            <a:r>
              <a:rPr lang="en-US" sz="2400" dirty="0">
                <a:solidFill>
                  <a:schemeClr val="tx1"/>
                </a:solidFill>
                <a:ea typeface="Verdana" panose="020B0604030504040204" pitchFamily="34" charset="0"/>
                <a:sym typeface="Wingdings" panose="05000000000000000000" pitchFamily="2" charset="2"/>
              </a:rPr>
              <a:t>a</a:t>
            </a:r>
            <a:r>
              <a:rPr lang="en-US" sz="2400" dirty="0">
                <a:ea typeface="Verdana" panose="020B0604030504040204" pitchFamily="34" charset="0"/>
              </a:rPr>
              <a:t>pproximatively </a:t>
            </a:r>
            <a:r>
              <a:rPr lang="en-US" sz="2400" b="1" dirty="0">
                <a:solidFill>
                  <a:srgbClr val="002060"/>
                </a:solidFill>
                <a:latin typeface="+mn-lt"/>
                <a:ea typeface="Verdana" panose="020B0604030504040204" pitchFamily="34" charset="0"/>
              </a:rPr>
              <a:t>symmetric</a:t>
            </a:r>
            <a:r>
              <a:rPr lang="en-US" sz="2400" dirty="0">
                <a:latin typeface="+mn-lt"/>
                <a:ea typeface="Verdana" panose="020B0604030504040204" pitchFamily="34" charset="0"/>
              </a:rPr>
              <a:t> </a:t>
            </a:r>
          </a:p>
          <a:p>
            <a:pPr marL="249139" lvl="1">
              <a:lnSpc>
                <a:spcPct val="130000"/>
              </a:lnSpc>
            </a:pPr>
            <a:r>
              <a:rPr lang="en-US" sz="2400" b="1" dirty="0">
                <a:solidFill>
                  <a:srgbClr val="002060"/>
                </a:solidFill>
                <a:latin typeface="+mn-lt"/>
                <a:ea typeface="Verdana" panose="020B0604030504040204" pitchFamily="34" charset="0"/>
              </a:rPr>
              <a:t>Location</a:t>
            </a:r>
            <a:r>
              <a:rPr lang="en-US" sz="2400" dirty="0">
                <a:latin typeface="+mn-lt"/>
                <a:ea typeface="Verdana" panose="020B0604030504040204" pitchFamily="34" charset="0"/>
              </a:rPr>
              <a:t>: Enough with either mean or median </a:t>
            </a:r>
          </a:p>
          <a:p>
            <a:pPr marL="249139" lvl="1">
              <a:lnSpc>
                <a:spcPct val="130000"/>
              </a:lnSpc>
            </a:pPr>
            <a:r>
              <a:rPr lang="en-US" sz="2400" b="1" dirty="0">
                <a:solidFill>
                  <a:srgbClr val="002060"/>
                </a:solidFill>
                <a:latin typeface="+mn-lt"/>
                <a:ea typeface="Verdana" panose="020B0604030504040204" pitchFamily="34" charset="0"/>
              </a:rPr>
              <a:t>Spread</a:t>
            </a:r>
            <a:r>
              <a:rPr lang="en-US" sz="2400" dirty="0">
                <a:latin typeface="+mn-lt"/>
                <a:ea typeface="Verdana" panose="020B0604030504040204" pitchFamily="34" charset="0"/>
              </a:rPr>
              <a:t>: Standard deviation </a:t>
            </a:r>
          </a:p>
          <a:p>
            <a:pPr marL="249139" lvl="1">
              <a:lnSpc>
                <a:spcPct val="130000"/>
              </a:lnSpc>
            </a:pPr>
            <a:r>
              <a:rPr lang="en-US" sz="2400" b="1" dirty="0">
                <a:solidFill>
                  <a:srgbClr val="002060"/>
                </a:solidFill>
                <a:latin typeface="+mn-lt"/>
                <a:ea typeface="Verdana" panose="020B0604030504040204" pitchFamily="34" charset="0"/>
              </a:rPr>
              <a:t>Skewed</a:t>
            </a:r>
            <a:r>
              <a:rPr lang="en-US" sz="2400" dirty="0">
                <a:latin typeface="+mn-lt"/>
                <a:ea typeface="Verdana" panose="020B0604030504040204" pitchFamily="34" charset="0"/>
              </a:rPr>
              <a:t> distribution </a:t>
            </a:r>
          </a:p>
          <a:p>
            <a:pPr marL="517029" lvl="3" indent="-192881">
              <a:lnSpc>
                <a:spcPct val="130000"/>
              </a:lnSpc>
            </a:pPr>
            <a:r>
              <a:rPr lang="en-US" sz="2400" b="1" dirty="0">
                <a:solidFill>
                  <a:srgbClr val="002060"/>
                </a:solidFill>
                <a:latin typeface="+mn-lt"/>
                <a:ea typeface="Verdana" panose="020B0604030504040204" pitchFamily="34" charset="0"/>
              </a:rPr>
              <a:t>Location</a:t>
            </a:r>
            <a:r>
              <a:rPr lang="en-US" sz="2400" dirty="0">
                <a:latin typeface="+mn-lt"/>
                <a:ea typeface="Verdana" panose="020B0604030504040204" pitchFamily="34" charset="0"/>
              </a:rPr>
              <a:t>: Median </a:t>
            </a:r>
          </a:p>
          <a:p>
            <a:pPr marL="517029" lvl="3" indent="-192881">
              <a:lnSpc>
                <a:spcPct val="130000"/>
              </a:lnSpc>
            </a:pPr>
            <a:r>
              <a:rPr lang="en-US" sz="2400" b="1" dirty="0">
                <a:solidFill>
                  <a:srgbClr val="002060"/>
                </a:solidFill>
                <a:latin typeface="+mn-lt"/>
                <a:ea typeface="Verdana" panose="020B0604030504040204" pitchFamily="34" charset="0"/>
              </a:rPr>
              <a:t>Spread</a:t>
            </a:r>
            <a:r>
              <a:rPr lang="en-US" sz="2400" dirty="0">
                <a:latin typeface="+mn-lt"/>
                <a:ea typeface="Verdana" panose="020B0604030504040204" pitchFamily="34" charset="0"/>
              </a:rPr>
              <a:t>: minimum-maximum (range),</a:t>
            </a:r>
          </a:p>
          <a:p>
            <a:pPr marL="517029" lvl="3" indent="-192881">
              <a:lnSpc>
                <a:spcPct val="130000"/>
              </a:lnSpc>
            </a:pPr>
            <a:r>
              <a:rPr lang="en-US" sz="2400" dirty="0">
                <a:latin typeface="+mn-lt"/>
                <a:ea typeface="Verdana" panose="020B0604030504040204" pitchFamily="34" charset="0"/>
              </a:rPr>
              <a:t> or Inter quartile range (3</a:t>
            </a:r>
            <a:r>
              <a:rPr lang="en-US" sz="2400" baseline="30000" dirty="0">
                <a:latin typeface="+mn-lt"/>
                <a:ea typeface="Verdana" panose="020B0604030504040204" pitchFamily="34" charset="0"/>
              </a:rPr>
              <a:t>rd</a:t>
            </a:r>
            <a:r>
              <a:rPr lang="en-US" sz="2400" dirty="0">
                <a:latin typeface="+mn-lt"/>
                <a:ea typeface="Verdana" panose="020B0604030504040204" pitchFamily="34" charset="0"/>
              </a:rPr>
              <a:t> - 1</a:t>
            </a:r>
            <a:r>
              <a:rPr lang="en-US" sz="2400" baseline="30000" dirty="0">
                <a:latin typeface="+mn-lt"/>
                <a:ea typeface="Verdana" panose="020B0604030504040204" pitchFamily="34" charset="0"/>
              </a:rPr>
              <a:t>st</a:t>
            </a:r>
            <a:r>
              <a:rPr lang="en-US" sz="2400" dirty="0">
                <a:latin typeface="+mn-lt"/>
                <a:ea typeface="Verdana" panose="020B0604030504040204" pitchFamily="34" charset="0"/>
              </a:rPr>
              <a:t> quartile)</a:t>
            </a:r>
          </a:p>
        </p:txBody>
      </p:sp>
      <p:sp>
        <p:nvSpPr>
          <p:cNvPr id="6" name="Rubrik 1">
            <a:extLst>
              <a:ext uri="{FF2B5EF4-FFF2-40B4-BE49-F238E27FC236}">
                <a16:creationId xmlns:a16="http://schemas.microsoft.com/office/drawing/2014/main" id="{BC4F97E5-C5A4-2F48-B817-56495B4591BC}"/>
              </a:ext>
            </a:extLst>
          </p:cNvPr>
          <p:cNvSpPr txBox="1">
            <a:spLocks/>
          </p:cNvSpPr>
          <p:nvPr/>
        </p:nvSpPr>
        <p:spPr bwMode="auto">
          <a:xfrm>
            <a:off x="931184" y="194086"/>
            <a:ext cx="7848872" cy="459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Autofit/>
          </a:bodyPr>
          <a:lstStyle>
            <a:lvl1pPr algn="l" defTabSz="457200" rtl="0" eaLnBrk="1" fontAlgn="base" hangingPunct="1">
              <a:lnSpc>
                <a:spcPct val="90000"/>
              </a:lnSpc>
              <a:spcBef>
                <a:spcPct val="0"/>
              </a:spcBef>
              <a:spcAft>
                <a:spcPct val="0"/>
              </a:spcAft>
              <a:defRPr sz="4400" b="1" i="0" kern="1200">
                <a:solidFill>
                  <a:schemeClr val="tx1">
                    <a:lumMod val="85000"/>
                    <a:lumOff val="15000"/>
                  </a:schemeClr>
                </a:solidFill>
                <a:latin typeface="+mj-lt"/>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en-US" sz="3600" dirty="0"/>
              <a:t>Descriptive statistics – quantitative data</a:t>
            </a:r>
          </a:p>
        </p:txBody>
      </p:sp>
      <p:pic>
        <p:nvPicPr>
          <p:cNvPr id="3" name="Picture 2" descr="A diagram of a normal distribution&#10;&#10;Description automatically generated">
            <a:extLst>
              <a:ext uri="{FF2B5EF4-FFF2-40B4-BE49-F238E27FC236}">
                <a16:creationId xmlns:a16="http://schemas.microsoft.com/office/drawing/2014/main" id="{989B7278-A0DC-F71A-4AD1-E179DE80F668}"/>
              </a:ext>
            </a:extLst>
          </p:cNvPr>
          <p:cNvPicPr>
            <a:picLocks noChangeAspect="1"/>
          </p:cNvPicPr>
          <p:nvPr/>
        </p:nvPicPr>
        <p:blipFill>
          <a:blip r:embed="rId3"/>
          <a:stretch>
            <a:fillRect/>
          </a:stretch>
        </p:blipFill>
        <p:spPr>
          <a:xfrm>
            <a:off x="6512396" y="683360"/>
            <a:ext cx="2195736" cy="1395983"/>
          </a:xfrm>
          <a:prstGeom prst="rect">
            <a:avLst/>
          </a:prstGeom>
        </p:spPr>
      </p:pic>
      <p:pic>
        <p:nvPicPr>
          <p:cNvPr id="9" name="Picture 8" descr="A diagram of a distribution curve&#10;&#10;Description automatically generated">
            <a:extLst>
              <a:ext uri="{FF2B5EF4-FFF2-40B4-BE49-F238E27FC236}">
                <a16:creationId xmlns:a16="http://schemas.microsoft.com/office/drawing/2014/main" id="{2781DD43-634C-C308-ABB2-58AF177CFCA9}"/>
              </a:ext>
            </a:extLst>
          </p:cNvPr>
          <p:cNvPicPr>
            <a:picLocks noChangeAspect="1"/>
          </p:cNvPicPr>
          <p:nvPr/>
        </p:nvPicPr>
        <p:blipFill>
          <a:blip r:embed="rId4"/>
          <a:stretch>
            <a:fillRect/>
          </a:stretch>
        </p:blipFill>
        <p:spPr>
          <a:xfrm>
            <a:off x="6283306" y="2643758"/>
            <a:ext cx="2426954" cy="2183111"/>
          </a:xfrm>
          <a:prstGeom prst="rect">
            <a:avLst/>
          </a:prstGeom>
        </p:spPr>
      </p:pic>
    </p:spTree>
    <p:extLst>
      <p:ext uri="{BB962C8B-B14F-4D97-AF65-F5344CB8AC3E}">
        <p14:creationId xmlns:p14="http://schemas.microsoft.com/office/powerpoint/2010/main" val="3805201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Bildobjekt 3"/>
          <p:cNvPicPr>
            <a:picLocks noChangeAspect="1"/>
          </p:cNvPicPr>
          <p:nvPr/>
        </p:nvPicPr>
        <p:blipFill rotWithShape="1">
          <a:blip r:embed="rId3">
            <a:extLst>
              <a:ext uri="{28A0092B-C50C-407E-A947-70E740481C1C}">
                <a14:useLocalDpi xmlns:a14="http://schemas.microsoft.com/office/drawing/2010/main" val="0"/>
              </a:ext>
            </a:extLst>
          </a:blip>
          <a:srcRect b="23465"/>
          <a:stretch/>
        </p:blipFill>
        <p:spPr>
          <a:xfrm>
            <a:off x="2654787" y="565206"/>
            <a:ext cx="3582170" cy="3383698"/>
          </a:xfrm>
          <a:prstGeom prst="rect">
            <a:avLst/>
          </a:prstGeom>
        </p:spPr>
      </p:pic>
      <p:sp>
        <p:nvSpPr>
          <p:cNvPr id="5" name="Rubrik 1"/>
          <p:cNvSpPr>
            <a:spLocks noGrp="1"/>
          </p:cNvSpPr>
          <p:nvPr>
            <p:ph type="title"/>
          </p:nvPr>
        </p:nvSpPr>
        <p:spPr>
          <a:xfrm>
            <a:off x="1444388" y="51470"/>
            <a:ext cx="6511988" cy="428407"/>
          </a:xfrm>
        </p:spPr>
        <p:txBody>
          <a:bodyPr>
            <a:noAutofit/>
          </a:bodyPr>
          <a:lstStyle/>
          <a:p>
            <a:r>
              <a:rPr lang="en-US" sz="3600" dirty="0"/>
              <a:t>Example 1: Descriptive Statistics</a:t>
            </a:r>
          </a:p>
        </p:txBody>
      </p:sp>
      <p:sp>
        <p:nvSpPr>
          <p:cNvPr id="3" name="Platshållare för bildnummer 2"/>
          <p:cNvSpPr>
            <a:spLocks noGrp="1"/>
          </p:cNvSpPr>
          <p:nvPr>
            <p:ph type="sldNum" sz="quarter" idx="12"/>
          </p:nvPr>
        </p:nvSpPr>
        <p:spPr/>
        <p:txBody>
          <a:bodyPr/>
          <a:lstStyle/>
          <a:p>
            <a:fld id="{49D34020-361E-4A13-8C95-66E98A929282}" type="slidenum">
              <a:rPr lang="sv-SE" smtClean="0"/>
              <a:pPr/>
              <a:t>27</a:t>
            </a:fld>
            <a:endParaRPr lang="sv-SE"/>
          </a:p>
        </p:txBody>
      </p:sp>
      <p:sp>
        <p:nvSpPr>
          <p:cNvPr id="6" name="Rektangel 5"/>
          <p:cNvSpPr/>
          <p:nvPr/>
        </p:nvSpPr>
        <p:spPr>
          <a:xfrm>
            <a:off x="179512" y="4291231"/>
            <a:ext cx="8816568" cy="584775"/>
          </a:xfrm>
          <a:prstGeom prst="rect">
            <a:avLst/>
          </a:prstGeom>
        </p:spPr>
        <p:txBody>
          <a:bodyPr wrap="square">
            <a:spAutoFit/>
          </a:bodyPr>
          <a:lstStyle/>
          <a:p>
            <a:r>
              <a:rPr lang="en-US" sz="1600" b="1" dirty="0">
                <a:solidFill>
                  <a:srgbClr val="002060"/>
                </a:solidFill>
                <a:latin typeface="Verdana" panose="020B0604030504040204" pitchFamily="34" charset="0"/>
                <a:ea typeface="Verdana" panose="020B0604030504040204" pitchFamily="34" charset="0"/>
              </a:rPr>
              <a:t>Reference:</a:t>
            </a:r>
            <a:r>
              <a:rPr lang="en-US" sz="1600" dirty="0">
                <a:solidFill>
                  <a:srgbClr val="002060"/>
                </a:solidFill>
                <a:latin typeface="Verdana" panose="020B0604030504040204" pitchFamily="34" charset="0"/>
                <a:ea typeface="Verdana" panose="020B0604030504040204" pitchFamily="34" charset="0"/>
              </a:rPr>
              <a:t> The mediating role of recovery opportunities on future sickness absence from a gender- and age-sensitive perspective </a:t>
            </a:r>
            <a:r>
              <a:rPr lang="nl-NL" sz="1600" dirty="0">
                <a:solidFill>
                  <a:srgbClr val="002060"/>
                </a:solidFill>
                <a:latin typeface="Verdana" panose="020B0604030504040204" pitchFamily="34" charset="0"/>
                <a:ea typeface="Verdana" panose="020B0604030504040204" pitchFamily="34" charset="0"/>
              </a:rPr>
              <a:t>J. S. Boschman et al. (2017)</a:t>
            </a:r>
            <a:endParaRPr lang="sv-SE" sz="1600" dirty="0">
              <a:solidFill>
                <a:srgbClr val="002060"/>
              </a:solidFill>
              <a:latin typeface="Verdana" panose="020B0604030504040204" pitchFamily="34" charset="0"/>
              <a:ea typeface="Verdana" panose="020B0604030504040204" pitchFamily="34" charset="0"/>
            </a:endParaRPr>
          </a:p>
        </p:txBody>
      </p:sp>
      <p:pic>
        <p:nvPicPr>
          <p:cNvPr id="8" name="Bildobjekt 7"/>
          <p:cNvPicPr>
            <a:picLocks noChangeAspect="1"/>
          </p:cNvPicPr>
          <p:nvPr/>
        </p:nvPicPr>
        <p:blipFill rotWithShape="1">
          <a:blip r:embed="rId3">
            <a:extLst>
              <a:ext uri="{28A0092B-C50C-407E-A947-70E740481C1C}">
                <a14:useLocalDpi xmlns:a14="http://schemas.microsoft.com/office/drawing/2010/main" val="0"/>
              </a:ext>
            </a:extLst>
          </a:blip>
          <a:srcRect t="5543" b="91403"/>
          <a:stretch/>
        </p:blipFill>
        <p:spPr>
          <a:xfrm>
            <a:off x="1318239" y="806025"/>
            <a:ext cx="6291000" cy="237110"/>
          </a:xfrm>
          <a:prstGeom prst="rect">
            <a:avLst/>
          </a:prstGeom>
          <a:ln>
            <a:solidFill>
              <a:schemeClr val="bg1">
                <a:lumMod val="50000"/>
              </a:schemeClr>
            </a:solidFill>
          </a:ln>
        </p:spPr>
      </p:pic>
      <p:pic>
        <p:nvPicPr>
          <p:cNvPr id="9" name="Bildobjekt 8"/>
          <p:cNvPicPr>
            <a:picLocks noChangeAspect="1"/>
          </p:cNvPicPr>
          <p:nvPr/>
        </p:nvPicPr>
        <p:blipFill rotWithShape="1">
          <a:blip r:embed="rId3">
            <a:extLst>
              <a:ext uri="{28A0092B-C50C-407E-A947-70E740481C1C}">
                <a14:useLocalDpi xmlns:a14="http://schemas.microsoft.com/office/drawing/2010/main" val="0"/>
              </a:ext>
            </a:extLst>
          </a:blip>
          <a:srcRect t="32417" b="53839"/>
          <a:stretch/>
        </p:blipFill>
        <p:spPr>
          <a:xfrm>
            <a:off x="1300372" y="1963665"/>
            <a:ext cx="6291000" cy="1067137"/>
          </a:xfrm>
          <a:prstGeom prst="rect">
            <a:avLst/>
          </a:prstGeom>
          <a:ln>
            <a:solidFill>
              <a:schemeClr val="bg1">
                <a:lumMod val="50000"/>
              </a:schemeClr>
            </a:solidFill>
          </a:ln>
        </p:spPr>
      </p:pic>
    </p:spTree>
    <p:extLst>
      <p:ext uri="{BB962C8B-B14F-4D97-AF65-F5344CB8AC3E}">
        <p14:creationId xmlns:p14="http://schemas.microsoft.com/office/powerpoint/2010/main" val="3778047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bildnummer 2"/>
          <p:cNvSpPr>
            <a:spLocks noGrp="1"/>
          </p:cNvSpPr>
          <p:nvPr>
            <p:ph type="sldNum" sz="quarter" idx="12"/>
          </p:nvPr>
        </p:nvSpPr>
        <p:spPr/>
        <p:txBody>
          <a:bodyPr/>
          <a:lstStyle/>
          <a:p>
            <a:fld id="{49D34020-361E-4A13-8C95-66E98A929282}" type="slidenum">
              <a:rPr lang="sv-SE" smtClean="0"/>
              <a:pPr/>
              <a:t>28</a:t>
            </a:fld>
            <a:endParaRPr lang="sv-SE"/>
          </a:p>
        </p:txBody>
      </p:sp>
      <p:sp>
        <p:nvSpPr>
          <p:cNvPr id="6" name="Rubrik 1"/>
          <p:cNvSpPr txBox="1">
            <a:spLocks/>
          </p:cNvSpPr>
          <p:nvPr/>
        </p:nvSpPr>
        <p:spPr bwMode="auto">
          <a:xfrm>
            <a:off x="971600" y="330501"/>
            <a:ext cx="7992888" cy="378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Autofit/>
          </a:bodyPr>
          <a:lstStyle>
            <a:lvl1pPr algn="l" defTabSz="457200" rtl="0" eaLnBrk="1" fontAlgn="base" hangingPunct="1">
              <a:lnSpc>
                <a:spcPct val="90000"/>
              </a:lnSpc>
              <a:spcBef>
                <a:spcPct val="0"/>
              </a:spcBef>
              <a:spcAft>
                <a:spcPct val="0"/>
              </a:spcAft>
              <a:defRPr sz="3300" b="1" i="0" kern="1200">
                <a:solidFill>
                  <a:schemeClr val="tx1"/>
                </a:solidFill>
                <a:latin typeface="Trebuchet MS" panose="020B0603020202020204" pitchFamily="34" charset="0"/>
                <a:ea typeface="ＭＳ Ｐゴシック" pitchFamily="-65" charset="-128"/>
                <a:cs typeface="Trebuchet MS" panose="020B0603020202020204" pitchFamily="34"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en-US" sz="4000" dirty="0">
                <a:latin typeface="+mj-lt"/>
              </a:rPr>
              <a:t>Graphical Descriptive statistics</a:t>
            </a:r>
          </a:p>
        </p:txBody>
      </p:sp>
      <p:pic>
        <p:nvPicPr>
          <p:cNvPr id="8" name="Bildobjekt 7"/>
          <p:cNvPicPr>
            <a:picLocks noChangeAspect="1"/>
          </p:cNvPicPr>
          <p:nvPr/>
        </p:nvPicPr>
        <p:blipFill rotWithShape="1">
          <a:blip r:embed="rId3"/>
          <a:srcRect l="10750" t="11223" r="52976" b="48521"/>
          <a:stretch/>
        </p:blipFill>
        <p:spPr>
          <a:xfrm>
            <a:off x="2051720" y="906361"/>
            <a:ext cx="4567609" cy="3168000"/>
          </a:xfrm>
          <a:prstGeom prst="rect">
            <a:avLst/>
          </a:prstGeom>
        </p:spPr>
      </p:pic>
      <p:sp>
        <p:nvSpPr>
          <p:cNvPr id="9" name="Rektangel 8"/>
          <p:cNvSpPr/>
          <p:nvPr/>
        </p:nvSpPr>
        <p:spPr>
          <a:xfrm>
            <a:off x="251520" y="4229675"/>
            <a:ext cx="8744560" cy="584775"/>
          </a:xfrm>
          <a:prstGeom prst="rect">
            <a:avLst/>
          </a:prstGeom>
        </p:spPr>
        <p:txBody>
          <a:bodyPr wrap="square">
            <a:spAutoFit/>
          </a:bodyPr>
          <a:lstStyle/>
          <a:p>
            <a:r>
              <a:rPr lang="en-US" sz="1600" b="1" dirty="0">
                <a:solidFill>
                  <a:srgbClr val="002060"/>
                </a:solidFill>
                <a:latin typeface="Verdana" panose="020B0604030504040204" pitchFamily="34" charset="0"/>
                <a:ea typeface="Verdana" panose="020B0604030504040204" pitchFamily="34" charset="0"/>
              </a:rPr>
              <a:t>Reference:</a:t>
            </a:r>
            <a:r>
              <a:rPr lang="en-US" sz="1600" dirty="0">
                <a:solidFill>
                  <a:srgbClr val="002060"/>
                </a:solidFill>
                <a:latin typeface="Verdana" panose="020B0604030504040204" pitchFamily="34" charset="0"/>
                <a:ea typeface="Verdana" panose="020B0604030504040204" pitchFamily="34" charset="0"/>
              </a:rPr>
              <a:t> Nerve conduction in relation to vibration exposure - a non-positive cohort study. Helena </a:t>
            </a:r>
            <a:r>
              <a:rPr lang="en-US" sz="1600" dirty="0" err="1">
                <a:solidFill>
                  <a:srgbClr val="002060"/>
                </a:solidFill>
                <a:latin typeface="Verdana" panose="020B0604030504040204" pitchFamily="34" charset="0"/>
                <a:ea typeface="Verdana" panose="020B0604030504040204" pitchFamily="34" charset="0"/>
              </a:rPr>
              <a:t>Sandén</a:t>
            </a:r>
            <a:r>
              <a:rPr lang="en-US" sz="1600" dirty="0">
                <a:solidFill>
                  <a:srgbClr val="002060"/>
                </a:solidFill>
                <a:latin typeface="Verdana" panose="020B0604030504040204" pitchFamily="34" charset="0"/>
                <a:ea typeface="Verdana" panose="020B0604030504040204" pitchFamily="34" charset="0"/>
              </a:rPr>
              <a:t> </a:t>
            </a:r>
            <a:r>
              <a:rPr lang="nl-NL" sz="1600" dirty="0">
                <a:solidFill>
                  <a:srgbClr val="002060"/>
                </a:solidFill>
                <a:latin typeface="Verdana" panose="020B0604030504040204" pitchFamily="34" charset="0"/>
                <a:ea typeface="Verdana" panose="020B0604030504040204" pitchFamily="34" charset="0"/>
              </a:rPr>
              <a:t>et al. (2010)</a:t>
            </a:r>
            <a:endParaRPr lang="sv-SE" sz="1600" dirty="0">
              <a:solidFill>
                <a:srgbClr val="002060"/>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5590675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403648" y="163070"/>
            <a:ext cx="6696744" cy="639817"/>
          </a:xfrm>
        </p:spPr>
        <p:txBody>
          <a:bodyPr>
            <a:noAutofit/>
          </a:bodyPr>
          <a:lstStyle/>
          <a:p>
            <a:r>
              <a:rPr lang="en-US" sz="4000" dirty="0"/>
              <a:t>Point estimate and uncertainty</a:t>
            </a:r>
          </a:p>
        </p:txBody>
      </p:sp>
      <p:sp>
        <p:nvSpPr>
          <p:cNvPr id="5" name="Platshållare för bildnummer 4"/>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29</a:t>
            </a:fld>
            <a:endParaRPr lang="sv-SE">
              <a:solidFill>
                <a:srgbClr val="000000">
                  <a:tint val="75000"/>
                </a:srgbClr>
              </a:solidFill>
            </a:endParaRPr>
          </a:p>
        </p:txBody>
      </p:sp>
      <mc:AlternateContent xmlns:mc="http://schemas.openxmlformats.org/markup-compatibility/2006" xmlns:a14="http://schemas.microsoft.com/office/drawing/2010/main">
        <mc:Choice Requires="a14">
          <p:sp>
            <p:nvSpPr>
              <p:cNvPr id="4" name="Rektangel 3"/>
              <p:cNvSpPr/>
              <p:nvPr/>
            </p:nvSpPr>
            <p:spPr>
              <a:xfrm>
                <a:off x="1043608" y="699542"/>
                <a:ext cx="6430510" cy="2100575"/>
              </a:xfrm>
              <a:prstGeom prst="rect">
                <a:avLst/>
              </a:prstGeom>
            </p:spPr>
            <p:txBody>
              <a:bodyPr wrap="square">
                <a:spAutoFit/>
              </a:bodyPr>
              <a:lstStyle/>
              <a:p>
                <a:pPr fontAlgn="auto">
                  <a:spcBef>
                    <a:spcPts val="300"/>
                  </a:spcBef>
                  <a:spcAft>
                    <a:spcPts val="600"/>
                  </a:spcAft>
                </a:pPr>
                <a:r>
                  <a:rPr lang="en-US" dirty="0">
                    <a:solidFill>
                      <a:srgbClr val="000000"/>
                    </a:solidFill>
                    <a:latin typeface="Verdana" panose="020B0604030504040204" pitchFamily="34" charset="0"/>
                    <a:ea typeface="Verdana" panose="020B0604030504040204" pitchFamily="34" charset="0"/>
                  </a:rPr>
                  <a:t>Sample mean,  </a:t>
                </a:r>
                <a14:m>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a:rPr>
                          <m:t>𝑥</m:t>
                        </m:r>
                      </m:e>
                    </m:acc>
                  </m:oMath>
                </a14:m>
                <a:r>
                  <a:rPr lang="en-US" dirty="0">
                    <a:solidFill>
                      <a:srgbClr val="000000"/>
                    </a:solidFill>
                    <a:latin typeface="Verdana" panose="020B0604030504040204" pitchFamily="34" charset="0"/>
                    <a:ea typeface="Verdana" panose="020B0604030504040204" pitchFamily="34" charset="0"/>
                  </a:rPr>
                  <a:t>= 174 cm → 174 is our point estimate of μ (population parameter).</a:t>
                </a:r>
              </a:p>
              <a:p>
                <a:pPr fontAlgn="auto">
                  <a:spcBef>
                    <a:spcPts val="300"/>
                  </a:spcBef>
                  <a:spcAft>
                    <a:spcPts val="600"/>
                  </a:spcAft>
                </a:pPr>
                <a:r>
                  <a:rPr lang="en-US" dirty="0">
                    <a:solidFill>
                      <a:srgbClr val="000000"/>
                    </a:solidFill>
                    <a:latin typeface="Verdana" panose="020B0604030504040204" pitchFamily="34" charset="0"/>
                    <a:ea typeface="Verdana" panose="020B0604030504040204" pitchFamily="34" charset="0"/>
                  </a:rPr>
                  <a:t>However, this estimate is sample specific, i.e., if you do a new experiment, you will get a new estimate.  </a:t>
                </a:r>
              </a:p>
              <a:p>
                <a:pPr fontAlgn="auto">
                  <a:spcBef>
                    <a:spcPts val="300"/>
                  </a:spcBef>
                  <a:spcAft>
                    <a:spcPts val="600"/>
                  </a:spcAft>
                </a:pPr>
                <a:r>
                  <a:rPr lang="en-US" dirty="0">
                    <a:solidFill>
                      <a:srgbClr val="000000"/>
                    </a:solidFill>
                    <a:latin typeface="Verdana" panose="020B0604030504040204" pitchFamily="34" charset="0"/>
                    <a:ea typeface="Verdana" panose="020B0604030504040204" pitchFamily="34" charset="0"/>
                  </a:rPr>
                  <a:t>There is the </a:t>
                </a:r>
                <a:r>
                  <a:rPr lang="en-US" b="1" i="1" dirty="0">
                    <a:solidFill>
                      <a:srgbClr val="002060"/>
                    </a:solidFill>
                    <a:latin typeface="Verdana" panose="020B0604030504040204" pitchFamily="34" charset="0"/>
                    <a:ea typeface="Verdana" panose="020B0604030504040204" pitchFamily="34" charset="0"/>
                  </a:rPr>
                  <a:t>uncertainty</a:t>
                </a:r>
                <a:r>
                  <a:rPr lang="en-US" dirty="0">
                    <a:solidFill>
                      <a:srgbClr val="000000"/>
                    </a:solidFill>
                    <a:latin typeface="Verdana" panose="020B0604030504040204" pitchFamily="34" charset="0"/>
                    <a:ea typeface="Verdana" panose="020B0604030504040204" pitchFamily="34" charset="0"/>
                  </a:rPr>
                  <a:t> in the estimate </a:t>
                </a:r>
                <a14:m>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a:rPr>
                          <m:t>𝑥</m:t>
                        </m:r>
                      </m:e>
                    </m:acc>
                  </m:oMath>
                </a14:m>
                <a:endParaRPr lang="en-US" i="1" dirty="0">
                  <a:solidFill>
                    <a:srgbClr val="000000"/>
                  </a:solidFill>
                  <a:latin typeface="Verdana" panose="020B0604030504040204" pitchFamily="34" charset="0"/>
                  <a:ea typeface="Verdana" panose="020B0604030504040204" pitchFamily="34" charset="0"/>
                </a:endParaRPr>
              </a:p>
              <a:p>
                <a:pPr fontAlgn="auto">
                  <a:spcBef>
                    <a:spcPts val="300"/>
                  </a:spcBef>
                  <a:spcAft>
                    <a:spcPts val="600"/>
                  </a:spcAft>
                </a:pPr>
                <a:endParaRPr lang="en-US" dirty="0">
                  <a:solidFill>
                    <a:srgbClr val="000000"/>
                  </a:solidFill>
                  <a:latin typeface="Verdana" panose="020B0604030504040204" pitchFamily="34" charset="0"/>
                  <a:ea typeface="Verdana" panose="020B0604030504040204" pitchFamily="34" charset="0"/>
                </a:endParaRPr>
              </a:p>
            </p:txBody>
          </p:sp>
        </mc:Choice>
        <mc:Fallback xmlns="">
          <p:sp>
            <p:nvSpPr>
              <p:cNvPr id="4" name="Rektangel 3"/>
              <p:cNvSpPr>
                <a:spLocks noRot="1" noChangeAspect="1" noMove="1" noResize="1" noEditPoints="1" noAdjustHandles="1" noChangeArrowheads="1" noChangeShapeType="1" noTextEdit="1"/>
              </p:cNvSpPr>
              <p:nvPr/>
            </p:nvSpPr>
            <p:spPr>
              <a:xfrm>
                <a:off x="1043608" y="699542"/>
                <a:ext cx="6430510" cy="2100575"/>
              </a:xfrm>
              <a:prstGeom prst="rect">
                <a:avLst/>
              </a:prstGeom>
              <a:blipFill>
                <a:blip r:embed="rId3"/>
                <a:stretch>
                  <a:fillRect l="-758" t="-1744"/>
                </a:stretch>
              </a:blipFill>
            </p:spPr>
            <p:txBody>
              <a:bodyPr/>
              <a:lstStyle/>
              <a:p>
                <a:r>
                  <a:rPr lang="sv-SE">
                    <a:noFill/>
                  </a:rPr>
                  <a:t> </a:t>
                </a:r>
              </a:p>
            </p:txBody>
          </p:sp>
        </mc:Fallback>
      </mc:AlternateContent>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9365" y="2477977"/>
            <a:ext cx="3192065" cy="149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20D9C2FA-A7A3-44F7-942E-163BFDA267C0}"/>
              </a:ext>
            </a:extLst>
          </p:cNvPr>
          <p:cNvSpPr txBox="1"/>
          <p:nvPr/>
        </p:nvSpPr>
        <p:spPr>
          <a:xfrm>
            <a:off x="827584" y="4059708"/>
            <a:ext cx="7488831" cy="830997"/>
          </a:xfrm>
          <a:prstGeom prst="rect">
            <a:avLst/>
          </a:prstGeom>
          <a:noFill/>
        </p:spPr>
        <p:txBody>
          <a:bodyPr wrap="square" rtlCol="0">
            <a:spAutoFit/>
          </a:bodyPr>
          <a:lstStyle/>
          <a:p>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A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distinctive</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function</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of</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statistics</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is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this</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it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enables</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the scientist to make a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numerical</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evaluation</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of</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the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uncertainty</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of</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his</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conclusion</a:t>
            </a:r>
            <a:r>
              <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rPr>
              <a:t>. George W. </a:t>
            </a:r>
            <a:r>
              <a:rPr lang="sv-SE" sz="1600" dirty="0" err="1">
                <a:solidFill>
                  <a:srgbClr val="002060"/>
                </a:solidFill>
                <a:latin typeface="Verdana" panose="020B0604030504040204" pitchFamily="34" charset="0"/>
                <a:ea typeface="Verdana" panose="020B0604030504040204" pitchFamily="34" charset="0"/>
                <a:cs typeface="Times New Roman" panose="02020603050405020304" pitchFamily="18" charset="0"/>
              </a:rPr>
              <a:t>Snedecor</a:t>
            </a:r>
            <a:endParaRPr lang="sv-SE" sz="1600" dirty="0">
              <a:solidFill>
                <a:srgbClr val="002060"/>
              </a:solidFill>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262511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7705" y="294624"/>
            <a:ext cx="5040560" cy="620942"/>
          </a:xfrm>
        </p:spPr>
        <p:txBody>
          <a:bodyPr>
            <a:noAutofit/>
          </a:bodyPr>
          <a:lstStyle/>
          <a:p>
            <a:r>
              <a:rPr lang="en-US" sz="3600" dirty="0"/>
              <a:t>Confidence intervals (CI)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71600" y="1067921"/>
                <a:ext cx="7200800" cy="3348372"/>
              </a:xfrm>
            </p:spPr>
            <p:txBody>
              <a:bodyPr>
                <a:normAutofit fontScale="92500" lnSpcReduction="10000"/>
              </a:bodyPr>
              <a:lstStyle/>
              <a:p>
                <a:pPr marL="0" indent="0">
                  <a:spcBef>
                    <a:spcPts val="450"/>
                  </a:spcBef>
                  <a:spcAft>
                    <a:spcPts val="900"/>
                  </a:spcAft>
                  <a:buNone/>
                </a:pPr>
                <a:r>
                  <a:rPr lang="en-US" sz="2100" b="1" dirty="0">
                    <a:solidFill>
                      <a:srgbClr val="000000"/>
                    </a:solidFill>
                    <a:latin typeface="+mn-lt"/>
                    <a:cs typeface="Times New Roman" panose="02020603050405020304" pitchFamily="18" charset="0"/>
                  </a:rPr>
                  <a:t>Standard Error (SE)</a:t>
                </a:r>
                <a:r>
                  <a:rPr lang="en-US" sz="2100" dirty="0">
                    <a:latin typeface="+mn-lt"/>
                    <a:cs typeface="Times New Roman" panose="02020603050405020304" pitchFamily="18" charset="0"/>
                  </a:rPr>
                  <a:t> </a:t>
                </a:r>
                <a:r>
                  <a:rPr lang="en-US" sz="2100" dirty="0">
                    <a:latin typeface="+mn-lt"/>
                  </a:rPr>
                  <a:t>can be used to calculate a </a:t>
                </a:r>
                <a:r>
                  <a:rPr lang="en-US" sz="2100" b="1" dirty="0">
                    <a:latin typeface="+mn-lt"/>
                    <a:cs typeface="Times New Roman" panose="02020603050405020304" pitchFamily="18" charset="0"/>
                  </a:rPr>
                  <a:t>confidence interval (CI)</a:t>
                </a:r>
              </a:p>
              <a:p>
                <a:pPr marL="0" indent="0">
                  <a:spcBef>
                    <a:spcPts val="450"/>
                  </a:spcBef>
                  <a:spcAft>
                    <a:spcPts val="900"/>
                  </a:spcAft>
                  <a:buNone/>
                </a:pPr>
                <a:r>
                  <a:rPr lang="en-US" sz="2100" dirty="0">
                    <a:solidFill>
                      <a:srgbClr val="000000"/>
                    </a:solidFill>
                    <a:latin typeface="Calibri"/>
                  </a:rPr>
                  <a:t>Standard error of the mean:  </a:t>
                </a:r>
                <a14:m>
                  <m:oMath xmlns:m="http://schemas.openxmlformats.org/officeDocument/2006/math">
                    <m:r>
                      <a:rPr lang="en-US" sz="2100" i="1">
                        <a:solidFill>
                          <a:srgbClr val="000000"/>
                        </a:solidFill>
                        <a:latin typeface="Cambria Math"/>
                      </a:rPr>
                      <m:t>𝑆𝐸</m:t>
                    </m:r>
                    <m:d>
                      <m:dPr>
                        <m:ctrlPr>
                          <a:rPr lang="en-US" sz="2100" i="1">
                            <a:solidFill>
                              <a:srgbClr val="000000"/>
                            </a:solidFill>
                            <a:latin typeface="Cambria Math" panose="02040503050406030204" pitchFamily="18" charset="0"/>
                          </a:rPr>
                        </m:ctrlPr>
                      </m:dPr>
                      <m:e>
                        <m:acc>
                          <m:accPr>
                            <m:chr m:val="̅"/>
                            <m:ctrlPr>
                              <a:rPr lang="en-US" sz="2100" i="1">
                                <a:solidFill>
                                  <a:srgbClr val="000000"/>
                                </a:solidFill>
                                <a:latin typeface="Cambria Math" panose="02040503050406030204" pitchFamily="18" charset="0"/>
                              </a:rPr>
                            </m:ctrlPr>
                          </m:accPr>
                          <m:e>
                            <m:r>
                              <a:rPr lang="en-US" sz="2100" i="1">
                                <a:solidFill>
                                  <a:srgbClr val="000000"/>
                                </a:solidFill>
                                <a:latin typeface="Cambria Math"/>
                              </a:rPr>
                              <m:t>𝑥</m:t>
                            </m:r>
                          </m:e>
                        </m:acc>
                      </m:e>
                    </m:d>
                    <m:r>
                      <a:rPr lang="en-US" sz="2100" i="1">
                        <a:solidFill>
                          <a:srgbClr val="000000"/>
                        </a:solidFill>
                        <a:latin typeface="Cambria Math"/>
                      </a:rPr>
                      <m:t>=</m:t>
                    </m:r>
                    <m:f>
                      <m:fPr>
                        <m:ctrlPr>
                          <a:rPr lang="en-US" sz="2100" i="1">
                            <a:solidFill>
                              <a:srgbClr val="000000"/>
                            </a:solidFill>
                            <a:latin typeface="Cambria Math" panose="02040503050406030204" pitchFamily="18" charset="0"/>
                          </a:rPr>
                        </m:ctrlPr>
                      </m:fPr>
                      <m:num>
                        <m:r>
                          <a:rPr lang="sv-SE" sz="2100" i="1">
                            <a:solidFill>
                              <a:srgbClr val="000000"/>
                            </a:solidFill>
                            <a:latin typeface="Cambria Math"/>
                          </a:rPr>
                          <m:t>𝑆𝐷</m:t>
                        </m:r>
                        <m:d>
                          <m:dPr>
                            <m:ctrlPr>
                              <a:rPr lang="sv-SE" sz="2100" i="1">
                                <a:solidFill>
                                  <a:srgbClr val="000000"/>
                                </a:solidFill>
                                <a:latin typeface="Cambria Math" panose="02040503050406030204" pitchFamily="18" charset="0"/>
                              </a:rPr>
                            </m:ctrlPr>
                          </m:dPr>
                          <m:e>
                            <m:r>
                              <a:rPr lang="sv-SE" sz="2100" i="1">
                                <a:solidFill>
                                  <a:srgbClr val="000000"/>
                                </a:solidFill>
                                <a:latin typeface="Cambria Math"/>
                              </a:rPr>
                              <m:t>𝑥</m:t>
                            </m:r>
                          </m:e>
                        </m:d>
                      </m:num>
                      <m:den>
                        <m:rad>
                          <m:radPr>
                            <m:degHide m:val="on"/>
                            <m:ctrlPr>
                              <a:rPr lang="en-US" sz="2100" i="1">
                                <a:solidFill>
                                  <a:srgbClr val="000000"/>
                                </a:solidFill>
                                <a:latin typeface="Cambria Math" panose="02040503050406030204" pitchFamily="18" charset="0"/>
                              </a:rPr>
                            </m:ctrlPr>
                          </m:radPr>
                          <m:deg/>
                          <m:e>
                            <m:r>
                              <a:rPr lang="en-US" sz="2100" i="1">
                                <a:solidFill>
                                  <a:srgbClr val="000000"/>
                                </a:solidFill>
                                <a:latin typeface="Cambria Math"/>
                              </a:rPr>
                              <m:t>𝑛</m:t>
                            </m:r>
                          </m:e>
                        </m:rad>
                      </m:den>
                    </m:f>
                    <m:r>
                      <a:rPr lang="sv-SE" sz="2100" i="1">
                        <a:solidFill>
                          <a:srgbClr val="000000"/>
                        </a:solidFill>
                        <a:latin typeface="Cambria Math"/>
                      </a:rPr>
                      <m:t> </m:t>
                    </m:r>
                    <m:r>
                      <a:rPr lang="sv-SE" sz="2100" i="1">
                        <a:solidFill>
                          <a:srgbClr val="000000"/>
                        </a:solidFill>
                        <a:latin typeface="Cambria Math"/>
                        <a:ea typeface="Cambria Math"/>
                      </a:rPr>
                      <m:t>↔</m:t>
                    </m:r>
                    <m:r>
                      <a:rPr lang="en-US" sz="2100" i="1">
                        <a:solidFill>
                          <a:srgbClr val="000000"/>
                        </a:solidFill>
                        <a:latin typeface="Cambria Math"/>
                      </a:rPr>
                      <m:t>𝑆𝐸</m:t>
                    </m:r>
                    <m:d>
                      <m:dPr>
                        <m:ctrlPr>
                          <a:rPr lang="en-US" sz="2100" i="1">
                            <a:solidFill>
                              <a:srgbClr val="000000"/>
                            </a:solidFill>
                            <a:latin typeface="Cambria Math" panose="02040503050406030204" pitchFamily="18" charset="0"/>
                          </a:rPr>
                        </m:ctrlPr>
                      </m:dPr>
                      <m:e>
                        <m:acc>
                          <m:accPr>
                            <m:chr m:val="̅"/>
                            <m:ctrlPr>
                              <a:rPr lang="en-US" sz="2100" i="1">
                                <a:solidFill>
                                  <a:srgbClr val="000000"/>
                                </a:solidFill>
                                <a:latin typeface="Cambria Math" panose="02040503050406030204" pitchFamily="18" charset="0"/>
                              </a:rPr>
                            </m:ctrlPr>
                          </m:accPr>
                          <m:e>
                            <m:r>
                              <a:rPr lang="en-US" sz="2100" i="1">
                                <a:solidFill>
                                  <a:srgbClr val="000000"/>
                                </a:solidFill>
                                <a:latin typeface="Cambria Math"/>
                              </a:rPr>
                              <m:t>𝑥</m:t>
                            </m:r>
                          </m:e>
                        </m:acc>
                      </m:e>
                    </m:d>
                    <m:r>
                      <a:rPr lang="en-US" sz="2100" i="1">
                        <a:solidFill>
                          <a:srgbClr val="000000"/>
                        </a:solidFill>
                        <a:latin typeface="Cambria Math"/>
                      </a:rPr>
                      <m:t>=</m:t>
                    </m:r>
                    <m:f>
                      <m:fPr>
                        <m:ctrlPr>
                          <a:rPr lang="en-US" sz="2100" i="1">
                            <a:solidFill>
                              <a:srgbClr val="000000"/>
                            </a:solidFill>
                            <a:latin typeface="Cambria Math" panose="02040503050406030204" pitchFamily="18" charset="0"/>
                          </a:rPr>
                        </m:ctrlPr>
                      </m:fPr>
                      <m:num>
                        <m:r>
                          <a:rPr lang="sv-SE" sz="2100" i="1">
                            <a:solidFill>
                              <a:srgbClr val="000000"/>
                            </a:solidFill>
                            <a:latin typeface="Cambria Math"/>
                          </a:rPr>
                          <m:t>𝑠</m:t>
                        </m:r>
                      </m:num>
                      <m:den>
                        <m:rad>
                          <m:radPr>
                            <m:degHide m:val="on"/>
                            <m:ctrlPr>
                              <a:rPr lang="en-US" sz="2100" i="1">
                                <a:solidFill>
                                  <a:srgbClr val="000000"/>
                                </a:solidFill>
                                <a:latin typeface="Cambria Math" panose="02040503050406030204" pitchFamily="18" charset="0"/>
                              </a:rPr>
                            </m:ctrlPr>
                          </m:radPr>
                          <m:deg/>
                          <m:e>
                            <m:r>
                              <a:rPr lang="en-US" sz="2100" i="1">
                                <a:solidFill>
                                  <a:srgbClr val="000000"/>
                                </a:solidFill>
                                <a:latin typeface="Cambria Math"/>
                              </a:rPr>
                              <m:t>𝑛</m:t>
                            </m:r>
                          </m:e>
                        </m:rad>
                      </m:den>
                    </m:f>
                  </m:oMath>
                </a14:m>
                <a:endParaRPr lang="en-US" sz="2100" b="1" dirty="0">
                  <a:latin typeface="+mn-lt"/>
                  <a:cs typeface="Times New Roman" panose="02020603050405020304" pitchFamily="18" charset="0"/>
                </a:endParaRPr>
              </a:p>
              <a:p>
                <a:pPr marL="0" indent="0">
                  <a:spcBef>
                    <a:spcPts val="450"/>
                  </a:spcBef>
                  <a:spcAft>
                    <a:spcPts val="900"/>
                  </a:spcAft>
                  <a:buNone/>
                </a:pPr>
                <a:r>
                  <a:rPr lang="en-US" sz="2100" dirty="0">
                    <a:latin typeface="+mn-lt"/>
                  </a:rPr>
                  <a:t>That is an interval that with a certain confidence cover the true population value of a statistic.</a:t>
                </a:r>
                <a:endParaRPr lang="en-US" sz="2100" b="1" dirty="0">
                  <a:solidFill>
                    <a:schemeClr val="tx2"/>
                  </a:solidFill>
                  <a:latin typeface="+mn-lt"/>
                </a:endParaRPr>
              </a:p>
              <a:p>
                <a:pPr marL="0" indent="0">
                  <a:spcBef>
                    <a:spcPts val="450"/>
                  </a:spcBef>
                  <a:spcAft>
                    <a:spcPts val="900"/>
                  </a:spcAft>
                  <a:buNone/>
                </a:pPr>
                <a:r>
                  <a:rPr lang="en-US" sz="2100" b="1" dirty="0">
                    <a:solidFill>
                      <a:schemeClr val="tx2"/>
                    </a:solidFill>
                    <a:latin typeface="+mn-lt"/>
                  </a:rPr>
                  <a:t>E.g</a:t>
                </a:r>
                <a:r>
                  <a:rPr lang="en-US" sz="2100" b="1" dirty="0">
                    <a:latin typeface="+mn-lt"/>
                  </a:rPr>
                  <a:t>. </a:t>
                </a:r>
                <a:r>
                  <a:rPr lang="en-US" sz="2100" dirty="0">
                    <a:latin typeface="+mn-lt"/>
                  </a:rPr>
                  <a:t>We have </a:t>
                </a:r>
                <a14:m>
                  <m:oMath xmlns:m="http://schemas.openxmlformats.org/officeDocument/2006/math">
                    <m:acc>
                      <m:accPr>
                        <m:chr m:val="̅"/>
                        <m:ctrlPr>
                          <a:rPr lang="sv-SE" sz="2100" i="1">
                            <a:latin typeface="Cambria Math" panose="02040503050406030204" pitchFamily="18" charset="0"/>
                          </a:rPr>
                        </m:ctrlPr>
                      </m:accPr>
                      <m:e>
                        <m:r>
                          <a:rPr lang="sv-SE" sz="2100" i="1">
                            <a:latin typeface="Cambria Math" panose="02040503050406030204" pitchFamily="18" charset="0"/>
                          </a:rPr>
                          <m:t>𝑥</m:t>
                        </m:r>
                      </m:e>
                    </m:acc>
                  </m:oMath>
                </a14:m>
                <a:r>
                  <a:rPr lang="en-US" sz="2100" dirty="0">
                    <a:latin typeface="+mn-lt"/>
                  </a:rPr>
                  <a:t>= 174 cm and we are 95% confident that </a:t>
                </a:r>
                <a:r>
                  <a:rPr lang="en-US" sz="2100" b="1" dirty="0">
                    <a:latin typeface="+mn-lt"/>
                    <a:ea typeface="Cambria Math"/>
                  </a:rPr>
                  <a:t>μ</a:t>
                </a:r>
                <a:r>
                  <a:rPr lang="en-US" sz="2100" dirty="0">
                    <a:latin typeface="+mn-lt"/>
                    <a:ea typeface="Cambria Math"/>
                  </a:rPr>
                  <a:t> is between 166 and 182 cm. </a:t>
                </a:r>
                <a:r>
                  <a:rPr lang="en-US" sz="2100" dirty="0">
                    <a:latin typeface="+mn-lt"/>
                  </a:rPr>
                  <a:t>  </a:t>
                </a:r>
              </a:p>
              <a:p>
                <a:pPr marL="0" indent="0">
                  <a:spcBef>
                    <a:spcPts val="450"/>
                  </a:spcBef>
                  <a:spcAft>
                    <a:spcPts val="900"/>
                  </a:spcAft>
                  <a:buNone/>
                </a:pPr>
                <a:r>
                  <a:rPr lang="en-US" sz="2100" dirty="0">
                    <a:latin typeface="+mn-lt"/>
                    <a:ea typeface="Cambria Math"/>
                  </a:rPr>
                  <a:t>We can with 95 % confidence say that the true mean height of the medical student </a:t>
                </a:r>
                <a:r>
                  <a:rPr lang="en-US" sz="2100" b="1" dirty="0">
                    <a:latin typeface="+mn-lt"/>
                    <a:ea typeface="Cambria Math"/>
                  </a:rPr>
                  <a:t>population</a:t>
                </a:r>
                <a:r>
                  <a:rPr lang="en-US" sz="2100" dirty="0">
                    <a:latin typeface="+mn-lt"/>
                    <a:ea typeface="Cambria Math"/>
                  </a:rPr>
                  <a:t> is between 166 and 182 cm.</a:t>
                </a:r>
              </a:p>
              <a:p>
                <a:pPr marL="0" indent="0">
                  <a:spcBef>
                    <a:spcPts val="450"/>
                  </a:spcBef>
                  <a:spcAft>
                    <a:spcPts val="900"/>
                  </a:spcAft>
                  <a:buNone/>
                </a:pPr>
                <a:endParaRPr lang="en-US" sz="2100" b="1" dirty="0">
                  <a:latin typeface="+mn-lt"/>
                  <a:ea typeface="Cambria Math"/>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71600" y="1067921"/>
                <a:ext cx="7200800" cy="3348372"/>
              </a:xfrm>
              <a:blipFill>
                <a:blip r:embed="rId3"/>
                <a:stretch>
                  <a:fillRect l="-2030" t="-2186" r="-1861" b="-182"/>
                </a:stretch>
              </a:blipFill>
            </p:spPr>
            <p:txBody>
              <a:bodyPr/>
              <a:lstStyle/>
              <a:p>
                <a:r>
                  <a:rPr lang="sv-SE">
                    <a:noFill/>
                  </a:rPr>
                  <a:t> </a:t>
                </a:r>
              </a:p>
            </p:txBody>
          </p:sp>
        </mc:Fallback>
      </mc:AlternateContent>
      <p:sp>
        <p:nvSpPr>
          <p:cNvPr id="4" name="Platshållare för bildnummer 3"/>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30</a:t>
            </a:fld>
            <a:endParaRPr lang="sv-SE">
              <a:solidFill>
                <a:srgbClr val="000000">
                  <a:tint val="75000"/>
                </a:srgbClr>
              </a:solidFill>
            </a:endParaRPr>
          </a:p>
        </p:txBody>
      </p:sp>
    </p:spTree>
    <p:extLst>
      <p:ext uri="{BB962C8B-B14F-4D97-AF65-F5344CB8AC3E}">
        <p14:creationId xmlns:p14="http://schemas.microsoft.com/office/powerpoint/2010/main" val="1179208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520" y="267494"/>
            <a:ext cx="8744560" cy="1080120"/>
          </a:xfrm>
        </p:spPr>
        <p:txBody>
          <a:bodyPr/>
          <a:lstStyle/>
          <a:p>
            <a:r>
              <a:rPr lang="en-US" sz="3600" dirty="0"/>
              <a:t>Statistical Inference :</a:t>
            </a:r>
            <a:br>
              <a:rPr lang="en-US" sz="3600" dirty="0"/>
            </a:br>
            <a:r>
              <a:rPr lang="en-US" sz="3600" cap="none" dirty="0"/>
              <a:t>Hypothesis testing</a:t>
            </a:r>
            <a:br>
              <a:rPr lang="en-US" sz="3600" cap="none" dirty="0"/>
            </a:br>
            <a:endParaRPr lang="sv-SE" sz="3600" dirty="0"/>
          </a:p>
        </p:txBody>
      </p:sp>
      <p:pic>
        <p:nvPicPr>
          <p:cNvPr id="8" name="Bildobjekt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602" y="1373730"/>
            <a:ext cx="5301589" cy="3410690"/>
          </a:xfrm>
          <a:prstGeom prst="rect">
            <a:avLst/>
          </a:prstGeom>
        </p:spPr>
      </p:pic>
      <p:sp>
        <p:nvSpPr>
          <p:cNvPr id="3" name="Slide Number Placeholder 2">
            <a:extLst>
              <a:ext uri="{FF2B5EF4-FFF2-40B4-BE49-F238E27FC236}">
                <a16:creationId xmlns:a16="http://schemas.microsoft.com/office/drawing/2014/main" id="{3EA9B346-6C9F-40CA-84EB-36F07F1AB1BB}"/>
              </a:ext>
            </a:extLst>
          </p:cNvPr>
          <p:cNvSpPr>
            <a:spLocks noGrp="1"/>
          </p:cNvSpPr>
          <p:nvPr>
            <p:ph type="sldNum" sz="quarter" idx="16"/>
          </p:nvPr>
        </p:nvSpPr>
        <p:spPr/>
        <p:txBody>
          <a:bodyPr/>
          <a:lstStyle/>
          <a:p>
            <a:pPr>
              <a:defRPr/>
            </a:pPr>
            <a:fld id="{9426A61E-93B8-384D-8975-0A89DB09A550}" type="slidenum">
              <a:rPr lang="sv-SE" smtClean="0"/>
              <a:pPr>
                <a:defRPr/>
              </a:pPr>
              <a:t>31</a:t>
            </a:fld>
            <a:endParaRPr lang="sv-SE" dirty="0"/>
          </a:p>
        </p:txBody>
      </p:sp>
    </p:spTree>
    <p:extLst>
      <p:ext uri="{BB962C8B-B14F-4D97-AF65-F5344CB8AC3E}">
        <p14:creationId xmlns:p14="http://schemas.microsoft.com/office/powerpoint/2010/main" val="405778179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627784" y="195486"/>
            <a:ext cx="5103567" cy="513058"/>
          </a:xfrm>
        </p:spPr>
        <p:txBody>
          <a:bodyPr>
            <a:noAutofit/>
          </a:bodyPr>
          <a:lstStyle/>
          <a:p>
            <a:r>
              <a:rPr lang="en-US" sz="3600" dirty="0"/>
              <a:t>Statistical inference</a:t>
            </a:r>
          </a:p>
        </p:txBody>
      </p:sp>
      <p:sp>
        <p:nvSpPr>
          <p:cNvPr id="2" name="Platshållare för innehåll 1"/>
          <p:cNvSpPr>
            <a:spLocks noGrp="1"/>
          </p:cNvSpPr>
          <p:nvPr>
            <p:ph idx="1"/>
          </p:nvPr>
        </p:nvSpPr>
        <p:spPr>
          <a:xfrm>
            <a:off x="971600" y="924567"/>
            <a:ext cx="6665718" cy="3802640"/>
          </a:xfrm>
        </p:spPr>
        <p:txBody>
          <a:bodyPr>
            <a:normAutofit/>
          </a:bodyPr>
          <a:lstStyle/>
          <a:p>
            <a:pPr marL="0" indent="0">
              <a:buNone/>
            </a:pPr>
            <a:r>
              <a:rPr lang="en-US" sz="2800" dirty="0">
                <a:latin typeface="+mn-lt"/>
                <a:ea typeface="Verdana" panose="020B0604030504040204" pitchFamily="34" charset="0"/>
              </a:rPr>
              <a:t>Statistical inference is drawing conclusion about the population-based characteristics of the sample. </a:t>
            </a:r>
          </a:p>
          <a:p>
            <a:pPr marL="0" indent="0">
              <a:buNone/>
            </a:pPr>
            <a:r>
              <a:rPr lang="en-US" sz="2800" dirty="0">
                <a:latin typeface="+mn-lt"/>
                <a:ea typeface="Verdana" panose="020B0604030504040204" pitchFamily="34" charset="0"/>
              </a:rPr>
              <a:t>There two types of statistical inferences: </a:t>
            </a:r>
          </a:p>
          <a:p>
            <a:pPr marL="685800" lvl="1" indent="-385763">
              <a:buFont typeface="+mj-lt"/>
              <a:buAutoNum type="arabicPeriod"/>
            </a:pPr>
            <a:r>
              <a:rPr lang="en-US" sz="2800" b="1" dirty="0">
                <a:latin typeface="+mn-lt"/>
                <a:ea typeface="Verdana" panose="020B0604030504040204" pitchFamily="34" charset="0"/>
              </a:rPr>
              <a:t>Hypothesis testing </a:t>
            </a:r>
            <a:r>
              <a:rPr lang="en-US" sz="2800" dirty="0">
                <a:latin typeface="+mn-lt"/>
                <a:ea typeface="Verdana" panose="020B0604030504040204" pitchFamily="34" charset="0"/>
              </a:rPr>
              <a:t>(using a test/CI)</a:t>
            </a:r>
          </a:p>
          <a:p>
            <a:pPr marL="685800" lvl="1" indent="-385763">
              <a:buFont typeface="+mj-lt"/>
              <a:buAutoNum type="arabicPeriod"/>
            </a:pPr>
            <a:r>
              <a:rPr lang="en-US" sz="2800" b="1" dirty="0">
                <a:latin typeface="+mn-lt"/>
                <a:ea typeface="Verdana" panose="020B0604030504040204" pitchFamily="34" charset="0"/>
              </a:rPr>
              <a:t>Estimation</a:t>
            </a:r>
            <a:r>
              <a:rPr lang="en-US" sz="2800" dirty="0">
                <a:latin typeface="+mn-lt"/>
                <a:ea typeface="Verdana" panose="020B0604030504040204" pitchFamily="34" charset="0"/>
              </a:rPr>
              <a:t> (confidence interval)</a:t>
            </a:r>
          </a:p>
          <a:p>
            <a:pPr marL="685800" lvl="1" indent="-385763">
              <a:buFont typeface="+mj-lt"/>
              <a:buAutoNum type="arabicPeriod"/>
            </a:pPr>
            <a:endParaRPr lang="en-US" sz="2800" dirty="0">
              <a:latin typeface="+mn-lt"/>
              <a:ea typeface="Verdana" panose="020B0604030504040204" pitchFamily="34" charset="0"/>
            </a:endParaRPr>
          </a:p>
          <a:p>
            <a:pPr marL="685800" lvl="1" indent="-385763">
              <a:buFont typeface="+mj-lt"/>
              <a:buAutoNum type="arabicPeriod"/>
            </a:pPr>
            <a:endParaRPr lang="en-US" sz="2800" dirty="0">
              <a:latin typeface="+mn-lt"/>
              <a:ea typeface="Verdana" panose="020B0604030504040204" pitchFamily="34" charset="0"/>
            </a:endParaRPr>
          </a:p>
          <a:p>
            <a:pPr marL="0" indent="0">
              <a:buNone/>
            </a:pPr>
            <a:endParaRPr lang="en-US" sz="2800" i="1" dirty="0">
              <a:latin typeface="+mn-lt"/>
              <a:ea typeface="Verdana" panose="020B0604030504040204" pitchFamily="34" charset="0"/>
            </a:endParaRPr>
          </a:p>
          <a:p>
            <a:pPr marL="0" indent="0">
              <a:buNone/>
            </a:pPr>
            <a:endParaRPr lang="en-US" sz="2800" dirty="0">
              <a:latin typeface="+mn-lt"/>
              <a:ea typeface="Verdana" panose="020B0604030504040204" pitchFamily="34" charset="0"/>
            </a:endParaRPr>
          </a:p>
        </p:txBody>
      </p:sp>
      <p:sp>
        <p:nvSpPr>
          <p:cNvPr id="4" name="Platshållare för bildnummer 3"/>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32</a:t>
            </a:fld>
            <a:endParaRPr lang="sv-SE">
              <a:solidFill>
                <a:srgbClr val="000000">
                  <a:tint val="75000"/>
                </a:srgbClr>
              </a:solidFill>
            </a:endParaRPr>
          </a:p>
        </p:txBody>
      </p:sp>
    </p:spTree>
    <p:extLst>
      <p:ext uri="{BB962C8B-B14F-4D97-AF65-F5344CB8AC3E}">
        <p14:creationId xmlns:p14="http://schemas.microsoft.com/office/powerpoint/2010/main" val="22542489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339752" y="292234"/>
            <a:ext cx="3960440" cy="475562"/>
          </a:xfrm>
        </p:spPr>
        <p:txBody>
          <a:bodyPr>
            <a:noAutofit/>
          </a:bodyPr>
          <a:lstStyle/>
          <a:p>
            <a:r>
              <a:rPr lang="en-US" sz="3600" dirty="0"/>
              <a:t>Hypothesis testing</a:t>
            </a:r>
          </a:p>
        </p:txBody>
      </p:sp>
      <p:sp>
        <p:nvSpPr>
          <p:cNvPr id="2" name="Platshållare för innehåll 1"/>
          <p:cNvSpPr>
            <a:spLocks noGrp="1"/>
          </p:cNvSpPr>
          <p:nvPr>
            <p:ph idx="1"/>
          </p:nvPr>
        </p:nvSpPr>
        <p:spPr>
          <a:xfrm>
            <a:off x="1043608" y="904210"/>
            <a:ext cx="7056784" cy="3071696"/>
          </a:xfrm>
        </p:spPr>
        <p:txBody>
          <a:bodyPr anchor="t">
            <a:normAutofit/>
          </a:bodyPr>
          <a:lstStyle/>
          <a:p>
            <a:pPr marL="0" indent="0">
              <a:lnSpc>
                <a:spcPct val="160000"/>
              </a:lnSpc>
              <a:spcBef>
                <a:spcPts val="300"/>
              </a:spcBef>
              <a:buNone/>
            </a:pPr>
            <a:r>
              <a:rPr lang="en-US" sz="2400" dirty="0">
                <a:latin typeface="+mn-lt"/>
              </a:rPr>
              <a:t>The idea is that we have a question about the </a:t>
            </a:r>
            <a:r>
              <a:rPr lang="en-US" sz="2400" b="1" dirty="0">
                <a:solidFill>
                  <a:srgbClr val="002060"/>
                </a:solidFill>
                <a:latin typeface="+mn-lt"/>
              </a:rPr>
              <a:t>population</a:t>
            </a:r>
            <a:r>
              <a:rPr lang="en-US" sz="2400" dirty="0">
                <a:latin typeface="+mn-lt"/>
              </a:rPr>
              <a:t> that we want to try to answer with a </a:t>
            </a:r>
            <a:r>
              <a:rPr lang="en-US" sz="2400" b="1" dirty="0">
                <a:solidFill>
                  <a:srgbClr val="002060"/>
                </a:solidFill>
                <a:latin typeface="+mn-lt"/>
              </a:rPr>
              <a:t>statistical test</a:t>
            </a:r>
            <a:r>
              <a:rPr lang="en-US" sz="2400" dirty="0">
                <a:latin typeface="+mn-lt"/>
              </a:rPr>
              <a:t>.</a:t>
            </a:r>
          </a:p>
          <a:p>
            <a:pPr marL="0" indent="0">
              <a:lnSpc>
                <a:spcPct val="160000"/>
              </a:lnSpc>
              <a:buNone/>
            </a:pPr>
            <a:r>
              <a:rPr lang="en-US" sz="2400" dirty="0">
                <a:solidFill>
                  <a:srgbClr val="000000"/>
                </a:solidFill>
                <a:latin typeface="+mn-lt"/>
              </a:rPr>
              <a:t>A requirement of any statistical test is to formulate a </a:t>
            </a:r>
            <a:r>
              <a:rPr lang="en-US" sz="2400" b="1" dirty="0">
                <a:solidFill>
                  <a:srgbClr val="002060"/>
                </a:solidFill>
                <a:latin typeface="+mn-lt"/>
              </a:rPr>
              <a:t>null hypothesis (H</a:t>
            </a:r>
            <a:r>
              <a:rPr lang="en-US" sz="2400" b="1" baseline="-25000" dirty="0">
                <a:solidFill>
                  <a:srgbClr val="002060"/>
                </a:solidFill>
                <a:latin typeface="+mn-lt"/>
              </a:rPr>
              <a:t>0</a:t>
            </a:r>
            <a:r>
              <a:rPr lang="en-US" sz="2400" b="1" dirty="0">
                <a:solidFill>
                  <a:srgbClr val="002060"/>
                </a:solidFill>
                <a:latin typeface="+mn-lt"/>
              </a:rPr>
              <a:t>) </a:t>
            </a:r>
            <a:r>
              <a:rPr lang="en-US" sz="2400" dirty="0">
                <a:solidFill>
                  <a:srgbClr val="000000"/>
                </a:solidFill>
                <a:latin typeface="+mn-lt"/>
              </a:rPr>
              <a:t>and an </a:t>
            </a:r>
            <a:r>
              <a:rPr lang="en-US" sz="2400" b="1" dirty="0">
                <a:solidFill>
                  <a:srgbClr val="002060"/>
                </a:solidFill>
                <a:latin typeface="+mn-lt"/>
              </a:rPr>
              <a:t>alternative hypothesis (H</a:t>
            </a:r>
            <a:r>
              <a:rPr lang="en-US" sz="2400" b="1" baseline="-25000" dirty="0">
                <a:solidFill>
                  <a:srgbClr val="002060"/>
                </a:solidFill>
                <a:latin typeface="+mn-lt"/>
              </a:rPr>
              <a:t>1</a:t>
            </a:r>
            <a:r>
              <a:rPr lang="en-US" sz="2400" b="1" dirty="0">
                <a:solidFill>
                  <a:srgbClr val="002060"/>
                </a:solidFill>
                <a:latin typeface="+mn-lt"/>
              </a:rPr>
              <a:t>)</a:t>
            </a:r>
            <a:r>
              <a:rPr lang="en-US" sz="2400" dirty="0">
                <a:solidFill>
                  <a:srgbClr val="002060"/>
                </a:solidFill>
                <a:latin typeface="+mn-lt"/>
              </a:rPr>
              <a:t>. </a:t>
            </a:r>
            <a:endParaRPr lang="en-US" sz="2400" dirty="0">
              <a:solidFill>
                <a:srgbClr val="002060"/>
              </a:solidFill>
            </a:endParaRPr>
          </a:p>
        </p:txBody>
      </p:sp>
      <p:sp>
        <p:nvSpPr>
          <p:cNvPr id="4" name="Platshållare för bildnummer 3"/>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33</a:t>
            </a:fld>
            <a:endParaRPr lang="sv-SE">
              <a:solidFill>
                <a:srgbClr val="000000">
                  <a:tint val="75000"/>
                </a:srgbClr>
              </a:solidFill>
            </a:endParaRPr>
          </a:p>
        </p:txBody>
      </p:sp>
    </p:spTree>
    <p:extLst>
      <p:ext uri="{BB962C8B-B14F-4D97-AF65-F5344CB8AC3E}">
        <p14:creationId xmlns:p14="http://schemas.microsoft.com/office/powerpoint/2010/main" val="16685162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innehåll 1"/>
          <p:cNvSpPr>
            <a:spLocks noGrp="1"/>
          </p:cNvSpPr>
          <p:nvPr>
            <p:ph idx="1"/>
          </p:nvPr>
        </p:nvSpPr>
        <p:spPr>
          <a:xfrm>
            <a:off x="939853" y="965213"/>
            <a:ext cx="7200800" cy="3886053"/>
          </a:xfrm>
        </p:spPr>
        <p:txBody>
          <a:bodyPr>
            <a:noAutofit/>
          </a:bodyPr>
          <a:lstStyle/>
          <a:p>
            <a:pPr marL="342900" indent="-342900">
              <a:buFont typeface="+mj-lt"/>
              <a:buAutoNum type="arabicPeriod"/>
            </a:pPr>
            <a:r>
              <a:rPr lang="en-US" sz="2000" dirty="0">
                <a:solidFill>
                  <a:srgbClr val="000000"/>
                </a:solidFill>
                <a:latin typeface="+mn-lt"/>
                <a:ea typeface="Verdana" panose="020B0604030504040204" pitchFamily="34" charset="0"/>
              </a:rPr>
              <a:t>Formulate</a:t>
            </a:r>
          </a:p>
          <a:p>
            <a:pPr marL="584213" lvl="1" indent="-342900">
              <a:buFont typeface="+mj-lt"/>
              <a:buAutoNum type="romanLcPeriod"/>
            </a:pPr>
            <a:r>
              <a:rPr lang="en-US" sz="2000" b="1" dirty="0">
                <a:solidFill>
                  <a:srgbClr val="000000"/>
                </a:solidFill>
                <a:latin typeface="+mn-lt"/>
                <a:ea typeface="Verdana" panose="020B0604030504040204" pitchFamily="34" charset="0"/>
              </a:rPr>
              <a:t>Null hypothesis </a:t>
            </a:r>
            <a:r>
              <a:rPr lang="en-US" sz="2000" dirty="0">
                <a:solidFill>
                  <a:srgbClr val="000000"/>
                </a:solidFill>
                <a:latin typeface="+mn-lt"/>
                <a:ea typeface="Verdana" panose="020B0604030504040204" pitchFamily="34" charset="0"/>
              </a:rPr>
              <a:t>(H</a:t>
            </a:r>
            <a:r>
              <a:rPr lang="en-US" sz="2000" baseline="-25000" dirty="0">
                <a:solidFill>
                  <a:srgbClr val="000000"/>
                </a:solidFill>
                <a:latin typeface="+mn-lt"/>
                <a:ea typeface="Verdana" panose="020B0604030504040204" pitchFamily="34" charset="0"/>
              </a:rPr>
              <a:t>0</a:t>
            </a:r>
            <a:r>
              <a:rPr lang="en-US" sz="2000" dirty="0">
                <a:solidFill>
                  <a:srgbClr val="000000"/>
                </a:solidFill>
                <a:latin typeface="+mn-lt"/>
                <a:ea typeface="Verdana" panose="020B0604030504040204" pitchFamily="34" charset="0"/>
              </a:rPr>
              <a:t>)</a:t>
            </a:r>
            <a:r>
              <a:rPr lang="en-US" sz="2000" b="1" dirty="0">
                <a:latin typeface="+mn-lt"/>
                <a:ea typeface="Verdana" panose="020B0604030504040204" pitchFamily="34" charset="0"/>
              </a:rPr>
              <a:t>:</a:t>
            </a:r>
            <a:r>
              <a:rPr lang="en-US" sz="2000" dirty="0">
                <a:latin typeface="+mn-lt"/>
                <a:ea typeface="Verdana" panose="020B0604030504040204" pitchFamily="34" charset="0"/>
              </a:rPr>
              <a:t> Often cautiously 	formulated; can never be proven; considered true 	until disproved </a:t>
            </a:r>
          </a:p>
          <a:p>
            <a:pPr marL="584213" lvl="1" indent="-342900">
              <a:buFont typeface="+mj-lt"/>
              <a:buAutoNum type="romanLcPeriod"/>
            </a:pPr>
            <a:r>
              <a:rPr lang="en-US" sz="2000" b="1" dirty="0">
                <a:solidFill>
                  <a:srgbClr val="000000"/>
                </a:solidFill>
                <a:latin typeface="+mn-lt"/>
                <a:ea typeface="Verdana" panose="020B0604030504040204" pitchFamily="34" charset="0"/>
              </a:rPr>
              <a:t>Alternative hypothesis (H</a:t>
            </a:r>
            <a:r>
              <a:rPr lang="en-US" sz="2000" b="1" baseline="-25000" dirty="0">
                <a:solidFill>
                  <a:srgbClr val="000000"/>
                </a:solidFill>
                <a:latin typeface="+mn-lt"/>
                <a:ea typeface="Verdana" panose="020B0604030504040204" pitchFamily="34" charset="0"/>
              </a:rPr>
              <a:t>A</a:t>
            </a:r>
            <a:r>
              <a:rPr lang="en-US" sz="2000" b="1" dirty="0">
                <a:solidFill>
                  <a:srgbClr val="000000"/>
                </a:solidFill>
                <a:latin typeface="+mn-lt"/>
                <a:ea typeface="Verdana" panose="020B0604030504040204" pitchFamily="34" charset="0"/>
              </a:rPr>
              <a:t>):</a:t>
            </a:r>
            <a:r>
              <a:rPr lang="en-US" sz="2000" dirty="0">
                <a:latin typeface="+mn-lt"/>
                <a:ea typeface="Verdana" panose="020B0604030504040204" pitchFamily="34" charset="0"/>
              </a:rPr>
              <a:t> includes </a:t>
            </a:r>
            <a:r>
              <a:rPr lang="en-US" sz="2000" u="sng" dirty="0">
                <a:latin typeface="+mn-lt"/>
                <a:ea typeface="Verdana" panose="020B0604030504040204" pitchFamily="34" charset="0"/>
              </a:rPr>
              <a:t>everything </a:t>
            </a:r>
            <a:r>
              <a:rPr lang="en-US" sz="2000" dirty="0">
                <a:latin typeface="+mn-lt"/>
                <a:ea typeface="Verdana" panose="020B0604030504040204" pitchFamily="34" charset="0"/>
              </a:rPr>
              <a:t>except the null hypothesis</a:t>
            </a:r>
          </a:p>
          <a:p>
            <a:pPr marL="584213" lvl="1" indent="-342900">
              <a:buFont typeface="+mj-lt"/>
              <a:buAutoNum type="romanLcPeriod"/>
            </a:pPr>
            <a:r>
              <a:rPr lang="sv-SE" sz="2000" dirty="0" err="1">
                <a:latin typeface="+mn-lt"/>
                <a:ea typeface="Verdana" panose="020B0604030504040204" pitchFamily="34" charset="0"/>
              </a:rPr>
              <a:t>You</a:t>
            </a:r>
            <a:r>
              <a:rPr lang="sv-SE" sz="2000" dirty="0">
                <a:latin typeface="+mn-lt"/>
                <a:ea typeface="Verdana" panose="020B0604030504040204" pitchFamily="34" charset="0"/>
              </a:rPr>
              <a:t> </a:t>
            </a:r>
            <a:r>
              <a:rPr lang="sv-SE" sz="2000" dirty="0" err="1">
                <a:latin typeface="+mn-lt"/>
                <a:ea typeface="Verdana" panose="020B0604030504040204" pitchFamily="34" charset="0"/>
              </a:rPr>
              <a:t>decide</a:t>
            </a:r>
            <a:r>
              <a:rPr lang="sv-SE" sz="2000" dirty="0">
                <a:latin typeface="+mn-lt"/>
                <a:ea typeface="Verdana" panose="020B0604030504040204" pitchFamily="34" charset="0"/>
              </a:rPr>
              <a:t> a </a:t>
            </a:r>
            <a:r>
              <a:rPr lang="sv-SE" sz="2000" dirty="0" err="1">
                <a:solidFill>
                  <a:srgbClr val="0070C0"/>
                </a:solidFill>
                <a:latin typeface="+mn-lt"/>
                <a:ea typeface="Verdana" panose="020B0604030504040204" pitchFamily="34" charset="0"/>
              </a:rPr>
              <a:t>significance</a:t>
            </a:r>
            <a:r>
              <a:rPr lang="sv-SE" sz="2000" dirty="0">
                <a:solidFill>
                  <a:srgbClr val="0070C0"/>
                </a:solidFill>
                <a:latin typeface="+mn-lt"/>
                <a:ea typeface="Verdana" panose="020B0604030504040204" pitchFamily="34" charset="0"/>
              </a:rPr>
              <a:t> </a:t>
            </a:r>
            <a:r>
              <a:rPr lang="sv-SE" sz="2000" dirty="0" err="1">
                <a:solidFill>
                  <a:srgbClr val="0070C0"/>
                </a:solidFill>
                <a:latin typeface="+mn-lt"/>
                <a:ea typeface="Verdana" panose="020B0604030504040204" pitchFamily="34" charset="0"/>
              </a:rPr>
              <a:t>level</a:t>
            </a:r>
            <a:r>
              <a:rPr lang="sv-SE" sz="2000" dirty="0">
                <a:solidFill>
                  <a:srgbClr val="0070C0"/>
                </a:solidFill>
                <a:latin typeface="+mn-lt"/>
                <a:ea typeface="Verdana" panose="020B0604030504040204" pitchFamily="34" charset="0"/>
              </a:rPr>
              <a:t>, </a:t>
            </a:r>
            <a:r>
              <a:rPr lang="sv-SE" sz="2000" dirty="0" err="1">
                <a:solidFill>
                  <a:srgbClr val="0070C0"/>
                </a:solidFill>
                <a:latin typeface="+mn-lt"/>
                <a:ea typeface="Verdana" panose="020B0604030504040204" pitchFamily="34" charset="0"/>
              </a:rPr>
              <a:t>e.g</a:t>
            </a:r>
            <a:r>
              <a:rPr lang="sv-SE" sz="2000" dirty="0">
                <a:solidFill>
                  <a:srgbClr val="0070C0"/>
                </a:solidFill>
                <a:latin typeface="+mn-lt"/>
                <a:ea typeface="Verdana" panose="020B0604030504040204" pitchFamily="34" charset="0"/>
              </a:rPr>
              <a:t>. 5%</a:t>
            </a:r>
            <a:endParaRPr lang="en-US" sz="2000" dirty="0">
              <a:solidFill>
                <a:srgbClr val="0070C0"/>
              </a:solidFill>
              <a:latin typeface="+mn-lt"/>
              <a:ea typeface="Verdana" panose="020B0604030504040204" pitchFamily="34" charset="0"/>
            </a:endParaRPr>
          </a:p>
          <a:p>
            <a:pPr marL="342900" indent="-342900">
              <a:buFont typeface="+mj-lt"/>
              <a:buAutoNum type="arabicPeriod"/>
            </a:pPr>
            <a:r>
              <a:rPr lang="en-US" sz="2000" dirty="0">
                <a:solidFill>
                  <a:srgbClr val="000000"/>
                </a:solidFill>
                <a:latin typeface="+mn-lt"/>
                <a:ea typeface="Verdana" panose="020B0604030504040204" pitchFamily="34" charset="0"/>
              </a:rPr>
              <a:t>Test the hypothesis using a </a:t>
            </a:r>
            <a:r>
              <a:rPr lang="en-US" sz="2000" b="1" dirty="0">
                <a:solidFill>
                  <a:srgbClr val="000000"/>
                </a:solidFill>
                <a:latin typeface="+mn-lt"/>
                <a:ea typeface="Verdana" panose="020B0604030504040204" pitchFamily="34" charset="0"/>
              </a:rPr>
              <a:t>statistical test, </a:t>
            </a:r>
            <a:r>
              <a:rPr lang="en-US" sz="2000" dirty="0">
                <a:solidFill>
                  <a:srgbClr val="000000"/>
                </a:solidFill>
                <a:latin typeface="+mn-lt"/>
                <a:ea typeface="Verdana" panose="020B0604030504040204" pitchFamily="34" charset="0"/>
              </a:rPr>
              <a:t>which results in a </a:t>
            </a:r>
            <a:r>
              <a:rPr lang="en-US" sz="2000" b="1" dirty="0">
                <a:solidFill>
                  <a:srgbClr val="000000"/>
                </a:solidFill>
                <a:latin typeface="+mn-lt"/>
                <a:ea typeface="Verdana" panose="020B0604030504040204" pitchFamily="34" charset="0"/>
              </a:rPr>
              <a:t>p-value</a:t>
            </a:r>
            <a:r>
              <a:rPr lang="en-US" sz="2000" dirty="0">
                <a:solidFill>
                  <a:srgbClr val="000000"/>
                </a:solidFill>
                <a:latin typeface="+mn-lt"/>
                <a:ea typeface="Verdana" panose="020B0604030504040204" pitchFamily="34" charset="0"/>
              </a:rPr>
              <a:t> </a:t>
            </a:r>
          </a:p>
          <a:p>
            <a:pPr marL="342900" indent="-342900">
              <a:buFont typeface="+mj-lt"/>
              <a:buAutoNum type="arabicPeriod"/>
            </a:pPr>
            <a:r>
              <a:rPr lang="en-US" sz="2000" dirty="0">
                <a:solidFill>
                  <a:srgbClr val="000000"/>
                </a:solidFill>
                <a:latin typeface="+mn-lt"/>
                <a:ea typeface="Verdana" panose="020B0604030504040204" pitchFamily="34" charset="0"/>
              </a:rPr>
              <a:t>If p-value below </a:t>
            </a:r>
            <a:r>
              <a:rPr lang="en-US" sz="2000" b="1" dirty="0">
                <a:solidFill>
                  <a:srgbClr val="000000"/>
                </a:solidFill>
                <a:latin typeface="+mn-lt"/>
                <a:ea typeface="Verdana" panose="020B0604030504040204" pitchFamily="34" charset="0"/>
              </a:rPr>
              <a:t>level of significance </a:t>
            </a:r>
            <a:r>
              <a:rPr lang="en-US" sz="2000" dirty="0">
                <a:solidFill>
                  <a:srgbClr val="000000"/>
                </a:solidFill>
                <a:latin typeface="+mn-lt"/>
                <a:ea typeface="Verdana" panose="020B0604030504040204" pitchFamily="34" charset="0"/>
              </a:rPr>
              <a:t>(decided a priori)</a:t>
            </a:r>
            <a:r>
              <a:rPr lang="en-US" sz="2000" dirty="0">
                <a:solidFill>
                  <a:srgbClr val="002060"/>
                </a:solidFill>
                <a:latin typeface="+mn-lt"/>
                <a:ea typeface="Verdana" panose="020B0604030504040204" pitchFamily="34" charset="0"/>
              </a:rPr>
              <a:t> reject (H</a:t>
            </a:r>
            <a:r>
              <a:rPr lang="en-US" sz="2000" baseline="-25000" dirty="0">
                <a:solidFill>
                  <a:srgbClr val="002060"/>
                </a:solidFill>
                <a:latin typeface="+mn-lt"/>
                <a:ea typeface="Verdana" panose="020B0604030504040204" pitchFamily="34" charset="0"/>
              </a:rPr>
              <a:t>0</a:t>
            </a:r>
            <a:r>
              <a:rPr lang="en-US" sz="2000" dirty="0">
                <a:solidFill>
                  <a:srgbClr val="002060"/>
                </a:solidFill>
                <a:latin typeface="+mn-lt"/>
                <a:ea typeface="Verdana" panose="020B0604030504040204" pitchFamily="34" charset="0"/>
              </a:rPr>
              <a:t>) else, we do not have enough evidence to reject H</a:t>
            </a:r>
            <a:r>
              <a:rPr lang="en-US" sz="2000" baseline="-25000" dirty="0">
                <a:solidFill>
                  <a:srgbClr val="002060"/>
                </a:solidFill>
                <a:latin typeface="+mn-lt"/>
                <a:ea typeface="Verdana" panose="020B0604030504040204" pitchFamily="34" charset="0"/>
              </a:rPr>
              <a:t>0</a:t>
            </a:r>
            <a:endParaRPr lang="en-US" sz="2000" i="1" dirty="0">
              <a:latin typeface="+mn-lt"/>
              <a:ea typeface="Verdana" panose="020B0604030504040204" pitchFamily="34" charset="0"/>
            </a:endParaRPr>
          </a:p>
          <a:p>
            <a:pPr marL="0" indent="0">
              <a:buNone/>
            </a:pPr>
            <a:endParaRPr lang="en-US" sz="2000" dirty="0">
              <a:latin typeface="+mn-lt"/>
              <a:ea typeface="Verdana" panose="020B0604030504040204" pitchFamily="34" charset="0"/>
            </a:endParaRPr>
          </a:p>
        </p:txBody>
      </p:sp>
      <p:sp>
        <p:nvSpPr>
          <p:cNvPr id="4" name="Platshållare för bildnummer 3"/>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34</a:t>
            </a:fld>
            <a:endParaRPr lang="sv-SE" dirty="0">
              <a:solidFill>
                <a:srgbClr val="000000">
                  <a:tint val="75000"/>
                </a:srgbClr>
              </a:solidFill>
            </a:endParaRPr>
          </a:p>
        </p:txBody>
      </p:sp>
      <p:sp>
        <p:nvSpPr>
          <p:cNvPr id="6" name="Title 2"/>
          <p:cNvSpPr txBox="1">
            <a:spLocks/>
          </p:cNvSpPr>
          <p:nvPr/>
        </p:nvSpPr>
        <p:spPr>
          <a:xfrm>
            <a:off x="2339752" y="292234"/>
            <a:ext cx="3960440" cy="475562"/>
          </a:xfrm>
          <a:prstGeom prst="rect">
            <a:avLst/>
          </a:prstGeom>
        </p:spPr>
        <p:txBody>
          <a:bodyPr>
            <a:noAutofit/>
          </a:bodyPr>
          <a:lstStyle>
            <a:lvl1pPr algn="l" defTabSz="457200" rtl="0" eaLnBrk="1" fontAlgn="base" hangingPunct="1">
              <a:lnSpc>
                <a:spcPct val="90000"/>
              </a:lnSpc>
              <a:spcBef>
                <a:spcPct val="0"/>
              </a:spcBef>
              <a:spcAft>
                <a:spcPct val="0"/>
              </a:spcAft>
              <a:defRPr sz="4400" b="1" i="0" kern="1200">
                <a:solidFill>
                  <a:schemeClr val="tx1">
                    <a:lumMod val="85000"/>
                    <a:lumOff val="15000"/>
                  </a:schemeClr>
                </a:solidFill>
                <a:latin typeface="+mj-lt"/>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en-US" sz="3600"/>
              <a:t>Hypothesis testing</a:t>
            </a:r>
            <a:endParaRPr lang="en-US" sz="3600" dirty="0"/>
          </a:p>
        </p:txBody>
      </p:sp>
    </p:spTree>
    <p:extLst>
      <p:ext uri="{BB962C8B-B14F-4D97-AF65-F5344CB8AC3E}">
        <p14:creationId xmlns:p14="http://schemas.microsoft.com/office/powerpoint/2010/main" val="35706135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11560" y="897564"/>
            <a:ext cx="7992888" cy="3618402"/>
          </a:xfrm>
        </p:spPr>
        <p:txBody>
          <a:bodyPr vert="horz" lIns="27000" tIns="0" rIns="27000" bIns="0" rtlCol="0">
            <a:noAutofit/>
          </a:bodyPr>
          <a:lstStyle/>
          <a:p>
            <a:pPr marL="1191" lvl="1" indent="0">
              <a:spcAft>
                <a:spcPts val="450"/>
              </a:spcAft>
              <a:buNone/>
            </a:pPr>
            <a:r>
              <a:rPr lang="en-US" sz="2200" dirty="0">
                <a:latin typeface="+mn-lt"/>
                <a:ea typeface="Verdana" panose="020B0604030504040204" pitchFamily="34" charset="0"/>
              </a:rPr>
              <a:t>The </a:t>
            </a:r>
            <a:r>
              <a:rPr lang="en-US" sz="2200" b="1" dirty="0">
                <a:solidFill>
                  <a:srgbClr val="002060"/>
                </a:solidFill>
                <a:latin typeface="+mn-lt"/>
                <a:ea typeface="Verdana" panose="020B0604030504040204" pitchFamily="34" charset="0"/>
              </a:rPr>
              <a:t>type </a:t>
            </a:r>
            <a:r>
              <a:rPr lang="en-US" sz="2200" dirty="0">
                <a:latin typeface="+mn-lt"/>
                <a:ea typeface="Verdana" panose="020B0604030504040204" pitchFamily="34" charset="0"/>
              </a:rPr>
              <a:t>(quantitative, qualitative) and the </a:t>
            </a:r>
            <a:r>
              <a:rPr lang="en-US" sz="2200" b="1" dirty="0">
                <a:solidFill>
                  <a:srgbClr val="002060"/>
                </a:solidFill>
                <a:latin typeface="+mn-lt"/>
                <a:ea typeface="Verdana" panose="020B0604030504040204" pitchFamily="34" charset="0"/>
              </a:rPr>
              <a:t>distribution</a:t>
            </a:r>
            <a:r>
              <a:rPr lang="en-US" sz="2200" dirty="0">
                <a:latin typeface="+mn-lt"/>
                <a:ea typeface="Verdana" panose="020B0604030504040204" pitchFamily="34" charset="0"/>
              </a:rPr>
              <a:t> of the </a:t>
            </a:r>
            <a:r>
              <a:rPr lang="en-US" sz="2200" b="1" dirty="0">
                <a:solidFill>
                  <a:srgbClr val="002060"/>
                </a:solidFill>
                <a:latin typeface="+mn-lt"/>
                <a:ea typeface="Verdana" panose="020B0604030504040204" pitchFamily="34" charset="0"/>
              </a:rPr>
              <a:t>outcome variable</a:t>
            </a:r>
            <a:endParaRPr lang="en-US" sz="2200" dirty="0">
              <a:latin typeface="+mn-lt"/>
              <a:ea typeface="Verdana" panose="020B0604030504040204" pitchFamily="34" charset="0"/>
            </a:endParaRPr>
          </a:p>
          <a:p>
            <a:pPr marL="258366" lvl="1" indent="-257175">
              <a:spcAft>
                <a:spcPts val="450"/>
              </a:spcAft>
              <a:buFont typeface="Arial" panose="020B0604020202020204" pitchFamily="34" charset="0"/>
              <a:buChar char="•"/>
            </a:pPr>
            <a:r>
              <a:rPr lang="en-US" sz="2200" b="1" dirty="0">
                <a:solidFill>
                  <a:srgbClr val="0070C0"/>
                </a:solidFill>
                <a:latin typeface="+mn-lt"/>
                <a:ea typeface="Verdana" panose="020B0604030504040204" pitchFamily="34" charset="0"/>
              </a:rPr>
              <a:t>Parametric tests</a:t>
            </a:r>
            <a:r>
              <a:rPr lang="en-US" sz="2200" dirty="0">
                <a:latin typeface="+mn-lt"/>
                <a:ea typeface="Verdana" panose="020B0604030504040204" pitchFamily="34" charset="0"/>
              </a:rPr>
              <a:t>: the outcome variable is, E.g., normally distributed; mean and standard deviation are parameters  </a:t>
            </a:r>
          </a:p>
          <a:p>
            <a:pPr marL="558404" lvl="2" indent="-257175">
              <a:spcAft>
                <a:spcPts val="450"/>
              </a:spcAft>
            </a:pPr>
            <a:r>
              <a:rPr lang="en-US" sz="2200" dirty="0">
                <a:latin typeface="+mn-lt"/>
                <a:ea typeface="Verdana" panose="020B0604030504040204" pitchFamily="34" charset="0"/>
              </a:rPr>
              <a:t>You test assumptions about the parameters at population level (ex: mean)</a:t>
            </a:r>
          </a:p>
          <a:p>
            <a:pPr marL="258366" lvl="1" indent="-257175">
              <a:spcAft>
                <a:spcPts val="450"/>
              </a:spcAft>
              <a:buFont typeface="Arial" panose="020B0604020202020204" pitchFamily="34" charset="0"/>
              <a:buChar char="•"/>
            </a:pPr>
            <a:r>
              <a:rPr lang="en-US" sz="2200" b="1" dirty="0">
                <a:latin typeface="+mn-lt"/>
                <a:ea typeface="Verdana" panose="020B0604030504040204" pitchFamily="34" charset="0"/>
              </a:rPr>
              <a:t> </a:t>
            </a:r>
            <a:r>
              <a:rPr lang="en-US" sz="2200" b="1" dirty="0">
                <a:solidFill>
                  <a:srgbClr val="0070C0"/>
                </a:solidFill>
                <a:latin typeface="+mn-lt"/>
                <a:ea typeface="Verdana" panose="020B0604030504040204" pitchFamily="34" charset="0"/>
              </a:rPr>
              <a:t>Non-parametric tests</a:t>
            </a:r>
            <a:r>
              <a:rPr lang="en-US" sz="2200" dirty="0">
                <a:latin typeface="+mn-lt"/>
                <a:ea typeface="Verdana" panose="020B0604030504040204" pitchFamily="34" charset="0"/>
              </a:rPr>
              <a:t>: you don’t know (can’t assume) any distribution for the outcome variable</a:t>
            </a:r>
          </a:p>
          <a:p>
            <a:pPr marL="558404" lvl="2" indent="-257175">
              <a:spcAft>
                <a:spcPts val="450"/>
              </a:spcAft>
            </a:pPr>
            <a:r>
              <a:rPr lang="en-US" sz="2200" dirty="0">
                <a:latin typeface="+mn-lt"/>
                <a:ea typeface="Verdana" panose="020B0604030504040204" pitchFamily="34" charset="0"/>
              </a:rPr>
              <a:t>You test assumptions about the population independent of any distribution (ex: median or the whole distribution) </a:t>
            </a: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35</a:t>
            </a:fld>
            <a:endParaRPr lang="sv-SE">
              <a:solidFill>
                <a:srgbClr val="000000">
                  <a:tint val="75000"/>
                </a:srgbClr>
              </a:solidFill>
            </a:endParaRPr>
          </a:p>
        </p:txBody>
      </p:sp>
      <p:sp>
        <p:nvSpPr>
          <p:cNvPr id="5" name="Rektangel 4"/>
          <p:cNvSpPr/>
          <p:nvPr/>
        </p:nvSpPr>
        <p:spPr>
          <a:xfrm>
            <a:off x="971600" y="108012"/>
            <a:ext cx="6381709" cy="6815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b="1" dirty="0">
                <a:solidFill>
                  <a:sysClr val="windowText" lastClr="000000"/>
                </a:solidFill>
                <a:latin typeface="+mj-lt"/>
                <a:cs typeface="Arial" pitchFamily="34" charset="0"/>
              </a:rPr>
              <a:t>Parametric and non-parametric tests</a:t>
            </a:r>
          </a:p>
        </p:txBody>
      </p:sp>
      <p:sp>
        <p:nvSpPr>
          <p:cNvPr id="6" name="Star: 5 Points 5">
            <a:extLst>
              <a:ext uri="{FF2B5EF4-FFF2-40B4-BE49-F238E27FC236}">
                <a16:creationId xmlns:a16="http://schemas.microsoft.com/office/drawing/2014/main" id="{5F4C8620-90D6-4B61-978A-64E63C656E1F}"/>
              </a:ext>
            </a:extLst>
          </p:cNvPr>
          <p:cNvSpPr/>
          <p:nvPr/>
        </p:nvSpPr>
        <p:spPr>
          <a:xfrm>
            <a:off x="8028384" y="114477"/>
            <a:ext cx="351039" cy="378042"/>
          </a:xfrm>
          <a:prstGeom prst="star5">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643217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899592" y="717910"/>
            <a:ext cx="5472608" cy="4087454"/>
          </a:xfrm>
        </p:spPr>
        <p:txBody>
          <a:bodyPr>
            <a:noAutofit/>
          </a:bodyPr>
          <a:lstStyle/>
          <a:p>
            <a:pPr>
              <a:spcBef>
                <a:spcPts val="0"/>
              </a:spcBef>
              <a:spcAft>
                <a:spcPts val="450"/>
              </a:spcAft>
            </a:pPr>
            <a:r>
              <a:rPr lang="en-US" sz="2000" noProof="0" dirty="0">
                <a:ea typeface="Verdana" panose="020B0604030504040204" pitchFamily="34" charset="0"/>
              </a:rPr>
              <a:t>Distribution of the </a:t>
            </a:r>
            <a:r>
              <a:rPr lang="en-US" sz="2000" b="1" noProof="0" dirty="0">
                <a:ea typeface="Verdana" panose="020B0604030504040204" pitchFamily="34" charset="0"/>
              </a:rPr>
              <a:t>population</a:t>
            </a:r>
          </a:p>
          <a:p>
            <a:pPr>
              <a:spcBef>
                <a:spcPts val="0"/>
              </a:spcBef>
              <a:spcAft>
                <a:spcPts val="450"/>
              </a:spcAft>
            </a:pPr>
            <a:r>
              <a:rPr lang="en-US" sz="2000" noProof="0" dirty="0">
                <a:ea typeface="Verdana" panose="020B0604030504040204" pitchFamily="34" charset="0"/>
              </a:rPr>
              <a:t>Distribution of a </a:t>
            </a:r>
            <a:r>
              <a:rPr lang="en-US" sz="2000" b="1" noProof="0" dirty="0">
                <a:ea typeface="Verdana" panose="020B0604030504040204" pitchFamily="34" charset="0"/>
              </a:rPr>
              <a:t>sample</a:t>
            </a:r>
          </a:p>
          <a:p>
            <a:pPr lvl="1">
              <a:spcBef>
                <a:spcPts val="0"/>
              </a:spcBef>
              <a:spcAft>
                <a:spcPts val="450"/>
              </a:spcAft>
            </a:pPr>
            <a:r>
              <a:rPr lang="en-US" sz="2000" dirty="0">
                <a:ea typeface="Verdana" panose="020B0604030504040204" pitchFamily="34" charset="0"/>
              </a:rPr>
              <a:t>The only observable one. </a:t>
            </a:r>
          </a:p>
          <a:p>
            <a:pPr lvl="1">
              <a:spcBef>
                <a:spcPts val="0"/>
              </a:spcBef>
              <a:spcAft>
                <a:spcPts val="450"/>
              </a:spcAft>
            </a:pPr>
            <a:r>
              <a:rPr lang="en-US" sz="2000" dirty="0">
                <a:ea typeface="Verdana" panose="020B0604030504040204" pitchFamily="34" charset="0"/>
              </a:rPr>
              <a:t>The larger sample the closer will </a:t>
            </a:r>
          </a:p>
          <a:p>
            <a:pPr marL="162000" lvl="1" indent="0">
              <a:spcBef>
                <a:spcPts val="0"/>
              </a:spcBef>
              <a:spcAft>
                <a:spcPts val="450"/>
              </a:spcAft>
              <a:buNone/>
            </a:pPr>
            <a:r>
              <a:rPr lang="en-US" sz="2000" dirty="0">
                <a:ea typeface="Verdana" panose="020B0604030504040204" pitchFamily="34" charset="0"/>
              </a:rPr>
              <a:t>the distribution of the population</a:t>
            </a:r>
          </a:p>
          <a:p>
            <a:pPr marL="342900" lvl="1" indent="0">
              <a:spcBef>
                <a:spcPts val="0"/>
              </a:spcBef>
              <a:spcAft>
                <a:spcPts val="450"/>
              </a:spcAft>
              <a:buNone/>
            </a:pPr>
            <a:endParaRPr lang="en-US" sz="2000" dirty="0">
              <a:ea typeface="Verdana" panose="020B0604030504040204" pitchFamily="34" charset="0"/>
            </a:endParaRPr>
          </a:p>
          <a:p>
            <a:pPr>
              <a:spcBef>
                <a:spcPts val="0"/>
              </a:spcBef>
              <a:spcAft>
                <a:spcPts val="450"/>
              </a:spcAft>
            </a:pPr>
            <a:r>
              <a:rPr lang="en-US" sz="2000" noProof="0" dirty="0">
                <a:ea typeface="Verdana" panose="020B0604030504040204" pitchFamily="34" charset="0"/>
              </a:rPr>
              <a:t>Distribution of </a:t>
            </a:r>
            <a:r>
              <a:rPr lang="en-US" sz="2000" b="1" noProof="0" dirty="0">
                <a:ea typeface="Verdana" panose="020B0604030504040204" pitchFamily="34" charset="0"/>
              </a:rPr>
              <a:t>sample statistic </a:t>
            </a:r>
            <a:r>
              <a:rPr lang="en-US" sz="2000" noProof="0" dirty="0">
                <a:ea typeface="Verdana" panose="020B0604030504040204" pitchFamily="34" charset="0"/>
              </a:rPr>
              <a:t>(</a:t>
            </a:r>
            <a:r>
              <a:rPr lang="en-US" sz="2000" dirty="0">
                <a:ea typeface="Verdana" panose="020B0604030504040204" pitchFamily="34" charset="0"/>
              </a:rPr>
              <a:t>sampling distribution)</a:t>
            </a:r>
            <a:endParaRPr lang="en-US" sz="2000" noProof="0" dirty="0">
              <a:ea typeface="Verdana" panose="020B0604030504040204" pitchFamily="34" charset="0"/>
            </a:endParaRPr>
          </a:p>
          <a:p>
            <a:pPr lvl="1">
              <a:spcBef>
                <a:spcPts val="0"/>
              </a:spcBef>
              <a:spcAft>
                <a:spcPts val="450"/>
              </a:spcAft>
            </a:pPr>
            <a:r>
              <a:rPr lang="en-US" sz="2000" dirty="0">
                <a:ea typeface="Verdana" panose="020B0604030504040204" pitchFamily="34" charset="0"/>
              </a:rPr>
              <a:t>E.g. the sample mean has a normal distribution for a normally distributed variable or large enough sample  </a:t>
            </a:r>
          </a:p>
          <a:p>
            <a:pPr lvl="1">
              <a:spcBef>
                <a:spcPts val="0"/>
              </a:spcBef>
              <a:spcAft>
                <a:spcPts val="450"/>
              </a:spcAft>
            </a:pPr>
            <a:endParaRPr lang="en-US" sz="2000" dirty="0">
              <a:ea typeface="Verdana" panose="020B0604030504040204" pitchFamily="34" charset="0"/>
            </a:endParaRPr>
          </a:p>
        </p:txBody>
      </p:sp>
      <p:sp>
        <p:nvSpPr>
          <p:cNvPr id="4" name="Platshållare för bildnummer 3"/>
          <p:cNvSpPr>
            <a:spLocks noGrp="1"/>
          </p:cNvSpPr>
          <p:nvPr>
            <p:ph type="sldNum" sz="quarter" idx="12"/>
          </p:nvPr>
        </p:nvSpPr>
        <p:spPr/>
        <p:txBody>
          <a:bodyPr/>
          <a:lstStyle/>
          <a:p>
            <a:pPr defTabSz="685800" fontAlgn="auto">
              <a:spcBef>
                <a:spcPts val="0"/>
              </a:spcBef>
              <a:spcAft>
                <a:spcPts val="0"/>
              </a:spcAft>
              <a:defRPr/>
            </a:pPr>
            <a:fld id="{227F0B53-9592-4779-891F-997228E46E01}" type="slidenum">
              <a:rPr lang="sv-SE" sz="1200" b="1">
                <a:solidFill>
                  <a:prstClr val="black">
                    <a:tint val="75000"/>
                  </a:prstClr>
                </a:solidFill>
                <a:latin typeface="Calibri"/>
                <a:ea typeface="ＭＳ Ｐゴシック" pitchFamily="34" charset="-128"/>
                <a:cs typeface="+mn-cs"/>
              </a:rPr>
              <a:pPr defTabSz="685800" fontAlgn="auto">
                <a:spcBef>
                  <a:spcPts val="0"/>
                </a:spcBef>
                <a:spcAft>
                  <a:spcPts val="0"/>
                </a:spcAft>
                <a:defRPr/>
              </a:pPr>
              <a:t>36</a:t>
            </a:fld>
            <a:endParaRPr lang="sv-SE" sz="1200" b="1">
              <a:solidFill>
                <a:prstClr val="black">
                  <a:tint val="75000"/>
                </a:prstClr>
              </a:solidFill>
              <a:latin typeface="Calibri"/>
              <a:ea typeface="ＭＳ Ｐゴシック" pitchFamily="34" charset="-128"/>
              <a:cs typeface="+mn-cs"/>
            </a:endParaRPr>
          </a:p>
        </p:txBody>
      </p:sp>
      <p:pic>
        <p:nvPicPr>
          <p:cNvPr id="7" name="Bildobjekt 6"/>
          <p:cNvPicPr>
            <a:picLocks noChangeAspect="1"/>
          </p:cNvPicPr>
          <p:nvPr/>
        </p:nvPicPr>
        <p:blipFill>
          <a:blip r:embed="rId3"/>
          <a:stretch>
            <a:fillRect/>
          </a:stretch>
        </p:blipFill>
        <p:spPr>
          <a:xfrm>
            <a:off x="6246187" y="-3758"/>
            <a:ext cx="1656176" cy="1225358"/>
          </a:xfrm>
          <a:prstGeom prst="rect">
            <a:avLst/>
          </a:prstGeom>
        </p:spPr>
      </p:pic>
      <p:pic>
        <p:nvPicPr>
          <p:cNvPr id="8" name="Bildobjekt 7"/>
          <p:cNvPicPr>
            <a:picLocks noChangeAspect="1"/>
          </p:cNvPicPr>
          <p:nvPr/>
        </p:nvPicPr>
        <p:blipFill>
          <a:blip r:embed="rId4"/>
          <a:stretch>
            <a:fillRect/>
          </a:stretch>
        </p:blipFill>
        <p:spPr>
          <a:xfrm>
            <a:off x="6273189" y="1178119"/>
            <a:ext cx="1541470" cy="799565"/>
          </a:xfrm>
          <a:prstGeom prst="rect">
            <a:avLst/>
          </a:prstGeom>
        </p:spPr>
      </p:pic>
      <p:pic>
        <p:nvPicPr>
          <p:cNvPr id="9" name="Bildobjekt 8"/>
          <p:cNvPicPr>
            <a:picLocks noChangeAspect="1"/>
          </p:cNvPicPr>
          <p:nvPr/>
        </p:nvPicPr>
        <p:blipFill>
          <a:blip r:embed="rId5"/>
          <a:stretch>
            <a:fillRect/>
          </a:stretch>
        </p:blipFill>
        <p:spPr>
          <a:xfrm>
            <a:off x="6500319" y="2134399"/>
            <a:ext cx="1157781" cy="1229114"/>
          </a:xfrm>
          <a:prstGeom prst="rect">
            <a:avLst/>
          </a:prstGeom>
        </p:spPr>
      </p:pic>
      <p:pic>
        <p:nvPicPr>
          <p:cNvPr id="11" name="Bildobjekt 10"/>
          <p:cNvPicPr>
            <a:picLocks noChangeAspect="1"/>
          </p:cNvPicPr>
          <p:nvPr/>
        </p:nvPicPr>
        <p:blipFill>
          <a:blip r:embed="rId6"/>
          <a:stretch>
            <a:fillRect/>
          </a:stretch>
        </p:blipFill>
        <p:spPr>
          <a:xfrm>
            <a:off x="6044875" y="3462603"/>
            <a:ext cx="1875497" cy="1380173"/>
          </a:xfrm>
          <a:prstGeom prst="rect">
            <a:avLst/>
          </a:prstGeom>
        </p:spPr>
      </p:pic>
      <p:sp>
        <p:nvSpPr>
          <p:cNvPr id="10" name="Title 2"/>
          <p:cNvSpPr txBox="1">
            <a:spLocks/>
          </p:cNvSpPr>
          <p:nvPr/>
        </p:nvSpPr>
        <p:spPr bwMode="auto">
          <a:xfrm>
            <a:off x="2411760" y="152475"/>
            <a:ext cx="5508612" cy="47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Autofit/>
          </a:bodyPr>
          <a:lstStyle>
            <a:lvl1pPr algn="l" defTabSz="457200" rtl="0" eaLnBrk="1" fontAlgn="base" hangingPunct="1">
              <a:lnSpc>
                <a:spcPct val="90000"/>
              </a:lnSpc>
              <a:spcBef>
                <a:spcPct val="0"/>
              </a:spcBef>
              <a:spcAft>
                <a:spcPct val="0"/>
              </a:spcAft>
              <a:defRPr sz="3300" b="1" i="0" kern="1200">
                <a:solidFill>
                  <a:schemeClr val="tx1"/>
                </a:solidFill>
                <a:latin typeface="Trebuchet MS" panose="020B0603020202020204" pitchFamily="34" charset="0"/>
                <a:ea typeface="ＭＳ Ｐゴシック" pitchFamily="-65" charset="-128"/>
                <a:cs typeface="Trebuchet MS" panose="020B0603020202020204" pitchFamily="34"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en-US" sz="3600" dirty="0">
                <a:latin typeface="+mj-lt"/>
                <a:cs typeface="Times New Roman" panose="02020603050405020304" pitchFamily="18" charset="0"/>
              </a:rPr>
              <a:t>Distributions</a:t>
            </a:r>
          </a:p>
        </p:txBody>
      </p:sp>
    </p:spTree>
    <p:extLst>
      <p:ext uri="{BB962C8B-B14F-4D97-AF65-F5344CB8AC3E}">
        <p14:creationId xmlns:p14="http://schemas.microsoft.com/office/powerpoint/2010/main" val="3301572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nummer 1"/>
          <p:cNvSpPr>
            <a:spLocks noGrp="1"/>
          </p:cNvSpPr>
          <p:nvPr>
            <p:ph type="sldNum" sz="quarter" idx="4294967295"/>
          </p:nvPr>
        </p:nvSpPr>
        <p:spPr>
          <a:xfrm>
            <a:off x="6400800" y="4767263"/>
            <a:ext cx="1600200" cy="273844"/>
          </a:xfrm>
        </p:spPr>
        <p:txBody>
          <a:bodyPr/>
          <a:lstStyle/>
          <a:p>
            <a:pPr>
              <a:defRPr/>
            </a:pPr>
            <a:fld id="{3853FCF3-0C97-47D6-B515-F9CFF444A1B7}" type="slidenum">
              <a:rPr lang="sv-SE" smtClean="0">
                <a:solidFill>
                  <a:srgbClr val="000000">
                    <a:tint val="75000"/>
                  </a:srgbClr>
                </a:solidFill>
              </a:rPr>
              <a:pPr>
                <a:defRPr/>
              </a:pPr>
              <a:t>37</a:t>
            </a:fld>
            <a:endParaRPr lang="sv-SE">
              <a:solidFill>
                <a:srgbClr val="000000">
                  <a:tint val="75000"/>
                </a:srgbClr>
              </a:solidFill>
            </a:endParaRPr>
          </a:p>
        </p:txBody>
      </p:sp>
      <p:pic>
        <p:nvPicPr>
          <p:cNvPr id="3" name="Bildobjekt 2"/>
          <p:cNvPicPr>
            <a:picLocks noChangeAspect="1"/>
          </p:cNvPicPr>
          <p:nvPr/>
        </p:nvPicPr>
        <p:blipFill rotWithShape="1">
          <a:blip r:embed="rId3"/>
          <a:srcRect l="9950" t="21200" r="10401"/>
          <a:stretch/>
        </p:blipFill>
        <p:spPr>
          <a:xfrm>
            <a:off x="899592" y="219478"/>
            <a:ext cx="7416824" cy="4586087"/>
          </a:xfrm>
          <a:prstGeom prst="rect">
            <a:avLst/>
          </a:prstGeom>
        </p:spPr>
      </p:pic>
    </p:spTree>
    <p:extLst>
      <p:ext uri="{BB962C8B-B14F-4D97-AF65-F5344CB8AC3E}">
        <p14:creationId xmlns:p14="http://schemas.microsoft.com/office/powerpoint/2010/main" val="203964924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1619673" y="195486"/>
            <a:ext cx="6192688" cy="486054"/>
          </a:xfrm>
        </p:spPr>
        <p:txBody>
          <a:bodyPr>
            <a:noAutofit/>
          </a:bodyPr>
          <a:lstStyle/>
          <a:p>
            <a:r>
              <a:rPr lang="en-US" sz="3600" dirty="0"/>
              <a:t>The Central Limit Theorem (CLT)</a:t>
            </a:r>
          </a:p>
        </p:txBody>
      </p:sp>
      <p:sp>
        <p:nvSpPr>
          <p:cNvPr id="59395" name="Content Placeholder 2"/>
          <p:cNvSpPr>
            <a:spLocks noGrp="1"/>
          </p:cNvSpPr>
          <p:nvPr>
            <p:ph idx="1"/>
          </p:nvPr>
        </p:nvSpPr>
        <p:spPr>
          <a:xfrm>
            <a:off x="251520" y="699542"/>
            <a:ext cx="8640960" cy="4104456"/>
          </a:xfrm>
        </p:spPr>
        <p:txBody>
          <a:bodyPr>
            <a:noAutofit/>
          </a:bodyPr>
          <a:lstStyle/>
          <a:p>
            <a:pPr>
              <a:spcBef>
                <a:spcPts val="450"/>
              </a:spcBef>
              <a:spcAft>
                <a:spcPts val="900"/>
              </a:spcAft>
            </a:pPr>
            <a:r>
              <a:rPr lang="en-US" sz="2400" dirty="0">
                <a:latin typeface="+mn-lt"/>
                <a:ea typeface="Verdana" panose="020B0604030504040204" pitchFamily="34" charset="0"/>
              </a:rPr>
              <a:t>CLT says something like this:</a:t>
            </a:r>
          </a:p>
          <a:p>
            <a:pPr lvl="1">
              <a:spcBef>
                <a:spcPts val="450"/>
              </a:spcBef>
              <a:spcAft>
                <a:spcPts val="900"/>
              </a:spcAft>
            </a:pPr>
            <a:r>
              <a:rPr lang="en-US" sz="2400" dirty="0">
                <a:latin typeface="+mn-lt"/>
                <a:ea typeface="Verdana" panose="020B0604030504040204" pitchFamily="34" charset="0"/>
              </a:rPr>
              <a:t>The </a:t>
            </a:r>
            <a:r>
              <a:rPr lang="en-US" sz="2400" b="1" dirty="0">
                <a:latin typeface="+mn-lt"/>
                <a:ea typeface="Verdana" panose="020B0604030504040204" pitchFamily="34" charset="0"/>
              </a:rPr>
              <a:t>mean</a:t>
            </a:r>
            <a:r>
              <a:rPr lang="en-US" sz="2400" dirty="0">
                <a:latin typeface="+mn-lt"/>
                <a:ea typeface="Verdana" panose="020B0604030504040204" pitchFamily="34" charset="0"/>
              </a:rPr>
              <a:t> of a sufficiently large sample of quantitative data will be normally distributed, independent of the distribution of the sample.</a:t>
            </a:r>
          </a:p>
          <a:p>
            <a:pPr>
              <a:spcBef>
                <a:spcPts val="450"/>
              </a:spcBef>
              <a:spcAft>
                <a:spcPts val="900"/>
              </a:spcAft>
            </a:pPr>
            <a:r>
              <a:rPr lang="en-US" sz="2400" dirty="0">
                <a:latin typeface="+mn-lt"/>
                <a:ea typeface="Verdana" panose="020B0604030504040204" pitchFamily="34" charset="0"/>
              </a:rPr>
              <a:t>This will be the truth if </a:t>
            </a:r>
            <a:r>
              <a:rPr lang="en-US" sz="2400" i="1" dirty="0">
                <a:latin typeface="+mn-lt"/>
                <a:ea typeface="Verdana" panose="020B0604030504040204" pitchFamily="34" charset="0"/>
              </a:rPr>
              <a:t>n</a:t>
            </a:r>
            <a:r>
              <a:rPr lang="en-US" sz="2400" dirty="0">
                <a:latin typeface="+mn-lt"/>
                <a:ea typeface="Verdana" panose="020B0604030504040204" pitchFamily="34" charset="0"/>
              </a:rPr>
              <a:t> tends to infinity  </a:t>
            </a:r>
          </a:p>
          <a:p>
            <a:pPr>
              <a:spcBef>
                <a:spcPts val="450"/>
              </a:spcBef>
              <a:spcAft>
                <a:spcPts val="900"/>
              </a:spcAft>
            </a:pPr>
            <a:r>
              <a:rPr lang="en-US" sz="2400" dirty="0">
                <a:latin typeface="+mn-lt"/>
                <a:ea typeface="Verdana" panose="020B0604030504040204" pitchFamily="34" charset="0"/>
              </a:rPr>
              <a:t>Also, about right for relatively small samples, </a:t>
            </a:r>
            <a:r>
              <a:rPr lang="en-US" sz="2400" u="sng" dirty="0">
                <a:latin typeface="+mn-lt"/>
                <a:ea typeface="Verdana" panose="020B0604030504040204" pitchFamily="34" charset="0"/>
              </a:rPr>
              <a:t>if</a:t>
            </a:r>
            <a:r>
              <a:rPr lang="en-US" sz="2400" dirty="0">
                <a:latin typeface="+mn-lt"/>
                <a:ea typeface="Verdana" panose="020B0604030504040204" pitchFamily="34" charset="0"/>
              </a:rPr>
              <a:t> the distribution is fairly symmetric</a:t>
            </a:r>
          </a:p>
          <a:p>
            <a:pPr>
              <a:spcBef>
                <a:spcPts val="450"/>
              </a:spcBef>
              <a:spcAft>
                <a:spcPts val="900"/>
              </a:spcAft>
            </a:pPr>
            <a:r>
              <a:rPr lang="en-US" sz="2400" dirty="0">
                <a:latin typeface="+mn-lt"/>
                <a:ea typeface="Verdana" panose="020B0604030504040204" pitchFamily="34" charset="0"/>
              </a:rPr>
              <a:t>Take </a:t>
            </a:r>
            <a:r>
              <a:rPr lang="en-US" sz="2400" b="1" dirty="0">
                <a:latin typeface="+mn-lt"/>
                <a:ea typeface="Verdana" panose="020B0604030504040204" pitchFamily="34" charset="0"/>
              </a:rPr>
              <a:t>advantage</a:t>
            </a:r>
            <a:r>
              <a:rPr lang="en-US" sz="2400" dirty="0">
                <a:latin typeface="+mn-lt"/>
                <a:ea typeface="Verdana" panose="020B0604030504040204" pitchFamily="34" charset="0"/>
              </a:rPr>
              <a:t> of this when testing and constructing confidence intervals!</a:t>
            </a:r>
            <a:endParaRPr lang="sv-SE" sz="2400" dirty="0">
              <a:latin typeface="+mn-lt"/>
              <a:ea typeface="Verdana" panose="020B0604030504040204" pitchFamily="34" charset="0"/>
            </a:endParaRPr>
          </a:p>
        </p:txBody>
      </p:sp>
      <p:sp>
        <p:nvSpPr>
          <p:cNvPr id="4" name="Slide Number Placeholder 3"/>
          <p:cNvSpPr>
            <a:spLocks noGrp="1"/>
          </p:cNvSpPr>
          <p:nvPr>
            <p:ph type="sldNum" sz="quarter" idx="12"/>
          </p:nvPr>
        </p:nvSpPr>
        <p:spPr>
          <a:prstGeom prst="rect">
            <a:avLst/>
          </a:prstGeom>
        </p:spPr>
        <p:txBody>
          <a:bodyPr/>
          <a:lstStyle/>
          <a:p>
            <a:pPr>
              <a:defRPr/>
            </a:pPr>
            <a:fld id="{C73FDF76-D46C-4A68-B63B-7E8245AB29C2}" type="slidenum">
              <a:rPr lang="sv-SE" smtClean="0"/>
              <a:pPr>
                <a:defRPr/>
              </a:pPr>
              <a:t>38</a:t>
            </a:fld>
            <a:endParaRPr lang="sv-SE"/>
          </a:p>
        </p:txBody>
      </p:sp>
      <p:sp>
        <p:nvSpPr>
          <p:cNvPr id="21506" name="Rectangle 2"/>
          <p:cNvSpPr>
            <a:spLocks noChangeArrowheads="1"/>
          </p:cNvSpPr>
          <p:nvPr/>
        </p:nvSpPr>
        <p:spPr bwMode="auto">
          <a:xfrm>
            <a:off x="1143000" y="-173124"/>
            <a:ext cx="138564" cy="346249"/>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spAutoFit/>
          </a:bodyPr>
          <a:lstStyle/>
          <a:p>
            <a:endParaRPr lang="sv-SE"/>
          </a:p>
        </p:txBody>
      </p:sp>
    </p:spTree>
    <p:extLst>
      <p:ext uri="{BB962C8B-B14F-4D97-AF65-F5344CB8AC3E}">
        <p14:creationId xmlns:p14="http://schemas.microsoft.com/office/powerpoint/2010/main" val="2282060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brik 1"/>
          <p:cNvSpPr>
            <a:spLocks noGrp="1"/>
          </p:cNvSpPr>
          <p:nvPr>
            <p:ph type="title"/>
          </p:nvPr>
        </p:nvSpPr>
        <p:spPr>
          <a:xfrm>
            <a:off x="2465766" y="87474"/>
            <a:ext cx="5535234" cy="594066"/>
          </a:xfrm>
        </p:spPr>
        <p:txBody>
          <a:bodyPr>
            <a:normAutofit/>
          </a:bodyPr>
          <a:lstStyle/>
          <a:p>
            <a:r>
              <a:rPr lang="en-US" sz="3600" dirty="0">
                <a:solidFill>
                  <a:schemeClr val="tx1"/>
                </a:solidFill>
              </a:rPr>
              <a:t>Paired-samples</a:t>
            </a:r>
          </a:p>
        </p:txBody>
      </p:sp>
      <p:sp>
        <p:nvSpPr>
          <p:cNvPr id="3" name="Platshållare för innehåll 2"/>
          <p:cNvSpPr>
            <a:spLocks noGrp="1"/>
          </p:cNvSpPr>
          <p:nvPr>
            <p:ph idx="1"/>
          </p:nvPr>
        </p:nvSpPr>
        <p:spPr>
          <a:xfrm>
            <a:off x="395536" y="627534"/>
            <a:ext cx="8600544" cy="3780420"/>
          </a:xfrm>
        </p:spPr>
        <p:txBody>
          <a:bodyPr>
            <a:noAutofit/>
          </a:bodyPr>
          <a:lstStyle/>
          <a:p>
            <a:pPr marL="0" indent="0">
              <a:spcBef>
                <a:spcPts val="225"/>
              </a:spcBef>
              <a:spcAft>
                <a:spcPts val="450"/>
              </a:spcAft>
              <a:buNone/>
            </a:pPr>
            <a:r>
              <a:rPr lang="en-US" sz="2200" dirty="0">
                <a:solidFill>
                  <a:schemeClr val="tx1"/>
                </a:solidFill>
                <a:ea typeface="Verdana" panose="020B0604030504040204" pitchFamily="34" charset="0"/>
              </a:rPr>
              <a:t>Typically three situations that give rise to paired observations:</a:t>
            </a:r>
          </a:p>
          <a:p>
            <a:pPr marL="385763" indent="-385763">
              <a:spcBef>
                <a:spcPts val="225"/>
              </a:spcBef>
              <a:spcAft>
                <a:spcPts val="450"/>
              </a:spcAft>
              <a:buFont typeface="+mj-lt"/>
              <a:buAutoNum type="arabicPeriod"/>
            </a:pPr>
            <a:r>
              <a:rPr lang="en-US" sz="2200" dirty="0">
                <a:solidFill>
                  <a:schemeClr val="tx1"/>
                </a:solidFill>
                <a:ea typeface="Verdana" panose="020B0604030504040204" pitchFamily="34" charset="0"/>
              </a:rPr>
              <a:t>Two different variables on </a:t>
            </a:r>
            <a:r>
              <a:rPr lang="en-US" sz="2200" b="1" dirty="0">
                <a:solidFill>
                  <a:srgbClr val="002060"/>
                </a:solidFill>
                <a:ea typeface="Verdana" panose="020B0604030504040204" pitchFamily="34" charset="0"/>
              </a:rPr>
              <a:t>same</a:t>
            </a:r>
            <a:r>
              <a:rPr lang="en-US" sz="2200" dirty="0">
                <a:solidFill>
                  <a:srgbClr val="002060"/>
                </a:solidFill>
                <a:ea typeface="Verdana" panose="020B0604030504040204" pitchFamily="34" charset="0"/>
              </a:rPr>
              <a:t> </a:t>
            </a:r>
            <a:r>
              <a:rPr lang="en-US" sz="2200" b="1" dirty="0">
                <a:solidFill>
                  <a:srgbClr val="002060"/>
                </a:solidFill>
                <a:ea typeface="Verdana" panose="020B0604030504040204" pitchFamily="34" charset="0"/>
              </a:rPr>
              <a:t>individual</a:t>
            </a:r>
            <a:r>
              <a:rPr lang="en-US" sz="2200" dirty="0">
                <a:solidFill>
                  <a:srgbClr val="002060"/>
                </a:solidFill>
                <a:ea typeface="Verdana" panose="020B0604030504040204" pitchFamily="34" charset="0"/>
              </a:rPr>
              <a:t>,</a:t>
            </a:r>
            <a:r>
              <a:rPr lang="en-US" sz="2200" dirty="0">
                <a:solidFill>
                  <a:schemeClr val="tx1"/>
                </a:solidFill>
                <a:ea typeface="Verdana" panose="020B0604030504040204" pitchFamily="34" charset="0"/>
              </a:rPr>
              <a:t> e.g. creatinine in blood &amp; in urine.</a:t>
            </a:r>
          </a:p>
          <a:p>
            <a:pPr marL="385763" indent="-385763">
              <a:spcBef>
                <a:spcPts val="225"/>
              </a:spcBef>
              <a:spcAft>
                <a:spcPts val="450"/>
              </a:spcAft>
              <a:buFont typeface="+mj-lt"/>
              <a:buAutoNum type="arabicPeriod"/>
            </a:pPr>
            <a:r>
              <a:rPr lang="en-US" sz="2200" dirty="0">
                <a:solidFill>
                  <a:schemeClr val="tx1"/>
                </a:solidFill>
                <a:ea typeface="Verdana" panose="020B0604030504040204" pitchFamily="34" charset="0"/>
              </a:rPr>
              <a:t>Measurements taken on the </a:t>
            </a:r>
            <a:r>
              <a:rPr lang="en-US" sz="2200" b="1" dirty="0">
                <a:solidFill>
                  <a:srgbClr val="002060"/>
                </a:solidFill>
                <a:ea typeface="Verdana" panose="020B0604030504040204" pitchFamily="34" charset="0"/>
              </a:rPr>
              <a:t>same</a:t>
            </a:r>
            <a:r>
              <a:rPr lang="en-US" sz="2200" dirty="0">
                <a:solidFill>
                  <a:srgbClr val="002060"/>
                </a:solidFill>
                <a:ea typeface="Verdana" panose="020B0604030504040204" pitchFamily="34" charset="0"/>
              </a:rPr>
              <a:t> </a:t>
            </a:r>
            <a:r>
              <a:rPr lang="en-US" sz="2200" b="1" dirty="0">
                <a:solidFill>
                  <a:srgbClr val="002060"/>
                </a:solidFill>
                <a:ea typeface="Verdana" panose="020B0604030504040204" pitchFamily="34" charset="0"/>
              </a:rPr>
              <a:t>individual</a:t>
            </a:r>
            <a:r>
              <a:rPr lang="en-US" sz="2200" dirty="0">
                <a:solidFill>
                  <a:srgbClr val="002060"/>
                </a:solidFill>
                <a:ea typeface="Verdana" panose="020B0604030504040204" pitchFamily="34" charset="0"/>
              </a:rPr>
              <a:t> </a:t>
            </a:r>
            <a:r>
              <a:rPr lang="en-US" sz="2200" dirty="0">
                <a:solidFill>
                  <a:schemeClr val="tx1"/>
                </a:solidFill>
                <a:ea typeface="Verdana" panose="020B0604030504040204" pitchFamily="34" charset="0"/>
              </a:rPr>
              <a:t>at </a:t>
            </a:r>
            <a:r>
              <a:rPr lang="en-US" sz="2200" b="1" dirty="0">
                <a:solidFill>
                  <a:srgbClr val="002060"/>
                </a:solidFill>
                <a:ea typeface="Verdana" panose="020B0604030504040204" pitchFamily="34" charset="0"/>
              </a:rPr>
              <a:t>different time</a:t>
            </a:r>
            <a:r>
              <a:rPr lang="en-US" sz="2200" dirty="0">
                <a:solidFill>
                  <a:srgbClr val="002060"/>
                </a:solidFill>
                <a:ea typeface="Verdana" panose="020B0604030504040204" pitchFamily="34" charset="0"/>
              </a:rPr>
              <a:t> </a:t>
            </a:r>
            <a:r>
              <a:rPr lang="en-US" sz="2200" dirty="0">
                <a:solidFill>
                  <a:schemeClr val="tx1"/>
                </a:solidFill>
                <a:ea typeface="Verdana" panose="020B0604030504040204" pitchFamily="34" charset="0"/>
              </a:rPr>
              <a:t>points, e.g. before &amp; after treatment </a:t>
            </a:r>
          </a:p>
          <a:p>
            <a:pPr marL="385763" indent="-385763">
              <a:spcBef>
                <a:spcPts val="225"/>
              </a:spcBef>
              <a:spcAft>
                <a:spcPts val="450"/>
              </a:spcAft>
              <a:buFont typeface="+mj-lt"/>
              <a:buAutoNum type="arabicPeriod"/>
            </a:pPr>
            <a:r>
              <a:rPr lang="en-US" sz="2200" dirty="0">
                <a:solidFill>
                  <a:schemeClr val="tx1"/>
                </a:solidFill>
                <a:ea typeface="Verdana" panose="020B0604030504040204" pitchFamily="34" charset="0"/>
              </a:rPr>
              <a:t>Matched </a:t>
            </a:r>
            <a:r>
              <a:rPr lang="en-US" sz="2200" b="1" dirty="0">
                <a:solidFill>
                  <a:srgbClr val="002060"/>
                </a:solidFill>
                <a:ea typeface="Verdana" panose="020B0604030504040204" pitchFamily="34" charset="0"/>
              </a:rPr>
              <a:t>case-control </a:t>
            </a:r>
            <a:r>
              <a:rPr lang="en-US" sz="2200" dirty="0">
                <a:solidFill>
                  <a:schemeClr val="tx1"/>
                </a:solidFill>
                <a:ea typeface="Verdana" panose="020B0604030504040204" pitchFamily="34" charset="0"/>
              </a:rPr>
              <a:t>studies, for every treated patient we find a non-treated person with similar observable characteristics, to assess the treatment effect</a:t>
            </a:r>
          </a:p>
          <a:p>
            <a:pPr marL="0" indent="0">
              <a:spcBef>
                <a:spcPts val="225"/>
              </a:spcBef>
              <a:spcAft>
                <a:spcPts val="450"/>
              </a:spcAft>
              <a:buNone/>
            </a:pPr>
            <a:r>
              <a:rPr lang="en-US" sz="2200" dirty="0">
                <a:solidFill>
                  <a:schemeClr val="tx1"/>
                </a:solidFill>
                <a:ea typeface="Verdana" panose="020B0604030504040204" pitchFamily="34" charset="0"/>
              </a:rPr>
              <a:t>In all these cases, there will be a </a:t>
            </a:r>
            <a:r>
              <a:rPr lang="en-US" sz="2200" b="1" dirty="0">
                <a:solidFill>
                  <a:srgbClr val="002060"/>
                </a:solidFill>
                <a:ea typeface="Verdana" panose="020B0604030504040204" pitchFamily="34" charset="0"/>
              </a:rPr>
              <a:t>dependence</a:t>
            </a:r>
            <a:r>
              <a:rPr lang="en-US" sz="2200" dirty="0">
                <a:solidFill>
                  <a:schemeClr val="tx1"/>
                </a:solidFill>
                <a:ea typeface="Verdana" panose="020B0604030504040204" pitchFamily="34" charset="0"/>
              </a:rPr>
              <a:t> between observations in the different groups.</a:t>
            </a: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39</a:t>
            </a:fld>
            <a:endParaRPr lang="sv-SE">
              <a:solidFill>
                <a:srgbClr val="000000">
                  <a:tint val="75000"/>
                </a:srgbClr>
              </a:solidFill>
            </a:endParaRPr>
          </a:p>
        </p:txBody>
      </p:sp>
      <p:sp>
        <p:nvSpPr>
          <p:cNvPr id="6" name="Star: 5 Points 5">
            <a:extLst>
              <a:ext uri="{FF2B5EF4-FFF2-40B4-BE49-F238E27FC236}">
                <a16:creationId xmlns:a16="http://schemas.microsoft.com/office/drawing/2014/main" id="{3BE5DE8C-7131-4724-A465-7D7226DE6396}"/>
              </a:ext>
            </a:extLst>
          </p:cNvPr>
          <p:cNvSpPr/>
          <p:nvPr/>
        </p:nvSpPr>
        <p:spPr>
          <a:xfrm>
            <a:off x="6948264" y="114477"/>
            <a:ext cx="351039" cy="378042"/>
          </a:xfrm>
          <a:prstGeom prst="star5">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3784067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brik 1"/>
          <p:cNvSpPr>
            <a:spLocks noGrp="1"/>
          </p:cNvSpPr>
          <p:nvPr>
            <p:ph type="title"/>
          </p:nvPr>
        </p:nvSpPr>
        <p:spPr>
          <a:xfrm>
            <a:off x="2411760" y="87474"/>
            <a:ext cx="5535234" cy="594066"/>
          </a:xfrm>
        </p:spPr>
        <p:txBody>
          <a:bodyPr>
            <a:normAutofit/>
          </a:bodyPr>
          <a:lstStyle/>
          <a:p>
            <a:r>
              <a:rPr lang="en-US" sz="3600" dirty="0"/>
              <a:t>Two independent samples</a:t>
            </a:r>
          </a:p>
        </p:txBody>
      </p:sp>
      <p:sp>
        <p:nvSpPr>
          <p:cNvPr id="3" name="Platshållare för innehåll 2"/>
          <p:cNvSpPr>
            <a:spLocks noGrp="1"/>
          </p:cNvSpPr>
          <p:nvPr>
            <p:ph idx="1"/>
          </p:nvPr>
        </p:nvSpPr>
        <p:spPr>
          <a:xfrm>
            <a:off x="971600" y="681540"/>
            <a:ext cx="6624736" cy="4122458"/>
          </a:xfrm>
        </p:spPr>
        <p:txBody>
          <a:bodyPr vert="horz" lIns="27000" tIns="0" rIns="27000" bIns="0" rtlCol="0">
            <a:noAutofit/>
          </a:bodyPr>
          <a:lstStyle/>
          <a:p>
            <a:pPr>
              <a:lnSpc>
                <a:spcPct val="150000"/>
              </a:lnSpc>
              <a:spcBef>
                <a:spcPts val="450"/>
              </a:spcBef>
              <a:spcAft>
                <a:spcPts val="900"/>
              </a:spcAft>
            </a:pPr>
            <a:r>
              <a:rPr lang="en-US" sz="2200" dirty="0">
                <a:ea typeface="Verdana" panose="020B0604030504040204" pitchFamily="34" charset="0"/>
              </a:rPr>
              <a:t>With independent groups, the way to calculate the </a:t>
            </a:r>
            <a:r>
              <a:rPr lang="en-US" sz="2200" b="1" dirty="0">
                <a:ea typeface="Verdana" panose="020B0604030504040204" pitchFamily="34" charset="0"/>
              </a:rPr>
              <a:t>t-test</a:t>
            </a:r>
            <a:r>
              <a:rPr lang="en-US" sz="2200" dirty="0">
                <a:ea typeface="Verdana" panose="020B0604030504040204" pitchFamily="34" charset="0"/>
              </a:rPr>
              <a:t> and the confidence intervals is slightly different.</a:t>
            </a:r>
          </a:p>
          <a:p>
            <a:pPr>
              <a:spcBef>
                <a:spcPts val="450"/>
              </a:spcBef>
              <a:spcAft>
                <a:spcPts val="900"/>
              </a:spcAft>
            </a:pPr>
            <a:r>
              <a:rPr lang="en-US" sz="2200" dirty="0">
                <a:ea typeface="Verdana" panose="020B0604030504040204" pitchFamily="34" charset="0"/>
              </a:rPr>
              <a:t>Similar assumptions:</a:t>
            </a:r>
          </a:p>
          <a:p>
            <a:pPr lvl="1">
              <a:spcBef>
                <a:spcPts val="450"/>
              </a:spcBef>
              <a:spcAft>
                <a:spcPts val="900"/>
              </a:spcAft>
            </a:pPr>
            <a:r>
              <a:rPr lang="en-US" sz="2200" b="1" dirty="0">
                <a:solidFill>
                  <a:schemeClr val="accent1"/>
                </a:solidFill>
                <a:ea typeface="Verdana" panose="020B0604030504040204" pitchFamily="34" charset="0"/>
              </a:rPr>
              <a:t>Normally distributed groups </a:t>
            </a:r>
            <a:r>
              <a:rPr lang="en-US" sz="2200" i="1" dirty="0">
                <a:ea typeface="Verdana" panose="020B0604030504040204" pitchFamily="34" charset="0"/>
              </a:rPr>
              <a:t>or</a:t>
            </a:r>
          </a:p>
          <a:p>
            <a:pPr lvl="1">
              <a:spcBef>
                <a:spcPts val="450"/>
              </a:spcBef>
              <a:spcAft>
                <a:spcPts val="900"/>
              </a:spcAft>
            </a:pPr>
            <a:r>
              <a:rPr lang="en-US" sz="2200" b="1" dirty="0">
                <a:solidFill>
                  <a:schemeClr val="accent1"/>
                </a:solidFill>
                <a:ea typeface="Verdana" panose="020B0604030504040204" pitchFamily="34" charset="0"/>
              </a:rPr>
              <a:t>Large enough sample sizes</a:t>
            </a:r>
          </a:p>
          <a:p>
            <a:pPr lvl="1">
              <a:lnSpc>
                <a:spcPct val="130000"/>
              </a:lnSpc>
              <a:spcBef>
                <a:spcPts val="450"/>
              </a:spcBef>
              <a:spcAft>
                <a:spcPts val="450"/>
              </a:spcAft>
            </a:pPr>
            <a:r>
              <a:rPr lang="en-US" sz="2200" b="1" dirty="0">
                <a:ea typeface="Verdana" panose="020B0604030504040204" pitchFamily="34" charset="0"/>
              </a:rPr>
              <a:t>Same standard deviation </a:t>
            </a:r>
            <a:r>
              <a:rPr lang="en-US" sz="2200" dirty="0">
                <a:ea typeface="Verdana" panose="020B0604030504040204" pitchFamily="34" charset="0"/>
              </a:rPr>
              <a:t>in the two groups</a:t>
            </a:r>
          </a:p>
          <a:p>
            <a:pPr marL="685800" lvl="2" indent="0">
              <a:lnSpc>
                <a:spcPct val="130000"/>
              </a:lnSpc>
              <a:spcAft>
                <a:spcPts val="900"/>
              </a:spcAft>
              <a:buNone/>
            </a:pPr>
            <a:r>
              <a:rPr lang="en-US" sz="1800" dirty="0">
                <a:ea typeface="Verdana" panose="020B0604030504040204" pitchFamily="34" charset="0"/>
              </a:rPr>
              <a:t>(There is an alternative t-test for different standard deviations)</a:t>
            </a:r>
            <a:endParaRPr lang="sv-SE" sz="1800" dirty="0">
              <a:ea typeface="Verdana" panose="020B0604030504040204" pitchFamily="34" charset="0"/>
            </a:endParaRP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40</a:t>
            </a:fld>
            <a:endParaRPr lang="sv-SE">
              <a:solidFill>
                <a:srgbClr val="000000">
                  <a:tint val="75000"/>
                </a:srgbClr>
              </a:solidFill>
            </a:endParaRPr>
          </a:p>
        </p:txBody>
      </p:sp>
    </p:spTree>
    <p:extLst>
      <p:ext uri="{BB962C8B-B14F-4D97-AF65-F5344CB8AC3E}">
        <p14:creationId xmlns:p14="http://schemas.microsoft.com/office/powerpoint/2010/main" val="22499592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971600" y="789552"/>
            <a:ext cx="7560840" cy="866179"/>
          </a:xfrm>
        </p:spPr>
        <p:txBody>
          <a:bodyPr>
            <a:noAutofit/>
          </a:bodyPr>
          <a:lstStyle/>
          <a:p>
            <a:pPr marL="0" indent="0">
              <a:buNone/>
            </a:pPr>
            <a:r>
              <a:rPr lang="en-US" dirty="0">
                <a:latin typeface="Verdana" panose="020B0604030504040204" pitchFamily="34" charset="0"/>
                <a:ea typeface="Verdana" panose="020B0604030504040204" pitchFamily="34" charset="0"/>
              </a:rPr>
              <a:t>Compare the </a:t>
            </a:r>
            <a:r>
              <a:rPr lang="en-US" b="1" dirty="0">
                <a:latin typeface="Verdana" panose="020B0604030504040204" pitchFamily="34" charset="0"/>
                <a:ea typeface="Verdana" panose="020B0604030504040204" pitchFamily="34" charset="0"/>
              </a:rPr>
              <a:t>maximal oxygen uptake (VO</a:t>
            </a:r>
            <a:r>
              <a:rPr lang="en-US" b="1" baseline="-25000" dirty="0">
                <a:latin typeface="Verdana" panose="020B0604030504040204" pitchFamily="34" charset="0"/>
                <a:ea typeface="Verdana" panose="020B0604030504040204" pitchFamily="34" charset="0"/>
              </a:rPr>
              <a:t>2</a:t>
            </a:r>
            <a:r>
              <a:rPr lang="en-US" b="1" dirty="0">
                <a:latin typeface="Verdana" panose="020B0604030504040204" pitchFamily="34" charset="0"/>
                <a:ea typeface="Verdana" panose="020B0604030504040204" pitchFamily="34" charset="0"/>
              </a:rPr>
              <a:t> max) </a:t>
            </a:r>
            <a:r>
              <a:rPr lang="en-US" dirty="0">
                <a:latin typeface="Verdana" panose="020B0604030504040204" pitchFamily="34" charset="0"/>
                <a:ea typeface="Verdana" panose="020B0604030504040204" pitchFamily="34" charset="0"/>
              </a:rPr>
              <a:t>for people with running or walking as their main form of exercise</a:t>
            </a:r>
            <a:endParaRPr lang="sv-SE" dirty="0">
              <a:latin typeface="Verdana" panose="020B0604030504040204" pitchFamily="34" charset="0"/>
              <a:ea typeface="Verdana" panose="020B0604030504040204" pitchFamily="34" charset="0"/>
            </a:endParaRP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41</a:t>
            </a:fld>
            <a:endParaRPr lang="sv-SE">
              <a:solidFill>
                <a:srgbClr val="000000">
                  <a:tint val="75000"/>
                </a:srgbClr>
              </a:solidFill>
            </a:endParaRPr>
          </a:p>
        </p:txBody>
      </p:sp>
      <p:pic>
        <p:nvPicPr>
          <p:cNvPr id="5125" name="Picture 5" descr="C:\Users\SaraG\AppData\Local\Microsoft\Windows\Temporary Internet Files\Content.IE5\2Y6E2FQZ\stick-man-297255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59632" y="87474"/>
            <a:ext cx="319071" cy="5402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Users\SaraG\AppData\Local\Microsoft\Windows\Temporary Internet Files\Content.IE5\2Y6E2FQZ\Running_icon_-_Noun_Project_17825.svg[1].png"/>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054701" y="100216"/>
            <a:ext cx="621152" cy="62115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C:\Users\SaraG\AppData\Local\Microsoft\Windows\Temporary Internet Files\Content.IE5\2Y6E2FQZ\stick-man-297255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15708" y="87474"/>
            <a:ext cx="319071" cy="54022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2117180" y="1419622"/>
            <a:ext cx="5182123" cy="27334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ruta 14"/>
          <p:cNvSpPr txBox="1"/>
          <p:nvPr/>
        </p:nvSpPr>
        <p:spPr>
          <a:xfrm>
            <a:off x="1043609" y="4288836"/>
            <a:ext cx="6444716" cy="438582"/>
          </a:xfrm>
          <a:prstGeom prst="rect">
            <a:avLst/>
          </a:prstGeom>
          <a:noFill/>
        </p:spPr>
        <p:txBody>
          <a:bodyPr wrap="square" rtlCol="0">
            <a:spAutoFit/>
          </a:bodyPr>
          <a:lstStyle/>
          <a:p>
            <a:pPr fontAlgn="base">
              <a:spcBef>
                <a:spcPct val="0"/>
              </a:spcBef>
              <a:spcAft>
                <a:spcPct val="0"/>
              </a:spcAft>
            </a:pPr>
            <a:r>
              <a:rPr lang="en-US" sz="1125" b="1" dirty="0">
                <a:solidFill>
                  <a:srgbClr val="000000"/>
                </a:solidFill>
                <a:latin typeface="Arial" pitchFamily="34" charset="0"/>
                <a:cs typeface="Arial" pitchFamily="34" charset="0"/>
              </a:rPr>
              <a:t>Figure</a:t>
            </a:r>
            <a:r>
              <a:rPr lang="en-US" sz="1125" dirty="0">
                <a:solidFill>
                  <a:srgbClr val="000000"/>
                </a:solidFill>
                <a:latin typeface="Arial" pitchFamily="34" charset="0"/>
                <a:cs typeface="Arial" pitchFamily="34" charset="0"/>
              </a:rPr>
              <a:t> Maximal oxygen uptake for </a:t>
            </a:r>
            <a:r>
              <a:rPr lang="en-US" sz="1125" i="1" dirty="0" err="1">
                <a:solidFill>
                  <a:srgbClr val="000000"/>
                </a:solidFill>
                <a:latin typeface="Arial" pitchFamily="34" charset="0"/>
                <a:cs typeface="Arial" pitchFamily="34" charset="0"/>
              </a:rPr>
              <a:t>n</a:t>
            </a:r>
            <a:r>
              <a:rPr lang="en-US" sz="1125" baseline="-25000" dirty="0" err="1">
                <a:solidFill>
                  <a:srgbClr val="000000"/>
                </a:solidFill>
                <a:latin typeface="Arial" pitchFamily="34" charset="0"/>
                <a:cs typeface="Arial" pitchFamily="34" charset="0"/>
              </a:rPr>
              <a:t>1</a:t>
            </a:r>
            <a:r>
              <a:rPr lang="en-US" sz="1125" dirty="0">
                <a:solidFill>
                  <a:srgbClr val="000000"/>
                </a:solidFill>
                <a:latin typeface="Arial" pitchFamily="34" charset="0"/>
                <a:cs typeface="Arial" pitchFamily="34" charset="0"/>
              </a:rPr>
              <a:t>=25 persons with running as primary source of exercise and for </a:t>
            </a:r>
            <a:r>
              <a:rPr lang="en-US" sz="1125" i="1" dirty="0" err="1">
                <a:solidFill>
                  <a:srgbClr val="000000"/>
                </a:solidFill>
                <a:latin typeface="Arial" pitchFamily="34" charset="0"/>
                <a:cs typeface="Arial" pitchFamily="34" charset="0"/>
              </a:rPr>
              <a:t>n</a:t>
            </a:r>
            <a:r>
              <a:rPr lang="en-US" sz="1125" baseline="-25000" dirty="0" err="1">
                <a:solidFill>
                  <a:srgbClr val="000000"/>
                </a:solidFill>
                <a:latin typeface="Arial" pitchFamily="34" charset="0"/>
                <a:cs typeface="Arial" pitchFamily="34" charset="0"/>
              </a:rPr>
              <a:t>2</a:t>
            </a:r>
            <a:r>
              <a:rPr lang="en-US" sz="1125" dirty="0">
                <a:solidFill>
                  <a:srgbClr val="000000"/>
                </a:solidFill>
                <a:latin typeface="Arial" pitchFamily="34" charset="0"/>
                <a:cs typeface="Arial" pitchFamily="34" charset="0"/>
              </a:rPr>
              <a:t>= 29 persons with walking as there primary source of exercise </a:t>
            </a:r>
          </a:p>
        </p:txBody>
      </p:sp>
      <p:sp>
        <p:nvSpPr>
          <p:cNvPr id="14" name="Rubrik 1"/>
          <p:cNvSpPr txBox="1">
            <a:spLocks/>
          </p:cNvSpPr>
          <p:nvPr/>
        </p:nvSpPr>
        <p:spPr bwMode="auto">
          <a:xfrm>
            <a:off x="2483768" y="107474"/>
            <a:ext cx="3815794" cy="7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Autofit/>
          </a:bodyPr>
          <a:lstStyle>
            <a:lvl1pPr algn="l" defTabSz="457200" rtl="0" eaLnBrk="1" fontAlgn="base" hangingPunct="1">
              <a:lnSpc>
                <a:spcPct val="90000"/>
              </a:lnSpc>
              <a:spcBef>
                <a:spcPct val="0"/>
              </a:spcBef>
              <a:spcAft>
                <a:spcPct val="0"/>
              </a:spcAft>
              <a:defRPr sz="3300" b="1" i="0" kern="1200">
                <a:solidFill>
                  <a:schemeClr val="tx1"/>
                </a:solidFill>
                <a:latin typeface="Arial Narrow"/>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sv-SE" sz="3200" dirty="0">
                <a:latin typeface="+mj-lt"/>
              </a:rPr>
              <a:t>Exempel: VO2 max </a:t>
            </a:r>
            <a:br>
              <a:rPr lang="sv-SE" sz="3200" dirty="0">
                <a:latin typeface="+mj-lt"/>
              </a:rPr>
            </a:br>
            <a:endParaRPr lang="sv-SE" sz="3200" baseline="-25000" dirty="0">
              <a:latin typeface="+mj-lt"/>
            </a:endParaRPr>
          </a:p>
        </p:txBody>
      </p:sp>
      <p:pic>
        <p:nvPicPr>
          <p:cNvPr id="17" name="Picture 2" descr="C:\Users\SaraG\AppData\Local\Microsoft\Windows\Temporary Internet Files\Content.IE5\1SVIO5V2\walking[1].jpg"/>
          <p:cNvPicPr>
            <a:picLocks noChangeAspect="1" noChangeArrowheads="1"/>
          </p:cNvPicPr>
          <p:nvPr/>
        </p:nvPicPr>
        <p:blipFill>
          <a:blip r:embed="rId7"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743603" y="107474"/>
            <a:ext cx="418213" cy="570873"/>
          </a:xfrm>
          <a:prstGeom prst="rect">
            <a:avLst/>
          </a:prstGeom>
          <a:noFill/>
          <a:effectLst>
            <a:glow rad="101600">
              <a:schemeClr val="accent1">
                <a:alpha val="6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57273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nummer 1"/>
          <p:cNvSpPr>
            <a:spLocks noGrp="1"/>
          </p:cNvSpPr>
          <p:nvPr>
            <p:ph type="sldNum" sz="quarter" idx="4294967295"/>
          </p:nvPr>
        </p:nvSpPr>
        <p:spPr>
          <a:xfrm>
            <a:off x="6400800" y="4767263"/>
            <a:ext cx="1600200" cy="273844"/>
          </a:xfrm>
        </p:spPr>
        <p:txBody>
          <a:bodyPr/>
          <a:lstStyle/>
          <a:p>
            <a:pPr>
              <a:defRPr/>
            </a:pPr>
            <a:fld id="{3853FCF3-0C97-47D6-B515-F9CFF444A1B7}" type="slidenum">
              <a:rPr lang="sv-SE" smtClean="0">
                <a:solidFill>
                  <a:srgbClr val="000000">
                    <a:tint val="75000"/>
                  </a:srgbClr>
                </a:solidFill>
              </a:rPr>
              <a:pPr>
                <a:defRPr/>
              </a:pPr>
              <a:t>42</a:t>
            </a:fld>
            <a:endParaRPr lang="sv-SE">
              <a:solidFill>
                <a:srgbClr val="000000">
                  <a:tint val="75000"/>
                </a:srgbClr>
              </a:solidFill>
            </a:endParaRPr>
          </a:p>
        </p:txBody>
      </p:sp>
      <p:pic>
        <p:nvPicPr>
          <p:cNvPr id="3" name="Bildobjekt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7624" y="194051"/>
            <a:ext cx="6669359" cy="4931210"/>
          </a:xfrm>
          <a:prstGeom prst="rect">
            <a:avLst/>
          </a:prstGeom>
        </p:spPr>
      </p:pic>
      <p:sp>
        <p:nvSpPr>
          <p:cNvPr id="5" name="textruta 4"/>
          <p:cNvSpPr txBox="1"/>
          <p:nvPr/>
        </p:nvSpPr>
        <p:spPr>
          <a:xfrm>
            <a:off x="1817694" y="33468"/>
            <a:ext cx="5724636" cy="415498"/>
          </a:xfrm>
          <a:prstGeom prst="rect">
            <a:avLst/>
          </a:prstGeom>
          <a:noFill/>
        </p:spPr>
        <p:txBody>
          <a:bodyPr wrap="square" rtlCol="0">
            <a:spAutoFit/>
          </a:bodyPr>
          <a:lstStyle/>
          <a:p>
            <a:r>
              <a:rPr lang="en-US" sz="1050" b="1" dirty="0">
                <a:latin typeface="+mj-lt"/>
              </a:rPr>
              <a:t>Discovering Statistics Using IBM SPSS Statistics by Andy Field 5</a:t>
            </a:r>
            <a:r>
              <a:rPr lang="en-US" sz="1050" b="1" baseline="30000" dirty="0">
                <a:latin typeface="+mj-lt"/>
              </a:rPr>
              <a:t>th</a:t>
            </a:r>
            <a:r>
              <a:rPr lang="en-US" sz="1050" b="1" dirty="0">
                <a:latin typeface="+mj-lt"/>
              </a:rPr>
              <a:t> Edition ISBN-13:978-1-5264-1952-1</a:t>
            </a:r>
          </a:p>
          <a:p>
            <a:endParaRPr lang="en-US" sz="1050" b="1" dirty="0">
              <a:latin typeface="+mj-lt"/>
            </a:endParaRPr>
          </a:p>
        </p:txBody>
      </p:sp>
    </p:spTree>
    <p:extLst>
      <p:ext uri="{BB962C8B-B14F-4D97-AF65-F5344CB8AC3E}">
        <p14:creationId xmlns:p14="http://schemas.microsoft.com/office/powerpoint/2010/main" val="192195257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Platshållare för innehåll 2"/>
              <p:cNvSpPr>
                <a:spLocks noGrp="1"/>
              </p:cNvSpPr>
              <p:nvPr>
                <p:ph idx="1"/>
              </p:nvPr>
            </p:nvSpPr>
            <p:spPr>
              <a:xfrm>
                <a:off x="971600" y="870561"/>
                <a:ext cx="7488832" cy="3753417"/>
              </a:xfrm>
            </p:spPr>
            <p:txBody>
              <a:bodyPr>
                <a:normAutofit/>
              </a:bodyPr>
              <a:lstStyle/>
              <a:p>
                <a:pPr marL="0" indent="0">
                  <a:spcBef>
                    <a:spcPts val="450"/>
                  </a:spcBef>
                  <a:spcAft>
                    <a:spcPts val="450"/>
                  </a:spcAft>
                  <a:buNone/>
                </a:pPr>
                <a:r>
                  <a:rPr lang="en-US" dirty="0">
                    <a:ea typeface="Verdana" panose="020B0604030504040204" pitchFamily="34" charset="0"/>
                  </a:rPr>
                  <a:t>We will test:</a:t>
                </a:r>
              </a:p>
              <a:p>
                <a:pPr marL="0" indent="0" algn="ctr">
                  <a:lnSpc>
                    <a:spcPct val="120000"/>
                  </a:lnSpc>
                  <a:spcBef>
                    <a:spcPts val="0"/>
                  </a:spcBef>
                  <a:buNone/>
                </a:pPr>
                <a:r>
                  <a:rPr lang="en-US" dirty="0" err="1">
                    <a:ea typeface="Verdana" panose="020B0604030504040204" pitchFamily="34" charset="0"/>
                  </a:rPr>
                  <a:t>H</a:t>
                </a:r>
                <a:r>
                  <a:rPr lang="en-US" baseline="-25000" dirty="0" err="1">
                    <a:ea typeface="Verdana" panose="020B0604030504040204" pitchFamily="34" charset="0"/>
                  </a:rPr>
                  <a:t>0</a:t>
                </a:r>
                <a:r>
                  <a:rPr lang="en-US" dirty="0">
                    <a:ea typeface="Verdana" panose="020B0604030504040204" pitchFamily="34" charset="0"/>
                  </a:rPr>
                  <a:t>: </a:t>
                </a:r>
                <a14:m>
                  <m:oMath xmlns:m="http://schemas.openxmlformats.org/officeDocument/2006/math">
                    <m:sSub>
                      <m:sSubPr>
                        <m:ctrlPr>
                          <a:rPr lang="en-US" i="1">
                            <a:latin typeface="Cambria Math" panose="02040503050406030204" pitchFamily="18" charset="0"/>
                          </a:rPr>
                        </m:ctrlPr>
                      </m:sSubPr>
                      <m:e>
                        <m:r>
                          <m:rPr>
                            <m:sty m:val="p"/>
                          </m:rPr>
                          <a:rPr lang="sv-SE" b="0" i="0" smtClean="0">
                            <a:latin typeface="Cambria Math" panose="02040503050406030204" pitchFamily="18" charset="0"/>
                          </a:rPr>
                          <m:t>Mean</m:t>
                        </m:r>
                        <m:r>
                          <a:rPr lang="sv-SE" b="0" i="0" smtClean="0">
                            <a:latin typeface="Cambria Math" panose="02040503050406030204" pitchFamily="18" charset="0"/>
                          </a:rPr>
                          <m:t> </m:t>
                        </m:r>
                        <m:r>
                          <m:rPr>
                            <m:sty m:val="p"/>
                          </m:rPr>
                          <a:rPr lang="sv-SE" b="0" i="0" smtClean="0">
                            <a:latin typeface="Cambria Math" panose="02040503050406030204" pitchFamily="18" charset="0"/>
                          </a:rPr>
                          <m:t>maximal</m:t>
                        </m:r>
                        <m:r>
                          <a:rPr lang="sv-SE" b="0" i="0" smtClean="0">
                            <a:latin typeface="Cambria Math" panose="02040503050406030204" pitchFamily="18" charset="0"/>
                          </a:rPr>
                          <m:t> </m:t>
                        </m:r>
                        <m:r>
                          <m:rPr>
                            <m:sty m:val="p"/>
                          </m:rPr>
                          <a:rPr lang="sv-SE" b="0" i="0" smtClean="0">
                            <a:latin typeface="Cambria Math" panose="02040503050406030204" pitchFamily="18" charset="0"/>
                          </a:rPr>
                          <m:t>oxygen</m:t>
                        </m:r>
                        <m:r>
                          <a:rPr lang="sv-SE" b="0" i="0" smtClean="0">
                            <a:latin typeface="Cambria Math" panose="02040503050406030204" pitchFamily="18" charset="0"/>
                          </a:rPr>
                          <m:t> </m:t>
                        </m:r>
                        <m:r>
                          <m:rPr>
                            <m:sty m:val="p"/>
                          </m:rPr>
                          <a:rPr lang="sv-SE" b="0" i="0" smtClean="0">
                            <a:latin typeface="Cambria Math" panose="02040503050406030204" pitchFamily="18" charset="0"/>
                          </a:rPr>
                          <m:t>uptake</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latin typeface="Cambria Math" panose="02040503050406030204" pitchFamily="18" charset="0"/>
                          </a:rPr>
                        </m:ctrlPr>
                      </m:sSubPr>
                      <m:e>
                        <m:r>
                          <m:rPr>
                            <m:sty m:val="p"/>
                          </m:rPr>
                          <a:rPr lang="sv-SE" i="0">
                            <a:latin typeface="Cambria Math" panose="02040503050406030204" pitchFamily="18" charset="0"/>
                          </a:rPr>
                          <m:t>Mean</m:t>
                        </m:r>
                        <m:r>
                          <a:rPr lang="sv-SE" i="0">
                            <a:latin typeface="Cambria Math" panose="02040503050406030204" pitchFamily="18" charset="0"/>
                          </a:rPr>
                          <m:t> </m:t>
                        </m:r>
                        <m:r>
                          <m:rPr>
                            <m:sty m:val="p"/>
                          </m:rPr>
                          <a:rPr lang="sv-SE" i="0">
                            <a:latin typeface="Cambria Math" panose="02040503050406030204" pitchFamily="18" charset="0"/>
                          </a:rPr>
                          <m:t>maximal</m:t>
                        </m:r>
                        <m:r>
                          <a:rPr lang="sv-SE" i="0">
                            <a:latin typeface="Cambria Math" panose="02040503050406030204" pitchFamily="18" charset="0"/>
                          </a:rPr>
                          <m:t> </m:t>
                        </m:r>
                        <m:r>
                          <m:rPr>
                            <m:sty m:val="p"/>
                          </m:rPr>
                          <a:rPr lang="sv-SE" i="0">
                            <a:latin typeface="Cambria Math" panose="02040503050406030204" pitchFamily="18" charset="0"/>
                          </a:rPr>
                          <m:t>oxygen</m:t>
                        </m:r>
                        <m:r>
                          <a:rPr lang="sv-SE" i="0">
                            <a:latin typeface="Cambria Math" panose="02040503050406030204" pitchFamily="18" charset="0"/>
                          </a:rPr>
                          <m:t> </m:t>
                        </m:r>
                        <m:r>
                          <m:rPr>
                            <m:sty m:val="p"/>
                          </m:rPr>
                          <a:rPr lang="sv-SE" i="0">
                            <a:latin typeface="Cambria Math" panose="02040503050406030204" pitchFamily="18" charset="0"/>
                          </a:rPr>
                          <m:t>uptake</m:t>
                        </m:r>
                      </m:e>
                      <m:sub>
                        <m:r>
                          <a:rPr lang="en-US" i="0">
                            <a:latin typeface="Cambria Math" panose="02040503050406030204" pitchFamily="18" charset="0"/>
                          </a:rPr>
                          <m:t>2</m:t>
                        </m:r>
                      </m:sub>
                    </m:sSub>
                    <m:r>
                      <a:rPr lang="en-US" i="0">
                        <a:latin typeface="Cambria Math" panose="02040503050406030204" pitchFamily="18" charset="0"/>
                      </a:rPr>
                      <m:t>=0 </m:t>
                    </m:r>
                  </m:oMath>
                </a14:m>
                <a:r>
                  <a:rPr lang="en-US" dirty="0">
                    <a:ea typeface="Verdana" panose="020B0604030504040204" pitchFamily="34" charset="0"/>
                  </a:rPr>
                  <a:t> (i.e.</a:t>
                </a:r>
                <a14:m>
                  <m:oMath xmlns:m="http://schemas.openxmlformats.org/officeDocument/2006/math">
                    <m:r>
                      <a:rPr lang="sv-SE" b="0" i="0" smtClean="0">
                        <a:latin typeface="Cambria Math" panose="02040503050406030204" pitchFamily="18" charset="0"/>
                      </a:rPr>
                      <m:t>  </m:t>
                    </m:r>
                    <m:r>
                      <m:rPr>
                        <m:sty m:val="p"/>
                      </m:rPr>
                      <a:rPr lang="sv-SE" i="0">
                        <a:latin typeface="Cambria Math" panose="02040503050406030204" pitchFamily="18" charset="0"/>
                      </a:rPr>
                      <m:t>Mean</m:t>
                    </m:r>
                    <m:r>
                      <a:rPr lang="sv-SE" i="0">
                        <a:latin typeface="Cambria Math" panose="02040503050406030204" pitchFamily="18" charset="0"/>
                      </a:rPr>
                      <m:t> </m:t>
                    </m:r>
                    <m:r>
                      <m:rPr>
                        <m:sty m:val="p"/>
                      </m:rPr>
                      <a:rPr lang="sv-SE" i="0">
                        <a:latin typeface="Cambria Math" panose="02040503050406030204" pitchFamily="18" charset="0"/>
                      </a:rPr>
                      <m:t>maximal</m:t>
                    </m:r>
                    <m:r>
                      <a:rPr lang="sv-SE" i="0">
                        <a:latin typeface="Cambria Math" panose="02040503050406030204" pitchFamily="18" charset="0"/>
                      </a:rPr>
                      <m:t> </m:t>
                    </m:r>
                    <m:r>
                      <m:rPr>
                        <m:sty m:val="p"/>
                      </m:rPr>
                      <a:rPr lang="sv-SE" i="0">
                        <a:latin typeface="Cambria Math" panose="02040503050406030204" pitchFamily="18" charset="0"/>
                      </a:rPr>
                      <m:t>oxygen</m:t>
                    </m:r>
                    <m:r>
                      <a:rPr lang="sv-SE" i="0">
                        <a:latin typeface="Cambria Math" panose="02040503050406030204" pitchFamily="18" charset="0"/>
                      </a:rPr>
                      <m:t> </m:t>
                    </m:r>
                    <m:r>
                      <m:rPr>
                        <m:sty m:val="p"/>
                      </m:rPr>
                      <a:rPr lang="sv-SE" i="0">
                        <a:latin typeface="Cambria Math" panose="02040503050406030204" pitchFamily="18" charset="0"/>
                      </a:rPr>
                      <m:t>uptake</m:t>
                    </m:r>
                    <m:r>
                      <a:rPr lang="en-US" baseline="-25000">
                        <a:latin typeface="Cambria Math" panose="02040503050406030204" pitchFamily="18" charset="0"/>
                      </a:rPr>
                      <m:t>1</m:t>
                    </m:r>
                    <m:r>
                      <a:rPr lang="en-US" i="0">
                        <a:latin typeface="Cambria Math" panose="02040503050406030204" pitchFamily="18" charset="0"/>
                      </a:rPr>
                      <m:t>=</m:t>
                    </m:r>
                    <m:sSub>
                      <m:sSubPr>
                        <m:ctrlPr>
                          <a:rPr lang="en-US" i="1">
                            <a:latin typeface="Cambria Math" panose="02040503050406030204" pitchFamily="18" charset="0"/>
                          </a:rPr>
                        </m:ctrlPr>
                      </m:sSubPr>
                      <m:e>
                        <m:r>
                          <m:rPr>
                            <m:sty m:val="p"/>
                          </m:rPr>
                          <a:rPr lang="sv-SE" i="0">
                            <a:latin typeface="Cambria Math" panose="02040503050406030204" pitchFamily="18" charset="0"/>
                          </a:rPr>
                          <m:t>Mean</m:t>
                        </m:r>
                        <m:r>
                          <a:rPr lang="sv-SE" i="0">
                            <a:latin typeface="Cambria Math" panose="02040503050406030204" pitchFamily="18" charset="0"/>
                          </a:rPr>
                          <m:t> </m:t>
                        </m:r>
                        <m:r>
                          <m:rPr>
                            <m:sty m:val="p"/>
                          </m:rPr>
                          <a:rPr lang="sv-SE" i="0">
                            <a:latin typeface="Cambria Math" panose="02040503050406030204" pitchFamily="18" charset="0"/>
                          </a:rPr>
                          <m:t>maximal</m:t>
                        </m:r>
                        <m:r>
                          <a:rPr lang="sv-SE" i="0">
                            <a:latin typeface="Cambria Math" panose="02040503050406030204" pitchFamily="18" charset="0"/>
                          </a:rPr>
                          <m:t> </m:t>
                        </m:r>
                        <m:r>
                          <m:rPr>
                            <m:sty m:val="p"/>
                          </m:rPr>
                          <a:rPr lang="sv-SE" i="0">
                            <a:latin typeface="Cambria Math" panose="02040503050406030204" pitchFamily="18" charset="0"/>
                          </a:rPr>
                          <m:t>oxygen</m:t>
                        </m:r>
                        <m:r>
                          <a:rPr lang="sv-SE" i="0">
                            <a:latin typeface="Cambria Math" panose="02040503050406030204" pitchFamily="18" charset="0"/>
                          </a:rPr>
                          <m:t> </m:t>
                        </m:r>
                        <m:r>
                          <m:rPr>
                            <m:sty m:val="p"/>
                          </m:rPr>
                          <a:rPr lang="sv-SE" i="0">
                            <a:latin typeface="Cambria Math" panose="02040503050406030204" pitchFamily="18" charset="0"/>
                          </a:rPr>
                          <m:t>uptake</m:t>
                        </m:r>
                      </m:e>
                      <m:sub>
                        <m:r>
                          <a:rPr lang="en-US" i="0">
                            <a:latin typeface="Cambria Math" panose="02040503050406030204" pitchFamily="18" charset="0"/>
                          </a:rPr>
                          <m:t>2</m:t>
                        </m:r>
                      </m:sub>
                    </m:sSub>
                  </m:oMath>
                </a14:m>
                <a:r>
                  <a:rPr lang="en-US" dirty="0">
                    <a:ea typeface="Verdana" panose="020B0604030504040204" pitchFamily="34" charset="0"/>
                  </a:rPr>
                  <a:t> ). </a:t>
                </a:r>
              </a:p>
              <a:p>
                <a:pPr marL="0" indent="0" algn="ctr">
                  <a:lnSpc>
                    <a:spcPct val="120000"/>
                  </a:lnSpc>
                  <a:spcBef>
                    <a:spcPts val="450"/>
                  </a:spcBef>
                  <a:spcAft>
                    <a:spcPts val="450"/>
                  </a:spcAft>
                  <a:buNone/>
                </a:pPr>
                <a:r>
                  <a:rPr lang="en-US" dirty="0">
                    <a:ea typeface="Verdana" panose="020B0604030504040204" pitchFamily="34" charset="0"/>
                  </a:rPr>
                  <a:t>against</a:t>
                </a:r>
              </a:p>
              <a:p>
                <a:pPr marL="0" indent="0" algn="ctr">
                  <a:lnSpc>
                    <a:spcPct val="120000"/>
                  </a:lnSpc>
                  <a:spcBef>
                    <a:spcPts val="0"/>
                  </a:spcBef>
                  <a:buNone/>
                </a:pPr>
                <a:r>
                  <a:rPr lang="en-US" dirty="0">
                    <a:ea typeface="Verdana" panose="020B0604030504040204" pitchFamily="34" charset="0"/>
                  </a:rPr>
                  <a:t> H</a:t>
                </a:r>
                <a:r>
                  <a:rPr lang="en-US" baseline="-25000" dirty="0">
                    <a:ea typeface="Verdana" panose="020B0604030504040204" pitchFamily="34" charset="0"/>
                  </a:rPr>
                  <a:t>1</a:t>
                </a:r>
                <a:r>
                  <a:rPr lang="en-US" dirty="0">
                    <a:ea typeface="Verdan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µ</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µ</m:t>
                        </m:r>
                      </m:e>
                      <m:sub>
                        <m:r>
                          <a:rPr lang="en-US" i="1">
                            <a:latin typeface="Cambria Math" panose="02040503050406030204" pitchFamily="18" charset="0"/>
                          </a:rPr>
                          <m:t>2</m:t>
                        </m:r>
                      </m:sub>
                    </m:sSub>
                    <m:r>
                      <a:rPr lang="en-US" i="1">
                        <a:latin typeface="Cambria Math" panose="02040503050406030204" pitchFamily="18" charset="0"/>
                        <a:ea typeface="Cambria Math"/>
                      </a:rPr>
                      <m:t>≠</m:t>
                    </m:r>
                    <m:r>
                      <a:rPr lang="en-US" i="1">
                        <a:latin typeface="Cambria Math" panose="02040503050406030204" pitchFamily="18" charset="0"/>
                      </a:rPr>
                      <m:t>0</m:t>
                    </m:r>
                  </m:oMath>
                </a14:m>
                <a:r>
                  <a:rPr lang="en-US" dirty="0">
                    <a:ea typeface="Verdana" panose="020B0604030504040204" pitchFamily="34" charset="0"/>
                  </a:rPr>
                  <a:t> (i.e.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µ</m:t>
                        </m:r>
                      </m:e>
                      <m:sub>
                        <m:r>
                          <a:rPr lang="en-US" i="1">
                            <a:latin typeface="Cambria Math" panose="02040503050406030204" pitchFamily="18" charset="0"/>
                          </a:rPr>
                          <m:t>1</m:t>
                        </m:r>
                      </m:sub>
                    </m:sSub>
                    <m:r>
                      <a:rPr lang="en-US" i="1">
                        <a:latin typeface="Cambria Math" panose="02040503050406030204" pitchFamily="18" charset="0"/>
                        <a:ea typeface="Cambria Math"/>
                      </a:rPr>
                      <m:t>≠</m:t>
                    </m:r>
                    <m:sSub>
                      <m:sSubPr>
                        <m:ctrlPr>
                          <a:rPr lang="en-US" i="1">
                            <a:latin typeface="Cambria Math" panose="02040503050406030204" pitchFamily="18" charset="0"/>
                          </a:rPr>
                        </m:ctrlPr>
                      </m:sSubPr>
                      <m:e>
                        <m:r>
                          <a:rPr lang="en-US" i="1">
                            <a:latin typeface="Cambria Math" panose="02040503050406030204" pitchFamily="18" charset="0"/>
                          </a:rPr>
                          <m:t>µ</m:t>
                        </m:r>
                      </m:e>
                      <m:sub>
                        <m:r>
                          <a:rPr lang="en-US" i="1">
                            <a:latin typeface="Cambria Math" panose="02040503050406030204" pitchFamily="18" charset="0"/>
                          </a:rPr>
                          <m:t>2</m:t>
                        </m:r>
                      </m:sub>
                    </m:sSub>
                  </m:oMath>
                </a14:m>
                <a:r>
                  <a:rPr lang="en-US" dirty="0">
                    <a:ea typeface="Verdana" panose="020B0604030504040204" pitchFamily="34" charset="0"/>
                  </a:rPr>
                  <a:t>)</a:t>
                </a:r>
              </a:p>
              <a:p>
                <a:pPr marL="0" indent="0">
                  <a:spcBef>
                    <a:spcPts val="2250"/>
                  </a:spcBef>
                  <a:spcAft>
                    <a:spcPts val="900"/>
                  </a:spcAft>
                  <a:buNone/>
                </a:pPr>
                <a:r>
                  <a:rPr lang="en-US" dirty="0">
                    <a:ea typeface="Verdana" panose="020B0604030504040204" pitchFamily="34" charset="0"/>
                  </a:rPr>
                  <a:t>If the two samples comes from populations with the same mean-value</a:t>
                </a:r>
              </a:p>
              <a:p>
                <a:pPr marL="0" indent="0">
                  <a:spcBef>
                    <a:spcPts val="450"/>
                  </a:spcBef>
                  <a:spcAft>
                    <a:spcPts val="900"/>
                  </a:spcAft>
                  <a:buNone/>
                </a:pPr>
                <a:r>
                  <a:rPr lang="en-US" dirty="0">
                    <a:ea typeface="Verdana" panose="020B0604030504040204" pitchFamily="34" charset="0"/>
                  </a:rPr>
                  <a:t>Significance level (</a:t>
                </a:r>
                <a:r>
                  <a:rPr lang="el-GR" dirty="0">
                    <a:ea typeface="Verdana" panose="020B0604030504040204" pitchFamily="34" charset="0"/>
                  </a:rPr>
                  <a:t>α</a:t>
                </a:r>
                <a:r>
                  <a:rPr lang="sv-SE" dirty="0">
                    <a:ea typeface="Verdana" panose="020B0604030504040204" pitchFamily="34" charset="0"/>
                  </a:rPr>
                  <a:t>)</a:t>
                </a:r>
                <a:r>
                  <a:rPr lang="en-US" dirty="0">
                    <a:ea typeface="Verdana" panose="020B0604030504040204" pitchFamily="34" charset="0"/>
                  </a:rPr>
                  <a:t> to be </a:t>
                </a:r>
                <a:r>
                  <a:rPr lang="en-US" dirty="0">
                    <a:solidFill>
                      <a:srgbClr val="0070C0"/>
                    </a:solidFill>
                    <a:ea typeface="Verdana" panose="020B0604030504040204" pitchFamily="34" charset="0"/>
                  </a:rPr>
                  <a:t>5%, </a:t>
                </a:r>
              </a:p>
              <a:p>
                <a:pPr marL="0" indent="0">
                  <a:spcBef>
                    <a:spcPts val="450"/>
                  </a:spcBef>
                  <a:spcAft>
                    <a:spcPts val="900"/>
                  </a:spcAft>
                  <a:buNone/>
                </a:pPr>
                <a:r>
                  <a:rPr lang="en-US" dirty="0">
                    <a:ea typeface="Verdana" panose="020B0604030504040204" pitchFamily="34" charset="0"/>
                  </a:rPr>
                  <a:t>Normally </a:t>
                </a:r>
                <a:r>
                  <a:rPr lang="en-US" dirty="0" err="1">
                    <a:ea typeface="Verdana" panose="020B0604030504040204" pitchFamily="34" charset="0"/>
                  </a:rPr>
                  <a:t>distributed</a:t>
                </a:r>
                <a:r>
                  <a:rPr lang="en-US" dirty="0" err="1">
                    <a:ea typeface="Verdana" panose="020B0604030504040204" pitchFamily="34" charset="0"/>
                    <a:sym typeface="Wingdings" panose="05000000000000000000" pitchFamily="2" charset="2"/>
                  </a:rPr>
                  <a:t>P</a:t>
                </a:r>
                <a:r>
                  <a:rPr lang="en-US" dirty="0" err="1">
                    <a:ea typeface="Verdana" panose="020B0604030504040204" pitchFamily="34" charset="0"/>
                  </a:rPr>
                  <a:t>arametric</a:t>
                </a:r>
                <a:r>
                  <a:rPr lang="en-US" dirty="0">
                    <a:ea typeface="Verdana" panose="020B0604030504040204" pitchFamily="34" charset="0"/>
                  </a:rPr>
                  <a:t> test</a:t>
                </a:r>
                <a:r>
                  <a:rPr lang="en-US" dirty="0">
                    <a:ea typeface="Verdana" panose="020B0604030504040204" pitchFamily="34" charset="0"/>
                    <a:sym typeface="Wingdings" panose="05000000000000000000" pitchFamily="2" charset="2"/>
                  </a:rPr>
                  <a:t> 2 sample T-test</a:t>
                </a:r>
                <a:endParaRPr lang="en-US" dirty="0">
                  <a:ea typeface="Verdana" panose="020B0604030504040204" pitchFamily="34" charset="0"/>
                </a:endParaRPr>
              </a:p>
              <a:p>
                <a:pPr marL="0" indent="0">
                  <a:spcBef>
                    <a:spcPts val="450"/>
                  </a:spcBef>
                  <a:spcAft>
                    <a:spcPts val="900"/>
                  </a:spcAft>
                  <a:buNone/>
                </a:pPr>
                <a:endParaRPr lang="en-US" dirty="0">
                  <a:ea typeface="Verdana" panose="020B0604030504040204" pitchFamily="34" charset="0"/>
                </a:endParaRPr>
              </a:p>
            </p:txBody>
          </p:sp>
        </mc:Choice>
        <mc:Fallback xmlns="">
          <p:sp>
            <p:nvSpPr>
              <p:cNvPr id="3" name="Platshållare för innehåll 2"/>
              <p:cNvSpPr>
                <a:spLocks noGrp="1" noRot="1" noChangeAspect="1" noMove="1" noResize="1" noEditPoints="1" noAdjustHandles="1" noChangeArrowheads="1" noChangeShapeType="1" noTextEdit="1"/>
              </p:cNvSpPr>
              <p:nvPr>
                <p:ph idx="1"/>
              </p:nvPr>
            </p:nvSpPr>
            <p:spPr>
              <a:xfrm>
                <a:off x="971600" y="870561"/>
                <a:ext cx="7488832" cy="3753417"/>
              </a:xfrm>
              <a:blipFill>
                <a:blip r:embed="rId3"/>
                <a:stretch>
                  <a:fillRect l="-1871" t="-1786"/>
                </a:stretch>
              </a:blipFill>
            </p:spPr>
            <p:txBody>
              <a:bodyPr/>
              <a:lstStyle/>
              <a:p>
                <a:r>
                  <a:rPr lang="en-US">
                    <a:noFill/>
                  </a:rPr>
                  <a:t> </a:t>
                </a:r>
              </a:p>
            </p:txBody>
          </p:sp>
        </mc:Fallback>
      </mc:AlternateContent>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43</a:t>
            </a:fld>
            <a:endParaRPr lang="sv-SE">
              <a:solidFill>
                <a:srgbClr val="000000">
                  <a:tint val="75000"/>
                </a:srgbClr>
              </a:solidFill>
            </a:endParaRPr>
          </a:p>
        </p:txBody>
      </p:sp>
      <p:pic>
        <p:nvPicPr>
          <p:cNvPr id="12" name="Picture 5" descr="C:\Users\SaraG\AppData\Local\Microsoft\Windows\Temporary Internet Files\Content.IE5\2Y6E2FQZ\stick-man-297255_640[1].png"/>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24811" y="87474"/>
            <a:ext cx="319071" cy="54022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C:\Users\SaraG\AppData\Local\Microsoft\Windows\Temporary Internet Files\Content.IE5\2Y6E2FQZ\Running_icon_-_Noun_Project_17825.svg[1].png"/>
          <p:cNvPicPr>
            <a:picLocks noChangeAspect="1" noChangeArrowheads="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67172" y="100216"/>
            <a:ext cx="621152" cy="621152"/>
          </a:xfrm>
          <a:prstGeom prst="rect">
            <a:avLst/>
          </a:prstGeom>
          <a:noFill/>
          <a:extLst>
            <a:ext uri="{909E8E84-426E-40DD-AFC4-6F175D3DCCD1}">
              <a14:hiddenFill xmlns:a14="http://schemas.microsoft.com/office/drawing/2010/main">
                <a:solidFill>
                  <a:srgbClr val="FFFFFF"/>
                </a:solidFill>
              </a14:hiddenFill>
            </a:ext>
          </a:extLst>
        </p:spPr>
      </p:pic>
      <p:sp>
        <p:nvSpPr>
          <p:cNvPr id="14" name="Rubrik 1"/>
          <p:cNvSpPr txBox="1">
            <a:spLocks/>
          </p:cNvSpPr>
          <p:nvPr/>
        </p:nvSpPr>
        <p:spPr bwMode="auto">
          <a:xfrm>
            <a:off x="3329862" y="102959"/>
            <a:ext cx="3402378" cy="7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rmAutofit/>
          </a:bodyPr>
          <a:lstStyle>
            <a:lvl1pPr algn="l" defTabSz="457200" rtl="0" eaLnBrk="1" fontAlgn="base" hangingPunct="1">
              <a:lnSpc>
                <a:spcPct val="90000"/>
              </a:lnSpc>
              <a:spcBef>
                <a:spcPct val="0"/>
              </a:spcBef>
              <a:spcAft>
                <a:spcPct val="0"/>
              </a:spcAft>
              <a:defRPr sz="3300" b="1" i="0" kern="1200">
                <a:solidFill>
                  <a:schemeClr val="tx1"/>
                </a:solidFill>
                <a:latin typeface="Arial Narrow"/>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sv-SE" sz="2475" dirty="0">
                <a:latin typeface="+mj-lt"/>
              </a:rPr>
              <a:t>Exempel: VO2 max </a:t>
            </a:r>
            <a:br>
              <a:rPr lang="sv-SE" sz="2475" dirty="0">
                <a:latin typeface="+mj-lt"/>
              </a:rPr>
            </a:br>
            <a:endParaRPr lang="sv-SE" sz="2475" baseline="-25000" dirty="0">
              <a:latin typeface="+mj-lt"/>
            </a:endParaRPr>
          </a:p>
        </p:txBody>
      </p:sp>
      <p:pic>
        <p:nvPicPr>
          <p:cNvPr id="15" name="Picture 2" descr="C:\Users\SaraG\AppData\Local\Microsoft\Windows\Temporary Internet Files\Content.IE5\1SVIO5V2\walking[1].jpg"/>
          <p:cNvPicPr>
            <a:picLocks noChangeAspect="1" noChangeArrowheads="1"/>
          </p:cNvPicPr>
          <p:nvPr/>
        </p:nvPicPr>
        <p:blipFill>
          <a:blip r:embed="rId6"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339752" y="107474"/>
            <a:ext cx="418213" cy="570873"/>
          </a:xfrm>
          <a:prstGeom prst="rect">
            <a:avLst/>
          </a:prstGeom>
          <a:noFill/>
          <a:effectLst>
            <a:glow rad="101600">
              <a:schemeClr val="accent1">
                <a:alpha val="6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22979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9" name="Rectangle 5"/>
          <p:cNvSpPr>
            <a:spLocks noChangeArrowheads="1"/>
          </p:cNvSpPr>
          <p:nvPr/>
        </p:nvSpPr>
        <p:spPr bwMode="auto">
          <a:xfrm>
            <a:off x="539552" y="2787774"/>
            <a:ext cx="8352928" cy="179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fontAlgn="auto">
              <a:lnSpc>
                <a:spcPct val="120000"/>
              </a:lnSpc>
              <a:spcBef>
                <a:spcPts val="0"/>
              </a:spcBef>
              <a:spcAft>
                <a:spcPts val="450"/>
              </a:spcAft>
              <a:buFont typeface="Arial" pitchFamily="34" charset="0"/>
              <a:buChar char="•"/>
            </a:pPr>
            <a:r>
              <a:rPr lang="en-US" sz="1950" b="1" dirty="0">
                <a:solidFill>
                  <a:srgbClr val="002060"/>
                </a:solidFill>
                <a:latin typeface="Calibri"/>
              </a:rPr>
              <a:t>Type 1 Error</a:t>
            </a:r>
            <a:r>
              <a:rPr lang="en-US" sz="1950" dirty="0">
                <a:solidFill>
                  <a:srgbClr val="000000"/>
                </a:solidFill>
                <a:latin typeface="Calibri"/>
              </a:rPr>
              <a:t>: The probability (</a:t>
            </a:r>
            <a:r>
              <a:rPr lang="el-GR" sz="1950" i="1" dirty="0">
                <a:solidFill>
                  <a:srgbClr val="000000"/>
                </a:solidFill>
                <a:latin typeface="Cambria" pitchFamily="18" charset="0"/>
                <a:cs typeface="Arial" pitchFamily="34" charset="0"/>
              </a:rPr>
              <a:t>α</a:t>
            </a:r>
            <a:r>
              <a:rPr lang="en-US" sz="1950" dirty="0">
                <a:solidFill>
                  <a:srgbClr val="000000"/>
                </a:solidFill>
                <a:latin typeface="Calibri"/>
              </a:rPr>
              <a:t>) to </a:t>
            </a:r>
            <a:r>
              <a:rPr lang="en-US" sz="1950" dirty="0">
                <a:solidFill>
                  <a:srgbClr val="0070C0"/>
                </a:solidFill>
                <a:latin typeface="Calibri"/>
              </a:rPr>
              <a:t>reject</a:t>
            </a:r>
            <a:r>
              <a:rPr lang="en-US" sz="1950" dirty="0">
                <a:solidFill>
                  <a:srgbClr val="000000"/>
                </a:solidFill>
                <a:latin typeface="Calibri"/>
              </a:rPr>
              <a:t> </a:t>
            </a:r>
            <a:r>
              <a:rPr lang="en-US" sz="1950" i="1" dirty="0">
                <a:solidFill>
                  <a:srgbClr val="000000"/>
                </a:solidFill>
                <a:latin typeface="Calibri"/>
              </a:rPr>
              <a:t>H</a:t>
            </a:r>
            <a:r>
              <a:rPr lang="en-US" sz="1950" baseline="-25000" dirty="0">
                <a:solidFill>
                  <a:srgbClr val="000000"/>
                </a:solidFill>
                <a:latin typeface="Calibri"/>
              </a:rPr>
              <a:t>0</a:t>
            </a:r>
            <a:r>
              <a:rPr lang="en-US" sz="1950" dirty="0">
                <a:solidFill>
                  <a:srgbClr val="000000"/>
                </a:solidFill>
                <a:latin typeface="Calibri"/>
              </a:rPr>
              <a:t> when </a:t>
            </a:r>
            <a:r>
              <a:rPr lang="en-US" sz="1950" i="1" dirty="0">
                <a:solidFill>
                  <a:srgbClr val="000000"/>
                </a:solidFill>
                <a:latin typeface="Calibri"/>
              </a:rPr>
              <a:t>H</a:t>
            </a:r>
            <a:r>
              <a:rPr lang="en-US" sz="1950" baseline="-25000" dirty="0">
                <a:solidFill>
                  <a:srgbClr val="000000"/>
                </a:solidFill>
                <a:latin typeface="Calibri"/>
              </a:rPr>
              <a:t>0</a:t>
            </a:r>
            <a:r>
              <a:rPr lang="en-US" sz="1950" dirty="0">
                <a:solidFill>
                  <a:srgbClr val="000000"/>
                </a:solidFill>
                <a:latin typeface="Calibri"/>
              </a:rPr>
              <a:t> is </a:t>
            </a:r>
            <a:r>
              <a:rPr lang="en-US" sz="1950" dirty="0">
                <a:solidFill>
                  <a:srgbClr val="549C9A"/>
                </a:solidFill>
                <a:latin typeface="Calibri"/>
              </a:rPr>
              <a:t>true</a:t>
            </a:r>
            <a:r>
              <a:rPr lang="en-US" sz="1950" dirty="0">
                <a:solidFill>
                  <a:srgbClr val="000000"/>
                </a:solidFill>
                <a:latin typeface="Calibri"/>
              </a:rPr>
              <a:t>. “False Positive”</a:t>
            </a:r>
          </a:p>
          <a:p>
            <a:pPr marL="342900" indent="-342900" fontAlgn="auto">
              <a:lnSpc>
                <a:spcPct val="120000"/>
              </a:lnSpc>
              <a:spcBef>
                <a:spcPts val="0"/>
              </a:spcBef>
              <a:spcAft>
                <a:spcPts val="450"/>
              </a:spcAft>
              <a:buFont typeface="Arial" pitchFamily="34" charset="0"/>
              <a:buChar char="•"/>
            </a:pPr>
            <a:r>
              <a:rPr lang="en-US" sz="1950" b="1" dirty="0">
                <a:solidFill>
                  <a:srgbClr val="002060"/>
                </a:solidFill>
                <a:latin typeface="Calibri"/>
              </a:rPr>
              <a:t>Type 2 Error</a:t>
            </a:r>
            <a:r>
              <a:rPr lang="en-US" sz="1950" dirty="0">
                <a:solidFill>
                  <a:srgbClr val="000000"/>
                </a:solidFill>
                <a:latin typeface="Calibri"/>
              </a:rPr>
              <a:t>: The probability (</a:t>
            </a:r>
            <a:r>
              <a:rPr lang="el-GR" sz="1950" i="1" dirty="0">
                <a:solidFill>
                  <a:srgbClr val="000000"/>
                </a:solidFill>
                <a:latin typeface="Cambria" pitchFamily="18" charset="0"/>
                <a:cs typeface="Arial" pitchFamily="34" charset="0"/>
              </a:rPr>
              <a:t>β</a:t>
            </a:r>
            <a:r>
              <a:rPr lang="en-US" sz="1950" dirty="0">
                <a:solidFill>
                  <a:srgbClr val="000000"/>
                </a:solidFill>
                <a:latin typeface="Calibri"/>
              </a:rPr>
              <a:t>) to </a:t>
            </a:r>
            <a:r>
              <a:rPr lang="en-US" sz="1950" u="sng" dirty="0">
                <a:solidFill>
                  <a:srgbClr val="549C9A"/>
                </a:solidFill>
                <a:latin typeface="Calibri"/>
              </a:rPr>
              <a:t>not</a:t>
            </a:r>
            <a:r>
              <a:rPr lang="en-US" sz="1950" dirty="0">
                <a:solidFill>
                  <a:srgbClr val="549C9A"/>
                </a:solidFill>
                <a:latin typeface="Calibri"/>
              </a:rPr>
              <a:t> reject </a:t>
            </a:r>
            <a:r>
              <a:rPr lang="en-US" sz="1950" i="1" dirty="0">
                <a:solidFill>
                  <a:srgbClr val="000000"/>
                </a:solidFill>
                <a:latin typeface="Calibri"/>
              </a:rPr>
              <a:t>H</a:t>
            </a:r>
            <a:r>
              <a:rPr lang="en-US" sz="1950" baseline="-25000" dirty="0">
                <a:solidFill>
                  <a:srgbClr val="000000"/>
                </a:solidFill>
                <a:latin typeface="Calibri"/>
              </a:rPr>
              <a:t>0</a:t>
            </a:r>
            <a:r>
              <a:rPr lang="en-US" sz="1950" dirty="0">
                <a:solidFill>
                  <a:srgbClr val="000000"/>
                </a:solidFill>
                <a:latin typeface="Calibri"/>
              </a:rPr>
              <a:t> when </a:t>
            </a:r>
            <a:r>
              <a:rPr lang="en-US" sz="1950" i="1" dirty="0">
                <a:solidFill>
                  <a:srgbClr val="000000"/>
                </a:solidFill>
                <a:latin typeface="Calibri"/>
              </a:rPr>
              <a:t>H</a:t>
            </a:r>
            <a:r>
              <a:rPr lang="en-US" sz="1950" baseline="-25000" dirty="0">
                <a:solidFill>
                  <a:srgbClr val="000000"/>
                </a:solidFill>
                <a:latin typeface="Calibri"/>
              </a:rPr>
              <a:t>0</a:t>
            </a:r>
            <a:r>
              <a:rPr lang="en-US" sz="1950" dirty="0">
                <a:solidFill>
                  <a:srgbClr val="000000"/>
                </a:solidFill>
                <a:latin typeface="Calibri"/>
              </a:rPr>
              <a:t> is </a:t>
            </a:r>
            <a:r>
              <a:rPr lang="en-US" sz="1950" dirty="0">
                <a:solidFill>
                  <a:srgbClr val="0070C0"/>
                </a:solidFill>
                <a:latin typeface="Calibri"/>
              </a:rPr>
              <a:t>false</a:t>
            </a:r>
            <a:r>
              <a:rPr lang="en-US" sz="1950" dirty="0">
                <a:solidFill>
                  <a:srgbClr val="000000"/>
                </a:solidFill>
                <a:latin typeface="Calibri"/>
              </a:rPr>
              <a:t>. “False Negative”</a:t>
            </a:r>
          </a:p>
          <a:p>
            <a:pPr marL="342900" indent="-342900" fontAlgn="auto">
              <a:lnSpc>
                <a:spcPct val="120000"/>
              </a:lnSpc>
              <a:spcBef>
                <a:spcPts val="0"/>
              </a:spcBef>
              <a:spcAft>
                <a:spcPts val="450"/>
              </a:spcAft>
              <a:buFont typeface="Arial" pitchFamily="34" charset="0"/>
              <a:buChar char="•"/>
            </a:pPr>
            <a:r>
              <a:rPr lang="en-US" sz="1950" dirty="0">
                <a:solidFill>
                  <a:srgbClr val="000000"/>
                </a:solidFill>
                <a:latin typeface="Calibri"/>
              </a:rPr>
              <a:t>The</a:t>
            </a:r>
            <a:r>
              <a:rPr lang="en-US" sz="1950" b="1" dirty="0">
                <a:solidFill>
                  <a:srgbClr val="000000"/>
                </a:solidFill>
                <a:latin typeface="Calibri"/>
              </a:rPr>
              <a:t> </a:t>
            </a:r>
            <a:r>
              <a:rPr lang="en-US" sz="1950" b="1" dirty="0">
                <a:solidFill>
                  <a:srgbClr val="002060"/>
                </a:solidFill>
                <a:latin typeface="Calibri"/>
              </a:rPr>
              <a:t>Power</a:t>
            </a:r>
            <a:r>
              <a:rPr lang="en-US" sz="1950" i="1" dirty="0">
                <a:solidFill>
                  <a:srgbClr val="000000"/>
                </a:solidFill>
                <a:latin typeface="Calibri"/>
              </a:rPr>
              <a:t> </a:t>
            </a:r>
            <a:r>
              <a:rPr lang="en-US" sz="1950" dirty="0">
                <a:solidFill>
                  <a:srgbClr val="000000"/>
                </a:solidFill>
                <a:latin typeface="Calibri"/>
              </a:rPr>
              <a:t>of a test (</a:t>
            </a:r>
            <a:r>
              <a:rPr lang="en-US" sz="1950" i="1" dirty="0">
                <a:solidFill>
                  <a:srgbClr val="000000"/>
                </a:solidFill>
                <a:latin typeface="Calibri"/>
              </a:rPr>
              <a:t>1- </a:t>
            </a:r>
            <a:r>
              <a:rPr lang="el-GR" sz="1950" i="1" dirty="0">
                <a:solidFill>
                  <a:srgbClr val="000000"/>
                </a:solidFill>
                <a:latin typeface="Cambria" pitchFamily="18" charset="0"/>
                <a:cs typeface="Arial" pitchFamily="34" charset="0"/>
              </a:rPr>
              <a:t>β</a:t>
            </a:r>
            <a:r>
              <a:rPr lang="en-US" sz="1950" dirty="0">
                <a:solidFill>
                  <a:srgbClr val="000000"/>
                </a:solidFill>
                <a:latin typeface="Calibri"/>
                <a:cs typeface="Arial" charset="0"/>
              </a:rPr>
              <a:t>) is </a:t>
            </a:r>
            <a:r>
              <a:rPr lang="en-US" sz="1950" dirty="0">
                <a:solidFill>
                  <a:srgbClr val="000000"/>
                </a:solidFill>
                <a:latin typeface="Calibri"/>
              </a:rPr>
              <a:t>the probability to </a:t>
            </a:r>
            <a:r>
              <a:rPr lang="en-US" sz="1950" dirty="0">
                <a:solidFill>
                  <a:srgbClr val="0070C0"/>
                </a:solidFill>
                <a:latin typeface="Calibri"/>
              </a:rPr>
              <a:t>reject</a:t>
            </a:r>
            <a:r>
              <a:rPr lang="en-US" sz="1950" dirty="0">
                <a:solidFill>
                  <a:srgbClr val="000000"/>
                </a:solidFill>
                <a:latin typeface="Calibri"/>
              </a:rPr>
              <a:t> </a:t>
            </a:r>
            <a:r>
              <a:rPr lang="en-US" sz="1950" i="1" dirty="0">
                <a:solidFill>
                  <a:srgbClr val="000000"/>
                </a:solidFill>
                <a:latin typeface="Calibri"/>
              </a:rPr>
              <a:t>H</a:t>
            </a:r>
            <a:r>
              <a:rPr lang="en-US" sz="1950" baseline="-25000" dirty="0">
                <a:solidFill>
                  <a:srgbClr val="000000"/>
                </a:solidFill>
                <a:latin typeface="Calibri"/>
              </a:rPr>
              <a:t>0</a:t>
            </a:r>
            <a:r>
              <a:rPr lang="en-US" sz="1950" dirty="0">
                <a:solidFill>
                  <a:srgbClr val="000000"/>
                </a:solidFill>
                <a:latin typeface="Calibri"/>
              </a:rPr>
              <a:t> when </a:t>
            </a:r>
            <a:r>
              <a:rPr lang="en-US" sz="1950" i="1" dirty="0">
                <a:solidFill>
                  <a:srgbClr val="000000"/>
                </a:solidFill>
                <a:latin typeface="Calibri"/>
              </a:rPr>
              <a:t>H</a:t>
            </a:r>
            <a:r>
              <a:rPr lang="en-US" sz="1950" baseline="-25000" dirty="0">
                <a:solidFill>
                  <a:srgbClr val="000000"/>
                </a:solidFill>
                <a:latin typeface="Calibri"/>
              </a:rPr>
              <a:t>0</a:t>
            </a:r>
            <a:r>
              <a:rPr lang="en-US" sz="1950" dirty="0">
                <a:solidFill>
                  <a:srgbClr val="000000"/>
                </a:solidFill>
                <a:latin typeface="Calibri"/>
              </a:rPr>
              <a:t> is </a:t>
            </a:r>
            <a:r>
              <a:rPr lang="en-US" sz="1950" dirty="0">
                <a:solidFill>
                  <a:srgbClr val="0070C0"/>
                </a:solidFill>
                <a:latin typeface="Calibri"/>
              </a:rPr>
              <a:t>false</a:t>
            </a:r>
            <a:r>
              <a:rPr lang="en-US" sz="1950" dirty="0">
                <a:solidFill>
                  <a:srgbClr val="000000"/>
                </a:solidFill>
                <a:latin typeface="Calibri"/>
              </a:rPr>
              <a:t>.</a:t>
            </a:r>
          </a:p>
          <a:p>
            <a:pPr marL="342900" indent="-342900" fontAlgn="auto">
              <a:lnSpc>
                <a:spcPct val="120000"/>
              </a:lnSpc>
              <a:spcBef>
                <a:spcPts val="0"/>
              </a:spcBef>
              <a:spcAft>
                <a:spcPts val="450"/>
              </a:spcAft>
              <a:buFont typeface="Arial" pitchFamily="34" charset="0"/>
              <a:buChar char="•"/>
            </a:pPr>
            <a:endParaRPr lang="en-US" sz="1950" dirty="0">
              <a:solidFill>
                <a:srgbClr val="000000"/>
              </a:solidFill>
              <a:latin typeface="Calibri"/>
            </a:endParaRPr>
          </a:p>
          <a:p>
            <a:pPr marL="342900" indent="-342900" fontAlgn="auto">
              <a:lnSpc>
                <a:spcPct val="120000"/>
              </a:lnSpc>
              <a:spcBef>
                <a:spcPts val="0"/>
              </a:spcBef>
              <a:spcAft>
                <a:spcPts val="450"/>
              </a:spcAft>
              <a:buFont typeface="Arial" pitchFamily="34" charset="0"/>
              <a:buChar char="•"/>
            </a:pPr>
            <a:endParaRPr lang="en-US" sz="1950" i="1" dirty="0">
              <a:solidFill>
                <a:srgbClr val="000000"/>
              </a:solidFill>
              <a:latin typeface="Calibri"/>
              <a:cs typeface="Arial" charset="0"/>
            </a:endParaRPr>
          </a:p>
        </p:txBody>
      </p:sp>
      <p:sp>
        <p:nvSpPr>
          <p:cNvPr id="3" name="Rektangel 4"/>
          <p:cNvSpPr/>
          <p:nvPr/>
        </p:nvSpPr>
        <p:spPr>
          <a:xfrm>
            <a:off x="1537725" y="6465"/>
            <a:ext cx="6463276" cy="8435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2400" b="1" dirty="0">
                <a:solidFill>
                  <a:sysClr val="windowText" lastClr="000000"/>
                </a:solidFill>
                <a:latin typeface="+mj-lt"/>
              </a:rPr>
              <a:t>Type of errors associated with hypothesis testing</a:t>
            </a:r>
            <a:endParaRPr lang="sv-SE" sz="2400" b="1" dirty="0">
              <a:solidFill>
                <a:sysClr val="windowText" lastClr="000000"/>
              </a:solidFill>
              <a:latin typeface="+mj-lt"/>
              <a:cs typeface="Arial" pitchFamily="34" charset="0"/>
            </a:endParaRPr>
          </a:p>
        </p:txBody>
      </p:sp>
      <p:sp>
        <p:nvSpPr>
          <p:cNvPr id="2" name="Platshållare för bildnummer 1"/>
          <p:cNvSpPr>
            <a:spLocks noGrp="1"/>
          </p:cNvSpPr>
          <p:nvPr>
            <p:ph type="sldNum" sz="quarter" idx="12"/>
          </p:nvPr>
        </p:nvSpPr>
        <p:spPr/>
        <p:txBody>
          <a:bodyPr/>
          <a:lstStyle/>
          <a:p>
            <a:pPr>
              <a:defRPr/>
            </a:pPr>
            <a:fld id="{A443348F-E404-4279-95C8-589D5626F77D}" type="slidenum">
              <a:rPr lang="sv-SE" smtClean="0">
                <a:solidFill>
                  <a:srgbClr val="000000">
                    <a:tint val="75000"/>
                  </a:srgbClr>
                </a:solidFill>
              </a:rPr>
              <a:pPr>
                <a:defRPr/>
              </a:pPr>
              <a:t>44</a:t>
            </a:fld>
            <a:endParaRPr lang="sv-SE">
              <a:solidFill>
                <a:srgbClr val="000000">
                  <a:tint val="75000"/>
                </a:srgbClr>
              </a:solidFill>
            </a:endParaRPr>
          </a:p>
        </p:txBody>
      </p:sp>
      <mc:AlternateContent xmlns:mc="http://schemas.openxmlformats.org/markup-compatibility/2006" xmlns:a14="http://schemas.microsoft.com/office/drawing/2010/main">
        <mc:Choice Requires="a14">
          <p:graphicFrame>
            <p:nvGraphicFramePr>
              <p:cNvPr id="7" name="Tabell 6"/>
              <p:cNvGraphicFramePr>
                <a:graphicFrameLocks noGrp="1"/>
              </p:cNvGraphicFramePr>
              <p:nvPr/>
            </p:nvGraphicFramePr>
            <p:xfrm>
              <a:off x="1601670" y="713802"/>
              <a:ext cx="6129301" cy="1965960"/>
            </p:xfrm>
            <a:graphic>
              <a:graphicData uri="http://schemas.openxmlformats.org/drawingml/2006/table">
                <a:tbl>
                  <a:tblPr firstRow="1" bandRow="1">
                    <a:tableStyleId>{5C22544A-7EE6-4342-B048-85BDC9FD1C3A}</a:tableStyleId>
                  </a:tblPr>
                  <a:tblGrid>
                    <a:gridCol w="1471450">
                      <a:extLst>
                        <a:ext uri="{9D8B030D-6E8A-4147-A177-3AD203B41FA5}">
                          <a16:colId xmlns:a16="http://schemas.microsoft.com/office/drawing/2014/main" val="20000"/>
                        </a:ext>
                      </a:extLst>
                    </a:gridCol>
                    <a:gridCol w="1340817">
                      <a:extLst>
                        <a:ext uri="{9D8B030D-6E8A-4147-A177-3AD203B41FA5}">
                          <a16:colId xmlns:a16="http://schemas.microsoft.com/office/drawing/2014/main" val="20001"/>
                        </a:ext>
                      </a:extLst>
                    </a:gridCol>
                    <a:gridCol w="1442189">
                      <a:extLst>
                        <a:ext uri="{9D8B030D-6E8A-4147-A177-3AD203B41FA5}">
                          <a16:colId xmlns:a16="http://schemas.microsoft.com/office/drawing/2014/main" val="20002"/>
                        </a:ext>
                      </a:extLst>
                    </a:gridCol>
                    <a:gridCol w="1874845">
                      <a:extLst>
                        <a:ext uri="{9D8B030D-6E8A-4147-A177-3AD203B41FA5}">
                          <a16:colId xmlns:a16="http://schemas.microsoft.com/office/drawing/2014/main" val="20003"/>
                        </a:ext>
                      </a:extLst>
                    </a:gridCol>
                  </a:tblGrid>
                  <a:tr h="388620">
                    <a:tc rowSpan="2">
                      <a:txBody>
                        <a:bodyPr/>
                        <a:lstStyle/>
                        <a:p>
                          <a:endParaRPr lang="sv-SE" sz="1500" dirty="0"/>
                        </a:p>
                      </a:txBody>
                      <a:tcPr marL="68580" marR="68580" marT="34290" marB="34290">
                        <a:noFill/>
                      </a:tcPr>
                    </a:tc>
                    <a:tc>
                      <a:txBody>
                        <a:bodyPr/>
                        <a:lstStyle/>
                        <a:p>
                          <a:endParaRPr lang="sv-SE" sz="1500" dirty="0"/>
                        </a:p>
                      </a:txBody>
                      <a:tcPr marL="68580" marR="68580" marT="34290" marB="34290">
                        <a:noFill/>
                      </a:tcPr>
                    </a:tc>
                    <a:tc gridSpan="2">
                      <a:txBody>
                        <a:bodyPr/>
                        <a:lstStyle/>
                        <a:p>
                          <a:r>
                            <a:rPr lang="sv-SE" sz="2100" dirty="0" err="1"/>
                            <a:t>True</a:t>
                          </a:r>
                          <a:r>
                            <a:rPr lang="sv-SE" sz="2100" dirty="0"/>
                            <a:t> </a:t>
                          </a:r>
                          <a:r>
                            <a:rPr lang="sv-SE" sz="2100" dirty="0" err="1"/>
                            <a:t>state</a:t>
                          </a:r>
                          <a:r>
                            <a:rPr lang="sv-SE" sz="2100" dirty="0"/>
                            <a:t> </a:t>
                          </a:r>
                          <a:r>
                            <a:rPr lang="sv-SE" sz="2100" dirty="0" err="1"/>
                            <a:t>of</a:t>
                          </a:r>
                          <a:r>
                            <a:rPr lang="sv-SE" sz="2100" dirty="0"/>
                            <a:t> </a:t>
                          </a:r>
                          <a:r>
                            <a:rPr lang="sv-SE" sz="2100" dirty="0" err="1"/>
                            <a:t>nature</a:t>
                          </a:r>
                          <a:endParaRPr lang="sv-SE" sz="2100" dirty="0"/>
                        </a:p>
                      </a:txBody>
                      <a:tcPr marL="68580" marR="68580" marT="34290" marB="34290"/>
                    </a:tc>
                    <a:tc hMerge="1">
                      <a:txBody>
                        <a:bodyPr/>
                        <a:lstStyle/>
                        <a:p>
                          <a:endParaRPr lang="sv-SE" dirty="0"/>
                        </a:p>
                      </a:txBody>
                      <a:tcPr/>
                    </a:tc>
                    <a:extLst>
                      <a:ext uri="{0D108BD9-81ED-4DB2-BD59-A6C34878D82A}">
                        <a16:rowId xmlns:a16="http://schemas.microsoft.com/office/drawing/2014/main" val="10000"/>
                      </a:ext>
                    </a:extLst>
                  </a:tr>
                  <a:tr h="525780">
                    <a:tc vMerge="1">
                      <a:txBody>
                        <a:bodyPr/>
                        <a:lstStyle/>
                        <a:p>
                          <a:pPr marL="0" algn="l" defTabSz="914400" rtl="0" eaLnBrk="1" latinLnBrk="0" hangingPunct="1"/>
                          <a:endParaRPr lang="sv-SE" sz="2000" b="1" kern="1200" dirty="0">
                            <a:solidFill>
                              <a:schemeClr val="lt1"/>
                            </a:solidFill>
                            <a:latin typeface="+mn-lt"/>
                            <a:ea typeface="+mn-ea"/>
                            <a:cs typeface="+mn-cs"/>
                          </a:endParaRPr>
                        </a:p>
                      </a:txBody>
                      <a:tcPr>
                        <a:solidFill>
                          <a:schemeClr val="accent1"/>
                        </a:solidFill>
                      </a:tcPr>
                    </a:tc>
                    <a:tc>
                      <a:txBody>
                        <a:bodyPr/>
                        <a:lstStyle/>
                        <a:p>
                          <a:endParaRPr lang="sv-SE" sz="1500" dirty="0"/>
                        </a:p>
                      </a:txBody>
                      <a:tcPr marL="68580" marR="68580" marT="34290" marB="34290">
                        <a:noFill/>
                      </a:tcPr>
                    </a:tc>
                    <a:tc>
                      <a:txBody>
                        <a:bodyPr/>
                        <a:lstStyle/>
                        <a:p>
                          <a14:m>
                            <m:oMath xmlns:m="http://schemas.openxmlformats.org/officeDocument/2006/math">
                              <m:sSub>
                                <m:sSubPr>
                                  <m:ctrlPr>
                                    <a:rPr lang="sv-SE" sz="1500" b="1" i="1" smtClean="0">
                                      <a:latin typeface="Cambria Math" panose="02040503050406030204" pitchFamily="18" charset="0"/>
                                    </a:rPr>
                                  </m:ctrlPr>
                                </m:sSubPr>
                                <m:e>
                                  <m:r>
                                    <a:rPr lang="sv-SE" sz="1500" b="1" i="1" smtClean="0">
                                      <a:latin typeface="Cambria Math"/>
                                    </a:rPr>
                                    <m:t>𝑯</m:t>
                                  </m:r>
                                </m:e>
                                <m:sub>
                                  <m:r>
                                    <a:rPr lang="sv-SE" sz="1500" b="1" i="1" smtClean="0">
                                      <a:latin typeface="Cambria Math"/>
                                    </a:rPr>
                                    <m:t>𝟎</m:t>
                                  </m:r>
                                </m:sub>
                              </m:sSub>
                            </m:oMath>
                          </a14:m>
                          <a:r>
                            <a:rPr lang="sv-SE" sz="1500" b="1" dirty="0"/>
                            <a:t> is </a:t>
                          </a:r>
                          <a:r>
                            <a:rPr lang="sv-SE" sz="1500" b="1" dirty="0" err="1"/>
                            <a:t>true</a:t>
                          </a:r>
                          <a:endParaRPr lang="sv-SE" sz="1500" b="1" dirty="0"/>
                        </a:p>
                        <a:p>
                          <a:r>
                            <a:rPr lang="sv-SE" sz="1500" b="1" dirty="0"/>
                            <a:t>(No </a:t>
                          </a:r>
                          <a:r>
                            <a:rPr lang="sv-SE" sz="1500" b="1" dirty="0" err="1"/>
                            <a:t>difference</a:t>
                          </a:r>
                          <a:r>
                            <a:rPr lang="sv-SE" sz="1500" b="1" dirty="0"/>
                            <a:t>)</a:t>
                          </a:r>
                        </a:p>
                      </a:txBody>
                      <a:tcPr marL="68580" marR="68580" marT="34290" marB="34290"/>
                    </a:tc>
                    <a:tc>
                      <a:txBody>
                        <a:bodyPr/>
                        <a:lstStyle/>
                        <a:p>
                          <a14:m>
                            <m:oMath xmlns:m="http://schemas.openxmlformats.org/officeDocument/2006/math">
                              <m:sSub>
                                <m:sSubPr>
                                  <m:ctrlPr>
                                    <a:rPr lang="sv-SE" sz="1500" b="1" i="1" smtClean="0">
                                      <a:latin typeface="Cambria Math" panose="02040503050406030204" pitchFamily="18" charset="0"/>
                                    </a:rPr>
                                  </m:ctrlPr>
                                </m:sSubPr>
                                <m:e>
                                  <m:r>
                                    <a:rPr lang="sv-SE" sz="1500" b="1" i="1" smtClean="0">
                                      <a:latin typeface="Cambria Math"/>
                                    </a:rPr>
                                    <m:t>𝑯</m:t>
                                  </m:r>
                                </m:e>
                                <m:sub>
                                  <m:r>
                                    <a:rPr lang="sv-SE" sz="1500" b="1" i="1" smtClean="0">
                                      <a:latin typeface="Cambria Math"/>
                                    </a:rPr>
                                    <m:t>𝟏</m:t>
                                  </m:r>
                                </m:sub>
                              </m:sSub>
                            </m:oMath>
                          </a14:m>
                          <a:r>
                            <a:rPr lang="sv-SE" sz="1500" b="1" dirty="0"/>
                            <a:t> is </a:t>
                          </a:r>
                          <a:r>
                            <a:rPr lang="sv-SE" sz="1500" b="1" dirty="0" err="1"/>
                            <a:t>true</a:t>
                          </a:r>
                          <a:endParaRPr lang="sv-SE" sz="1500" b="1" dirty="0"/>
                        </a:p>
                        <a:p>
                          <a:pPr marL="0" marR="0" lvl="0" indent="0" algn="l" defTabSz="457200" rtl="0" eaLnBrk="1" fontAlgn="auto" latinLnBrk="0" hangingPunct="1">
                            <a:lnSpc>
                              <a:spcPct val="100000"/>
                            </a:lnSpc>
                            <a:spcBef>
                              <a:spcPts val="0"/>
                            </a:spcBef>
                            <a:spcAft>
                              <a:spcPts val="0"/>
                            </a:spcAft>
                            <a:buClrTx/>
                            <a:buSzTx/>
                            <a:buFontTx/>
                            <a:buNone/>
                            <a:tabLst/>
                            <a:defRPr/>
                          </a:pPr>
                          <a:r>
                            <a:rPr lang="sv-SE" sz="1500" b="1" dirty="0"/>
                            <a:t>(</a:t>
                          </a:r>
                          <a:r>
                            <a:rPr lang="sv-SE" sz="1500" b="1" dirty="0" err="1"/>
                            <a:t>Difference</a:t>
                          </a:r>
                          <a:r>
                            <a:rPr lang="sv-SE" sz="1500" b="1" dirty="0"/>
                            <a:t> </a:t>
                          </a:r>
                          <a:r>
                            <a:rPr lang="sv-SE" sz="1500" b="1" dirty="0" err="1"/>
                            <a:t>exists</a:t>
                          </a:r>
                          <a:r>
                            <a:rPr lang="sv-SE" sz="1500" b="1" dirty="0"/>
                            <a:t>)</a:t>
                          </a:r>
                        </a:p>
                      </a:txBody>
                      <a:tcPr marL="68580" marR="68580" marT="34290" marB="34290"/>
                    </a:tc>
                    <a:extLst>
                      <a:ext uri="{0D108BD9-81ED-4DB2-BD59-A6C34878D82A}">
                        <a16:rowId xmlns:a16="http://schemas.microsoft.com/office/drawing/2014/main" val="10001"/>
                      </a:ext>
                    </a:extLst>
                  </a:tr>
                  <a:tr h="525780">
                    <a:tc rowSpan="2">
                      <a:txBody>
                        <a:bodyPr/>
                        <a:lstStyle/>
                        <a:p>
                          <a:pPr marL="0" algn="l" defTabSz="914400" rtl="0" eaLnBrk="1" latinLnBrk="0" hangingPunct="1"/>
                          <a:r>
                            <a:rPr lang="sv-SE" sz="2100" b="1" kern="1200" dirty="0" err="1">
                              <a:solidFill>
                                <a:schemeClr val="lt1"/>
                              </a:solidFill>
                              <a:latin typeface="+mn-lt"/>
                              <a:ea typeface="+mn-ea"/>
                              <a:cs typeface="+mn-cs"/>
                            </a:rPr>
                            <a:t>Our</a:t>
                          </a:r>
                          <a:r>
                            <a:rPr lang="sv-SE" sz="2100" b="1" kern="1200" dirty="0">
                              <a:solidFill>
                                <a:schemeClr val="lt1"/>
                              </a:solidFill>
                              <a:latin typeface="+mn-lt"/>
                              <a:ea typeface="+mn-ea"/>
                              <a:cs typeface="+mn-cs"/>
                            </a:rPr>
                            <a:t> decision</a:t>
                          </a:r>
                        </a:p>
                      </a:txBody>
                      <a:tcPr marL="68580" marR="68580" marT="34290" marB="34290">
                        <a:solidFill>
                          <a:schemeClr val="accent1"/>
                        </a:solidFill>
                      </a:tcPr>
                    </a:tc>
                    <a:tc>
                      <a:txBody>
                        <a:bodyPr/>
                        <a:lstStyle/>
                        <a:p>
                          <a:r>
                            <a:rPr lang="sv-SE" sz="1500" b="1" dirty="0"/>
                            <a:t>Do Not </a:t>
                          </a:r>
                          <a:r>
                            <a:rPr lang="sv-SE" sz="1500" b="1" dirty="0" err="1"/>
                            <a:t>reject</a:t>
                          </a:r>
                          <a:r>
                            <a:rPr lang="sv-SE" sz="1500" b="1" dirty="0"/>
                            <a:t> </a:t>
                          </a:r>
                          <a14:m>
                            <m:oMath xmlns:m="http://schemas.openxmlformats.org/officeDocument/2006/math">
                              <m:sSub>
                                <m:sSubPr>
                                  <m:ctrlPr>
                                    <a:rPr lang="sv-SE" sz="1500" b="1" i="1" smtClean="0">
                                      <a:latin typeface="Cambria Math" panose="02040503050406030204" pitchFamily="18" charset="0"/>
                                    </a:rPr>
                                  </m:ctrlPr>
                                </m:sSubPr>
                                <m:e>
                                  <m:r>
                                    <a:rPr lang="sv-SE" sz="1500" b="1" i="1" smtClean="0">
                                      <a:latin typeface="Cambria Math"/>
                                    </a:rPr>
                                    <m:t>𝑯</m:t>
                                  </m:r>
                                </m:e>
                                <m:sub>
                                  <m:r>
                                    <a:rPr lang="sv-SE" sz="1500" b="1" i="1" smtClean="0">
                                      <a:latin typeface="Cambria Math"/>
                                    </a:rPr>
                                    <m:t>𝟎</m:t>
                                  </m:r>
                                </m:sub>
                              </m:sSub>
                            </m:oMath>
                          </a14:m>
                          <a:endParaRPr lang="sv-SE" sz="1500" b="1" dirty="0"/>
                        </a:p>
                      </a:txBody>
                      <a:tcPr marL="68580" marR="68580" marT="34290" marB="34290">
                        <a:solidFill>
                          <a:schemeClr val="bg2">
                            <a:lumMod val="90000"/>
                          </a:schemeClr>
                        </a:solidFill>
                      </a:tcPr>
                    </a:tc>
                    <a:tc>
                      <a:txBody>
                        <a:bodyPr/>
                        <a:lstStyle/>
                        <a:p>
                          <a:r>
                            <a:rPr lang="sv-SE" sz="1500" dirty="0" err="1">
                              <a:solidFill>
                                <a:srgbClr val="00B050"/>
                              </a:solidFill>
                            </a:rPr>
                            <a:t>Correct</a:t>
                          </a:r>
                          <a:r>
                            <a:rPr lang="sv-SE" sz="1500" dirty="0">
                              <a:solidFill>
                                <a:srgbClr val="00B050"/>
                              </a:solidFill>
                            </a:rPr>
                            <a:t> decision</a:t>
                          </a:r>
                        </a:p>
                      </a:txBody>
                      <a:tcPr marL="68580" marR="68580" marT="34290" marB="34290"/>
                    </a:tc>
                    <a:tc>
                      <a:txBody>
                        <a:bodyPr/>
                        <a:lstStyle/>
                        <a:p>
                          <a:r>
                            <a:rPr lang="sv-SE" sz="1600" b="1" dirty="0">
                              <a:solidFill>
                                <a:srgbClr val="C00000"/>
                              </a:solidFill>
                            </a:rPr>
                            <a:t>Type-2 </a:t>
                          </a:r>
                          <a:r>
                            <a:rPr lang="sv-SE" sz="1600" b="1" dirty="0" err="1">
                              <a:solidFill>
                                <a:srgbClr val="C00000"/>
                              </a:solidFill>
                            </a:rPr>
                            <a:t>error</a:t>
                          </a:r>
                          <a:endParaRPr lang="sv-SE" sz="1600" b="1" dirty="0">
                            <a:solidFill>
                              <a:srgbClr val="C00000"/>
                            </a:solidFill>
                          </a:endParaRPr>
                        </a:p>
                      </a:txBody>
                      <a:tcPr marL="68580" marR="68580" marT="34290" marB="34290"/>
                    </a:tc>
                    <a:extLst>
                      <a:ext uri="{0D108BD9-81ED-4DB2-BD59-A6C34878D82A}">
                        <a16:rowId xmlns:a16="http://schemas.microsoft.com/office/drawing/2014/main" val="10002"/>
                      </a:ext>
                    </a:extLst>
                  </a:tr>
                  <a:tr h="525780">
                    <a:tc vMerge="1">
                      <a:txBody>
                        <a:bodyPr/>
                        <a:lstStyle/>
                        <a:p>
                          <a:endParaRPr lang="sv-SE" dirty="0"/>
                        </a:p>
                      </a:txBody>
                      <a:tcPr/>
                    </a:tc>
                    <a:tc>
                      <a:txBody>
                        <a:bodyPr/>
                        <a:lstStyle/>
                        <a:p>
                          <a:r>
                            <a:rPr lang="sv-SE" sz="1500" b="1" dirty="0"/>
                            <a:t>Reject </a:t>
                          </a:r>
                          <a14:m>
                            <m:oMath xmlns:m="http://schemas.openxmlformats.org/officeDocument/2006/math">
                              <m:sSub>
                                <m:sSubPr>
                                  <m:ctrlPr>
                                    <a:rPr lang="sv-SE" sz="1500" b="1" i="1" smtClean="0">
                                      <a:latin typeface="Cambria Math" panose="02040503050406030204" pitchFamily="18" charset="0"/>
                                    </a:rPr>
                                  </m:ctrlPr>
                                </m:sSubPr>
                                <m:e>
                                  <m:r>
                                    <a:rPr lang="sv-SE" sz="1500" b="1" i="1" smtClean="0">
                                      <a:latin typeface="Cambria Math"/>
                                    </a:rPr>
                                    <m:t>𝑯</m:t>
                                  </m:r>
                                </m:e>
                                <m:sub>
                                  <m:r>
                                    <a:rPr lang="sv-SE" sz="1500" b="1" i="1" smtClean="0">
                                      <a:latin typeface="Cambria Math"/>
                                    </a:rPr>
                                    <m:t>𝟎</m:t>
                                  </m:r>
                                </m:sub>
                              </m:sSub>
                            </m:oMath>
                          </a14:m>
                          <a:endParaRPr lang="sv-SE" sz="1500" b="1" dirty="0"/>
                        </a:p>
                      </a:txBody>
                      <a:tcPr marL="68580" marR="68580" marT="34290" marB="34290">
                        <a:solidFill>
                          <a:schemeClr val="bg2">
                            <a:lumMod val="90000"/>
                          </a:schemeClr>
                        </a:solidFill>
                      </a:tcPr>
                    </a:tc>
                    <a:tc>
                      <a:txBody>
                        <a:bodyPr/>
                        <a:lstStyle/>
                        <a:p>
                          <a:r>
                            <a:rPr lang="sv-SE" sz="1600" b="1" dirty="0">
                              <a:solidFill>
                                <a:srgbClr val="C00000"/>
                              </a:solidFill>
                            </a:rPr>
                            <a:t>Type-1 </a:t>
                          </a:r>
                          <a:r>
                            <a:rPr lang="sv-SE" sz="1600" b="1" dirty="0" err="1">
                              <a:solidFill>
                                <a:srgbClr val="C00000"/>
                              </a:solidFill>
                            </a:rPr>
                            <a:t>error</a:t>
                          </a:r>
                          <a:endParaRPr lang="sv-SE" sz="1600" b="1" dirty="0">
                            <a:solidFill>
                              <a:srgbClr val="C00000"/>
                            </a:solidFill>
                          </a:endParaRPr>
                        </a:p>
                      </a:txBody>
                      <a:tcPr marL="68580" marR="68580" marT="34290" marB="34290"/>
                    </a:tc>
                    <a:tc>
                      <a:txBody>
                        <a:bodyPr/>
                        <a:lstStyle/>
                        <a:p>
                          <a:r>
                            <a:rPr lang="sv-SE" sz="1500" dirty="0" err="1">
                              <a:solidFill>
                                <a:srgbClr val="00B050"/>
                              </a:solidFill>
                            </a:rPr>
                            <a:t>Correct</a:t>
                          </a:r>
                          <a:r>
                            <a:rPr lang="sv-SE" sz="1500" dirty="0">
                              <a:solidFill>
                                <a:srgbClr val="00B050"/>
                              </a:solidFill>
                            </a:rPr>
                            <a:t> decision (</a:t>
                          </a:r>
                          <a:r>
                            <a:rPr lang="sv-SE" sz="1500" dirty="0" err="1">
                              <a:solidFill>
                                <a:srgbClr val="00B050"/>
                              </a:solidFill>
                            </a:rPr>
                            <a:t>power</a:t>
                          </a:r>
                          <a:r>
                            <a:rPr lang="sv-SE" sz="1500" dirty="0">
                              <a:solidFill>
                                <a:srgbClr val="00B050"/>
                              </a:solidFill>
                            </a:rPr>
                            <a:t>)</a:t>
                          </a:r>
                        </a:p>
                      </a:txBody>
                      <a:tcPr marL="68580" marR="68580" marT="34290" marB="34290"/>
                    </a:tc>
                    <a:extLst>
                      <a:ext uri="{0D108BD9-81ED-4DB2-BD59-A6C34878D82A}">
                        <a16:rowId xmlns:a16="http://schemas.microsoft.com/office/drawing/2014/main" val="10003"/>
                      </a:ext>
                    </a:extLst>
                  </a:tr>
                </a:tbl>
              </a:graphicData>
            </a:graphic>
          </p:graphicFrame>
        </mc:Choice>
        <mc:Fallback xmlns="">
          <p:graphicFrame>
            <p:nvGraphicFramePr>
              <p:cNvPr id="7" name="Tabell 6"/>
              <p:cNvGraphicFramePr>
                <a:graphicFrameLocks noGrp="1"/>
              </p:cNvGraphicFramePr>
              <p:nvPr>
                <p:extLst/>
              </p:nvPr>
            </p:nvGraphicFramePr>
            <p:xfrm>
              <a:off x="1601670" y="713802"/>
              <a:ext cx="6129301" cy="1965960"/>
            </p:xfrm>
            <a:graphic>
              <a:graphicData uri="http://schemas.openxmlformats.org/drawingml/2006/table">
                <a:tbl>
                  <a:tblPr firstRow="1" bandRow="1">
                    <a:tableStyleId>{5C22544A-7EE6-4342-B048-85BDC9FD1C3A}</a:tableStyleId>
                  </a:tblPr>
                  <a:tblGrid>
                    <a:gridCol w="1471450">
                      <a:extLst>
                        <a:ext uri="{9D8B030D-6E8A-4147-A177-3AD203B41FA5}">
                          <a16:colId xmlns:a16="http://schemas.microsoft.com/office/drawing/2014/main" val="20000"/>
                        </a:ext>
                      </a:extLst>
                    </a:gridCol>
                    <a:gridCol w="1340817">
                      <a:extLst>
                        <a:ext uri="{9D8B030D-6E8A-4147-A177-3AD203B41FA5}">
                          <a16:colId xmlns:a16="http://schemas.microsoft.com/office/drawing/2014/main" val="20001"/>
                        </a:ext>
                      </a:extLst>
                    </a:gridCol>
                    <a:gridCol w="1442189">
                      <a:extLst>
                        <a:ext uri="{9D8B030D-6E8A-4147-A177-3AD203B41FA5}">
                          <a16:colId xmlns:a16="http://schemas.microsoft.com/office/drawing/2014/main" val="20002"/>
                        </a:ext>
                      </a:extLst>
                    </a:gridCol>
                    <a:gridCol w="1874845">
                      <a:extLst>
                        <a:ext uri="{9D8B030D-6E8A-4147-A177-3AD203B41FA5}">
                          <a16:colId xmlns:a16="http://schemas.microsoft.com/office/drawing/2014/main" val="20003"/>
                        </a:ext>
                      </a:extLst>
                    </a:gridCol>
                  </a:tblGrid>
                  <a:tr h="388620">
                    <a:tc rowSpan="2">
                      <a:txBody>
                        <a:bodyPr/>
                        <a:lstStyle/>
                        <a:p>
                          <a:endParaRPr lang="sv-SE" sz="1500" dirty="0"/>
                        </a:p>
                      </a:txBody>
                      <a:tcPr marL="68580" marR="68580" marT="34290" marB="34290">
                        <a:noFill/>
                      </a:tcPr>
                    </a:tc>
                    <a:tc>
                      <a:txBody>
                        <a:bodyPr/>
                        <a:lstStyle/>
                        <a:p>
                          <a:endParaRPr lang="sv-SE" sz="1500" dirty="0"/>
                        </a:p>
                      </a:txBody>
                      <a:tcPr marL="68580" marR="68580" marT="34290" marB="34290">
                        <a:noFill/>
                      </a:tcPr>
                    </a:tc>
                    <a:tc gridSpan="2">
                      <a:txBody>
                        <a:bodyPr/>
                        <a:lstStyle/>
                        <a:p>
                          <a:r>
                            <a:rPr lang="sv-SE" sz="2100" dirty="0" err="1"/>
                            <a:t>True</a:t>
                          </a:r>
                          <a:r>
                            <a:rPr lang="sv-SE" sz="2100" dirty="0"/>
                            <a:t> </a:t>
                          </a:r>
                          <a:r>
                            <a:rPr lang="sv-SE" sz="2100" dirty="0" err="1"/>
                            <a:t>state</a:t>
                          </a:r>
                          <a:r>
                            <a:rPr lang="sv-SE" sz="2100" dirty="0"/>
                            <a:t> </a:t>
                          </a:r>
                          <a:r>
                            <a:rPr lang="sv-SE" sz="2100" dirty="0" err="1"/>
                            <a:t>of</a:t>
                          </a:r>
                          <a:r>
                            <a:rPr lang="sv-SE" sz="2100" dirty="0"/>
                            <a:t> </a:t>
                          </a:r>
                          <a:r>
                            <a:rPr lang="sv-SE" sz="2100" dirty="0" err="1"/>
                            <a:t>nature</a:t>
                          </a:r>
                          <a:endParaRPr lang="sv-SE" sz="2100" dirty="0"/>
                        </a:p>
                      </a:txBody>
                      <a:tcPr marL="68580" marR="68580" marT="34290" marB="34290"/>
                    </a:tc>
                    <a:tc hMerge="1">
                      <a:txBody>
                        <a:bodyPr/>
                        <a:lstStyle/>
                        <a:p>
                          <a:endParaRPr lang="sv-SE" dirty="0"/>
                        </a:p>
                      </a:txBody>
                      <a:tcPr/>
                    </a:tc>
                    <a:extLst>
                      <a:ext uri="{0D108BD9-81ED-4DB2-BD59-A6C34878D82A}">
                        <a16:rowId xmlns:a16="http://schemas.microsoft.com/office/drawing/2014/main" val="10000"/>
                      </a:ext>
                    </a:extLst>
                  </a:tr>
                  <a:tr h="525780">
                    <a:tc vMerge="1">
                      <a:txBody>
                        <a:bodyPr/>
                        <a:lstStyle/>
                        <a:p>
                          <a:pPr marL="0" algn="l" defTabSz="914400" rtl="0" eaLnBrk="1" latinLnBrk="0" hangingPunct="1"/>
                          <a:endParaRPr lang="sv-SE" sz="2000" b="1" kern="1200" dirty="0">
                            <a:solidFill>
                              <a:schemeClr val="lt1"/>
                            </a:solidFill>
                            <a:latin typeface="+mn-lt"/>
                            <a:ea typeface="+mn-ea"/>
                            <a:cs typeface="+mn-cs"/>
                          </a:endParaRPr>
                        </a:p>
                      </a:txBody>
                      <a:tcPr>
                        <a:solidFill>
                          <a:schemeClr val="accent1"/>
                        </a:solidFill>
                      </a:tcPr>
                    </a:tc>
                    <a:tc>
                      <a:txBody>
                        <a:bodyPr/>
                        <a:lstStyle/>
                        <a:p>
                          <a:endParaRPr lang="sv-SE" sz="1500" dirty="0"/>
                        </a:p>
                      </a:txBody>
                      <a:tcPr marL="68580" marR="68580" marT="34290" marB="34290">
                        <a:noFill/>
                      </a:tcPr>
                    </a:tc>
                    <a:tc>
                      <a:txBody>
                        <a:bodyPr/>
                        <a:lstStyle/>
                        <a:p>
                          <a:endParaRPr lang="sv-SE"/>
                        </a:p>
                      </a:txBody>
                      <a:tcPr marL="68580" marR="68580" marT="34290" marB="34290">
                        <a:blipFill>
                          <a:blip r:embed="rId3"/>
                          <a:stretch>
                            <a:fillRect l="-195359" t="-83721" r="-131646" b="-216279"/>
                          </a:stretch>
                        </a:blipFill>
                      </a:tcPr>
                    </a:tc>
                    <a:tc>
                      <a:txBody>
                        <a:bodyPr/>
                        <a:lstStyle/>
                        <a:p>
                          <a:endParaRPr lang="sv-SE"/>
                        </a:p>
                      </a:txBody>
                      <a:tcPr marL="68580" marR="68580" marT="34290" marB="34290">
                        <a:blipFill>
                          <a:blip r:embed="rId3"/>
                          <a:stretch>
                            <a:fillRect l="-227273" t="-83721" r="-1299" b="-216279"/>
                          </a:stretch>
                        </a:blipFill>
                      </a:tcPr>
                    </a:tc>
                    <a:extLst>
                      <a:ext uri="{0D108BD9-81ED-4DB2-BD59-A6C34878D82A}">
                        <a16:rowId xmlns:a16="http://schemas.microsoft.com/office/drawing/2014/main" val="10001"/>
                      </a:ext>
                    </a:extLst>
                  </a:tr>
                  <a:tr h="525780">
                    <a:tc rowSpan="2">
                      <a:txBody>
                        <a:bodyPr/>
                        <a:lstStyle/>
                        <a:p>
                          <a:pPr marL="0" algn="l" defTabSz="914400" rtl="0" eaLnBrk="1" latinLnBrk="0" hangingPunct="1"/>
                          <a:r>
                            <a:rPr lang="sv-SE" sz="2100" b="1" kern="1200" dirty="0" err="1">
                              <a:solidFill>
                                <a:schemeClr val="lt1"/>
                              </a:solidFill>
                              <a:latin typeface="+mn-lt"/>
                              <a:ea typeface="+mn-ea"/>
                              <a:cs typeface="+mn-cs"/>
                            </a:rPr>
                            <a:t>Our</a:t>
                          </a:r>
                          <a:r>
                            <a:rPr lang="sv-SE" sz="2100" b="1" kern="1200" dirty="0">
                              <a:solidFill>
                                <a:schemeClr val="lt1"/>
                              </a:solidFill>
                              <a:latin typeface="+mn-lt"/>
                              <a:ea typeface="+mn-ea"/>
                              <a:cs typeface="+mn-cs"/>
                            </a:rPr>
                            <a:t> decision</a:t>
                          </a:r>
                        </a:p>
                      </a:txBody>
                      <a:tcPr marL="68580" marR="68580" marT="34290" marB="34290">
                        <a:solidFill>
                          <a:schemeClr val="accent1"/>
                        </a:solidFill>
                      </a:tcPr>
                    </a:tc>
                    <a:tc>
                      <a:txBody>
                        <a:bodyPr/>
                        <a:lstStyle/>
                        <a:p>
                          <a:endParaRPr lang="sv-SE"/>
                        </a:p>
                      </a:txBody>
                      <a:tcPr marL="68580" marR="68580" marT="34290" marB="34290">
                        <a:blipFill>
                          <a:blip r:embed="rId3"/>
                          <a:stretch>
                            <a:fillRect l="-110455" t="-181609" r="-249545" b="-113793"/>
                          </a:stretch>
                        </a:blipFill>
                      </a:tcPr>
                    </a:tc>
                    <a:tc>
                      <a:txBody>
                        <a:bodyPr/>
                        <a:lstStyle/>
                        <a:p>
                          <a:r>
                            <a:rPr lang="sv-SE" sz="1500" dirty="0" err="1">
                              <a:solidFill>
                                <a:srgbClr val="00B050"/>
                              </a:solidFill>
                            </a:rPr>
                            <a:t>Correct</a:t>
                          </a:r>
                          <a:r>
                            <a:rPr lang="sv-SE" sz="1500" dirty="0">
                              <a:solidFill>
                                <a:srgbClr val="00B050"/>
                              </a:solidFill>
                            </a:rPr>
                            <a:t> decision</a:t>
                          </a:r>
                        </a:p>
                      </a:txBody>
                      <a:tcPr marL="68580" marR="68580" marT="34290" marB="34290"/>
                    </a:tc>
                    <a:tc>
                      <a:txBody>
                        <a:bodyPr/>
                        <a:lstStyle/>
                        <a:p>
                          <a:r>
                            <a:rPr lang="sv-SE" sz="1600" b="1" dirty="0">
                              <a:solidFill>
                                <a:srgbClr val="C00000"/>
                              </a:solidFill>
                            </a:rPr>
                            <a:t>Type-2 </a:t>
                          </a:r>
                          <a:r>
                            <a:rPr lang="sv-SE" sz="1600" b="1" dirty="0" err="1">
                              <a:solidFill>
                                <a:srgbClr val="C00000"/>
                              </a:solidFill>
                            </a:rPr>
                            <a:t>error</a:t>
                          </a:r>
                          <a:endParaRPr lang="sv-SE" sz="1600" b="1" dirty="0">
                            <a:solidFill>
                              <a:srgbClr val="C00000"/>
                            </a:solidFill>
                          </a:endParaRPr>
                        </a:p>
                      </a:txBody>
                      <a:tcPr marL="68580" marR="68580" marT="34290" marB="34290"/>
                    </a:tc>
                    <a:extLst>
                      <a:ext uri="{0D108BD9-81ED-4DB2-BD59-A6C34878D82A}">
                        <a16:rowId xmlns:a16="http://schemas.microsoft.com/office/drawing/2014/main" val="10002"/>
                      </a:ext>
                    </a:extLst>
                  </a:tr>
                  <a:tr h="525780">
                    <a:tc vMerge="1">
                      <a:txBody>
                        <a:bodyPr/>
                        <a:lstStyle/>
                        <a:p>
                          <a:endParaRPr lang="sv-SE" dirty="0"/>
                        </a:p>
                      </a:txBody>
                      <a:tcPr/>
                    </a:tc>
                    <a:tc>
                      <a:txBody>
                        <a:bodyPr/>
                        <a:lstStyle/>
                        <a:p>
                          <a:endParaRPr lang="sv-SE"/>
                        </a:p>
                      </a:txBody>
                      <a:tcPr marL="68580" marR="68580" marT="34290" marB="34290">
                        <a:blipFill>
                          <a:blip r:embed="rId3"/>
                          <a:stretch>
                            <a:fillRect l="-110455" t="-284884" r="-249545" b="-15116"/>
                          </a:stretch>
                        </a:blipFill>
                      </a:tcPr>
                    </a:tc>
                    <a:tc>
                      <a:txBody>
                        <a:bodyPr/>
                        <a:lstStyle/>
                        <a:p>
                          <a:r>
                            <a:rPr lang="sv-SE" sz="1600" b="1" dirty="0">
                              <a:solidFill>
                                <a:srgbClr val="C00000"/>
                              </a:solidFill>
                            </a:rPr>
                            <a:t>Type-1 </a:t>
                          </a:r>
                          <a:r>
                            <a:rPr lang="sv-SE" sz="1600" b="1" dirty="0" err="1">
                              <a:solidFill>
                                <a:srgbClr val="C00000"/>
                              </a:solidFill>
                            </a:rPr>
                            <a:t>error</a:t>
                          </a:r>
                          <a:endParaRPr lang="sv-SE" sz="1600" b="1" dirty="0">
                            <a:solidFill>
                              <a:srgbClr val="C00000"/>
                            </a:solidFill>
                          </a:endParaRPr>
                        </a:p>
                      </a:txBody>
                      <a:tcPr marL="68580" marR="68580" marT="34290" marB="34290"/>
                    </a:tc>
                    <a:tc>
                      <a:txBody>
                        <a:bodyPr/>
                        <a:lstStyle/>
                        <a:p>
                          <a:r>
                            <a:rPr lang="sv-SE" sz="1500" dirty="0" err="1">
                              <a:solidFill>
                                <a:srgbClr val="00B050"/>
                              </a:solidFill>
                            </a:rPr>
                            <a:t>Correct</a:t>
                          </a:r>
                          <a:r>
                            <a:rPr lang="sv-SE" sz="1500" dirty="0">
                              <a:solidFill>
                                <a:srgbClr val="00B050"/>
                              </a:solidFill>
                            </a:rPr>
                            <a:t> decision (</a:t>
                          </a:r>
                          <a:r>
                            <a:rPr lang="sv-SE" sz="1500" dirty="0" err="1">
                              <a:solidFill>
                                <a:srgbClr val="00B050"/>
                              </a:solidFill>
                            </a:rPr>
                            <a:t>power</a:t>
                          </a:r>
                          <a:r>
                            <a:rPr lang="sv-SE" sz="1500" dirty="0">
                              <a:solidFill>
                                <a:srgbClr val="00B050"/>
                              </a:solidFill>
                            </a:rPr>
                            <a:t>)</a:t>
                          </a:r>
                        </a:p>
                      </a:txBody>
                      <a:tcPr marL="68580" marR="68580" marT="34290" marB="34290"/>
                    </a:tc>
                    <a:extLst>
                      <a:ext uri="{0D108BD9-81ED-4DB2-BD59-A6C34878D82A}">
                        <a16:rowId xmlns:a16="http://schemas.microsoft.com/office/drawing/2014/main" val="10003"/>
                      </a:ext>
                    </a:extLst>
                  </a:tr>
                </a:tbl>
              </a:graphicData>
            </a:graphic>
          </p:graphicFrame>
        </mc:Fallback>
      </mc:AlternateContent>
      <p:sp>
        <p:nvSpPr>
          <p:cNvPr id="6" name="Uttryckssymbol 5"/>
          <p:cNvSpPr/>
          <p:nvPr/>
        </p:nvSpPr>
        <p:spPr>
          <a:xfrm>
            <a:off x="5415939" y="1676596"/>
            <a:ext cx="391734" cy="463106"/>
          </a:xfrm>
          <a:prstGeom prst="smileyFac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Uttryckssymbol 7"/>
          <p:cNvSpPr/>
          <p:nvPr/>
        </p:nvSpPr>
        <p:spPr>
          <a:xfrm>
            <a:off x="7213324" y="2220712"/>
            <a:ext cx="378042" cy="432047"/>
          </a:xfrm>
          <a:prstGeom prst="smileyFac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275094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830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830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830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6"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80">
                                          <p:stCondLst>
                                            <p:cond delay="0"/>
                                          </p:stCondLst>
                                        </p:cTn>
                                        <p:tgtEl>
                                          <p:spTgt spid="6"/>
                                        </p:tgtEl>
                                      </p:cBhvr>
                                    </p:animEffect>
                                    <p:anim calcmode="lin" valueType="num">
                                      <p:cBhvr>
                                        <p:cTn id="25"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6"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7"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8"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9"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0" dur="26">
                                          <p:stCondLst>
                                            <p:cond delay="650"/>
                                          </p:stCondLst>
                                        </p:cTn>
                                        <p:tgtEl>
                                          <p:spTgt spid="6"/>
                                        </p:tgtEl>
                                      </p:cBhvr>
                                      <p:to x="100000" y="60000"/>
                                    </p:animScale>
                                    <p:animScale>
                                      <p:cBhvr>
                                        <p:cTn id="31" dur="166" decel="50000">
                                          <p:stCondLst>
                                            <p:cond delay="676"/>
                                          </p:stCondLst>
                                        </p:cTn>
                                        <p:tgtEl>
                                          <p:spTgt spid="6"/>
                                        </p:tgtEl>
                                      </p:cBhvr>
                                      <p:to x="100000" y="100000"/>
                                    </p:animScale>
                                    <p:animScale>
                                      <p:cBhvr>
                                        <p:cTn id="32" dur="26">
                                          <p:stCondLst>
                                            <p:cond delay="1312"/>
                                          </p:stCondLst>
                                        </p:cTn>
                                        <p:tgtEl>
                                          <p:spTgt spid="6"/>
                                        </p:tgtEl>
                                      </p:cBhvr>
                                      <p:to x="100000" y="80000"/>
                                    </p:animScale>
                                    <p:animScale>
                                      <p:cBhvr>
                                        <p:cTn id="33" dur="166" decel="50000">
                                          <p:stCondLst>
                                            <p:cond delay="1338"/>
                                          </p:stCondLst>
                                        </p:cTn>
                                        <p:tgtEl>
                                          <p:spTgt spid="6"/>
                                        </p:tgtEl>
                                      </p:cBhvr>
                                      <p:to x="100000" y="100000"/>
                                    </p:animScale>
                                    <p:animScale>
                                      <p:cBhvr>
                                        <p:cTn id="34" dur="26">
                                          <p:stCondLst>
                                            <p:cond delay="1642"/>
                                          </p:stCondLst>
                                        </p:cTn>
                                        <p:tgtEl>
                                          <p:spTgt spid="6"/>
                                        </p:tgtEl>
                                      </p:cBhvr>
                                      <p:to x="100000" y="90000"/>
                                    </p:animScale>
                                    <p:animScale>
                                      <p:cBhvr>
                                        <p:cTn id="35" dur="166" decel="50000">
                                          <p:stCondLst>
                                            <p:cond delay="1668"/>
                                          </p:stCondLst>
                                        </p:cTn>
                                        <p:tgtEl>
                                          <p:spTgt spid="6"/>
                                        </p:tgtEl>
                                      </p:cBhvr>
                                      <p:to x="100000" y="100000"/>
                                    </p:animScale>
                                    <p:animScale>
                                      <p:cBhvr>
                                        <p:cTn id="36" dur="26">
                                          <p:stCondLst>
                                            <p:cond delay="1808"/>
                                          </p:stCondLst>
                                        </p:cTn>
                                        <p:tgtEl>
                                          <p:spTgt spid="6"/>
                                        </p:tgtEl>
                                      </p:cBhvr>
                                      <p:to x="100000" y="95000"/>
                                    </p:animScale>
                                    <p:animScale>
                                      <p:cBhvr>
                                        <p:cTn id="37" dur="166" decel="50000">
                                          <p:stCondLst>
                                            <p:cond delay="1834"/>
                                          </p:stCondLst>
                                        </p:cTn>
                                        <p:tgtEl>
                                          <p:spTgt spid="6"/>
                                        </p:tgtEl>
                                      </p:cBhvr>
                                      <p:to x="100000" y="100000"/>
                                    </p:animScale>
                                  </p:childTnLst>
                                </p:cTn>
                              </p:par>
                            </p:childTnLst>
                          </p:cTn>
                        </p:par>
                      </p:childTnLst>
                    </p:cTn>
                  </p:par>
                  <p:par>
                    <p:cTn id="38" fill="hold">
                      <p:stCondLst>
                        <p:cond delay="indefinite"/>
                      </p:stCondLst>
                      <p:childTnLst>
                        <p:par>
                          <p:cTn id="39" fill="hold">
                            <p:stCondLst>
                              <p:cond delay="0"/>
                            </p:stCondLst>
                            <p:childTnLst>
                              <p:par>
                                <p:cTn id="40" presetID="26"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down)">
                                      <p:cBhvr>
                                        <p:cTn id="42" dur="580">
                                          <p:stCondLst>
                                            <p:cond delay="0"/>
                                          </p:stCondLst>
                                        </p:cTn>
                                        <p:tgtEl>
                                          <p:spTgt spid="8"/>
                                        </p:tgtEl>
                                      </p:cBhvr>
                                    </p:animEffect>
                                    <p:anim calcmode="lin" valueType="num">
                                      <p:cBhvr>
                                        <p:cTn id="43"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4"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5"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6"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7"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8" dur="26">
                                          <p:stCondLst>
                                            <p:cond delay="650"/>
                                          </p:stCondLst>
                                        </p:cTn>
                                        <p:tgtEl>
                                          <p:spTgt spid="8"/>
                                        </p:tgtEl>
                                      </p:cBhvr>
                                      <p:to x="100000" y="60000"/>
                                    </p:animScale>
                                    <p:animScale>
                                      <p:cBhvr>
                                        <p:cTn id="49" dur="166" decel="50000">
                                          <p:stCondLst>
                                            <p:cond delay="676"/>
                                          </p:stCondLst>
                                        </p:cTn>
                                        <p:tgtEl>
                                          <p:spTgt spid="8"/>
                                        </p:tgtEl>
                                      </p:cBhvr>
                                      <p:to x="100000" y="100000"/>
                                    </p:animScale>
                                    <p:animScale>
                                      <p:cBhvr>
                                        <p:cTn id="50" dur="26">
                                          <p:stCondLst>
                                            <p:cond delay="1312"/>
                                          </p:stCondLst>
                                        </p:cTn>
                                        <p:tgtEl>
                                          <p:spTgt spid="8"/>
                                        </p:tgtEl>
                                      </p:cBhvr>
                                      <p:to x="100000" y="80000"/>
                                    </p:animScale>
                                    <p:animScale>
                                      <p:cBhvr>
                                        <p:cTn id="51" dur="166" decel="50000">
                                          <p:stCondLst>
                                            <p:cond delay="1338"/>
                                          </p:stCondLst>
                                        </p:cTn>
                                        <p:tgtEl>
                                          <p:spTgt spid="8"/>
                                        </p:tgtEl>
                                      </p:cBhvr>
                                      <p:to x="100000" y="100000"/>
                                    </p:animScale>
                                    <p:animScale>
                                      <p:cBhvr>
                                        <p:cTn id="52" dur="26">
                                          <p:stCondLst>
                                            <p:cond delay="1642"/>
                                          </p:stCondLst>
                                        </p:cTn>
                                        <p:tgtEl>
                                          <p:spTgt spid="8"/>
                                        </p:tgtEl>
                                      </p:cBhvr>
                                      <p:to x="100000" y="90000"/>
                                    </p:animScale>
                                    <p:animScale>
                                      <p:cBhvr>
                                        <p:cTn id="53" dur="166" decel="50000">
                                          <p:stCondLst>
                                            <p:cond delay="1668"/>
                                          </p:stCondLst>
                                        </p:cTn>
                                        <p:tgtEl>
                                          <p:spTgt spid="8"/>
                                        </p:tgtEl>
                                      </p:cBhvr>
                                      <p:to x="100000" y="100000"/>
                                    </p:animScale>
                                    <p:animScale>
                                      <p:cBhvr>
                                        <p:cTn id="54" dur="26">
                                          <p:stCondLst>
                                            <p:cond delay="1808"/>
                                          </p:stCondLst>
                                        </p:cTn>
                                        <p:tgtEl>
                                          <p:spTgt spid="8"/>
                                        </p:tgtEl>
                                      </p:cBhvr>
                                      <p:to x="100000" y="95000"/>
                                    </p:animScale>
                                    <p:animScale>
                                      <p:cBhvr>
                                        <p:cTn id="55"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rupp 105"/>
          <p:cNvGrpSpPr/>
          <p:nvPr/>
        </p:nvGrpSpPr>
        <p:grpSpPr>
          <a:xfrm>
            <a:off x="899592" y="592261"/>
            <a:ext cx="7272808" cy="4283745"/>
            <a:chOff x="914333" y="459539"/>
            <a:chExt cx="10574404" cy="6159543"/>
          </a:xfrm>
        </p:grpSpPr>
        <p:grpSp>
          <p:nvGrpSpPr>
            <p:cNvPr id="49" name="Grupp 48"/>
            <p:cNvGrpSpPr/>
            <p:nvPr/>
          </p:nvGrpSpPr>
          <p:grpSpPr>
            <a:xfrm>
              <a:off x="1179375" y="459539"/>
              <a:ext cx="10309362" cy="6159543"/>
              <a:chOff x="-1223750" y="567551"/>
              <a:chExt cx="10309362" cy="6159543"/>
            </a:xfrm>
          </p:grpSpPr>
          <p:sp>
            <p:nvSpPr>
              <p:cNvPr id="4" name="textruta 3"/>
              <p:cNvSpPr txBox="1"/>
              <p:nvPr/>
            </p:nvSpPr>
            <p:spPr>
              <a:xfrm>
                <a:off x="-1223750" y="6302504"/>
                <a:ext cx="9990166" cy="424590"/>
              </a:xfrm>
              <a:prstGeom prst="rect">
                <a:avLst/>
              </a:prstGeom>
              <a:solidFill>
                <a:sysClr val="window" lastClr="FFFFFF"/>
              </a:solidFill>
            </p:spPr>
            <p:txBody>
              <a:bodyPr wrap="square" rtlCol="0">
                <a:spAutoFit/>
              </a:bodyPr>
              <a:lstStyle/>
              <a:p>
                <a:pPr algn="ctr" defTabSz="514350" fontAlgn="auto">
                  <a:spcBef>
                    <a:spcPts val="0"/>
                  </a:spcBef>
                  <a:spcAft>
                    <a:spcPts val="0"/>
                  </a:spcAft>
                </a:pPr>
                <a:r>
                  <a:rPr lang="en-US" sz="900" b="1" kern="0">
                    <a:solidFill>
                      <a:prstClr val="black"/>
                    </a:solidFill>
                    <a:latin typeface="Calibri"/>
                    <a:ea typeface="+mn-ea"/>
                  </a:rPr>
                  <a:t>Figure </a:t>
                </a:r>
                <a:r>
                  <a:rPr lang="en-US" sz="1050" kern="0">
                    <a:solidFill>
                      <a:prstClr val="black"/>
                    </a:solidFill>
                    <a:latin typeface="Calibri"/>
                    <a:ea typeface="+mn-ea"/>
                  </a:rPr>
                  <a:t>Flowchart with examples on which statistical tests to use for different kind of data. </a:t>
                </a:r>
                <a:endParaRPr lang="sv-SE" sz="1050" kern="0">
                  <a:solidFill>
                    <a:prstClr val="black"/>
                  </a:solidFill>
                  <a:latin typeface="Calibri"/>
                  <a:ea typeface="+mn-ea"/>
                </a:endParaRPr>
              </a:p>
            </p:txBody>
          </p:sp>
          <p:sp>
            <p:nvSpPr>
              <p:cNvPr id="5" name="Rektangel med rundade hörn 4"/>
              <p:cNvSpPr/>
              <p:nvPr/>
            </p:nvSpPr>
            <p:spPr>
              <a:xfrm>
                <a:off x="2853915" y="567551"/>
                <a:ext cx="3081100" cy="557112"/>
              </a:xfrm>
              <a:prstGeom prst="roundRect">
                <a:avLst/>
              </a:prstGeom>
              <a:solidFill>
                <a:sysClr val="window" lastClr="FFFFFF"/>
              </a:solidFill>
              <a:ln w="25400" cap="flat" cmpd="sng" algn="ctr">
                <a:solidFill>
                  <a:srgbClr val="4F81BD">
                    <a:shade val="50000"/>
                  </a:srgbClr>
                </a:solidFill>
                <a:prstDash val="solid"/>
              </a:ln>
              <a:effectLst/>
            </p:spPr>
            <p:txBody>
              <a:bodyPr rtlCol="0" anchor="ctr"/>
              <a:lstStyle/>
              <a:p>
                <a:pPr algn="ctr" defTabSz="514350" fontAlgn="auto">
                  <a:spcBef>
                    <a:spcPts val="0"/>
                  </a:spcBef>
                  <a:spcAft>
                    <a:spcPts val="0"/>
                  </a:spcAft>
                </a:pPr>
                <a:r>
                  <a:rPr lang="en-US" sz="1125" b="1" kern="0">
                    <a:solidFill>
                      <a:sysClr val="windowText" lastClr="000000"/>
                    </a:solidFill>
                    <a:latin typeface="Calibri"/>
                    <a:ea typeface="+mn-ea"/>
                  </a:rPr>
                  <a:t>Selection of test</a:t>
                </a:r>
              </a:p>
            </p:txBody>
          </p:sp>
          <p:sp>
            <p:nvSpPr>
              <p:cNvPr id="6" name="Rektangel med rundade hörn 5"/>
              <p:cNvSpPr/>
              <p:nvPr/>
            </p:nvSpPr>
            <p:spPr>
              <a:xfrm>
                <a:off x="2519904" y="1700808"/>
                <a:ext cx="1188000" cy="792000"/>
              </a:xfrm>
              <a:prstGeom prst="roundRect">
                <a:avLst/>
              </a:prstGeom>
              <a:solidFill>
                <a:sysClr val="window" lastClr="FFFFFF"/>
              </a:solidFill>
              <a:ln w="25400" cap="flat" cmpd="sng" algn="ctr">
                <a:solidFill>
                  <a:schemeClr val="tx2">
                    <a:lumMod val="75000"/>
                  </a:schemeClr>
                </a:solidFill>
                <a:prstDash val="solid"/>
              </a:ln>
              <a:effectLst/>
            </p:spPr>
            <p:txBody>
              <a:bodyPr rtlCol="0" anchor="ctr"/>
              <a:lstStyle/>
              <a:p>
                <a:pPr algn="ctr" defTabSz="514350" fontAlgn="auto">
                  <a:spcBef>
                    <a:spcPts val="0"/>
                  </a:spcBef>
                  <a:spcAft>
                    <a:spcPts val="0"/>
                  </a:spcAft>
                </a:pPr>
                <a:r>
                  <a:rPr lang="en-US" sz="788" kern="0">
                    <a:solidFill>
                      <a:prstClr val="black"/>
                    </a:solidFill>
                    <a:latin typeface="Calibri"/>
                    <a:ea typeface="+mn-ea"/>
                  </a:rPr>
                  <a:t>Quantitative outcome</a:t>
                </a:r>
              </a:p>
            </p:txBody>
          </p:sp>
          <p:sp>
            <p:nvSpPr>
              <p:cNvPr id="7" name="Rektangel med rundade hörn 6"/>
              <p:cNvSpPr/>
              <p:nvPr/>
            </p:nvSpPr>
            <p:spPr>
              <a:xfrm>
                <a:off x="4752128" y="1700809"/>
                <a:ext cx="972000" cy="792000"/>
              </a:xfrm>
              <a:prstGeom prst="roundRect">
                <a:avLst/>
              </a:prstGeom>
              <a:solidFill>
                <a:sysClr val="window" lastClr="FFFFFF"/>
              </a:solidFill>
              <a:ln w="25400" cap="flat" cmpd="sng" algn="ctr">
                <a:solidFill>
                  <a:schemeClr val="tx2">
                    <a:lumMod val="75000"/>
                  </a:schemeClr>
                </a:solidFill>
                <a:prstDash val="solid"/>
              </a:ln>
              <a:effectLst/>
            </p:spPr>
            <p:txBody>
              <a:bodyPr rtlCol="0" anchor="ctr"/>
              <a:lstStyle/>
              <a:p>
                <a:pPr algn="ctr" defTabSz="514350" fontAlgn="auto">
                  <a:spcBef>
                    <a:spcPts val="0"/>
                  </a:spcBef>
                  <a:spcAft>
                    <a:spcPts val="0"/>
                  </a:spcAft>
                </a:pPr>
                <a:r>
                  <a:rPr lang="en-US" sz="788" kern="0">
                    <a:solidFill>
                      <a:prstClr val="black"/>
                    </a:solidFill>
                    <a:latin typeface="Calibri"/>
                    <a:ea typeface="+mn-ea"/>
                  </a:rPr>
                  <a:t>Ordinal outcome</a:t>
                </a:r>
              </a:p>
            </p:txBody>
          </p:sp>
          <p:sp>
            <p:nvSpPr>
              <p:cNvPr id="8" name="Rektangel med rundade hörn 7"/>
              <p:cNvSpPr/>
              <p:nvPr/>
            </p:nvSpPr>
            <p:spPr>
              <a:xfrm>
                <a:off x="6804304" y="1700808"/>
                <a:ext cx="1188000" cy="792000"/>
              </a:xfrm>
              <a:prstGeom prst="roundRect">
                <a:avLst/>
              </a:prstGeom>
              <a:solidFill>
                <a:sysClr val="window" lastClr="FFFFFF"/>
              </a:solidFill>
              <a:ln w="25400" cap="flat" cmpd="sng" algn="ctr">
                <a:solidFill>
                  <a:schemeClr val="tx2">
                    <a:lumMod val="75000"/>
                  </a:schemeClr>
                </a:solidFill>
                <a:prstDash val="solid"/>
              </a:ln>
              <a:effectLst/>
            </p:spPr>
            <p:txBody>
              <a:bodyPr rtlCol="0" anchor="ctr"/>
              <a:lstStyle/>
              <a:p>
                <a:pPr algn="ctr" defTabSz="514350" fontAlgn="auto">
                  <a:spcBef>
                    <a:spcPts val="0"/>
                  </a:spcBef>
                  <a:spcAft>
                    <a:spcPts val="0"/>
                  </a:spcAft>
                </a:pPr>
                <a:r>
                  <a:rPr lang="en-US" sz="788" kern="0" dirty="0">
                    <a:solidFill>
                      <a:prstClr val="black"/>
                    </a:solidFill>
                    <a:latin typeface="Calibri"/>
                    <a:ea typeface="+mn-ea"/>
                  </a:rPr>
                  <a:t>Binary </a:t>
                </a:r>
              </a:p>
              <a:p>
                <a:pPr algn="ctr" defTabSz="514350" fontAlgn="auto">
                  <a:spcBef>
                    <a:spcPts val="0"/>
                  </a:spcBef>
                  <a:spcAft>
                    <a:spcPts val="0"/>
                  </a:spcAft>
                </a:pPr>
                <a:r>
                  <a:rPr lang="en-US" sz="788" kern="0" dirty="0">
                    <a:solidFill>
                      <a:prstClr val="black"/>
                    </a:solidFill>
                    <a:latin typeface="Calibri"/>
                    <a:ea typeface="+mn-ea"/>
                  </a:rPr>
                  <a:t>outcome</a:t>
                </a:r>
              </a:p>
            </p:txBody>
          </p:sp>
          <p:sp>
            <p:nvSpPr>
              <p:cNvPr id="9" name="Rektangel med rundade hörn 8"/>
              <p:cNvSpPr/>
              <p:nvPr/>
            </p:nvSpPr>
            <p:spPr>
              <a:xfrm>
                <a:off x="3582622" y="2953766"/>
                <a:ext cx="1200350" cy="719999"/>
              </a:xfrm>
              <a:prstGeom prst="roundRect">
                <a:avLst/>
              </a:prstGeom>
              <a:solidFill>
                <a:sysClr val="window" lastClr="FFFFFF"/>
              </a:solidFill>
              <a:ln w="25400" cap="flat" cmpd="sng" algn="ctr">
                <a:solidFill>
                  <a:srgbClr val="4F81BD">
                    <a:shade val="50000"/>
                  </a:srgbClr>
                </a:solidFill>
                <a:prstDash val="solid"/>
              </a:ln>
              <a:effectLst/>
            </p:spPr>
            <p:txBody>
              <a:bodyPr rtlCol="0" anchor="ctr"/>
              <a:lstStyle/>
              <a:p>
                <a:pPr algn="ctr" defTabSz="514350" fontAlgn="auto">
                  <a:spcBef>
                    <a:spcPts val="0"/>
                  </a:spcBef>
                  <a:spcAft>
                    <a:spcPts val="0"/>
                  </a:spcAft>
                </a:pPr>
                <a:r>
                  <a:rPr lang="en-US" sz="788" kern="0">
                    <a:solidFill>
                      <a:sysClr val="windowText" lastClr="000000"/>
                    </a:solidFill>
                    <a:latin typeface="Calibri"/>
                    <a:ea typeface="+mn-ea"/>
                  </a:rPr>
                  <a:t>Comparison</a:t>
                </a:r>
              </a:p>
              <a:p>
                <a:pPr algn="ctr" defTabSz="514350" fontAlgn="auto">
                  <a:spcBef>
                    <a:spcPts val="0"/>
                  </a:spcBef>
                  <a:spcAft>
                    <a:spcPts val="0"/>
                  </a:spcAft>
                </a:pPr>
                <a:r>
                  <a:rPr lang="en-US" sz="788" kern="0">
                    <a:solidFill>
                      <a:sysClr val="windowText" lastClr="000000"/>
                    </a:solidFill>
                    <a:latin typeface="Calibri"/>
                    <a:ea typeface="+mn-ea"/>
                  </a:rPr>
                  <a:t>of Medians</a:t>
                </a:r>
              </a:p>
            </p:txBody>
          </p:sp>
          <p:sp>
            <p:nvSpPr>
              <p:cNvPr id="10" name="Rektangel med rundade hörn 9"/>
              <p:cNvSpPr/>
              <p:nvPr/>
            </p:nvSpPr>
            <p:spPr>
              <a:xfrm>
                <a:off x="801339" y="2956223"/>
                <a:ext cx="1200350" cy="719999"/>
              </a:xfrm>
              <a:prstGeom prst="roundRect">
                <a:avLst/>
              </a:prstGeom>
              <a:solidFill>
                <a:sysClr val="window" lastClr="FFFFFF"/>
              </a:solidFill>
              <a:ln w="25400" cap="flat" cmpd="sng" algn="ctr">
                <a:solidFill>
                  <a:srgbClr val="4F81BD">
                    <a:shade val="50000"/>
                  </a:srgbClr>
                </a:solidFill>
                <a:prstDash val="solid"/>
              </a:ln>
              <a:effectLst/>
            </p:spPr>
            <p:txBody>
              <a:bodyPr rtlCol="0" anchor="ctr"/>
              <a:lstStyle/>
              <a:p>
                <a:pPr algn="ctr" defTabSz="514350" fontAlgn="auto">
                  <a:spcBef>
                    <a:spcPts val="0"/>
                  </a:spcBef>
                  <a:spcAft>
                    <a:spcPts val="0"/>
                  </a:spcAft>
                </a:pPr>
                <a:r>
                  <a:rPr lang="en-US" sz="788" kern="0">
                    <a:solidFill>
                      <a:sysClr val="windowText" lastClr="000000"/>
                    </a:solidFill>
                    <a:latin typeface="Calibri"/>
                    <a:ea typeface="+mn-ea"/>
                  </a:rPr>
                  <a:t>Comparison</a:t>
                </a:r>
              </a:p>
              <a:p>
                <a:pPr algn="ctr" defTabSz="514350" fontAlgn="auto">
                  <a:spcBef>
                    <a:spcPts val="0"/>
                  </a:spcBef>
                  <a:spcAft>
                    <a:spcPts val="0"/>
                  </a:spcAft>
                </a:pPr>
                <a:r>
                  <a:rPr lang="en-US" sz="788" kern="0">
                    <a:solidFill>
                      <a:sysClr val="windowText" lastClr="000000"/>
                    </a:solidFill>
                    <a:latin typeface="Calibri"/>
                    <a:ea typeface="+mn-ea"/>
                  </a:rPr>
                  <a:t>of Means</a:t>
                </a:r>
              </a:p>
            </p:txBody>
          </p:sp>
          <p:sp>
            <p:nvSpPr>
              <p:cNvPr id="11" name="Rektangel med rundade hörn 10"/>
              <p:cNvSpPr/>
              <p:nvPr/>
            </p:nvSpPr>
            <p:spPr>
              <a:xfrm>
                <a:off x="861513" y="4149081"/>
                <a:ext cx="1080000" cy="612000"/>
              </a:xfrm>
              <a:prstGeom prst="roundRect">
                <a:avLst/>
              </a:prstGeom>
              <a:solidFill>
                <a:sysClr val="window" lastClr="FFFFFF"/>
              </a:solidFill>
              <a:ln w="25400" cap="flat" cmpd="sng" algn="ctr">
                <a:solidFill>
                  <a:srgbClr val="1F497D"/>
                </a:solidFill>
                <a:prstDash val="solid"/>
              </a:ln>
              <a:effectLst/>
            </p:spPr>
            <p:txBody>
              <a:bodyPr rtlCol="0" anchor="ctr"/>
              <a:lstStyle/>
              <a:p>
                <a:pPr algn="ctr" defTabSz="514350" fontAlgn="auto">
                  <a:spcBef>
                    <a:spcPts val="0"/>
                  </a:spcBef>
                  <a:spcAft>
                    <a:spcPts val="0"/>
                  </a:spcAft>
                </a:pPr>
                <a:r>
                  <a:rPr lang="en-US" sz="750" kern="0">
                    <a:solidFill>
                      <a:prstClr val="black"/>
                    </a:solidFill>
                    <a:latin typeface="Arial Narrow" panose="020B0606020202030204" pitchFamily="34" charset="0"/>
                    <a:ea typeface="+mn-ea"/>
                  </a:rPr>
                  <a:t>Two or more independent groups</a:t>
                </a:r>
              </a:p>
            </p:txBody>
          </p:sp>
          <p:sp>
            <p:nvSpPr>
              <p:cNvPr id="12" name="Rektangel med rundade hörn 11"/>
              <p:cNvSpPr/>
              <p:nvPr/>
            </p:nvSpPr>
            <p:spPr>
              <a:xfrm>
                <a:off x="2001689" y="4149080"/>
                <a:ext cx="936104" cy="612000"/>
              </a:xfrm>
              <a:prstGeom prst="roundRect">
                <a:avLst/>
              </a:prstGeom>
              <a:solidFill>
                <a:sysClr val="window" lastClr="FFFFFF"/>
              </a:solidFill>
              <a:ln w="25400" cap="flat" cmpd="sng" algn="ctr">
                <a:solidFill>
                  <a:srgbClr val="1F497D"/>
                </a:solidFill>
                <a:prstDash val="solid"/>
              </a:ln>
              <a:effectLst/>
            </p:spPr>
            <p:txBody>
              <a:bodyPr rtlCol="0" anchor="ctr"/>
              <a:lstStyle/>
              <a:p>
                <a:pPr algn="ctr" defTabSz="514350" fontAlgn="auto">
                  <a:spcBef>
                    <a:spcPts val="0"/>
                  </a:spcBef>
                  <a:spcAft>
                    <a:spcPts val="0"/>
                  </a:spcAft>
                </a:pPr>
                <a:r>
                  <a:rPr lang="en-US" sz="750" kern="0">
                    <a:solidFill>
                      <a:prstClr val="black"/>
                    </a:solidFill>
                    <a:latin typeface="Arial Narrow" panose="020B0606020202030204" pitchFamily="34" charset="0"/>
                    <a:ea typeface="+mn-ea"/>
                  </a:rPr>
                  <a:t>Paired Data</a:t>
                </a:r>
              </a:p>
            </p:txBody>
          </p:sp>
          <p:sp>
            <p:nvSpPr>
              <p:cNvPr id="13" name="Rektangel med rundade hörn 12"/>
              <p:cNvSpPr/>
              <p:nvPr/>
            </p:nvSpPr>
            <p:spPr>
              <a:xfrm>
                <a:off x="-170661" y="4149080"/>
                <a:ext cx="972000" cy="612000"/>
              </a:xfrm>
              <a:prstGeom prst="roundRect">
                <a:avLst/>
              </a:prstGeom>
              <a:solidFill>
                <a:sysClr val="window" lastClr="FFFFFF"/>
              </a:solidFill>
              <a:ln w="25400" cap="flat" cmpd="sng" algn="ctr">
                <a:solidFill>
                  <a:srgbClr val="1F497D"/>
                </a:solidFill>
                <a:prstDash val="solid"/>
              </a:ln>
              <a:effectLst/>
            </p:spPr>
            <p:txBody>
              <a:bodyPr rtlCol="0" anchor="ctr"/>
              <a:lstStyle/>
              <a:p>
                <a:pPr algn="ctr" defTabSz="514350" fontAlgn="auto">
                  <a:spcBef>
                    <a:spcPts val="0"/>
                  </a:spcBef>
                  <a:spcAft>
                    <a:spcPts val="0"/>
                  </a:spcAft>
                </a:pPr>
                <a:r>
                  <a:rPr lang="en-US" sz="750" kern="0">
                    <a:solidFill>
                      <a:prstClr val="black"/>
                    </a:solidFill>
                    <a:latin typeface="Arial Narrow" panose="020B0606020202030204" pitchFamily="34" charset="0"/>
                    <a:ea typeface="+mn-ea"/>
                  </a:rPr>
                  <a:t>One group</a:t>
                </a:r>
              </a:p>
            </p:txBody>
          </p:sp>
          <p:cxnSp>
            <p:nvCxnSpPr>
              <p:cNvPr id="14" name="Vinklad  32"/>
              <p:cNvCxnSpPr>
                <a:stCxn id="5" idx="2"/>
                <a:endCxn id="6" idx="0"/>
              </p:cNvCxnSpPr>
              <p:nvPr/>
            </p:nvCxnSpPr>
            <p:spPr>
              <a:xfrm rot="5400000">
                <a:off x="3466113" y="772455"/>
                <a:ext cx="576145" cy="1280562"/>
              </a:xfrm>
              <a:prstGeom prst="bentConnector3">
                <a:avLst/>
              </a:prstGeom>
              <a:noFill/>
              <a:ln w="28575" cap="flat" cmpd="sng" algn="ctr">
                <a:solidFill>
                  <a:srgbClr val="4F81BD">
                    <a:shade val="95000"/>
                    <a:satMod val="105000"/>
                  </a:srgbClr>
                </a:solidFill>
                <a:prstDash val="solid"/>
                <a:tailEnd type="arrow"/>
              </a:ln>
              <a:effectLst/>
            </p:spPr>
          </p:cxnSp>
          <p:cxnSp>
            <p:nvCxnSpPr>
              <p:cNvPr id="15" name="Vinklad  37"/>
              <p:cNvCxnSpPr>
                <a:stCxn id="5" idx="2"/>
                <a:endCxn id="8" idx="0"/>
              </p:cNvCxnSpPr>
              <p:nvPr/>
            </p:nvCxnSpPr>
            <p:spPr>
              <a:xfrm rot="16200000" flipH="1">
                <a:off x="5608312" y="-89184"/>
                <a:ext cx="576145" cy="3003838"/>
              </a:xfrm>
              <a:prstGeom prst="bentConnector3">
                <a:avLst>
                  <a:gd name="adj1" fmla="val 50000"/>
                </a:avLst>
              </a:prstGeom>
              <a:noFill/>
              <a:ln w="28575" cap="flat" cmpd="sng" algn="ctr">
                <a:solidFill>
                  <a:srgbClr val="4F81BD">
                    <a:shade val="95000"/>
                    <a:satMod val="105000"/>
                  </a:srgbClr>
                </a:solidFill>
                <a:prstDash val="solid"/>
                <a:tailEnd type="arrow"/>
              </a:ln>
              <a:effectLst/>
            </p:spPr>
          </p:cxnSp>
          <p:cxnSp>
            <p:nvCxnSpPr>
              <p:cNvPr id="16" name="Rak pil 49"/>
              <p:cNvCxnSpPr>
                <a:stCxn id="5" idx="2"/>
                <a:endCxn id="7" idx="0"/>
              </p:cNvCxnSpPr>
              <p:nvPr/>
            </p:nvCxnSpPr>
            <p:spPr>
              <a:xfrm rot="16200000" flipH="1">
                <a:off x="4528224" y="990905"/>
                <a:ext cx="576145" cy="843662"/>
              </a:xfrm>
              <a:prstGeom prst="bentConnector3">
                <a:avLst>
                  <a:gd name="adj1" fmla="val 50000"/>
                </a:avLst>
              </a:prstGeom>
              <a:noFill/>
              <a:ln w="28575" cap="flat" cmpd="sng" algn="ctr">
                <a:solidFill>
                  <a:srgbClr val="4F81BD">
                    <a:shade val="95000"/>
                    <a:satMod val="105000"/>
                  </a:srgbClr>
                </a:solidFill>
                <a:prstDash val="solid"/>
                <a:tailEnd type="arrow"/>
              </a:ln>
              <a:effectLst/>
            </p:spPr>
          </p:cxnSp>
          <p:sp>
            <p:nvSpPr>
              <p:cNvPr id="17" name="Rektangel med rundade hörn 16"/>
              <p:cNvSpPr/>
              <p:nvPr/>
            </p:nvSpPr>
            <p:spPr>
              <a:xfrm>
                <a:off x="4084134" y="4149080"/>
                <a:ext cx="1044000" cy="612000"/>
              </a:xfrm>
              <a:prstGeom prst="roundRect">
                <a:avLst/>
              </a:prstGeom>
              <a:solidFill>
                <a:sysClr val="window" lastClr="FFFFFF"/>
              </a:solidFill>
              <a:ln w="25400" cap="flat" cmpd="sng" algn="ctr">
                <a:solidFill>
                  <a:srgbClr val="1F497D"/>
                </a:solidFill>
                <a:prstDash val="solid"/>
              </a:ln>
              <a:effectLst/>
            </p:spPr>
            <p:txBody>
              <a:bodyPr rtlCol="0" anchor="ctr"/>
              <a:lstStyle/>
              <a:p>
                <a:pPr algn="ctr" defTabSz="514350" fontAlgn="auto">
                  <a:spcBef>
                    <a:spcPts val="0"/>
                  </a:spcBef>
                  <a:spcAft>
                    <a:spcPts val="0"/>
                  </a:spcAft>
                </a:pPr>
                <a:r>
                  <a:rPr lang="en-US" sz="750" kern="0">
                    <a:solidFill>
                      <a:prstClr val="black"/>
                    </a:solidFill>
                    <a:latin typeface="Arial Narrow" panose="020B0606020202030204" pitchFamily="34" charset="0"/>
                    <a:ea typeface="+mn-ea"/>
                  </a:rPr>
                  <a:t>Two or more independent groups</a:t>
                </a:r>
              </a:p>
            </p:txBody>
          </p:sp>
          <p:sp>
            <p:nvSpPr>
              <p:cNvPr id="18" name="Rektangel med rundade hörn 17"/>
              <p:cNvSpPr/>
              <p:nvPr/>
            </p:nvSpPr>
            <p:spPr>
              <a:xfrm>
                <a:off x="5305103" y="4149081"/>
                <a:ext cx="900000" cy="612000"/>
              </a:xfrm>
              <a:prstGeom prst="roundRect">
                <a:avLst/>
              </a:prstGeom>
              <a:solidFill>
                <a:sysClr val="window" lastClr="FFFFFF"/>
              </a:solidFill>
              <a:ln w="25400" cap="flat" cmpd="sng" algn="ctr">
                <a:solidFill>
                  <a:srgbClr val="1F497D"/>
                </a:solidFill>
                <a:prstDash val="solid"/>
              </a:ln>
              <a:effectLst/>
            </p:spPr>
            <p:txBody>
              <a:bodyPr rtlCol="0" anchor="ctr"/>
              <a:lstStyle/>
              <a:p>
                <a:pPr algn="ctr" defTabSz="514350" fontAlgn="auto">
                  <a:spcBef>
                    <a:spcPts val="0"/>
                  </a:spcBef>
                  <a:spcAft>
                    <a:spcPts val="0"/>
                  </a:spcAft>
                </a:pPr>
                <a:r>
                  <a:rPr lang="en-US" sz="750" kern="0">
                    <a:solidFill>
                      <a:prstClr val="black"/>
                    </a:solidFill>
                    <a:latin typeface="Arial Narrow" panose="020B0606020202030204" pitchFamily="34" charset="0"/>
                    <a:ea typeface="+mn-ea"/>
                  </a:rPr>
                  <a:t>Paired Data</a:t>
                </a:r>
              </a:p>
            </p:txBody>
          </p:sp>
          <p:sp>
            <p:nvSpPr>
              <p:cNvPr id="19" name="Rektangel med rundade hörn 18"/>
              <p:cNvSpPr/>
              <p:nvPr/>
            </p:nvSpPr>
            <p:spPr>
              <a:xfrm>
                <a:off x="3054940" y="4149080"/>
                <a:ext cx="900000" cy="612000"/>
              </a:xfrm>
              <a:prstGeom prst="roundRect">
                <a:avLst/>
              </a:prstGeom>
              <a:solidFill>
                <a:sysClr val="window" lastClr="FFFFFF"/>
              </a:solidFill>
              <a:ln w="25400" cap="flat" cmpd="sng" algn="ctr">
                <a:solidFill>
                  <a:srgbClr val="1F497D"/>
                </a:solidFill>
                <a:prstDash val="solid"/>
              </a:ln>
              <a:effectLst/>
            </p:spPr>
            <p:txBody>
              <a:bodyPr rtlCol="0" anchor="ctr"/>
              <a:lstStyle/>
              <a:p>
                <a:pPr algn="ctr" defTabSz="514350" fontAlgn="auto">
                  <a:spcBef>
                    <a:spcPts val="0"/>
                  </a:spcBef>
                  <a:spcAft>
                    <a:spcPts val="0"/>
                  </a:spcAft>
                </a:pPr>
                <a:r>
                  <a:rPr lang="en-US" sz="750" kern="0">
                    <a:solidFill>
                      <a:prstClr val="black"/>
                    </a:solidFill>
                    <a:latin typeface="Arial Narrow" panose="020B0606020202030204" pitchFamily="34" charset="0"/>
                    <a:ea typeface="+mn-ea"/>
                  </a:rPr>
                  <a:t>One group</a:t>
                </a:r>
              </a:p>
            </p:txBody>
          </p:sp>
          <p:sp>
            <p:nvSpPr>
              <p:cNvPr id="20" name="Rektangel med rundade hörn 19"/>
              <p:cNvSpPr/>
              <p:nvPr/>
            </p:nvSpPr>
            <p:spPr>
              <a:xfrm>
                <a:off x="6673460" y="4149148"/>
                <a:ext cx="1044000" cy="612000"/>
              </a:xfrm>
              <a:prstGeom prst="roundRect">
                <a:avLst/>
              </a:prstGeom>
              <a:solidFill>
                <a:sysClr val="window" lastClr="FFFFFF"/>
              </a:solidFill>
              <a:ln w="25400" cap="flat" cmpd="sng" algn="ctr">
                <a:solidFill>
                  <a:schemeClr val="accent2">
                    <a:lumMod val="75000"/>
                  </a:schemeClr>
                </a:solidFill>
                <a:prstDash val="solid"/>
              </a:ln>
              <a:effectLst/>
            </p:spPr>
            <p:txBody>
              <a:bodyPr rtlCol="0" anchor="ctr"/>
              <a:lstStyle/>
              <a:p>
                <a:pPr algn="ctr" defTabSz="514350" fontAlgn="auto">
                  <a:spcBef>
                    <a:spcPts val="0"/>
                  </a:spcBef>
                  <a:spcAft>
                    <a:spcPts val="0"/>
                  </a:spcAft>
                </a:pPr>
                <a:r>
                  <a:rPr lang="en-US" sz="750" kern="0">
                    <a:solidFill>
                      <a:prstClr val="black"/>
                    </a:solidFill>
                    <a:latin typeface="Arial Narrow" panose="020B0606020202030204" pitchFamily="34" charset="0"/>
                    <a:ea typeface="+mn-ea"/>
                  </a:rPr>
                  <a:t>Two or more independent groups</a:t>
                </a:r>
              </a:p>
            </p:txBody>
          </p:sp>
          <p:sp>
            <p:nvSpPr>
              <p:cNvPr id="21" name="Rektangel med rundade hörn 20"/>
              <p:cNvSpPr/>
              <p:nvPr/>
            </p:nvSpPr>
            <p:spPr>
              <a:xfrm>
                <a:off x="7987540" y="4149148"/>
                <a:ext cx="900000" cy="612000"/>
              </a:xfrm>
              <a:prstGeom prst="roundRect">
                <a:avLst/>
              </a:prstGeom>
              <a:solidFill>
                <a:sysClr val="window" lastClr="FFFFFF"/>
              </a:solidFill>
              <a:ln w="25400" cap="flat" cmpd="sng" algn="ctr">
                <a:solidFill>
                  <a:schemeClr val="accent2">
                    <a:lumMod val="75000"/>
                  </a:schemeClr>
                </a:solidFill>
                <a:prstDash val="solid"/>
              </a:ln>
              <a:effectLst/>
            </p:spPr>
            <p:txBody>
              <a:bodyPr rtlCol="0" anchor="ctr"/>
              <a:lstStyle/>
              <a:p>
                <a:pPr algn="ctr" defTabSz="514350" fontAlgn="auto">
                  <a:spcBef>
                    <a:spcPts val="0"/>
                  </a:spcBef>
                  <a:spcAft>
                    <a:spcPts val="0"/>
                  </a:spcAft>
                </a:pPr>
                <a:r>
                  <a:rPr lang="en-US" sz="750" kern="0">
                    <a:solidFill>
                      <a:prstClr val="black"/>
                    </a:solidFill>
                    <a:latin typeface="Arial Narrow" panose="020B0606020202030204" pitchFamily="34" charset="0"/>
                    <a:ea typeface="+mn-ea"/>
                  </a:rPr>
                  <a:t>Paired Data</a:t>
                </a:r>
              </a:p>
            </p:txBody>
          </p:sp>
          <p:sp>
            <p:nvSpPr>
              <p:cNvPr id="22" name="Rektangel 21"/>
              <p:cNvSpPr/>
              <p:nvPr/>
            </p:nvSpPr>
            <p:spPr>
              <a:xfrm>
                <a:off x="-185937" y="5194555"/>
                <a:ext cx="987276" cy="978082"/>
              </a:xfrm>
              <a:prstGeom prst="rect">
                <a:avLst/>
              </a:prstGeom>
              <a:noFill/>
              <a:ln w="3175" cap="flat" cmpd="sng" algn="ctr">
                <a:noFill/>
                <a:prstDash val="solid"/>
              </a:ln>
              <a:effectLst/>
            </p:spPr>
            <p:txBody>
              <a:bodyPr rtlCol="0" anchor="ctr"/>
              <a:lstStyle/>
              <a:p>
                <a:pPr algn="ctr" defTabSz="514350" fontAlgn="auto">
                  <a:spcBef>
                    <a:spcPts val="0"/>
                  </a:spcBef>
                  <a:spcAft>
                    <a:spcPts val="0"/>
                  </a:spcAft>
                </a:pPr>
                <a:r>
                  <a:rPr lang="en-US" sz="788" kern="0">
                    <a:solidFill>
                      <a:sysClr val="windowText" lastClr="000000"/>
                    </a:solidFill>
                    <a:latin typeface="Arial Narrow" panose="020B0606020202030204" pitchFamily="34" charset="0"/>
                    <a:ea typeface="+mn-ea"/>
                  </a:rPr>
                  <a:t>One-sample</a:t>
                </a:r>
              </a:p>
              <a:p>
                <a:pPr algn="ctr" defTabSz="514350" fontAlgn="auto">
                  <a:spcBef>
                    <a:spcPts val="0"/>
                  </a:spcBef>
                  <a:spcAft>
                    <a:spcPts val="0"/>
                  </a:spcAft>
                </a:pPr>
                <a:r>
                  <a:rPr lang="en-US" sz="788" kern="0">
                    <a:solidFill>
                      <a:sysClr val="windowText" lastClr="000000"/>
                    </a:solidFill>
                    <a:latin typeface="Arial Narrow" panose="020B0606020202030204" pitchFamily="34" charset="0"/>
                    <a:ea typeface="+mn-ea"/>
                  </a:rPr>
                  <a:t> t-test</a:t>
                </a:r>
              </a:p>
              <a:p>
                <a:pPr algn="ctr" defTabSz="514350" fontAlgn="auto">
                  <a:spcBef>
                    <a:spcPts val="0"/>
                  </a:spcBef>
                  <a:spcAft>
                    <a:spcPts val="0"/>
                  </a:spcAft>
                </a:pPr>
                <a:r>
                  <a:rPr lang="en-US" sz="750" kern="0">
                    <a:solidFill>
                      <a:sysClr val="windowText" lastClr="000000"/>
                    </a:solidFill>
                    <a:latin typeface="Arial Narrow" panose="020B0606020202030204" pitchFamily="34" charset="0"/>
                    <a:ea typeface="+mn-ea"/>
                  </a:rPr>
                  <a:t>(7.2 in book)</a:t>
                </a:r>
              </a:p>
            </p:txBody>
          </p:sp>
          <p:sp>
            <p:nvSpPr>
              <p:cNvPr id="23" name="Rektangel 22"/>
              <p:cNvSpPr/>
              <p:nvPr/>
            </p:nvSpPr>
            <p:spPr>
              <a:xfrm>
                <a:off x="6493420" y="5301357"/>
                <a:ext cx="1404080" cy="860095"/>
              </a:xfrm>
              <a:prstGeom prst="rect">
                <a:avLst/>
              </a:prstGeom>
              <a:noFill/>
              <a:ln w="3175" cap="flat" cmpd="sng" algn="ctr">
                <a:noFill/>
                <a:prstDash val="solid"/>
              </a:ln>
              <a:effectLst/>
            </p:spPr>
            <p:txBody>
              <a:bodyPr rtlCol="0" anchor="ctr"/>
              <a:lstStyle/>
              <a:p>
                <a:pPr defTabSz="514350" fontAlgn="auto">
                  <a:spcBef>
                    <a:spcPts val="0"/>
                  </a:spcBef>
                  <a:spcAft>
                    <a:spcPts val="0"/>
                  </a:spcAft>
                </a:pPr>
                <a:r>
                  <a:rPr lang="en-US" sz="900" kern="0">
                    <a:solidFill>
                      <a:sysClr val="windowText" lastClr="000000"/>
                    </a:solidFill>
                    <a:latin typeface="Arial Narrow" panose="020B0606020202030204" pitchFamily="34" charset="0"/>
                    <a:ea typeface="+mn-ea"/>
                  </a:rPr>
                  <a:t>Chi-square test,</a:t>
                </a:r>
              </a:p>
              <a:p>
                <a:pPr defTabSz="514350" fontAlgn="auto">
                  <a:spcBef>
                    <a:spcPts val="0"/>
                  </a:spcBef>
                  <a:spcAft>
                    <a:spcPts val="0"/>
                  </a:spcAft>
                </a:pPr>
                <a:r>
                  <a:rPr lang="en-US" sz="788" kern="0">
                    <a:solidFill>
                      <a:sysClr val="windowText" lastClr="000000"/>
                    </a:solidFill>
                    <a:latin typeface="Arial Narrow" panose="020B0606020202030204" pitchFamily="34" charset="0"/>
                    <a:ea typeface="+mn-ea"/>
                  </a:rPr>
                  <a:t>Fisher's exact test</a:t>
                </a:r>
              </a:p>
              <a:p>
                <a:pPr defTabSz="514350" fontAlgn="auto">
                  <a:spcBef>
                    <a:spcPts val="0"/>
                  </a:spcBef>
                  <a:spcAft>
                    <a:spcPts val="0"/>
                  </a:spcAft>
                </a:pPr>
                <a:r>
                  <a:rPr lang="en-US" sz="788" kern="0">
                    <a:solidFill>
                      <a:sysClr val="windowText" lastClr="000000"/>
                    </a:solidFill>
                    <a:latin typeface="Arial Narrow" panose="020B0606020202030204" pitchFamily="34" charset="0"/>
                    <a:ea typeface="+mn-ea"/>
                  </a:rPr>
                  <a:t>(12.3 in the book)</a:t>
                </a:r>
                <a:endParaRPr lang="en-US" sz="788" kern="0">
                  <a:solidFill>
                    <a:prstClr val="white"/>
                  </a:solidFill>
                  <a:latin typeface="Arial Narrow" panose="020B0606020202030204" pitchFamily="34" charset="0"/>
                  <a:ea typeface="+mn-ea"/>
                </a:endParaRPr>
              </a:p>
            </p:txBody>
          </p:sp>
          <p:sp>
            <p:nvSpPr>
              <p:cNvPr id="24" name="Rektangel 23"/>
              <p:cNvSpPr/>
              <p:nvPr/>
            </p:nvSpPr>
            <p:spPr>
              <a:xfrm>
                <a:off x="7789468" y="5282339"/>
                <a:ext cx="1296144" cy="890296"/>
              </a:xfrm>
              <a:prstGeom prst="rect">
                <a:avLst/>
              </a:prstGeom>
              <a:noFill/>
              <a:ln w="3175" cap="flat" cmpd="sng" algn="ctr">
                <a:noFill/>
                <a:prstDash val="solid"/>
              </a:ln>
              <a:effectLst/>
            </p:spPr>
            <p:txBody>
              <a:bodyPr rtlCol="0" anchor="ctr"/>
              <a:lstStyle/>
              <a:p>
                <a:pPr defTabSz="514350" fontAlgn="auto">
                  <a:spcBef>
                    <a:spcPts val="0"/>
                  </a:spcBef>
                  <a:spcAft>
                    <a:spcPts val="0"/>
                  </a:spcAft>
                </a:pPr>
                <a:r>
                  <a:rPr lang="en-US" sz="788" kern="0" err="1">
                    <a:solidFill>
                      <a:sysClr val="windowText" lastClr="000000"/>
                    </a:solidFill>
                    <a:latin typeface="Arial Narrow" panose="020B0606020202030204" pitchFamily="34" charset="0"/>
                    <a:ea typeface="+mn-ea"/>
                  </a:rPr>
                  <a:t>McNemar's</a:t>
                </a:r>
                <a:r>
                  <a:rPr lang="en-US" sz="788" kern="0">
                    <a:solidFill>
                      <a:sysClr val="windowText" lastClr="000000"/>
                    </a:solidFill>
                    <a:latin typeface="Arial Narrow" panose="020B0606020202030204" pitchFamily="34" charset="0"/>
                    <a:ea typeface="+mn-ea"/>
                  </a:rPr>
                  <a:t> exact test </a:t>
                </a:r>
              </a:p>
              <a:p>
                <a:pPr defTabSz="514350" fontAlgn="auto">
                  <a:spcBef>
                    <a:spcPts val="0"/>
                  </a:spcBef>
                  <a:spcAft>
                    <a:spcPts val="0"/>
                  </a:spcAft>
                </a:pPr>
                <a:r>
                  <a:rPr lang="en-US" sz="788" kern="0">
                    <a:solidFill>
                      <a:sysClr val="windowText" lastClr="000000"/>
                    </a:solidFill>
                    <a:latin typeface="Arial Narrow" panose="020B0606020202030204" pitchFamily="34" charset="0"/>
                    <a:ea typeface="+mn-ea"/>
                  </a:rPr>
                  <a:t>(12.4 in the book)</a:t>
                </a:r>
                <a:endParaRPr lang="en-US" sz="788" kern="0">
                  <a:solidFill>
                    <a:prstClr val="white"/>
                  </a:solidFill>
                  <a:latin typeface="Arial Narrow" panose="020B0606020202030204" pitchFamily="34" charset="0"/>
                  <a:ea typeface="+mn-ea"/>
                </a:endParaRPr>
              </a:p>
            </p:txBody>
          </p:sp>
          <p:cxnSp>
            <p:nvCxnSpPr>
              <p:cNvPr id="25" name="Vinklad  72"/>
              <p:cNvCxnSpPr>
                <a:stCxn id="6" idx="2"/>
                <a:endCxn id="10" idx="0"/>
              </p:cNvCxnSpPr>
              <p:nvPr/>
            </p:nvCxnSpPr>
            <p:spPr>
              <a:xfrm rot="5400000">
                <a:off x="2026003" y="1868320"/>
                <a:ext cx="463414" cy="1712391"/>
              </a:xfrm>
              <a:prstGeom prst="bentConnector3">
                <a:avLst>
                  <a:gd name="adj1" fmla="val 37417"/>
                </a:avLst>
              </a:prstGeom>
              <a:noFill/>
              <a:ln w="28575" cap="flat" cmpd="sng" algn="ctr">
                <a:solidFill>
                  <a:srgbClr val="4F81BD">
                    <a:shade val="95000"/>
                    <a:satMod val="105000"/>
                  </a:srgbClr>
                </a:solidFill>
                <a:prstDash val="solid"/>
                <a:tailEnd type="arrow"/>
              </a:ln>
              <a:effectLst/>
            </p:spPr>
          </p:cxnSp>
          <p:cxnSp>
            <p:nvCxnSpPr>
              <p:cNvPr id="26" name="Vinklad  75"/>
              <p:cNvCxnSpPr>
                <a:stCxn id="6" idx="2"/>
                <a:endCxn id="9" idx="0"/>
              </p:cNvCxnSpPr>
              <p:nvPr/>
            </p:nvCxnSpPr>
            <p:spPr>
              <a:xfrm rot="16200000" flipH="1">
                <a:off x="3417873" y="2188840"/>
                <a:ext cx="460957" cy="1068892"/>
              </a:xfrm>
              <a:prstGeom prst="bentConnector3">
                <a:avLst>
                  <a:gd name="adj1" fmla="val 37351"/>
                </a:avLst>
              </a:prstGeom>
              <a:noFill/>
              <a:ln w="28575" cap="flat" cmpd="sng" algn="ctr">
                <a:solidFill>
                  <a:srgbClr val="4F81BD">
                    <a:shade val="95000"/>
                    <a:satMod val="105000"/>
                  </a:srgbClr>
                </a:solidFill>
                <a:prstDash val="solid"/>
                <a:tailEnd type="arrow"/>
              </a:ln>
              <a:effectLst/>
            </p:spPr>
          </p:cxnSp>
          <p:cxnSp>
            <p:nvCxnSpPr>
              <p:cNvPr id="27" name="Vinklad  85"/>
              <p:cNvCxnSpPr>
                <a:stCxn id="7" idx="2"/>
                <a:endCxn id="9" idx="3"/>
              </p:cNvCxnSpPr>
              <p:nvPr/>
            </p:nvCxnSpPr>
            <p:spPr>
              <a:xfrm rot="5400000">
                <a:off x="4600072" y="2675710"/>
                <a:ext cx="820958" cy="455156"/>
              </a:xfrm>
              <a:prstGeom prst="bentConnector2">
                <a:avLst/>
              </a:prstGeom>
              <a:noFill/>
              <a:ln w="28575" cap="flat" cmpd="sng" algn="ctr">
                <a:solidFill>
                  <a:srgbClr val="4F81BD">
                    <a:shade val="95000"/>
                    <a:satMod val="105000"/>
                  </a:srgbClr>
                </a:solidFill>
                <a:prstDash val="solid"/>
                <a:tailEnd type="arrow"/>
              </a:ln>
              <a:effectLst/>
            </p:spPr>
          </p:cxnSp>
          <p:cxnSp>
            <p:nvCxnSpPr>
              <p:cNvPr id="28" name="Vinklad  88"/>
              <p:cNvCxnSpPr>
                <a:stCxn id="9" idx="2"/>
                <a:endCxn id="18" idx="0"/>
              </p:cNvCxnSpPr>
              <p:nvPr/>
            </p:nvCxnSpPr>
            <p:spPr>
              <a:xfrm rot="16200000" flipH="1">
                <a:off x="4731292" y="3125270"/>
                <a:ext cx="475316" cy="1572306"/>
              </a:xfrm>
              <a:prstGeom prst="bentConnector3">
                <a:avLst>
                  <a:gd name="adj1" fmla="val 50000"/>
                </a:avLst>
              </a:prstGeom>
              <a:noFill/>
              <a:ln w="28575" cap="flat" cmpd="sng" algn="ctr">
                <a:solidFill>
                  <a:srgbClr val="4F81BD">
                    <a:shade val="95000"/>
                    <a:satMod val="105000"/>
                  </a:srgbClr>
                </a:solidFill>
                <a:prstDash val="solid"/>
                <a:tailEnd type="arrow"/>
              </a:ln>
              <a:effectLst/>
            </p:spPr>
          </p:cxnSp>
          <p:cxnSp>
            <p:nvCxnSpPr>
              <p:cNvPr id="29" name="Vinklad  91"/>
              <p:cNvCxnSpPr>
                <a:stCxn id="9" idx="2"/>
                <a:endCxn id="17" idx="0"/>
              </p:cNvCxnSpPr>
              <p:nvPr/>
            </p:nvCxnSpPr>
            <p:spPr>
              <a:xfrm rot="16200000" flipH="1">
                <a:off x="4156809" y="3699753"/>
                <a:ext cx="475315" cy="423338"/>
              </a:xfrm>
              <a:prstGeom prst="bentConnector3">
                <a:avLst>
                  <a:gd name="adj1" fmla="val 50000"/>
                </a:avLst>
              </a:prstGeom>
              <a:noFill/>
              <a:ln w="28575" cap="flat" cmpd="sng" algn="ctr">
                <a:solidFill>
                  <a:srgbClr val="4F81BD">
                    <a:shade val="95000"/>
                    <a:satMod val="105000"/>
                  </a:srgbClr>
                </a:solidFill>
                <a:prstDash val="solid"/>
                <a:tailEnd type="arrow"/>
              </a:ln>
              <a:effectLst/>
            </p:spPr>
          </p:cxnSp>
          <p:cxnSp>
            <p:nvCxnSpPr>
              <p:cNvPr id="30" name="Vinklad  94"/>
              <p:cNvCxnSpPr>
                <a:stCxn id="9" idx="2"/>
                <a:endCxn id="19" idx="0"/>
              </p:cNvCxnSpPr>
              <p:nvPr/>
            </p:nvCxnSpPr>
            <p:spPr>
              <a:xfrm rot="5400000">
                <a:off x="3606212" y="3572494"/>
                <a:ext cx="475315" cy="677856"/>
              </a:xfrm>
              <a:prstGeom prst="bentConnector3">
                <a:avLst>
                  <a:gd name="adj1" fmla="val 50000"/>
                </a:avLst>
              </a:prstGeom>
              <a:noFill/>
              <a:ln w="28575" cap="flat" cmpd="sng" algn="ctr">
                <a:solidFill>
                  <a:srgbClr val="4F81BD">
                    <a:shade val="95000"/>
                    <a:satMod val="105000"/>
                  </a:srgbClr>
                </a:solidFill>
                <a:prstDash val="solid"/>
                <a:tailEnd type="arrow"/>
              </a:ln>
              <a:effectLst/>
            </p:spPr>
          </p:cxnSp>
          <p:cxnSp>
            <p:nvCxnSpPr>
              <p:cNvPr id="31" name="Vinklad  97"/>
              <p:cNvCxnSpPr>
                <a:stCxn id="10" idx="2"/>
                <a:endCxn id="12" idx="0"/>
              </p:cNvCxnSpPr>
              <p:nvPr/>
            </p:nvCxnSpPr>
            <p:spPr>
              <a:xfrm rot="16200000" flipH="1">
                <a:off x="1699198" y="3378537"/>
                <a:ext cx="472858" cy="1068227"/>
              </a:xfrm>
              <a:prstGeom prst="bentConnector3">
                <a:avLst>
                  <a:gd name="adj1" fmla="val 50000"/>
                </a:avLst>
              </a:prstGeom>
              <a:noFill/>
              <a:ln w="28575" cap="flat" cmpd="sng" algn="ctr">
                <a:solidFill>
                  <a:srgbClr val="4F81BD">
                    <a:shade val="95000"/>
                    <a:satMod val="105000"/>
                  </a:srgbClr>
                </a:solidFill>
                <a:prstDash val="solid"/>
                <a:tailEnd type="arrow"/>
              </a:ln>
              <a:effectLst/>
            </p:spPr>
          </p:cxnSp>
          <p:cxnSp>
            <p:nvCxnSpPr>
              <p:cNvPr id="32" name="Vinklad  98"/>
              <p:cNvCxnSpPr>
                <a:stCxn id="10" idx="2"/>
                <a:endCxn id="11" idx="0"/>
              </p:cNvCxnSpPr>
              <p:nvPr/>
            </p:nvCxnSpPr>
            <p:spPr>
              <a:xfrm rot="5400000">
                <a:off x="1165085" y="3912651"/>
                <a:ext cx="472859" cy="1"/>
              </a:xfrm>
              <a:prstGeom prst="bentConnector3">
                <a:avLst>
                  <a:gd name="adj1" fmla="val 50000"/>
                </a:avLst>
              </a:prstGeom>
              <a:noFill/>
              <a:ln w="28575" cap="flat" cmpd="sng" algn="ctr">
                <a:solidFill>
                  <a:srgbClr val="4F81BD">
                    <a:shade val="95000"/>
                    <a:satMod val="105000"/>
                  </a:srgbClr>
                </a:solidFill>
                <a:prstDash val="solid"/>
                <a:tailEnd type="arrow"/>
              </a:ln>
              <a:effectLst/>
            </p:spPr>
          </p:cxnSp>
          <p:cxnSp>
            <p:nvCxnSpPr>
              <p:cNvPr id="33" name="Vinklad  99"/>
              <p:cNvCxnSpPr>
                <a:stCxn id="10" idx="2"/>
                <a:endCxn id="13" idx="0"/>
              </p:cNvCxnSpPr>
              <p:nvPr/>
            </p:nvCxnSpPr>
            <p:spPr>
              <a:xfrm rot="5400000">
                <a:off x="621998" y="3369563"/>
                <a:ext cx="472858" cy="1086175"/>
              </a:xfrm>
              <a:prstGeom prst="bentConnector3">
                <a:avLst>
                  <a:gd name="adj1" fmla="val 50000"/>
                </a:avLst>
              </a:prstGeom>
              <a:noFill/>
              <a:ln w="28575" cap="flat" cmpd="sng" algn="ctr">
                <a:solidFill>
                  <a:srgbClr val="4F81BD">
                    <a:shade val="95000"/>
                    <a:satMod val="105000"/>
                  </a:srgbClr>
                </a:solidFill>
                <a:prstDash val="solid"/>
                <a:tailEnd type="arrow"/>
              </a:ln>
              <a:effectLst/>
            </p:spPr>
          </p:cxnSp>
          <p:cxnSp>
            <p:nvCxnSpPr>
              <p:cNvPr id="34" name="Vinklad  111"/>
              <p:cNvCxnSpPr>
                <a:stCxn id="54" idx="2"/>
                <a:endCxn id="20" idx="0"/>
              </p:cNvCxnSpPr>
              <p:nvPr/>
            </p:nvCxnSpPr>
            <p:spPr>
              <a:xfrm rot="5400000">
                <a:off x="7027053" y="3777346"/>
                <a:ext cx="540210" cy="203395"/>
              </a:xfrm>
              <a:prstGeom prst="bentConnector3">
                <a:avLst>
                  <a:gd name="adj1" fmla="val 50000"/>
                </a:avLst>
              </a:prstGeom>
              <a:noFill/>
              <a:ln w="28575" cap="flat" cmpd="sng" algn="ctr">
                <a:solidFill>
                  <a:srgbClr val="4F81BD">
                    <a:shade val="95000"/>
                    <a:satMod val="105000"/>
                  </a:srgbClr>
                </a:solidFill>
                <a:prstDash val="solid"/>
                <a:tailEnd type="arrow"/>
              </a:ln>
              <a:effectLst/>
            </p:spPr>
          </p:cxnSp>
          <p:cxnSp>
            <p:nvCxnSpPr>
              <p:cNvPr id="35" name="Vinklad  114"/>
              <p:cNvCxnSpPr>
                <a:stCxn id="54" idx="2"/>
                <a:endCxn id="21" idx="0"/>
              </p:cNvCxnSpPr>
              <p:nvPr/>
            </p:nvCxnSpPr>
            <p:spPr>
              <a:xfrm rot="16200000" flipH="1">
                <a:off x="7648092" y="3359700"/>
                <a:ext cx="540210" cy="1038685"/>
              </a:xfrm>
              <a:prstGeom prst="bentConnector3">
                <a:avLst>
                  <a:gd name="adj1" fmla="val 50000"/>
                </a:avLst>
              </a:prstGeom>
              <a:noFill/>
              <a:ln w="28575" cap="flat" cmpd="sng" algn="ctr">
                <a:solidFill>
                  <a:srgbClr val="4F81BD">
                    <a:shade val="95000"/>
                    <a:satMod val="105000"/>
                  </a:srgbClr>
                </a:solidFill>
                <a:prstDash val="solid"/>
                <a:tailEnd type="arrow"/>
              </a:ln>
              <a:effectLst/>
            </p:spPr>
          </p:cxnSp>
          <p:cxnSp>
            <p:nvCxnSpPr>
              <p:cNvPr id="36" name="Rak pil 117"/>
              <p:cNvCxnSpPr>
                <a:stCxn id="13" idx="2"/>
                <a:endCxn id="22" idx="0"/>
              </p:cNvCxnSpPr>
              <p:nvPr/>
            </p:nvCxnSpPr>
            <p:spPr>
              <a:xfrm flipH="1">
                <a:off x="307701" y="4761080"/>
                <a:ext cx="7638" cy="433475"/>
              </a:xfrm>
              <a:prstGeom prst="straightConnector1">
                <a:avLst/>
              </a:prstGeom>
              <a:noFill/>
              <a:ln w="12700" cap="flat" cmpd="sng" algn="ctr">
                <a:solidFill>
                  <a:sysClr val="windowText" lastClr="000000"/>
                </a:solidFill>
                <a:prstDash val="solid"/>
                <a:tailEnd type="arrow"/>
              </a:ln>
              <a:effectLst/>
            </p:spPr>
          </p:cxnSp>
          <p:cxnSp>
            <p:nvCxnSpPr>
              <p:cNvPr id="37" name="Rak pil 124"/>
              <p:cNvCxnSpPr>
                <a:stCxn id="11" idx="2"/>
                <a:endCxn id="44" idx="0"/>
              </p:cNvCxnSpPr>
              <p:nvPr/>
            </p:nvCxnSpPr>
            <p:spPr>
              <a:xfrm>
                <a:off x="1401513" y="4761082"/>
                <a:ext cx="0" cy="433472"/>
              </a:xfrm>
              <a:prstGeom prst="straightConnector1">
                <a:avLst/>
              </a:prstGeom>
              <a:noFill/>
              <a:ln w="12700" cap="flat" cmpd="sng" algn="ctr">
                <a:solidFill>
                  <a:sysClr val="windowText" lastClr="000000"/>
                </a:solidFill>
                <a:prstDash val="solid"/>
                <a:tailEnd type="arrow"/>
              </a:ln>
              <a:effectLst/>
            </p:spPr>
          </p:cxnSp>
          <p:cxnSp>
            <p:nvCxnSpPr>
              <p:cNvPr id="38" name="Rak pil 128"/>
              <p:cNvCxnSpPr>
                <a:stCxn id="12" idx="2"/>
                <a:endCxn id="45" idx="0"/>
              </p:cNvCxnSpPr>
              <p:nvPr/>
            </p:nvCxnSpPr>
            <p:spPr>
              <a:xfrm>
                <a:off x="2469741" y="4761080"/>
                <a:ext cx="16118" cy="409448"/>
              </a:xfrm>
              <a:prstGeom prst="straightConnector1">
                <a:avLst/>
              </a:prstGeom>
              <a:noFill/>
              <a:ln w="12700" cap="flat" cmpd="sng" algn="ctr">
                <a:solidFill>
                  <a:sysClr val="windowText" lastClr="000000"/>
                </a:solidFill>
                <a:prstDash val="solid"/>
                <a:tailEnd type="arrow"/>
              </a:ln>
              <a:effectLst/>
            </p:spPr>
          </p:cxnSp>
          <p:cxnSp>
            <p:nvCxnSpPr>
              <p:cNvPr id="39" name="Rak pil 131"/>
              <p:cNvCxnSpPr>
                <a:stCxn id="19" idx="2"/>
                <a:endCxn id="46" idx="0"/>
              </p:cNvCxnSpPr>
              <p:nvPr/>
            </p:nvCxnSpPr>
            <p:spPr>
              <a:xfrm flipH="1">
                <a:off x="3501800" y="4761080"/>
                <a:ext cx="3141" cy="417365"/>
              </a:xfrm>
              <a:prstGeom prst="straightConnector1">
                <a:avLst/>
              </a:prstGeom>
              <a:noFill/>
              <a:ln w="12700" cap="flat" cmpd="sng" algn="ctr">
                <a:solidFill>
                  <a:sysClr val="windowText" lastClr="000000"/>
                </a:solidFill>
                <a:prstDash val="solid"/>
                <a:tailEnd type="arrow"/>
              </a:ln>
              <a:effectLst/>
            </p:spPr>
          </p:cxnSp>
          <p:cxnSp>
            <p:nvCxnSpPr>
              <p:cNvPr id="40" name="Rak pil 134"/>
              <p:cNvCxnSpPr>
                <a:stCxn id="17" idx="2"/>
                <a:endCxn id="47" idx="0"/>
              </p:cNvCxnSpPr>
              <p:nvPr/>
            </p:nvCxnSpPr>
            <p:spPr>
              <a:xfrm>
                <a:off x="4606135" y="4761080"/>
                <a:ext cx="0" cy="405617"/>
              </a:xfrm>
              <a:prstGeom prst="straightConnector1">
                <a:avLst/>
              </a:prstGeom>
              <a:noFill/>
              <a:ln w="12700" cap="flat" cmpd="sng" algn="ctr">
                <a:solidFill>
                  <a:sysClr val="windowText" lastClr="000000"/>
                </a:solidFill>
                <a:prstDash val="solid"/>
                <a:tailEnd type="arrow"/>
              </a:ln>
              <a:effectLst/>
            </p:spPr>
          </p:cxnSp>
          <p:cxnSp>
            <p:nvCxnSpPr>
              <p:cNvPr id="41" name="Rak pil 137"/>
              <p:cNvCxnSpPr>
                <a:stCxn id="18" idx="2"/>
                <a:endCxn id="48" idx="0"/>
              </p:cNvCxnSpPr>
              <p:nvPr/>
            </p:nvCxnSpPr>
            <p:spPr>
              <a:xfrm>
                <a:off x="5755103" y="4761082"/>
                <a:ext cx="1" cy="521257"/>
              </a:xfrm>
              <a:prstGeom prst="straightConnector1">
                <a:avLst/>
              </a:prstGeom>
              <a:noFill/>
              <a:ln w="12700" cap="flat" cmpd="sng" algn="ctr">
                <a:solidFill>
                  <a:sysClr val="windowText" lastClr="000000"/>
                </a:solidFill>
                <a:prstDash val="solid"/>
                <a:tailEnd type="arrow"/>
              </a:ln>
              <a:effectLst/>
            </p:spPr>
          </p:cxnSp>
          <p:cxnSp>
            <p:nvCxnSpPr>
              <p:cNvPr id="42" name="Rak pil 140"/>
              <p:cNvCxnSpPr>
                <a:stCxn id="20" idx="2"/>
                <a:endCxn id="23" idx="0"/>
              </p:cNvCxnSpPr>
              <p:nvPr/>
            </p:nvCxnSpPr>
            <p:spPr>
              <a:xfrm flipH="1">
                <a:off x="7195460" y="4761148"/>
                <a:ext cx="1" cy="540209"/>
              </a:xfrm>
              <a:prstGeom prst="straightConnector1">
                <a:avLst/>
              </a:prstGeom>
              <a:noFill/>
              <a:ln w="12700" cap="flat" cmpd="sng" algn="ctr">
                <a:solidFill>
                  <a:sysClr val="windowText" lastClr="000000"/>
                </a:solidFill>
                <a:prstDash val="solid"/>
                <a:tailEnd type="arrow"/>
              </a:ln>
              <a:effectLst/>
            </p:spPr>
          </p:cxnSp>
          <p:cxnSp>
            <p:nvCxnSpPr>
              <p:cNvPr id="43" name="Rak pil 145"/>
              <p:cNvCxnSpPr>
                <a:stCxn id="21" idx="2"/>
                <a:endCxn id="24" idx="0"/>
              </p:cNvCxnSpPr>
              <p:nvPr/>
            </p:nvCxnSpPr>
            <p:spPr>
              <a:xfrm flipH="1">
                <a:off x="8437540" y="4761148"/>
                <a:ext cx="1" cy="521191"/>
              </a:xfrm>
              <a:prstGeom prst="straightConnector1">
                <a:avLst/>
              </a:prstGeom>
              <a:noFill/>
              <a:ln w="12700" cap="flat" cmpd="sng" algn="ctr">
                <a:solidFill>
                  <a:sysClr val="windowText" lastClr="000000"/>
                </a:solidFill>
                <a:prstDash val="solid"/>
                <a:tailEnd type="arrow"/>
              </a:ln>
              <a:effectLst/>
            </p:spPr>
          </p:cxnSp>
          <p:sp>
            <p:nvSpPr>
              <p:cNvPr id="44" name="Rektangel 43"/>
              <p:cNvSpPr/>
              <p:nvPr/>
            </p:nvSpPr>
            <p:spPr>
              <a:xfrm>
                <a:off x="745019" y="5194554"/>
                <a:ext cx="1337778" cy="972491"/>
              </a:xfrm>
              <a:prstGeom prst="rect">
                <a:avLst/>
              </a:prstGeom>
              <a:noFill/>
              <a:ln w="3175" cap="flat" cmpd="sng" algn="ctr">
                <a:noFill/>
                <a:prstDash val="solid"/>
              </a:ln>
              <a:effectLst/>
            </p:spPr>
            <p:txBody>
              <a:bodyPr rtlCol="0" anchor="ctr"/>
              <a:lstStyle/>
              <a:p>
                <a:pPr algn="ctr" defTabSz="514350" fontAlgn="auto">
                  <a:spcBef>
                    <a:spcPts val="0"/>
                  </a:spcBef>
                  <a:spcAft>
                    <a:spcPts val="169"/>
                  </a:spcAft>
                </a:pPr>
                <a:r>
                  <a:rPr lang="en-US" sz="788" kern="0">
                    <a:solidFill>
                      <a:sysClr val="windowText" lastClr="000000"/>
                    </a:solidFill>
                    <a:latin typeface="Arial Narrow" panose="020B0606020202030204" pitchFamily="34" charset="0"/>
                    <a:ea typeface="+mn-ea"/>
                  </a:rPr>
                  <a:t>Independent two-sample t-test,</a:t>
                </a:r>
              </a:p>
              <a:p>
                <a:pPr algn="ctr" defTabSz="514350" fontAlgn="auto">
                  <a:spcBef>
                    <a:spcPts val="0"/>
                  </a:spcBef>
                  <a:spcAft>
                    <a:spcPts val="0"/>
                  </a:spcAft>
                </a:pPr>
                <a:r>
                  <a:rPr lang="en-US" sz="750" kern="0">
                    <a:solidFill>
                      <a:sysClr val="windowText" lastClr="000000"/>
                    </a:solidFill>
                    <a:latin typeface="Arial Narrow" panose="020B0606020202030204" pitchFamily="34" charset="0"/>
                    <a:ea typeface="+mn-ea"/>
                  </a:rPr>
                  <a:t>ANOVA</a:t>
                </a:r>
              </a:p>
              <a:p>
                <a:pPr algn="ctr" defTabSz="514350" fontAlgn="auto">
                  <a:spcBef>
                    <a:spcPts val="0"/>
                  </a:spcBef>
                  <a:spcAft>
                    <a:spcPts val="0"/>
                  </a:spcAft>
                </a:pPr>
                <a:r>
                  <a:rPr lang="en-US" sz="750" kern="0">
                    <a:solidFill>
                      <a:sysClr val="windowText" lastClr="000000"/>
                    </a:solidFill>
                    <a:latin typeface="Arial Narrow" panose="020B0606020202030204" pitchFamily="34" charset="0"/>
                    <a:ea typeface="+mn-ea"/>
                  </a:rPr>
                  <a:t>(8.2-8.3 in  book)</a:t>
                </a:r>
              </a:p>
            </p:txBody>
          </p:sp>
          <p:sp>
            <p:nvSpPr>
              <p:cNvPr id="45" name="Rektangel 44"/>
              <p:cNvSpPr/>
              <p:nvPr/>
            </p:nvSpPr>
            <p:spPr>
              <a:xfrm>
                <a:off x="1956148" y="5170528"/>
                <a:ext cx="1059423" cy="990924"/>
              </a:xfrm>
              <a:prstGeom prst="rect">
                <a:avLst/>
              </a:prstGeom>
              <a:noFill/>
              <a:ln w="3175" cap="flat" cmpd="sng" algn="ctr">
                <a:noFill/>
                <a:prstDash val="solid"/>
              </a:ln>
              <a:effectLst/>
            </p:spPr>
            <p:txBody>
              <a:bodyPr rtlCol="0" anchor="ctr"/>
              <a:lstStyle/>
              <a:p>
                <a:pPr algn="ctr" defTabSz="514350" fontAlgn="auto">
                  <a:spcBef>
                    <a:spcPts val="0"/>
                  </a:spcBef>
                  <a:spcAft>
                    <a:spcPts val="0"/>
                  </a:spcAft>
                </a:pPr>
                <a:r>
                  <a:rPr lang="en-US" sz="788" kern="0">
                    <a:solidFill>
                      <a:sysClr val="windowText" lastClr="000000"/>
                    </a:solidFill>
                    <a:latin typeface="Arial Narrow" panose="020B0606020202030204" pitchFamily="34" charset="0"/>
                    <a:ea typeface="+mn-ea"/>
                  </a:rPr>
                  <a:t>Paired sample t-test</a:t>
                </a:r>
              </a:p>
              <a:p>
                <a:pPr algn="ctr" defTabSz="514350" fontAlgn="auto">
                  <a:spcBef>
                    <a:spcPts val="0"/>
                  </a:spcBef>
                  <a:spcAft>
                    <a:spcPts val="0"/>
                  </a:spcAft>
                </a:pPr>
                <a:r>
                  <a:rPr lang="en-US" sz="750" kern="0">
                    <a:solidFill>
                      <a:sysClr val="windowText" lastClr="000000"/>
                    </a:solidFill>
                    <a:latin typeface="Arial Narrow" panose="020B0606020202030204" pitchFamily="34" charset="0"/>
                    <a:ea typeface="+mn-ea"/>
                  </a:rPr>
                  <a:t>(8.1 in book)</a:t>
                </a:r>
              </a:p>
            </p:txBody>
          </p:sp>
          <p:sp>
            <p:nvSpPr>
              <p:cNvPr id="46" name="Rektangel 45"/>
              <p:cNvSpPr/>
              <p:nvPr/>
            </p:nvSpPr>
            <p:spPr>
              <a:xfrm>
                <a:off x="2946997" y="5178446"/>
                <a:ext cx="1109604" cy="983007"/>
              </a:xfrm>
              <a:prstGeom prst="rect">
                <a:avLst/>
              </a:prstGeom>
              <a:noFill/>
              <a:ln w="3175" cap="flat" cmpd="sng" algn="ctr">
                <a:noFill/>
                <a:prstDash val="solid"/>
              </a:ln>
              <a:effectLst/>
            </p:spPr>
            <p:txBody>
              <a:bodyPr rtlCol="0" anchor="ctr"/>
              <a:lstStyle/>
              <a:p>
                <a:pPr algn="ctr" defTabSz="514350" fontAlgn="auto">
                  <a:spcBef>
                    <a:spcPts val="0"/>
                  </a:spcBef>
                  <a:spcAft>
                    <a:spcPts val="0"/>
                  </a:spcAft>
                </a:pPr>
                <a:r>
                  <a:rPr lang="en-US" sz="825" kern="0">
                    <a:solidFill>
                      <a:sysClr val="windowText" lastClr="000000"/>
                    </a:solidFill>
                    <a:latin typeface="Arial Narrow" panose="020B0606020202030204" pitchFamily="34" charset="0"/>
                    <a:ea typeface="+mn-ea"/>
                  </a:rPr>
                  <a:t>Sign test</a:t>
                </a:r>
              </a:p>
              <a:p>
                <a:pPr algn="ctr" defTabSz="514350" fontAlgn="auto">
                  <a:spcBef>
                    <a:spcPts val="0"/>
                  </a:spcBef>
                  <a:spcAft>
                    <a:spcPts val="0"/>
                  </a:spcAft>
                </a:pPr>
                <a:r>
                  <a:rPr lang="en-US" sz="788" kern="0">
                    <a:solidFill>
                      <a:sysClr val="windowText" lastClr="000000"/>
                    </a:solidFill>
                    <a:latin typeface="Arial Narrow" panose="020B0606020202030204" pitchFamily="34" charset="0"/>
                    <a:ea typeface="+mn-ea"/>
                  </a:rPr>
                  <a:t>(10.2 in book)</a:t>
                </a:r>
              </a:p>
            </p:txBody>
          </p:sp>
          <p:sp>
            <p:nvSpPr>
              <p:cNvPr id="47" name="Rektangel 46"/>
              <p:cNvSpPr/>
              <p:nvPr/>
            </p:nvSpPr>
            <p:spPr>
              <a:xfrm>
                <a:off x="3938896" y="5166697"/>
                <a:ext cx="1363423" cy="1000347"/>
              </a:xfrm>
              <a:prstGeom prst="rect">
                <a:avLst/>
              </a:prstGeom>
              <a:noFill/>
              <a:ln w="3175" cap="flat" cmpd="sng" algn="ctr">
                <a:noFill/>
                <a:prstDash val="solid"/>
              </a:ln>
              <a:effectLst/>
            </p:spPr>
            <p:txBody>
              <a:bodyPr rtlCol="0" anchor="ctr"/>
              <a:lstStyle/>
              <a:p>
                <a:pPr algn="ctr" defTabSz="514350" fontAlgn="auto">
                  <a:spcBef>
                    <a:spcPts val="0"/>
                  </a:spcBef>
                  <a:spcAft>
                    <a:spcPts val="0"/>
                  </a:spcAft>
                </a:pPr>
                <a:r>
                  <a:rPr lang="en-US" sz="788" kern="0">
                    <a:solidFill>
                      <a:sysClr val="windowText" lastClr="000000"/>
                    </a:solidFill>
                    <a:latin typeface="Arial Narrow" panose="020B0606020202030204" pitchFamily="34" charset="0"/>
                    <a:ea typeface="+mn-ea"/>
                  </a:rPr>
                  <a:t>Mann-Whitney,</a:t>
                </a:r>
              </a:p>
              <a:p>
                <a:pPr algn="ctr" defTabSz="514350" fontAlgn="auto">
                  <a:spcBef>
                    <a:spcPts val="0"/>
                  </a:spcBef>
                  <a:spcAft>
                    <a:spcPts val="0"/>
                  </a:spcAft>
                </a:pPr>
                <a:r>
                  <a:rPr lang="en-US" sz="788" kern="0" err="1">
                    <a:solidFill>
                      <a:sysClr val="windowText" lastClr="000000"/>
                    </a:solidFill>
                    <a:latin typeface="Arial Narrow" panose="020B0606020202030204" pitchFamily="34" charset="0"/>
                    <a:ea typeface="+mn-ea"/>
                  </a:rPr>
                  <a:t>Kuskal</a:t>
                </a:r>
                <a:r>
                  <a:rPr lang="en-US" sz="788" kern="0">
                    <a:solidFill>
                      <a:sysClr val="windowText" lastClr="000000"/>
                    </a:solidFill>
                    <a:latin typeface="Arial Narrow" panose="020B0606020202030204" pitchFamily="34" charset="0"/>
                    <a:ea typeface="+mn-ea"/>
                  </a:rPr>
                  <a:t>-Wallis </a:t>
                </a:r>
              </a:p>
              <a:p>
                <a:pPr algn="ctr" defTabSz="514350" fontAlgn="auto">
                  <a:spcBef>
                    <a:spcPts val="0"/>
                  </a:spcBef>
                  <a:spcAft>
                    <a:spcPts val="0"/>
                  </a:spcAft>
                </a:pPr>
                <a:r>
                  <a:rPr lang="en-US" sz="750" kern="0">
                    <a:solidFill>
                      <a:sysClr val="windowText" lastClr="000000"/>
                    </a:solidFill>
                    <a:latin typeface="Arial Narrow" panose="020B0606020202030204" pitchFamily="34" charset="0"/>
                    <a:ea typeface="+mn-ea"/>
                  </a:rPr>
                  <a:t>(10.4-10.5 in  book)</a:t>
                </a:r>
              </a:p>
            </p:txBody>
          </p:sp>
          <p:sp>
            <p:nvSpPr>
              <p:cNvPr id="48" name="Rektangel 47"/>
              <p:cNvSpPr/>
              <p:nvPr/>
            </p:nvSpPr>
            <p:spPr>
              <a:xfrm>
                <a:off x="4991812" y="5282339"/>
                <a:ext cx="1526584" cy="879114"/>
              </a:xfrm>
              <a:prstGeom prst="rect">
                <a:avLst/>
              </a:prstGeom>
              <a:noFill/>
              <a:ln w="3175" cap="flat" cmpd="sng" algn="ctr">
                <a:noFill/>
                <a:prstDash val="solid"/>
              </a:ln>
              <a:effectLst/>
            </p:spPr>
            <p:txBody>
              <a:bodyPr rtlCol="0" anchor="ctr"/>
              <a:lstStyle/>
              <a:p>
                <a:pPr algn="ctr" defTabSz="514350" fontAlgn="auto">
                  <a:spcBef>
                    <a:spcPts val="0"/>
                  </a:spcBef>
                  <a:spcAft>
                    <a:spcPts val="0"/>
                  </a:spcAft>
                </a:pPr>
                <a:r>
                  <a:rPr lang="en-US" sz="788" kern="0" dirty="0">
                    <a:solidFill>
                      <a:sysClr val="windowText" lastClr="000000"/>
                    </a:solidFill>
                    <a:latin typeface="Arial Narrow" panose="020B0606020202030204" pitchFamily="34" charset="0"/>
                    <a:ea typeface="+mn-ea"/>
                  </a:rPr>
                  <a:t>Sign test,</a:t>
                </a:r>
              </a:p>
              <a:p>
                <a:pPr algn="ctr" defTabSz="514350" fontAlgn="auto">
                  <a:spcBef>
                    <a:spcPts val="0"/>
                  </a:spcBef>
                  <a:spcAft>
                    <a:spcPts val="0"/>
                  </a:spcAft>
                </a:pPr>
                <a:r>
                  <a:rPr lang="en-US" sz="750" kern="0">
                    <a:solidFill>
                      <a:sysClr val="windowText" lastClr="000000"/>
                    </a:solidFill>
                    <a:latin typeface="Arial Narrow" panose="020B0606020202030204" pitchFamily="34" charset="0"/>
                    <a:ea typeface="+mn-ea"/>
                  </a:rPr>
                  <a:t>(</a:t>
                </a:r>
                <a:r>
                  <a:rPr lang="en-US" sz="750" kern="0" dirty="0">
                    <a:solidFill>
                      <a:sysClr val="windowText" lastClr="000000"/>
                    </a:solidFill>
                    <a:latin typeface="Arial Narrow" panose="020B0606020202030204" pitchFamily="34" charset="0"/>
                    <a:ea typeface="+mn-ea"/>
                  </a:rPr>
                  <a:t>10.3 in book)</a:t>
                </a:r>
              </a:p>
            </p:txBody>
          </p:sp>
        </p:grpSp>
        <p:sp>
          <p:nvSpPr>
            <p:cNvPr id="50" name="Rektangel med rundade hörn 49"/>
            <p:cNvSpPr/>
            <p:nvPr/>
          </p:nvSpPr>
          <p:spPr>
            <a:xfrm>
              <a:off x="914333" y="2845754"/>
              <a:ext cx="1200350" cy="719999"/>
            </a:xfrm>
            <a:prstGeom prst="roundRect">
              <a:avLst/>
            </a:prstGeom>
            <a:solidFill>
              <a:sysClr val="window" lastClr="FFFFFF"/>
            </a:solidFill>
            <a:ln w="25400" cap="flat" cmpd="sng" algn="ctr">
              <a:solidFill>
                <a:schemeClr val="accent6">
                  <a:lumMod val="75000"/>
                </a:schemeClr>
              </a:solidFill>
              <a:prstDash val="solid"/>
            </a:ln>
            <a:effectLst/>
          </p:spPr>
          <p:txBody>
            <a:bodyPr rtlCol="0" anchor="ctr"/>
            <a:lstStyle/>
            <a:p>
              <a:pPr algn="ctr" defTabSz="514350" fontAlgn="auto">
                <a:spcBef>
                  <a:spcPts val="0"/>
                </a:spcBef>
                <a:spcAft>
                  <a:spcPts val="0"/>
                </a:spcAft>
              </a:pPr>
              <a:r>
                <a:rPr lang="en-US" sz="788" kern="0">
                  <a:solidFill>
                    <a:sysClr val="windowText" lastClr="000000"/>
                  </a:solidFill>
                  <a:latin typeface="Calibri"/>
                  <a:ea typeface="+mn-ea"/>
                </a:rPr>
                <a:t>Comparison</a:t>
              </a:r>
            </a:p>
            <a:p>
              <a:pPr algn="ctr" defTabSz="514350" fontAlgn="auto">
                <a:spcBef>
                  <a:spcPts val="0"/>
                </a:spcBef>
                <a:spcAft>
                  <a:spcPts val="0"/>
                </a:spcAft>
              </a:pPr>
              <a:r>
                <a:rPr lang="en-US" sz="788" kern="0" dirty="0">
                  <a:solidFill>
                    <a:sysClr val="windowText" lastClr="000000"/>
                  </a:solidFill>
                  <a:latin typeface="Calibri"/>
                  <a:ea typeface="+mn-ea"/>
                </a:rPr>
                <a:t>of Variance</a:t>
              </a:r>
            </a:p>
          </p:txBody>
        </p:sp>
        <p:sp>
          <p:nvSpPr>
            <p:cNvPr id="54" name="Rektangel med rundade hörn 53"/>
            <p:cNvSpPr/>
            <p:nvPr/>
          </p:nvSpPr>
          <p:spPr>
            <a:xfrm>
              <a:off x="9156340" y="2780928"/>
              <a:ext cx="1291280" cy="719998"/>
            </a:xfrm>
            <a:prstGeom prst="roundRect">
              <a:avLst/>
            </a:prstGeom>
            <a:solidFill>
              <a:sysClr val="window" lastClr="FFFFFF"/>
            </a:solidFill>
            <a:ln w="25400" cap="flat" cmpd="sng" algn="ctr">
              <a:solidFill>
                <a:schemeClr val="accent2">
                  <a:lumMod val="75000"/>
                </a:schemeClr>
              </a:solidFill>
              <a:prstDash val="solid"/>
            </a:ln>
            <a:effectLst/>
          </p:spPr>
          <p:txBody>
            <a:bodyPr rtlCol="0" anchor="ctr"/>
            <a:lstStyle/>
            <a:p>
              <a:pPr algn="ctr" defTabSz="514350" fontAlgn="auto">
                <a:spcBef>
                  <a:spcPts val="0"/>
                </a:spcBef>
                <a:spcAft>
                  <a:spcPts val="0"/>
                </a:spcAft>
              </a:pPr>
              <a:r>
                <a:rPr lang="en-US" sz="788" kern="0" dirty="0">
                  <a:solidFill>
                    <a:prstClr val="black"/>
                  </a:solidFill>
                  <a:latin typeface="Calibri"/>
                  <a:ea typeface="+mn-ea"/>
                </a:rPr>
                <a:t>Comparison of Frequency</a:t>
              </a:r>
            </a:p>
          </p:txBody>
        </p:sp>
        <p:sp>
          <p:nvSpPr>
            <p:cNvPr id="60" name="Rektangel med rundade hörn 59"/>
            <p:cNvSpPr/>
            <p:nvPr/>
          </p:nvSpPr>
          <p:spPr>
            <a:xfrm>
              <a:off x="957532" y="4041137"/>
              <a:ext cx="1123034" cy="612000"/>
            </a:xfrm>
            <a:prstGeom prst="roundRect">
              <a:avLst/>
            </a:prstGeom>
            <a:solidFill>
              <a:sysClr val="window" lastClr="FFFFFF"/>
            </a:solidFill>
            <a:ln w="25400" cap="flat" cmpd="sng" algn="ctr">
              <a:solidFill>
                <a:schemeClr val="accent6">
                  <a:lumMod val="75000"/>
                </a:schemeClr>
              </a:solidFill>
              <a:prstDash val="solid"/>
            </a:ln>
            <a:effectLst/>
          </p:spPr>
          <p:txBody>
            <a:bodyPr rtlCol="0" anchor="ctr"/>
            <a:lstStyle/>
            <a:p>
              <a:pPr algn="ctr" defTabSz="514350" fontAlgn="auto">
                <a:spcBef>
                  <a:spcPts val="0"/>
                </a:spcBef>
                <a:spcAft>
                  <a:spcPts val="0"/>
                </a:spcAft>
              </a:pPr>
              <a:r>
                <a:rPr lang="en-US" sz="750" kern="0" dirty="0">
                  <a:solidFill>
                    <a:prstClr val="black"/>
                  </a:solidFill>
                  <a:latin typeface="Arial Narrow" panose="020B0606020202030204" pitchFamily="34" charset="0"/>
                  <a:ea typeface="+mn-ea"/>
                </a:rPr>
                <a:t>Two or more independent groups</a:t>
              </a:r>
            </a:p>
          </p:txBody>
        </p:sp>
        <p:cxnSp>
          <p:nvCxnSpPr>
            <p:cNvPr id="61" name="Rak pil 124"/>
            <p:cNvCxnSpPr>
              <a:stCxn id="60" idx="2"/>
              <a:endCxn id="62" idx="0"/>
            </p:cNvCxnSpPr>
            <p:nvPr/>
          </p:nvCxnSpPr>
          <p:spPr>
            <a:xfrm flipH="1">
              <a:off x="1514508" y="4653137"/>
              <a:ext cx="4540" cy="406309"/>
            </a:xfrm>
            <a:prstGeom prst="straightConnector1">
              <a:avLst/>
            </a:prstGeom>
            <a:noFill/>
            <a:ln w="12700" cap="flat" cmpd="sng" algn="ctr">
              <a:solidFill>
                <a:sysClr val="windowText" lastClr="000000"/>
              </a:solidFill>
              <a:prstDash val="solid"/>
              <a:tailEnd type="arrow"/>
            </a:ln>
            <a:effectLst/>
          </p:spPr>
        </p:cxnSp>
        <p:sp>
          <p:nvSpPr>
            <p:cNvPr id="62" name="Rektangel 61"/>
            <p:cNvSpPr/>
            <p:nvPr/>
          </p:nvSpPr>
          <p:spPr>
            <a:xfrm>
              <a:off x="956508" y="5059446"/>
              <a:ext cx="1116000" cy="173476"/>
            </a:xfrm>
            <a:prstGeom prst="rect">
              <a:avLst/>
            </a:prstGeom>
            <a:solidFill>
              <a:sysClr val="window" lastClr="FFFFFF"/>
            </a:solidFill>
            <a:ln w="3175" cap="flat" cmpd="sng" algn="ctr">
              <a:noFill/>
              <a:prstDash val="solid"/>
            </a:ln>
            <a:effectLst/>
          </p:spPr>
          <p:txBody>
            <a:bodyPr rtlCol="0" anchor="ctr"/>
            <a:lstStyle/>
            <a:p>
              <a:pPr algn="ctr" defTabSz="514350" fontAlgn="auto">
                <a:spcBef>
                  <a:spcPts val="0"/>
                </a:spcBef>
                <a:spcAft>
                  <a:spcPts val="0"/>
                </a:spcAft>
              </a:pPr>
              <a:r>
                <a:rPr lang="en-US" sz="788" kern="0" err="1">
                  <a:solidFill>
                    <a:sysClr val="windowText" lastClr="000000"/>
                  </a:solidFill>
                  <a:latin typeface="Arial Narrow" panose="020B0606020202030204" pitchFamily="34" charset="0"/>
                  <a:ea typeface="+mn-ea"/>
                </a:rPr>
                <a:t>Levene's</a:t>
              </a:r>
              <a:r>
                <a:rPr lang="en-US" sz="788" kern="0">
                  <a:solidFill>
                    <a:sysClr val="windowText" lastClr="000000"/>
                  </a:solidFill>
                  <a:latin typeface="Arial Narrow" panose="020B0606020202030204" pitchFamily="34" charset="0"/>
                  <a:ea typeface="+mn-ea"/>
                </a:rPr>
                <a:t> test</a:t>
              </a:r>
            </a:p>
          </p:txBody>
        </p:sp>
        <p:cxnSp>
          <p:nvCxnSpPr>
            <p:cNvPr id="79" name="Vinklad  114"/>
            <p:cNvCxnSpPr/>
            <p:nvPr/>
          </p:nvCxnSpPr>
          <p:spPr>
            <a:xfrm>
              <a:off x="9801429" y="2548352"/>
              <a:ext cx="551" cy="396132"/>
            </a:xfrm>
            <a:prstGeom prst="straightConnector1">
              <a:avLst/>
            </a:prstGeom>
            <a:noFill/>
            <a:ln w="28575" cap="flat" cmpd="sng" algn="ctr">
              <a:solidFill>
                <a:srgbClr val="4F81BD">
                  <a:shade val="95000"/>
                  <a:satMod val="105000"/>
                </a:srgbClr>
              </a:solidFill>
              <a:prstDash val="solid"/>
              <a:tailEnd type="arrow"/>
            </a:ln>
            <a:effectLst/>
          </p:spPr>
        </p:cxnSp>
        <p:cxnSp>
          <p:nvCxnSpPr>
            <p:cNvPr id="83" name="Vinklad  114"/>
            <p:cNvCxnSpPr>
              <a:stCxn id="50" idx="2"/>
              <a:endCxn id="60" idx="0"/>
            </p:cNvCxnSpPr>
            <p:nvPr/>
          </p:nvCxnSpPr>
          <p:spPr>
            <a:xfrm>
              <a:off x="1514509" y="3565753"/>
              <a:ext cx="4540" cy="475384"/>
            </a:xfrm>
            <a:prstGeom prst="straightConnector1">
              <a:avLst/>
            </a:prstGeom>
            <a:noFill/>
            <a:ln w="28575" cap="flat" cmpd="sng" algn="ctr">
              <a:solidFill>
                <a:srgbClr val="4F81BD">
                  <a:shade val="95000"/>
                  <a:satMod val="105000"/>
                </a:srgbClr>
              </a:solidFill>
              <a:prstDash val="solid"/>
              <a:tailEnd type="arrow"/>
            </a:ln>
            <a:effectLst/>
          </p:spPr>
        </p:cxnSp>
        <p:cxnSp>
          <p:nvCxnSpPr>
            <p:cNvPr id="84" name="Vinklad  114"/>
            <p:cNvCxnSpPr>
              <a:stCxn id="6" idx="1"/>
              <a:endCxn id="50" idx="0"/>
            </p:cNvCxnSpPr>
            <p:nvPr/>
          </p:nvCxnSpPr>
          <p:spPr>
            <a:xfrm rot="10800000" flipV="1">
              <a:off x="1514508" y="1988795"/>
              <a:ext cx="3408521" cy="856957"/>
            </a:xfrm>
            <a:prstGeom prst="bentConnector2">
              <a:avLst/>
            </a:prstGeom>
            <a:noFill/>
            <a:ln w="28575" cap="flat" cmpd="sng" algn="ctr">
              <a:solidFill>
                <a:srgbClr val="4F81BD">
                  <a:shade val="95000"/>
                  <a:satMod val="105000"/>
                </a:srgbClr>
              </a:solidFill>
              <a:prstDash val="solid"/>
              <a:tailEnd type="arrow"/>
            </a:ln>
            <a:effectLst/>
          </p:spPr>
        </p:cxnSp>
      </p:grpSp>
      <p:sp>
        <p:nvSpPr>
          <p:cNvPr id="175" name="Rubrik 1"/>
          <p:cNvSpPr txBox="1">
            <a:spLocks/>
          </p:cNvSpPr>
          <p:nvPr/>
        </p:nvSpPr>
        <p:spPr>
          <a:xfrm>
            <a:off x="1445704" y="115652"/>
            <a:ext cx="6172200" cy="443704"/>
          </a:xfrm>
          <a:prstGeom prst="rect">
            <a:avLst/>
          </a:prstGeom>
        </p:spPr>
        <p:txBody>
          <a:bodyPr>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fontAlgn="auto">
              <a:spcAft>
                <a:spcPts val="0"/>
              </a:spcAft>
            </a:pPr>
            <a:r>
              <a:rPr lang="en-US" altLang="sv-SE" sz="2800" b="1" dirty="0"/>
              <a:t>Some common simple tests</a:t>
            </a:r>
          </a:p>
        </p:txBody>
      </p:sp>
      <p:sp>
        <p:nvSpPr>
          <p:cNvPr id="2" name="Platshållare för bildnummer 1"/>
          <p:cNvSpPr>
            <a:spLocks noGrp="1"/>
          </p:cNvSpPr>
          <p:nvPr>
            <p:ph type="sldNum" sz="quarter" idx="4294967295"/>
          </p:nvPr>
        </p:nvSpPr>
        <p:spPr>
          <a:xfrm>
            <a:off x="6400800" y="4767263"/>
            <a:ext cx="1600200" cy="273844"/>
          </a:xfrm>
        </p:spPr>
        <p:txBody>
          <a:bodyPr/>
          <a:lstStyle/>
          <a:p>
            <a:fld id="{227F0B53-9592-4779-891F-997228E46E01}" type="slidenum">
              <a:rPr lang="sv-SE" smtClean="0"/>
              <a:t>45</a:t>
            </a:fld>
            <a:endParaRPr lang="sv-SE"/>
          </a:p>
        </p:txBody>
      </p:sp>
    </p:spTree>
    <p:extLst>
      <p:ext uri="{BB962C8B-B14F-4D97-AF65-F5344CB8AC3E}">
        <p14:creationId xmlns:p14="http://schemas.microsoft.com/office/powerpoint/2010/main" val="303196253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323528" y="461014"/>
            <a:ext cx="8672552" cy="454552"/>
          </a:xfrm>
        </p:spPr>
        <p:txBody>
          <a:bodyPr>
            <a:noAutofit/>
          </a:bodyPr>
          <a:lstStyle/>
          <a:p>
            <a:r>
              <a:rPr lang="sv-SE" sz="3200" dirty="0" err="1"/>
              <a:t>Things</a:t>
            </a:r>
            <a:r>
              <a:rPr lang="sv-SE" sz="3200" dirty="0"/>
              <a:t> </a:t>
            </a:r>
            <a:r>
              <a:rPr lang="sv-SE" sz="3200" dirty="0" err="1"/>
              <a:t>to</a:t>
            </a:r>
            <a:r>
              <a:rPr lang="sv-SE" sz="3200" dirty="0"/>
              <a:t> </a:t>
            </a:r>
            <a:r>
              <a:rPr lang="sv-SE" sz="3200" dirty="0" err="1"/>
              <a:t>consider</a:t>
            </a:r>
            <a:r>
              <a:rPr lang="sv-SE" sz="3200" dirty="0"/>
              <a:t> </a:t>
            </a:r>
            <a:r>
              <a:rPr lang="sv-SE" sz="3200" dirty="0" err="1"/>
              <a:t>when</a:t>
            </a:r>
            <a:r>
              <a:rPr lang="sv-SE" sz="3200" dirty="0"/>
              <a:t> </a:t>
            </a:r>
            <a:r>
              <a:rPr lang="sv-SE" sz="3200" dirty="0" err="1"/>
              <a:t>choosing</a:t>
            </a:r>
            <a:r>
              <a:rPr lang="sv-SE" sz="3200" dirty="0"/>
              <a:t> statistical test</a:t>
            </a:r>
          </a:p>
        </p:txBody>
      </p:sp>
      <p:sp>
        <p:nvSpPr>
          <p:cNvPr id="3" name="Platshållare för innehåll 2"/>
          <p:cNvSpPr>
            <a:spLocks noGrp="1"/>
          </p:cNvSpPr>
          <p:nvPr>
            <p:ph idx="1"/>
          </p:nvPr>
        </p:nvSpPr>
        <p:spPr>
          <a:xfrm>
            <a:off x="1115617" y="987574"/>
            <a:ext cx="7200799" cy="3456384"/>
          </a:xfrm>
        </p:spPr>
        <p:txBody>
          <a:bodyPr>
            <a:normAutofit/>
          </a:bodyPr>
          <a:lstStyle/>
          <a:p>
            <a:r>
              <a:rPr lang="en-US" sz="2400" dirty="0"/>
              <a:t>All statistical tests have </a:t>
            </a:r>
            <a:r>
              <a:rPr lang="en-US" sz="2400" b="1" dirty="0">
                <a:solidFill>
                  <a:srgbClr val="002060"/>
                </a:solidFill>
              </a:rPr>
              <a:t>assumptions</a:t>
            </a:r>
            <a:r>
              <a:rPr lang="en-US" sz="2000" dirty="0"/>
              <a:t>. </a:t>
            </a:r>
          </a:p>
          <a:p>
            <a:pPr lvl="1" indent="0">
              <a:buNone/>
            </a:pPr>
            <a:r>
              <a:rPr lang="en-US" sz="2000" dirty="0"/>
              <a:t>Properties/statements that are assumed to be true and that YOU need to check.</a:t>
            </a:r>
          </a:p>
          <a:p>
            <a:pPr>
              <a:spcBef>
                <a:spcPts val="1800"/>
              </a:spcBef>
            </a:pPr>
            <a:r>
              <a:rPr lang="en-US" sz="2400" dirty="0"/>
              <a:t>There almost always </a:t>
            </a:r>
            <a:r>
              <a:rPr lang="en-US" sz="2400" b="1" dirty="0">
                <a:solidFill>
                  <a:srgbClr val="002060"/>
                </a:solidFill>
              </a:rPr>
              <a:t>assumptions</a:t>
            </a:r>
            <a:r>
              <a:rPr lang="en-US" sz="2400" dirty="0"/>
              <a:t> about:</a:t>
            </a:r>
          </a:p>
          <a:p>
            <a:pPr marL="987029" lvl="1" indent="-342900">
              <a:buFont typeface="Arial" panose="020B0604020202020204" pitchFamily="34" charset="0"/>
              <a:buChar char="•"/>
            </a:pPr>
            <a:r>
              <a:rPr lang="en-US" sz="2000" dirty="0"/>
              <a:t>Type of variables </a:t>
            </a:r>
          </a:p>
          <a:p>
            <a:pPr marL="987029" lvl="1" indent="-342900">
              <a:buFont typeface="Arial" panose="020B0604020202020204" pitchFamily="34" charset="0"/>
              <a:buChar char="•"/>
            </a:pPr>
            <a:r>
              <a:rPr lang="en-US" sz="2000" dirty="0"/>
              <a:t>Dependencies between observations. </a:t>
            </a:r>
          </a:p>
          <a:p>
            <a:pPr marL="1301354" lvl="2" indent="-342900">
              <a:buFont typeface="Arial" panose="020B0604020202020204" pitchFamily="34" charset="0"/>
              <a:buChar char="−"/>
            </a:pPr>
            <a:r>
              <a:rPr lang="en-US" sz="2000" dirty="0"/>
              <a:t>Paired (dependent) data</a:t>
            </a:r>
          </a:p>
          <a:p>
            <a:pPr marL="1301354" lvl="2" indent="-342900">
              <a:buFont typeface="Arial" panose="020B0604020202020204" pitchFamily="34" charset="0"/>
              <a:buChar char="−"/>
            </a:pPr>
            <a:r>
              <a:rPr lang="en-US" sz="2000" dirty="0"/>
              <a:t>Independent data </a:t>
            </a:r>
          </a:p>
          <a:p>
            <a:pPr marL="179388" lvl="2" indent="-179388">
              <a:buNone/>
            </a:pPr>
            <a:r>
              <a:rPr lang="sv-SE" sz="2000" dirty="0"/>
              <a:t>	Eg., Mann-Whitney U test – Independent </a:t>
            </a:r>
            <a:r>
              <a:rPr lang="sv-SE" sz="2000" dirty="0" err="1"/>
              <a:t>groups</a:t>
            </a:r>
            <a:endParaRPr lang="en-US" sz="2200" dirty="0"/>
          </a:p>
        </p:txBody>
      </p:sp>
      <p:sp>
        <p:nvSpPr>
          <p:cNvPr id="4" name="Platshållare för bildnummer 3"/>
          <p:cNvSpPr>
            <a:spLocks noGrp="1"/>
          </p:cNvSpPr>
          <p:nvPr>
            <p:ph type="sldNum" sz="quarter" idx="12"/>
          </p:nvPr>
        </p:nvSpPr>
        <p:spPr/>
        <p:txBody>
          <a:bodyPr/>
          <a:lstStyle/>
          <a:p>
            <a:fld id="{227F0B53-9592-4779-891F-997228E46E01}" type="slidenum">
              <a:rPr lang="sv-SE" smtClean="0"/>
              <a:t>46</a:t>
            </a:fld>
            <a:endParaRPr lang="sv-SE"/>
          </a:p>
        </p:txBody>
      </p:sp>
      <p:sp>
        <p:nvSpPr>
          <p:cNvPr id="5" name="Star: 5 Points 4">
            <a:extLst>
              <a:ext uri="{FF2B5EF4-FFF2-40B4-BE49-F238E27FC236}">
                <a16:creationId xmlns:a16="http://schemas.microsoft.com/office/drawing/2014/main" id="{F2079CDE-083C-425E-886B-1CE8DB36CA0B}"/>
              </a:ext>
            </a:extLst>
          </p:cNvPr>
          <p:cNvSpPr/>
          <p:nvPr/>
        </p:nvSpPr>
        <p:spPr>
          <a:xfrm>
            <a:off x="8433429" y="0"/>
            <a:ext cx="675075" cy="567063"/>
          </a:xfrm>
          <a:prstGeom prst="star5">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2836329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p:cNvSpPr>
            <a:spLocks noGrp="1"/>
          </p:cNvSpPr>
          <p:nvPr>
            <p:ph type="title"/>
          </p:nvPr>
        </p:nvSpPr>
        <p:spPr>
          <a:xfrm>
            <a:off x="971599" y="388400"/>
            <a:ext cx="7416823" cy="594122"/>
          </a:xfrm>
        </p:spPr>
        <p:txBody>
          <a:bodyPr>
            <a:normAutofit/>
          </a:bodyPr>
          <a:lstStyle/>
          <a:p>
            <a:r>
              <a:rPr lang="sv-SE" sz="3600" dirty="0" err="1"/>
              <a:t>Null</a:t>
            </a:r>
            <a:r>
              <a:rPr lang="sv-SE" sz="3600" dirty="0"/>
              <a:t> </a:t>
            </a:r>
            <a:r>
              <a:rPr lang="sv-SE" sz="3600" dirty="0" err="1"/>
              <a:t>hypothesis</a:t>
            </a:r>
            <a:r>
              <a:rPr lang="sv-SE" sz="3600" dirty="0"/>
              <a:t> and the P-</a:t>
            </a:r>
            <a:r>
              <a:rPr lang="sv-SE" sz="3600" dirty="0" err="1"/>
              <a:t>value</a:t>
            </a:r>
            <a:r>
              <a:rPr lang="sv-SE" sz="3600" dirty="0"/>
              <a:t> </a:t>
            </a:r>
          </a:p>
        </p:txBody>
      </p:sp>
      <p:sp>
        <p:nvSpPr>
          <p:cNvPr id="2" name="Platshållare för bildnummer 1"/>
          <p:cNvSpPr>
            <a:spLocks noGrp="1"/>
          </p:cNvSpPr>
          <p:nvPr>
            <p:ph type="sldNum" sz="quarter" idx="12"/>
          </p:nvPr>
        </p:nvSpPr>
        <p:spPr/>
        <p:txBody>
          <a:bodyPr/>
          <a:lstStyle/>
          <a:p>
            <a:fld id="{227F0B53-9592-4779-891F-997228E46E01}" type="slidenum">
              <a:rPr lang="sv-SE" smtClean="0"/>
              <a:t>47</a:t>
            </a:fld>
            <a:endParaRPr lang="sv-SE"/>
          </a:p>
        </p:txBody>
      </p:sp>
      <p:sp>
        <p:nvSpPr>
          <p:cNvPr id="6" name="Rektangel 5"/>
          <p:cNvSpPr/>
          <p:nvPr/>
        </p:nvSpPr>
        <p:spPr>
          <a:xfrm>
            <a:off x="971600" y="1059582"/>
            <a:ext cx="7416823" cy="3541995"/>
          </a:xfrm>
          <a:prstGeom prst="rect">
            <a:avLst/>
          </a:prstGeom>
        </p:spPr>
        <p:txBody>
          <a:bodyPr wrap="square">
            <a:spAutoFit/>
          </a:bodyPr>
          <a:lstStyle/>
          <a:p>
            <a:r>
              <a:rPr lang="en-US" sz="2200" dirty="0">
                <a:latin typeface="+mn-lt"/>
                <a:ea typeface="Verdana" panose="020B0604030504040204" pitchFamily="34" charset="0"/>
              </a:rPr>
              <a:t>P-values evaluate how well the sample data support the </a:t>
            </a:r>
            <a:r>
              <a:rPr lang="en-US" sz="2200" dirty="0">
                <a:solidFill>
                  <a:srgbClr val="002060"/>
                </a:solidFill>
                <a:latin typeface="+mn-lt"/>
                <a:ea typeface="Verdana" panose="020B0604030504040204" pitchFamily="34" charset="0"/>
              </a:rPr>
              <a:t>null hypothesis</a:t>
            </a:r>
            <a:r>
              <a:rPr lang="en-US" sz="2200" dirty="0">
                <a:latin typeface="+mn-lt"/>
                <a:ea typeface="Verdana" panose="020B0604030504040204" pitchFamily="34" charset="0"/>
              </a:rPr>
              <a:t>. </a:t>
            </a:r>
          </a:p>
          <a:p>
            <a:endParaRPr lang="en-US" sz="2200" dirty="0">
              <a:latin typeface="+mn-lt"/>
              <a:ea typeface="Verdana" panose="020B0604030504040204" pitchFamily="34" charset="0"/>
            </a:endParaRPr>
          </a:p>
          <a:p>
            <a:r>
              <a:rPr lang="en-US" sz="2200" dirty="0">
                <a:latin typeface="+mn-lt"/>
                <a:ea typeface="Verdana" panose="020B0604030504040204" pitchFamily="34" charset="0"/>
              </a:rPr>
              <a:t>Hence, no null hypothesis, no </a:t>
            </a:r>
            <a:r>
              <a:rPr lang="en-US" sz="2200" i="1" dirty="0">
                <a:latin typeface="+mn-lt"/>
                <a:ea typeface="Verdana" panose="020B0604030504040204" pitchFamily="34" charset="0"/>
              </a:rPr>
              <a:t>p</a:t>
            </a:r>
            <a:r>
              <a:rPr lang="en-US" sz="2200" dirty="0">
                <a:latin typeface="+mn-lt"/>
                <a:ea typeface="Verdana" panose="020B0604030504040204" pitchFamily="34" charset="0"/>
              </a:rPr>
              <a:t>-value. </a:t>
            </a:r>
          </a:p>
          <a:p>
            <a:endParaRPr lang="en-US" sz="2200" dirty="0">
              <a:latin typeface="+mn-lt"/>
              <a:ea typeface="Verdana" panose="020B0604030504040204" pitchFamily="34" charset="0"/>
            </a:endParaRPr>
          </a:p>
          <a:p>
            <a:pPr>
              <a:spcAft>
                <a:spcPts val="450"/>
              </a:spcAft>
            </a:pPr>
            <a:r>
              <a:rPr lang="en-US" sz="2200" dirty="0">
                <a:latin typeface="+mn-lt"/>
                <a:ea typeface="Verdana" panose="020B0604030504040204" pitchFamily="34" charset="0"/>
              </a:rPr>
              <a:t>It can be seen as the answer to the question:</a:t>
            </a:r>
          </a:p>
          <a:p>
            <a:r>
              <a:rPr lang="en-US" sz="2200" dirty="0">
                <a:latin typeface="+mn-lt"/>
                <a:ea typeface="Verdana" panose="020B0604030504040204" pitchFamily="34" charset="0"/>
              </a:rPr>
              <a:t>	How well do my data support the null hypothesis?</a:t>
            </a:r>
          </a:p>
          <a:p>
            <a:endParaRPr lang="en-US" sz="2200" dirty="0">
              <a:latin typeface="+mn-lt"/>
              <a:ea typeface="Verdana" panose="020B0604030504040204" pitchFamily="34" charset="0"/>
            </a:endParaRPr>
          </a:p>
          <a:p>
            <a:r>
              <a:rPr lang="en-US" sz="2200" dirty="0">
                <a:latin typeface="+mn-lt"/>
                <a:ea typeface="Verdana" panose="020B0604030504040204" pitchFamily="34" charset="0"/>
              </a:rPr>
              <a:t>If we do not know the null hypothesis, the answer is of little use to us. </a:t>
            </a:r>
          </a:p>
        </p:txBody>
      </p:sp>
    </p:spTree>
    <p:extLst>
      <p:ext uri="{BB962C8B-B14F-4D97-AF65-F5344CB8AC3E}">
        <p14:creationId xmlns:p14="http://schemas.microsoft.com/office/powerpoint/2010/main" val="8294841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956079" y="1127174"/>
            <a:ext cx="7200800" cy="2812728"/>
          </a:xfrm>
        </p:spPr>
        <p:txBody>
          <a:bodyPr>
            <a:noAutofit/>
          </a:bodyPr>
          <a:lstStyle/>
          <a:p>
            <a:pPr marL="0" indent="0">
              <a:lnSpc>
                <a:spcPct val="120000"/>
              </a:lnSpc>
              <a:spcBef>
                <a:spcPts val="338"/>
              </a:spcBef>
              <a:spcAft>
                <a:spcPts val="675"/>
              </a:spcAft>
              <a:buNone/>
            </a:pPr>
            <a:r>
              <a:rPr lang="en-US" sz="2400" dirty="0">
                <a:latin typeface="+mn-lt"/>
                <a:ea typeface="Verdana" panose="020B0604030504040204" pitchFamily="34" charset="0"/>
              </a:rPr>
              <a:t>Technically, the </a:t>
            </a:r>
            <a:r>
              <a:rPr lang="en-US" sz="2400" i="1" dirty="0">
                <a:latin typeface="+mn-lt"/>
                <a:ea typeface="Verdana" panose="020B0604030504040204" pitchFamily="34" charset="0"/>
              </a:rPr>
              <a:t>p</a:t>
            </a:r>
            <a:r>
              <a:rPr lang="en-US" sz="2400" dirty="0">
                <a:latin typeface="+mn-lt"/>
                <a:ea typeface="Verdana" panose="020B0604030504040204" pitchFamily="34" charset="0"/>
              </a:rPr>
              <a:t>-value is the probability to draw an equally or even more extreme sample than the one we have, </a:t>
            </a:r>
            <a:r>
              <a:rPr lang="en-US" sz="2400" b="1" u="sng" dirty="0">
                <a:solidFill>
                  <a:srgbClr val="002060"/>
                </a:solidFill>
                <a:latin typeface="+mn-lt"/>
                <a:ea typeface="Verdana" panose="020B0604030504040204" pitchFamily="34" charset="0"/>
              </a:rPr>
              <a:t>assuming</a:t>
            </a:r>
            <a:r>
              <a:rPr lang="en-US" sz="2400" b="1" dirty="0">
                <a:solidFill>
                  <a:srgbClr val="002060"/>
                </a:solidFill>
                <a:latin typeface="+mn-lt"/>
                <a:ea typeface="Verdana" panose="020B0604030504040204" pitchFamily="34" charset="0"/>
              </a:rPr>
              <a:t> that the </a:t>
            </a:r>
            <a:r>
              <a:rPr lang="en-US" sz="2400" b="1" u="sng" dirty="0">
                <a:solidFill>
                  <a:srgbClr val="002060"/>
                </a:solidFill>
                <a:latin typeface="+mn-lt"/>
                <a:ea typeface="Verdana" panose="020B0604030504040204" pitchFamily="34" charset="0"/>
              </a:rPr>
              <a:t>null hypothesis</a:t>
            </a:r>
            <a:r>
              <a:rPr lang="en-US" sz="2400" b="1" dirty="0">
                <a:solidFill>
                  <a:srgbClr val="002060"/>
                </a:solidFill>
                <a:latin typeface="+mn-lt"/>
                <a:ea typeface="Verdana" panose="020B0604030504040204" pitchFamily="34" charset="0"/>
              </a:rPr>
              <a:t> is </a:t>
            </a:r>
            <a:r>
              <a:rPr lang="en-US" sz="2400" b="1" u="sng" dirty="0">
                <a:solidFill>
                  <a:srgbClr val="002060"/>
                </a:solidFill>
                <a:latin typeface="+mn-lt"/>
                <a:ea typeface="Verdana" panose="020B0604030504040204" pitchFamily="34" charset="0"/>
              </a:rPr>
              <a:t>true</a:t>
            </a:r>
            <a:r>
              <a:rPr lang="en-US" sz="2400" b="1" dirty="0">
                <a:solidFill>
                  <a:srgbClr val="002060"/>
                </a:solidFill>
                <a:latin typeface="+mn-lt"/>
                <a:ea typeface="Verdana" panose="020B0604030504040204" pitchFamily="34" charset="0"/>
              </a:rPr>
              <a:t>.</a:t>
            </a:r>
          </a:p>
          <a:p>
            <a:pPr marL="0" indent="0">
              <a:lnSpc>
                <a:spcPct val="120000"/>
              </a:lnSpc>
              <a:spcBef>
                <a:spcPts val="338"/>
              </a:spcBef>
              <a:spcAft>
                <a:spcPts val="675"/>
              </a:spcAft>
              <a:buNone/>
            </a:pPr>
            <a:r>
              <a:rPr lang="sv-SE" sz="2400" dirty="0">
                <a:latin typeface="+mn-lt"/>
                <a:ea typeface="Verdana" panose="020B0604030504040204" pitchFamily="34" charset="0"/>
              </a:rPr>
              <a:t>In </a:t>
            </a:r>
            <a:r>
              <a:rPr lang="sv-SE" sz="2400" dirty="0" err="1">
                <a:latin typeface="+mn-lt"/>
                <a:ea typeface="Verdana" panose="020B0604030504040204" pitchFamily="34" charset="0"/>
              </a:rPr>
              <a:t>other</a:t>
            </a:r>
            <a:r>
              <a:rPr lang="sv-SE" sz="2400" dirty="0">
                <a:latin typeface="+mn-lt"/>
                <a:ea typeface="Verdana" panose="020B0604030504040204" pitchFamily="34" charset="0"/>
              </a:rPr>
              <a:t> </a:t>
            </a:r>
            <a:r>
              <a:rPr lang="sv-SE" sz="2400" dirty="0" err="1">
                <a:latin typeface="+mn-lt"/>
                <a:ea typeface="Verdana" panose="020B0604030504040204" pitchFamily="34" charset="0"/>
              </a:rPr>
              <a:t>words</a:t>
            </a:r>
            <a:r>
              <a:rPr lang="sv-SE" sz="2400" dirty="0">
                <a:latin typeface="+mn-lt"/>
                <a:ea typeface="Verdana" panose="020B0604030504040204" pitchFamily="34" charset="0"/>
              </a:rPr>
              <a:t>, </a:t>
            </a:r>
            <a:r>
              <a:rPr lang="sv-SE" sz="2400" dirty="0" err="1">
                <a:latin typeface="+mn-lt"/>
                <a:ea typeface="Verdana" panose="020B0604030504040204" pitchFamily="34" charset="0"/>
              </a:rPr>
              <a:t>probability</a:t>
            </a:r>
            <a:r>
              <a:rPr lang="sv-SE" sz="2400" dirty="0">
                <a:latin typeface="+mn-lt"/>
                <a:ea typeface="Verdana" panose="020B0604030504040204" pitchFamily="34" charset="0"/>
              </a:rPr>
              <a:t> </a:t>
            </a:r>
            <a:r>
              <a:rPr lang="sv-SE" sz="2400" dirty="0" err="1">
                <a:latin typeface="+mn-lt"/>
                <a:ea typeface="Verdana" panose="020B0604030504040204" pitchFamily="34" charset="0"/>
              </a:rPr>
              <a:t>of</a:t>
            </a:r>
            <a:r>
              <a:rPr lang="sv-SE" sz="2400" dirty="0">
                <a:latin typeface="+mn-lt"/>
                <a:ea typeface="Verdana" panose="020B0604030504040204" pitchFamily="34" charset="0"/>
              </a:rPr>
              <a:t> </a:t>
            </a:r>
            <a:r>
              <a:rPr lang="sv-SE" sz="2400" dirty="0" err="1">
                <a:latin typeface="+mn-lt"/>
                <a:ea typeface="Verdana" panose="020B0604030504040204" pitchFamily="34" charset="0"/>
              </a:rPr>
              <a:t>observing</a:t>
            </a:r>
            <a:r>
              <a:rPr lang="sv-SE" sz="2400" dirty="0">
                <a:latin typeface="+mn-lt"/>
                <a:ea typeface="Verdana" panose="020B0604030504040204" pitchFamily="34" charset="0"/>
              </a:rPr>
              <a:t> the </a:t>
            </a:r>
            <a:r>
              <a:rPr lang="sv-SE" sz="2400" dirty="0" err="1">
                <a:latin typeface="+mn-lt"/>
                <a:ea typeface="Verdana" panose="020B0604030504040204" pitchFamily="34" charset="0"/>
              </a:rPr>
              <a:t>observed</a:t>
            </a:r>
            <a:r>
              <a:rPr lang="sv-SE" sz="2400" dirty="0">
                <a:latin typeface="+mn-lt"/>
                <a:ea typeface="Verdana" panose="020B0604030504040204" pitchFamily="34" charset="0"/>
              </a:rPr>
              <a:t> or </a:t>
            </a:r>
            <a:r>
              <a:rPr lang="sv-SE" sz="2400" dirty="0" err="1">
                <a:latin typeface="+mn-lt"/>
                <a:ea typeface="Verdana" panose="020B0604030504040204" pitchFamily="34" charset="0"/>
              </a:rPr>
              <a:t>larger</a:t>
            </a:r>
            <a:r>
              <a:rPr lang="sv-SE" sz="2400" dirty="0">
                <a:latin typeface="+mn-lt"/>
                <a:ea typeface="Verdana" panose="020B0604030504040204" pitchFamily="34" charset="0"/>
              </a:rPr>
              <a:t> </a:t>
            </a:r>
            <a:r>
              <a:rPr lang="sv-SE" sz="2400" dirty="0" err="1">
                <a:latin typeface="+mn-lt"/>
                <a:ea typeface="Verdana" panose="020B0604030504040204" pitchFamily="34" charset="0"/>
              </a:rPr>
              <a:t>differences</a:t>
            </a:r>
            <a:r>
              <a:rPr lang="sv-SE" sz="2400" dirty="0">
                <a:latin typeface="+mn-lt"/>
                <a:ea typeface="Verdana" panose="020B0604030504040204" pitchFamily="34" charset="0"/>
              </a:rPr>
              <a:t>, </a:t>
            </a:r>
            <a:r>
              <a:rPr lang="sv-SE" sz="2400" dirty="0" err="1">
                <a:latin typeface="+mn-lt"/>
                <a:ea typeface="Verdana" panose="020B0604030504040204" pitchFamily="34" charset="0"/>
              </a:rPr>
              <a:t>if</a:t>
            </a:r>
            <a:r>
              <a:rPr lang="sv-SE" sz="2400" dirty="0">
                <a:latin typeface="+mn-lt"/>
                <a:ea typeface="Verdana" panose="020B0604030504040204" pitchFamily="34" charset="0"/>
              </a:rPr>
              <a:t> </a:t>
            </a:r>
            <a:r>
              <a:rPr lang="sv-SE" sz="2400" dirty="0" err="1">
                <a:latin typeface="+mn-lt"/>
                <a:ea typeface="Verdana" panose="020B0604030504040204" pitchFamily="34" charset="0"/>
              </a:rPr>
              <a:t>null</a:t>
            </a:r>
            <a:r>
              <a:rPr lang="sv-SE" sz="2400" dirty="0">
                <a:latin typeface="+mn-lt"/>
                <a:ea typeface="Verdana" panose="020B0604030504040204" pitchFamily="34" charset="0"/>
              </a:rPr>
              <a:t> </a:t>
            </a:r>
            <a:r>
              <a:rPr lang="sv-SE" sz="2400" dirty="0" err="1">
                <a:latin typeface="+mn-lt"/>
                <a:ea typeface="Verdana" panose="020B0604030504040204" pitchFamily="34" charset="0"/>
              </a:rPr>
              <a:t>hypothesis</a:t>
            </a:r>
            <a:r>
              <a:rPr lang="sv-SE" sz="2400" dirty="0">
                <a:latin typeface="+mn-lt"/>
                <a:ea typeface="Verdana" panose="020B0604030504040204" pitchFamily="34" charset="0"/>
              </a:rPr>
              <a:t> </a:t>
            </a:r>
            <a:r>
              <a:rPr lang="sv-SE" sz="2400" dirty="0" err="1">
                <a:latin typeface="+mn-lt"/>
                <a:ea typeface="Verdana" panose="020B0604030504040204" pitchFamily="34" charset="0"/>
              </a:rPr>
              <a:t>was</a:t>
            </a:r>
            <a:r>
              <a:rPr lang="sv-SE" sz="2400" dirty="0">
                <a:latin typeface="+mn-lt"/>
                <a:ea typeface="Verdana" panose="020B0604030504040204" pitchFamily="34" charset="0"/>
              </a:rPr>
              <a:t> </a:t>
            </a:r>
            <a:r>
              <a:rPr lang="sv-SE" sz="2400" dirty="0" err="1">
                <a:latin typeface="+mn-lt"/>
                <a:ea typeface="Verdana" panose="020B0604030504040204" pitchFamily="34" charset="0"/>
              </a:rPr>
              <a:t>true</a:t>
            </a:r>
            <a:r>
              <a:rPr lang="sv-SE" sz="2400" dirty="0">
                <a:latin typeface="+mn-lt"/>
                <a:ea typeface="Verdana" panose="020B0604030504040204" pitchFamily="34" charset="0"/>
              </a:rPr>
              <a:t>.</a:t>
            </a:r>
            <a:endParaRPr lang="en-US" sz="2400" dirty="0">
              <a:latin typeface="+mn-lt"/>
              <a:ea typeface="Verdana" panose="020B0604030504040204" pitchFamily="34" charset="0"/>
            </a:endParaRPr>
          </a:p>
          <a:p>
            <a:pPr marL="0" indent="0">
              <a:buNone/>
            </a:pPr>
            <a:endParaRPr lang="en-US" sz="2400" dirty="0">
              <a:latin typeface="+mn-lt"/>
              <a:ea typeface="Verdana" panose="020B0604030504040204" pitchFamily="34" charset="0"/>
            </a:endParaRP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48</a:t>
            </a:fld>
            <a:endParaRPr lang="sv-SE">
              <a:solidFill>
                <a:srgbClr val="000000">
                  <a:tint val="75000"/>
                </a:srgbClr>
              </a:solidFill>
            </a:endParaRPr>
          </a:p>
        </p:txBody>
      </p:sp>
      <p:sp>
        <p:nvSpPr>
          <p:cNvPr id="4" name="Rubrik 1"/>
          <p:cNvSpPr txBox="1">
            <a:spLocks/>
          </p:cNvSpPr>
          <p:nvPr/>
        </p:nvSpPr>
        <p:spPr>
          <a:xfrm>
            <a:off x="755576" y="121227"/>
            <a:ext cx="7128792" cy="580565"/>
          </a:xfrm>
          <a:prstGeom prst="rect">
            <a:avLst/>
          </a:prstGeom>
          <a:noFill/>
          <a:ln>
            <a:noFill/>
          </a:ln>
        </p:spPr>
        <p:txBody>
          <a:bodyPr vert="horz" lIns="51435" tIns="25718" rIns="51435" bIns="2571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US" sz="4000" b="1" dirty="0">
                <a:solidFill>
                  <a:sysClr val="windowText" lastClr="000000"/>
                </a:solidFill>
              </a:rPr>
              <a:t>The interpretation of </a:t>
            </a:r>
            <a:r>
              <a:rPr lang="en-US" sz="4000" b="1" dirty="0">
                <a:solidFill>
                  <a:srgbClr val="002060"/>
                </a:solidFill>
              </a:rPr>
              <a:t>p-values</a:t>
            </a:r>
          </a:p>
        </p:txBody>
      </p:sp>
    </p:spTree>
    <p:extLst>
      <p:ext uri="{BB962C8B-B14F-4D97-AF65-F5344CB8AC3E}">
        <p14:creationId xmlns:p14="http://schemas.microsoft.com/office/powerpoint/2010/main" val="35196162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956079" y="1127174"/>
            <a:ext cx="7200800" cy="2452688"/>
          </a:xfrm>
        </p:spPr>
        <p:txBody>
          <a:bodyPr>
            <a:noAutofit/>
          </a:bodyPr>
          <a:lstStyle/>
          <a:p>
            <a:pPr marL="0" indent="0">
              <a:lnSpc>
                <a:spcPct val="120000"/>
              </a:lnSpc>
              <a:spcBef>
                <a:spcPts val="338"/>
              </a:spcBef>
              <a:spcAft>
                <a:spcPts val="675"/>
              </a:spcAft>
              <a:buNone/>
            </a:pPr>
            <a:r>
              <a:rPr lang="en-US" sz="3200" dirty="0">
                <a:latin typeface="+mn-lt"/>
                <a:ea typeface="Verdana" panose="020B0604030504040204" pitchFamily="34" charset="0"/>
              </a:rPr>
              <a:t>The </a:t>
            </a:r>
            <a:r>
              <a:rPr lang="en-US" sz="3200" i="1" u="sng" dirty="0">
                <a:latin typeface="+mn-lt"/>
                <a:ea typeface="Verdana" panose="020B0604030504040204" pitchFamily="34" charset="0"/>
              </a:rPr>
              <a:t>p</a:t>
            </a:r>
            <a:r>
              <a:rPr lang="en-US" sz="3200" u="sng" dirty="0">
                <a:latin typeface="+mn-lt"/>
                <a:ea typeface="Verdana" panose="020B0604030504040204" pitchFamily="34" charset="0"/>
              </a:rPr>
              <a:t>-value doesn’t say </a:t>
            </a:r>
            <a:r>
              <a:rPr lang="en-US" sz="3200" dirty="0">
                <a:latin typeface="+mn-lt"/>
                <a:ea typeface="Verdana" panose="020B0604030504040204" pitchFamily="34" charset="0"/>
              </a:rPr>
              <a:t>anything about the probability that a hypothesis is true, neither does it measure support for the alternative hypothesis.</a:t>
            </a:r>
          </a:p>
          <a:p>
            <a:pPr marL="0" indent="0">
              <a:buNone/>
            </a:pPr>
            <a:endParaRPr lang="en-US" sz="2400" dirty="0">
              <a:latin typeface="+mn-lt"/>
              <a:ea typeface="Verdana" panose="020B0604030504040204" pitchFamily="34" charset="0"/>
            </a:endParaRP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49</a:t>
            </a:fld>
            <a:endParaRPr lang="sv-SE">
              <a:solidFill>
                <a:srgbClr val="000000">
                  <a:tint val="75000"/>
                </a:srgbClr>
              </a:solidFill>
            </a:endParaRPr>
          </a:p>
        </p:txBody>
      </p:sp>
      <p:sp>
        <p:nvSpPr>
          <p:cNvPr id="4" name="Rubrik 1"/>
          <p:cNvSpPr txBox="1">
            <a:spLocks/>
          </p:cNvSpPr>
          <p:nvPr/>
        </p:nvSpPr>
        <p:spPr>
          <a:xfrm>
            <a:off x="755576" y="121227"/>
            <a:ext cx="7128792" cy="580565"/>
          </a:xfrm>
          <a:prstGeom prst="rect">
            <a:avLst/>
          </a:prstGeom>
          <a:noFill/>
          <a:ln>
            <a:noFill/>
          </a:ln>
        </p:spPr>
        <p:txBody>
          <a:bodyPr vert="horz" lIns="51435" tIns="25718" rIns="51435" bIns="2571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US" sz="4000" b="1" dirty="0">
                <a:solidFill>
                  <a:sysClr val="windowText" lastClr="000000"/>
                </a:solidFill>
              </a:rPr>
              <a:t>The interpretation of </a:t>
            </a:r>
            <a:r>
              <a:rPr lang="en-US" sz="4000" b="1" dirty="0">
                <a:solidFill>
                  <a:srgbClr val="002060"/>
                </a:solidFill>
              </a:rPr>
              <a:t>p-values</a:t>
            </a:r>
          </a:p>
        </p:txBody>
      </p:sp>
    </p:spTree>
    <p:extLst>
      <p:ext uri="{BB962C8B-B14F-4D97-AF65-F5344CB8AC3E}">
        <p14:creationId xmlns:p14="http://schemas.microsoft.com/office/powerpoint/2010/main" val="30982029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684000" y="411510"/>
            <a:ext cx="7831350" cy="684000"/>
          </a:xfrm>
        </p:spPr>
        <p:txBody>
          <a:bodyPr>
            <a:normAutofit/>
          </a:bodyPr>
          <a:lstStyle/>
          <a:p>
            <a:r>
              <a:rPr lang="en-US" sz="4000" dirty="0"/>
              <a:t>Keep in mind…</a:t>
            </a:r>
          </a:p>
        </p:txBody>
      </p:sp>
      <p:sp>
        <p:nvSpPr>
          <p:cNvPr id="3" name="Platshållare för innehåll 2"/>
          <p:cNvSpPr>
            <a:spLocks noGrp="1"/>
          </p:cNvSpPr>
          <p:nvPr>
            <p:ph idx="1"/>
          </p:nvPr>
        </p:nvSpPr>
        <p:spPr>
          <a:xfrm>
            <a:off x="971600" y="1095510"/>
            <a:ext cx="7200800" cy="2964224"/>
          </a:xfrm>
        </p:spPr>
        <p:txBody>
          <a:bodyPr>
            <a:noAutofit/>
          </a:bodyPr>
          <a:lstStyle/>
          <a:p>
            <a:pPr marL="0" indent="0">
              <a:spcAft>
                <a:spcPts val="675"/>
              </a:spcAft>
              <a:buNone/>
            </a:pPr>
            <a:r>
              <a:rPr lang="en-US" sz="2300" noProof="0" dirty="0">
                <a:latin typeface="+mn-lt"/>
                <a:ea typeface="Verdana" panose="020B0604030504040204" pitchFamily="34" charset="0"/>
              </a:rPr>
              <a:t>All statistical tests have </a:t>
            </a:r>
            <a:r>
              <a:rPr lang="en-US" sz="2300" b="1" noProof="0" dirty="0">
                <a:solidFill>
                  <a:srgbClr val="002060"/>
                </a:solidFill>
                <a:latin typeface="+mn-lt"/>
                <a:ea typeface="Verdana" panose="020B0604030504040204" pitchFamily="34" charset="0"/>
              </a:rPr>
              <a:t>assumptions</a:t>
            </a:r>
            <a:r>
              <a:rPr lang="en-US" sz="2300" noProof="0" dirty="0">
                <a:latin typeface="+mn-lt"/>
                <a:ea typeface="Verdana" panose="020B0604030504040204" pitchFamily="34" charset="0"/>
              </a:rPr>
              <a:t>. </a:t>
            </a:r>
          </a:p>
          <a:p>
            <a:pPr marL="225029" lvl="1" indent="0">
              <a:spcAft>
                <a:spcPts val="675"/>
              </a:spcAft>
              <a:buNone/>
            </a:pPr>
            <a:r>
              <a:rPr lang="en-US" sz="2300" dirty="0">
                <a:latin typeface="+mn-lt"/>
                <a:ea typeface="Verdana" panose="020B0604030504040204" pitchFamily="34" charset="0"/>
              </a:rPr>
              <a:t>Properties/statements that are assumed to be true  and that </a:t>
            </a:r>
            <a:r>
              <a:rPr lang="en-US" sz="2300" b="1" dirty="0">
                <a:solidFill>
                  <a:srgbClr val="002060"/>
                </a:solidFill>
                <a:latin typeface="+mn-lt"/>
                <a:ea typeface="Verdana" panose="020B0604030504040204" pitchFamily="34" charset="0"/>
              </a:rPr>
              <a:t>YOU</a:t>
            </a:r>
            <a:r>
              <a:rPr lang="en-US" sz="2300" dirty="0">
                <a:latin typeface="+mn-lt"/>
                <a:ea typeface="Verdana" panose="020B0604030504040204" pitchFamily="34" charset="0"/>
              </a:rPr>
              <a:t> need to check.</a:t>
            </a:r>
          </a:p>
          <a:p>
            <a:pPr marL="0" indent="0">
              <a:spcAft>
                <a:spcPts val="675"/>
              </a:spcAft>
              <a:buNone/>
            </a:pPr>
            <a:r>
              <a:rPr lang="en-US" sz="2300" noProof="0" dirty="0">
                <a:latin typeface="+mn-lt"/>
                <a:ea typeface="Verdana" panose="020B0604030504040204" pitchFamily="34" charset="0"/>
              </a:rPr>
              <a:t>A p-value (or CI) is </a:t>
            </a:r>
            <a:r>
              <a:rPr lang="en-US" sz="2300" b="1" noProof="0" dirty="0">
                <a:solidFill>
                  <a:srgbClr val="002060"/>
                </a:solidFill>
                <a:latin typeface="+mn-lt"/>
                <a:ea typeface="Verdana" panose="020B0604030504040204" pitchFamily="34" charset="0"/>
              </a:rPr>
              <a:t>valid</a:t>
            </a:r>
            <a:r>
              <a:rPr lang="en-US" sz="2300" noProof="0" dirty="0">
                <a:latin typeface="+mn-lt"/>
                <a:ea typeface="Verdana" panose="020B0604030504040204" pitchFamily="34" charset="0"/>
              </a:rPr>
              <a:t> (correct) </a:t>
            </a:r>
            <a:r>
              <a:rPr lang="en-US" sz="2300" u="sng" noProof="0" dirty="0">
                <a:latin typeface="+mn-lt"/>
                <a:ea typeface="Verdana" panose="020B0604030504040204" pitchFamily="34" charset="0"/>
              </a:rPr>
              <a:t>if and only if</a:t>
            </a:r>
            <a:r>
              <a:rPr lang="en-US" sz="2300" noProof="0" dirty="0">
                <a:latin typeface="+mn-lt"/>
                <a:ea typeface="Verdana" panose="020B0604030504040204" pitchFamily="34" charset="0"/>
              </a:rPr>
              <a:t> the assumptions are </a:t>
            </a:r>
            <a:r>
              <a:rPr lang="en-US" sz="2300" b="1" noProof="0" dirty="0">
                <a:solidFill>
                  <a:srgbClr val="002060"/>
                </a:solidFill>
                <a:latin typeface="+mn-lt"/>
                <a:ea typeface="Verdana" panose="020B0604030504040204" pitchFamily="34" charset="0"/>
              </a:rPr>
              <a:t>true</a:t>
            </a:r>
            <a:r>
              <a:rPr lang="en-US" sz="2300" noProof="0" dirty="0">
                <a:latin typeface="+mn-lt"/>
                <a:ea typeface="Verdana" panose="020B0604030504040204" pitchFamily="34" charset="0"/>
              </a:rPr>
              <a:t>. </a:t>
            </a:r>
          </a:p>
          <a:p>
            <a:pPr marL="225029" lvl="1" indent="0">
              <a:spcAft>
                <a:spcPts val="675"/>
              </a:spcAft>
              <a:buNone/>
            </a:pPr>
            <a:r>
              <a:rPr lang="en-US" sz="2300" dirty="0">
                <a:latin typeface="+mn-lt"/>
                <a:ea typeface="Verdana" panose="020B0604030504040204" pitchFamily="34" charset="0"/>
              </a:rPr>
              <a:t>If the assumptions doesn't hold, there is a risk that the p-value is nonsense</a:t>
            </a:r>
          </a:p>
        </p:txBody>
      </p:sp>
      <p:sp>
        <p:nvSpPr>
          <p:cNvPr id="4" name="Platshållare för bildnummer 3"/>
          <p:cNvSpPr>
            <a:spLocks noGrp="1"/>
          </p:cNvSpPr>
          <p:nvPr>
            <p:ph type="sldNum" sz="quarter" idx="12"/>
          </p:nvPr>
        </p:nvSpPr>
        <p:spPr/>
        <p:txBody>
          <a:bodyPr/>
          <a:lstStyle/>
          <a:p>
            <a:fld id="{227F0B53-9592-4779-891F-997228E46E01}" type="slidenum">
              <a:rPr lang="sv-SE" smtClean="0"/>
              <a:t>50</a:t>
            </a:fld>
            <a:endParaRPr lang="sv-SE"/>
          </a:p>
        </p:txBody>
      </p:sp>
    </p:spTree>
    <p:extLst>
      <p:ext uri="{BB962C8B-B14F-4D97-AF65-F5344CB8AC3E}">
        <p14:creationId xmlns:p14="http://schemas.microsoft.com/office/powerpoint/2010/main" val="17270312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971600" y="1203598"/>
            <a:ext cx="7560840" cy="2632793"/>
          </a:xfrm>
        </p:spPr>
        <p:txBody>
          <a:bodyPr>
            <a:noAutofit/>
          </a:bodyPr>
          <a:lstStyle/>
          <a:p>
            <a:pPr>
              <a:lnSpc>
                <a:spcPct val="150000"/>
              </a:lnSpc>
              <a:spcBef>
                <a:spcPts val="338"/>
              </a:spcBef>
              <a:spcAft>
                <a:spcPts val="675"/>
              </a:spcAft>
              <a:buFont typeface="Wingdings" pitchFamily="2" charset="2"/>
              <a:buChar char="§"/>
            </a:pPr>
            <a:r>
              <a:rPr lang="en-US" sz="2000" dirty="0">
                <a:latin typeface="+mn-lt"/>
                <a:ea typeface="Verdana" panose="020B0604030504040204" pitchFamily="34" charset="0"/>
              </a:rPr>
              <a:t>A p-value is larger than the significance level means that the results are </a:t>
            </a:r>
            <a:r>
              <a:rPr lang="en-US" sz="2000" b="1" dirty="0">
                <a:solidFill>
                  <a:srgbClr val="002060"/>
                </a:solidFill>
                <a:latin typeface="+mn-lt"/>
                <a:ea typeface="Verdana" panose="020B0604030504040204" pitchFamily="34" charset="0"/>
              </a:rPr>
              <a:t>not statistically significant</a:t>
            </a:r>
            <a:r>
              <a:rPr lang="en-US" sz="2000" dirty="0">
                <a:solidFill>
                  <a:srgbClr val="002060"/>
                </a:solidFill>
                <a:latin typeface="+mn-lt"/>
                <a:ea typeface="Verdana" panose="020B0604030504040204" pitchFamily="34" charset="0"/>
              </a:rPr>
              <a:t>.</a:t>
            </a:r>
          </a:p>
          <a:p>
            <a:pPr lvl="1">
              <a:lnSpc>
                <a:spcPct val="150000"/>
              </a:lnSpc>
              <a:spcAft>
                <a:spcPts val="900"/>
              </a:spcAft>
            </a:pPr>
            <a:r>
              <a:rPr lang="en-US" sz="2000" dirty="0">
                <a:latin typeface="+mn-lt"/>
                <a:ea typeface="Verdana" panose="020B0604030504040204" pitchFamily="34" charset="0"/>
              </a:rPr>
              <a:t>So, a non-significant test of mean-values means that there are no difference between the groups?</a:t>
            </a:r>
          </a:p>
          <a:p>
            <a:pPr lvl="1">
              <a:lnSpc>
                <a:spcPct val="150000"/>
              </a:lnSpc>
              <a:spcAft>
                <a:spcPts val="900"/>
              </a:spcAft>
            </a:pPr>
            <a:r>
              <a:rPr lang="en-US" sz="2000" dirty="0">
                <a:latin typeface="+mn-lt"/>
                <a:ea typeface="Verdana" panose="020B0604030504040204" pitchFamily="34" charset="0"/>
              </a:rPr>
              <a:t>No, it is </a:t>
            </a:r>
            <a:r>
              <a:rPr lang="en-US" sz="2000" b="1" dirty="0">
                <a:solidFill>
                  <a:srgbClr val="002060"/>
                </a:solidFill>
                <a:latin typeface="+mn-lt"/>
                <a:ea typeface="Verdana" panose="020B0604030504040204" pitchFamily="34" charset="0"/>
              </a:rPr>
              <a:t>not</a:t>
            </a:r>
            <a:r>
              <a:rPr lang="en-US" sz="2000" dirty="0">
                <a:latin typeface="+mn-lt"/>
                <a:ea typeface="Verdana" panose="020B0604030504040204" pitchFamily="34" charset="0"/>
              </a:rPr>
              <a:t> what we are saying! </a:t>
            </a:r>
          </a:p>
          <a:p>
            <a:pPr marL="257175" lvl="1" indent="0">
              <a:lnSpc>
                <a:spcPct val="150000"/>
              </a:lnSpc>
              <a:spcAft>
                <a:spcPts val="900"/>
              </a:spcAft>
              <a:buNone/>
            </a:pPr>
            <a:r>
              <a:rPr lang="en-US" sz="2000" dirty="0">
                <a:latin typeface="+mn-lt"/>
                <a:ea typeface="Verdana" panose="020B0604030504040204" pitchFamily="34" charset="0"/>
              </a:rPr>
              <a:t>It just means that we can’t see a statistically significant difference. It might just be that we have to low </a:t>
            </a:r>
            <a:r>
              <a:rPr lang="en-US" sz="2000" b="1" dirty="0">
                <a:solidFill>
                  <a:srgbClr val="002060"/>
                </a:solidFill>
                <a:latin typeface="+mn-lt"/>
                <a:ea typeface="Verdana" panose="020B0604030504040204" pitchFamily="34" charset="0"/>
              </a:rPr>
              <a:t>power</a:t>
            </a:r>
            <a:r>
              <a:rPr lang="en-US" sz="2000" dirty="0">
                <a:solidFill>
                  <a:srgbClr val="002060"/>
                </a:solidFill>
                <a:latin typeface="+mn-lt"/>
                <a:ea typeface="Verdana" panose="020B0604030504040204" pitchFamily="34" charset="0"/>
              </a:rPr>
              <a:t> </a:t>
            </a:r>
            <a:r>
              <a:rPr lang="en-US" sz="2000" dirty="0">
                <a:latin typeface="+mn-lt"/>
                <a:ea typeface="Verdana" panose="020B0604030504040204" pitchFamily="34" charset="0"/>
              </a:rPr>
              <a:t>to detect it... </a:t>
            </a: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51</a:t>
            </a:fld>
            <a:endParaRPr lang="sv-SE">
              <a:solidFill>
                <a:srgbClr val="000000">
                  <a:tint val="75000"/>
                </a:srgbClr>
              </a:solidFill>
            </a:endParaRPr>
          </a:p>
        </p:txBody>
      </p:sp>
      <p:sp>
        <p:nvSpPr>
          <p:cNvPr id="4" name="Rubrik 1"/>
          <p:cNvSpPr txBox="1">
            <a:spLocks/>
          </p:cNvSpPr>
          <p:nvPr/>
        </p:nvSpPr>
        <p:spPr>
          <a:xfrm>
            <a:off x="2583424" y="555526"/>
            <a:ext cx="3872813" cy="364541"/>
          </a:xfrm>
          <a:prstGeom prst="rect">
            <a:avLst/>
          </a:prstGeom>
          <a:noFill/>
          <a:ln>
            <a:noFill/>
          </a:ln>
        </p:spPr>
        <p:txBody>
          <a:bodyPr vert="horz" lIns="51435" tIns="25718" rIns="51435" bIns="2571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US" sz="4000" b="1" dirty="0">
                <a:solidFill>
                  <a:srgbClr val="002060"/>
                </a:solidFill>
              </a:rPr>
              <a:t>If p-value </a:t>
            </a:r>
            <a:r>
              <a:rPr lang="en-US" sz="4000" b="1" dirty="0">
                <a:solidFill>
                  <a:srgbClr val="002060"/>
                </a:solidFill>
                <a:ea typeface="Cambria Math"/>
              </a:rPr>
              <a:t>≥</a:t>
            </a:r>
            <a:r>
              <a:rPr lang="en-US" sz="4000" b="1" dirty="0">
                <a:solidFill>
                  <a:srgbClr val="002060"/>
                </a:solidFill>
              </a:rPr>
              <a:t> </a:t>
            </a:r>
            <a:r>
              <a:rPr lang="en-US" sz="4000" b="1" dirty="0">
                <a:solidFill>
                  <a:srgbClr val="002060"/>
                </a:solidFill>
                <a:ea typeface="Cambria Math"/>
              </a:rPr>
              <a:t>𝛂 ?</a:t>
            </a:r>
            <a:endParaRPr lang="en-US" sz="4000" b="1" dirty="0">
              <a:solidFill>
                <a:srgbClr val="002060"/>
              </a:solidFill>
            </a:endParaRPr>
          </a:p>
        </p:txBody>
      </p:sp>
    </p:spTree>
    <p:extLst>
      <p:ext uri="{BB962C8B-B14F-4D97-AF65-F5344CB8AC3E}">
        <p14:creationId xmlns:p14="http://schemas.microsoft.com/office/powerpoint/2010/main" val="398232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439653" y="222847"/>
            <a:ext cx="6116240" cy="504825"/>
          </a:xfrm>
        </p:spPr>
        <p:txBody>
          <a:bodyPr>
            <a:noAutofit/>
          </a:bodyPr>
          <a:lstStyle/>
          <a:p>
            <a:pPr eaLnBrk="1" hangingPunct="1"/>
            <a:r>
              <a:rPr lang="en-US" sz="3200" dirty="0"/>
              <a:t>Group size problems</a:t>
            </a:r>
          </a:p>
        </p:txBody>
      </p:sp>
      <p:sp>
        <p:nvSpPr>
          <p:cNvPr id="227331" name="Rectangle 3"/>
          <p:cNvSpPr>
            <a:spLocks noGrp="1" noChangeArrowheads="1"/>
          </p:cNvSpPr>
          <p:nvPr>
            <p:ph idx="1"/>
          </p:nvPr>
        </p:nvSpPr>
        <p:spPr>
          <a:xfrm>
            <a:off x="899592" y="699542"/>
            <a:ext cx="7704856" cy="2952328"/>
          </a:xfrm>
        </p:spPr>
        <p:txBody>
          <a:bodyPr>
            <a:noAutofit/>
          </a:bodyPr>
          <a:lstStyle/>
          <a:p>
            <a:pPr marL="0" indent="0">
              <a:lnSpc>
                <a:spcPct val="150000"/>
              </a:lnSpc>
              <a:buNone/>
              <a:defRPr/>
            </a:pPr>
            <a:r>
              <a:rPr lang="en-US" sz="2100" b="1" dirty="0">
                <a:latin typeface="+mn-lt"/>
                <a:ea typeface="Verdana" panose="020B0604030504040204" pitchFamily="34" charset="0"/>
              </a:rPr>
              <a:t>Groups are too small</a:t>
            </a:r>
            <a:r>
              <a:rPr lang="en-US" sz="2100" dirty="0">
                <a:latin typeface="+mn-lt"/>
                <a:ea typeface="Verdana" panose="020B0604030504040204" pitchFamily="34" charset="0"/>
              </a:rPr>
              <a:t> : </a:t>
            </a:r>
          </a:p>
          <a:p>
            <a:pPr marL="225029" lvl="1" indent="0">
              <a:lnSpc>
                <a:spcPct val="150000"/>
              </a:lnSpc>
              <a:spcAft>
                <a:spcPts val="450"/>
              </a:spcAft>
              <a:buNone/>
              <a:defRPr/>
            </a:pPr>
            <a:r>
              <a:rPr lang="en-US" sz="2100" dirty="0">
                <a:latin typeface="+mn-lt"/>
                <a:ea typeface="Verdana" panose="020B0604030504040204" pitchFamily="34" charset="0"/>
              </a:rPr>
              <a:t>H</a:t>
            </a:r>
            <a:r>
              <a:rPr lang="en-US" sz="2100" baseline="-25000" dirty="0">
                <a:latin typeface="+mn-lt"/>
                <a:ea typeface="Verdana" panose="020B0604030504040204" pitchFamily="34" charset="0"/>
              </a:rPr>
              <a:t>0</a:t>
            </a:r>
            <a:r>
              <a:rPr lang="en-US" sz="2100" dirty="0">
                <a:latin typeface="+mn-lt"/>
                <a:ea typeface="Verdana" panose="020B0604030504040204" pitchFamily="34" charset="0"/>
              </a:rPr>
              <a:t> is not rejected even if a relevant difference/effect was obtained. </a:t>
            </a:r>
          </a:p>
          <a:p>
            <a:pPr marL="225029" lvl="1" indent="0">
              <a:lnSpc>
                <a:spcPct val="150000"/>
              </a:lnSpc>
              <a:spcAft>
                <a:spcPts val="450"/>
              </a:spcAft>
              <a:buNone/>
              <a:defRPr/>
            </a:pPr>
            <a:r>
              <a:rPr lang="en-US" sz="2100" dirty="0">
                <a:latin typeface="+mn-lt"/>
                <a:ea typeface="Verdana" panose="020B0604030504040204" pitchFamily="34" charset="0"/>
              </a:rPr>
              <a:t>The results  cannot be used to state that there is no difference.</a:t>
            </a:r>
          </a:p>
          <a:p>
            <a:pPr marL="0" indent="0">
              <a:lnSpc>
                <a:spcPct val="150000"/>
              </a:lnSpc>
              <a:spcBef>
                <a:spcPts val="900"/>
              </a:spcBef>
              <a:buNone/>
              <a:defRPr/>
            </a:pPr>
            <a:r>
              <a:rPr lang="en-US" sz="2100" b="1" dirty="0">
                <a:latin typeface="+mn-lt"/>
                <a:ea typeface="Verdana" panose="020B0604030504040204" pitchFamily="34" charset="0"/>
              </a:rPr>
              <a:t>Groups are too large</a:t>
            </a:r>
            <a:r>
              <a:rPr lang="en-US" sz="2100" dirty="0">
                <a:latin typeface="+mn-lt"/>
                <a:ea typeface="Verdana" panose="020B0604030504040204" pitchFamily="34" charset="0"/>
              </a:rPr>
              <a:t> :  </a:t>
            </a:r>
          </a:p>
          <a:p>
            <a:pPr marL="225029" lvl="1" indent="0">
              <a:lnSpc>
                <a:spcPct val="150000"/>
              </a:lnSpc>
              <a:spcBef>
                <a:spcPts val="0"/>
              </a:spcBef>
              <a:spcAft>
                <a:spcPts val="450"/>
              </a:spcAft>
              <a:buNone/>
              <a:defRPr/>
            </a:pPr>
            <a:r>
              <a:rPr lang="en-US" sz="2100" dirty="0">
                <a:latin typeface="+mn-lt"/>
                <a:ea typeface="Verdana" panose="020B0604030504040204" pitchFamily="34" charset="0"/>
              </a:rPr>
              <a:t>Waste of resources. </a:t>
            </a:r>
          </a:p>
          <a:p>
            <a:pPr marL="225029" lvl="1" indent="0">
              <a:lnSpc>
                <a:spcPct val="150000"/>
              </a:lnSpc>
              <a:spcBef>
                <a:spcPts val="0"/>
              </a:spcBef>
              <a:spcAft>
                <a:spcPts val="450"/>
              </a:spcAft>
              <a:buNone/>
              <a:defRPr/>
            </a:pPr>
            <a:r>
              <a:rPr lang="en-US" sz="2100" dirty="0">
                <a:latin typeface="+mn-lt"/>
                <a:ea typeface="Verdana" panose="020B0604030504040204" pitchFamily="34" charset="0"/>
              </a:rPr>
              <a:t>The study might show differences that have no practical meaning, not clinically significant. </a:t>
            </a:r>
          </a:p>
          <a:p>
            <a:pPr marL="225029" lvl="1" indent="0">
              <a:lnSpc>
                <a:spcPct val="150000"/>
              </a:lnSpc>
              <a:spcBef>
                <a:spcPts val="0"/>
              </a:spcBef>
              <a:spcAft>
                <a:spcPts val="450"/>
              </a:spcAft>
              <a:buNone/>
              <a:defRPr/>
            </a:pPr>
            <a:r>
              <a:rPr lang="en-US" sz="2100" dirty="0">
                <a:latin typeface="+mn-lt"/>
                <a:ea typeface="Verdana" panose="020B0604030504040204" pitchFamily="34" charset="0"/>
              </a:rPr>
              <a:t>Risk of lower data quality due to large organization.</a:t>
            </a:r>
          </a:p>
          <a:p>
            <a:pPr eaLnBrk="1" hangingPunct="1">
              <a:lnSpc>
                <a:spcPct val="90000"/>
              </a:lnSpc>
              <a:defRPr/>
            </a:pPr>
            <a:endParaRPr lang="en-US" sz="2100" dirty="0">
              <a:latin typeface="+mn-lt"/>
              <a:ea typeface="Verdana" panose="020B0604030504040204" pitchFamily="34" charset="0"/>
            </a:endParaRPr>
          </a:p>
          <a:p>
            <a:pPr eaLnBrk="1" hangingPunct="1">
              <a:lnSpc>
                <a:spcPct val="90000"/>
              </a:lnSpc>
              <a:defRPr/>
            </a:pPr>
            <a:endParaRPr lang="en-US" sz="2100" dirty="0">
              <a:latin typeface="+mn-lt"/>
              <a:ea typeface="Verdana" panose="020B0604030504040204" pitchFamily="34" charset="0"/>
            </a:endParaRPr>
          </a:p>
          <a:p>
            <a:pPr eaLnBrk="1" hangingPunct="1">
              <a:lnSpc>
                <a:spcPct val="90000"/>
              </a:lnSpc>
              <a:defRPr/>
            </a:pPr>
            <a:endParaRPr lang="en-US" sz="2100" dirty="0">
              <a:latin typeface="+mn-lt"/>
              <a:ea typeface="Verdana" panose="020B0604030504040204" pitchFamily="34" charset="0"/>
            </a:endParaRP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52</a:t>
            </a:fld>
            <a:endParaRPr lang="sv-SE"/>
          </a:p>
        </p:txBody>
      </p:sp>
    </p:spTree>
    <p:extLst>
      <p:ext uri="{BB962C8B-B14F-4D97-AF65-F5344CB8AC3E}">
        <p14:creationId xmlns:p14="http://schemas.microsoft.com/office/powerpoint/2010/main" val="7766794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948706" y="411510"/>
            <a:ext cx="7151686" cy="594122"/>
          </a:xfrm>
        </p:spPr>
        <p:txBody>
          <a:bodyPr>
            <a:noAutofit/>
          </a:bodyPr>
          <a:lstStyle/>
          <a:p>
            <a:pPr eaLnBrk="1" hangingPunct="1"/>
            <a:r>
              <a:rPr lang="en-US" altLang="sv-SE" sz="3200" dirty="0"/>
              <a:t>Statistical power - the other way around</a:t>
            </a:r>
          </a:p>
        </p:txBody>
      </p:sp>
      <p:sp>
        <p:nvSpPr>
          <p:cNvPr id="143363" name="Rectangle 3"/>
          <p:cNvSpPr>
            <a:spLocks noGrp="1" noChangeArrowheads="1"/>
          </p:cNvSpPr>
          <p:nvPr>
            <p:ph idx="1"/>
          </p:nvPr>
        </p:nvSpPr>
        <p:spPr>
          <a:xfrm>
            <a:off x="755576" y="1039649"/>
            <a:ext cx="7831350" cy="3528392"/>
          </a:xfrm>
        </p:spPr>
        <p:txBody>
          <a:bodyPr>
            <a:normAutofit/>
          </a:bodyPr>
          <a:lstStyle/>
          <a:p>
            <a:pPr eaLnBrk="1" hangingPunct="1">
              <a:lnSpc>
                <a:spcPct val="160000"/>
              </a:lnSpc>
            </a:pPr>
            <a:r>
              <a:rPr lang="en-US" altLang="sv-SE" sz="2000" dirty="0">
                <a:latin typeface="Verdana" panose="020B0604030504040204" pitchFamily="34" charset="0"/>
                <a:ea typeface="Verdana" panose="020B0604030504040204" pitchFamily="34" charset="0"/>
              </a:rPr>
              <a:t>You have a hypothesis – there is a difference in </a:t>
            </a:r>
            <a:r>
              <a:rPr lang="en-US" altLang="sv-SE" sz="2000" b="1" dirty="0">
                <a:solidFill>
                  <a:srgbClr val="002060"/>
                </a:solidFill>
                <a:latin typeface="Verdana" panose="020B0604030504040204" pitchFamily="34" charset="0"/>
                <a:ea typeface="Verdana" panose="020B0604030504040204" pitchFamily="34" charset="0"/>
              </a:rPr>
              <a:t>blood</a:t>
            </a:r>
            <a:r>
              <a:rPr lang="en-US" altLang="sv-SE" sz="2000" dirty="0">
                <a:solidFill>
                  <a:srgbClr val="002060"/>
                </a:solidFill>
                <a:latin typeface="Verdana" panose="020B0604030504040204" pitchFamily="34" charset="0"/>
                <a:ea typeface="Verdana" panose="020B0604030504040204" pitchFamily="34" charset="0"/>
              </a:rPr>
              <a:t> </a:t>
            </a:r>
            <a:r>
              <a:rPr lang="en-US" altLang="sv-SE" sz="2000" b="1" dirty="0">
                <a:solidFill>
                  <a:srgbClr val="002060"/>
                </a:solidFill>
                <a:latin typeface="Verdana" panose="020B0604030504040204" pitchFamily="34" charset="0"/>
                <a:ea typeface="Verdana" panose="020B0604030504040204" pitchFamily="34" charset="0"/>
              </a:rPr>
              <a:t>pressure</a:t>
            </a:r>
            <a:r>
              <a:rPr lang="en-US" altLang="sv-SE" sz="2000" dirty="0">
                <a:latin typeface="Verdana" panose="020B0604030504040204" pitchFamily="34" charset="0"/>
                <a:ea typeface="Verdana" panose="020B0604030504040204" pitchFamily="34" charset="0"/>
              </a:rPr>
              <a:t> between </a:t>
            </a:r>
            <a:r>
              <a:rPr lang="en-US" altLang="sv-SE" sz="2000" b="1" dirty="0">
                <a:solidFill>
                  <a:srgbClr val="002060"/>
                </a:solidFill>
                <a:latin typeface="Verdana" panose="020B0604030504040204" pitchFamily="34" charset="0"/>
                <a:ea typeface="Verdana" panose="020B0604030504040204" pitchFamily="34" charset="0"/>
              </a:rPr>
              <a:t>overweight and non-overweight</a:t>
            </a:r>
            <a:r>
              <a:rPr lang="en-US" altLang="sv-SE" sz="2000" dirty="0">
                <a:latin typeface="Verdana" panose="020B0604030504040204" pitchFamily="34" charset="0"/>
                <a:ea typeface="Verdana" panose="020B0604030504040204" pitchFamily="34" charset="0"/>
              </a:rPr>
              <a:t>. But what requires to confirm this hypothesis? </a:t>
            </a:r>
          </a:p>
          <a:p>
            <a:pPr eaLnBrk="1" hangingPunct="1">
              <a:lnSpc>
                <a:spcPct val="160000"/>
              </a:lnSpc>
            </a:pPr>
            <a:r>
              <a:rPr lang="en-US" altLang="sv-SE" sz="2000" dirty="0">
                <a:latin typeface="Verdana" panose="020B0604030504040204" pitchFamily="34" charset="0"/>
                <a:ea typeface="Verdana" panose="020B0604030504040204" pitchFamily="34" charset="0"/>
              </a:rPr>
              <a:t>What you do not want is to end up with a costly, for the patients risky, time-consuming study which failed to find a </a:t>
            </a:r>
            <a:r>
              <a:rPr lang="en-US" altLang="sv-SE" sz="2000" b="1" u="sng" dirty="0">
                <a:solidFill>
                  <a:srgbClr val="002060"/>
                </a:solidFill>
                <a:latin typeface="Verdana" panose="020B0604030504040204" pitchFamily="34" charset="0"/>
                <a:ea typeface="Verdana" panose="020B0604030504040204" pitchFamily="34" charset="0"/>
              </a:rPr>
              <a:t>true</a:t>
            </a:r>
            <a:r>
              <a:rPr lang="en-US" altLang="sv-SE" sz="2000" dirty="0">
                <a:latin typeface="Verdana" panose="020B0604030504040204" pitchFamily="34" charset="0"/>
                <a:ea typeface="Verdana" panose="020B0604030504040204" pitchFamily="34" charset="0"/>
              </a:rPr>
              <a:t> difference.</a:t>
            </a:r>
          </a:p>
        </p:txBody>
      </p:sp>
      <p:sp>
        <p:nvSpPr>
          <p:cNvPr id="2" name="Platshållare för bildnummer 1"/>
          <p:cNvSpPr>
            <a:spLocks noGrp="1"/>
          </p:cNvSpPr>
          <p:nvPr>
            <p:ph type="sldNum" sz="quarter" idx="12"/>
          </p:nvPr>
        </p:nvSpPr>
        <p:spPr/>
        <p:txBody>
          <a:bodyPr/>
          <a:lstStyle/>
          <a:p>
            <a:fld id="{227F0B53-9592-4779-891F-997228E46E01}" type="slidenum">
              <a:rPr lang="sv-SE" smtClean="0"/>
              <a:t>53</a:t>
            </a:fld>
            <a:endParaRPr lang="sv-SE"/>
          </a:p>
        </p:txBody>
      </p:sp>
    </p:spTree>
    <p:extLst>
      <p:ext uri="{BB962C8B-B14F-4D97-AF65-F5344CB8AC3E}">
        <p14:creationId xmlns:p14="http://schemas.microsoft.com/office/powerpoint/2010/main" val="22953840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ktangel 12"/>
          <p:cNvSpPr/>
          <p:nvPr/>
        </p:nvSpPr>
        <p:spPr>
          <a:xfrm>
            <a:off x="1143001" y="1"/>
            <a:ext cx="6858000" cy="4704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81922" name="Rectangle 2"/>
              <p:cNvSpPr>
                <a:spLocks noChangeArrowheads="1"/>
              </p:cNvSpPr>
              <p:nvPr/>
            </p:nvSpPr>
            <p:spPr bwMode="auto">
              <a:xfrm>
                <a:off x="1655676" y="734710"/>
                <a:ext cx="2915134" cy="1036053"/>
              </a:xfrm>
              <a:prstGeom prst="rect">
                <a:avLst/>
              </a:prstGeom>
              <a:solidFill>
                <a:schemeClr val="accent1">
                  <a:lumMod val="20000"/>
                  <a:lumOff val="80000"/>
                </a:schemeClr>
              </a:solidFill>
              <a:ln w="9525">
                <a:solidFill>
                  <a:schemeClr val="accent1">
                    <a:lumMod val="20000"/>
                    <a:lumOff val="80000"/>
                  </a:schemeClr>
                </a:solidFill>
                <a:miter lim="800000"/>
                <a:headEnd/>
                <a:tailEnd/>
              </a:ln>
            </p:spPr>
            <p:txBody>
              <a:bodyPr wrap="none" anchor="ctr"/>
              <a:lstStyle/>
              <a:p>
                <a:pPr algn="ctr"/>
                <a14:m>
                  <m:oMathPara xmlns:m="http://schemas.openxmlformats.org/officeDocument/2006/math">
                    <m:oMathParaPr>
                      <m:jc m:val="centerGroup"/>
                    </m:oMathParaPr>
                    <m:oMath xmlns:m="http://schemas.openxmlformats.org/officeDocument/2006/math">
                      <m:sSub>
                        <m:sSubPr>
                          <m:ctrlPr>
                            <a:rPr lang="sv-SE" sz="1650" i="1">
                              <a:latin typeface="Cambria Math" panose="02040503050406030204" pitchFamily="18" charset="0"/>
                            </a:rPr>
                          </m:ctrlPr>
                        </m:sSubPr>
                        <m:e>
                          <m:r>
                            <m:rPr>
                              <m:sty m:val="p"/>
                            </m:rPr>
                            <a:rPr lang="sv-SE" sz="1650">
                              <a:latin typeface="Cambria Math" panose="02040503050406030204" pitchFamily="18" charset="0"/>
                            </a:rPr>
                            <m:t>Δ</m:t>
                          </m:r>
                        </m:e>
                        <m:sub>
                          <m:r>
                            <m:rPr>
                              <m:sty m:val="p"/>
                            </m:rPr>
                            <a:rPr lang="sv-SE" sz="1650">
                              <a:latin typeface="Cambria Math" panose="02040503050406030204" pitchFamily="18" charset="0"/>
                            </a:rPr>
                            <m:t>diff</m:t>
                          </m:r>
                        </m:sub>
                      </m:sSub>
                    </m:oMath>
                  </m:oMathPara>
                </a14:m>
                <a:endParaRPr lang="sv-SE" sz="1650" dirty="0">
                  <a:latin typeface="Calibri" panose="020F0502020204030204" pitchFamily="34" charset="0"/>
                </a:endParaRPr>
              </a:p>
              <a:p>
                <a:pPr algn="ctr"/>
                <a:r>
                  <a:rPr lang="sv-SE" sz="1650" dirty="0">
                    <a:latin typeface="Calibri" panose="020F0502020204030204" pitchFamily="34" charset="0"/>
                  </a:rPr>
                  <a:t>The smallest difference between</a:t>
                </a:r>
              </a:p>
              <a:p>
                <a:pPr algn="ctr"/>
                <a:r>
                  <a:rPr lang="sv-SE" sz="1650" dirty="0">
                    <a:latin typeface="Calibri" panose="020F0502020204030204" pitchFamily="34" charset="0"/>
                  </a:rPr>
                  <a:t>the groups that is considered</a:t>
                </a:r>
              </a:p>
              <a:p>
                <a:pPr algn="ctr"/>
                <a:r>
                  <a:rPr lang="sv-SE" sz="1650" dirty="0">
                    <a:latin typeface="Calibri" panose="020F0502020204030204" pitchFamily="34" charset="0"/>
                  </a:rPr>
                  <a:t>to be on interest to detect</a:t>
                </a:r>
              </a:p>
            </p:txBody>
          </p:sp>
        </mc:Choice>
        <mc:Fallback xmlns="">
          <p:sp>
            <p:nvSpPr>
              <p:cNvPr id="81922" name="Rectangle 2"/>
              <p:cNvSpPr>
                <a:spLocks noRot="1" noChangeAspect="1" noMove="1" noResize="1" noEditPoints="1" noAdjustHandles="1" noChangeArrowheads="1" noChangeShapeType="1" noTextEdit="1"/>
              </p:cNvSpPr>
              <p:nvPr/>
            </p:nvSpPr>
            <p:spPr bwMode="auto">
              <a:xfrm>
                <a:off x="1655676" y="734710"/>
                <a:ext cx="2915134" cy="1036053"/>
              </a:xfrm>
              <a:prstGeom prst="rect">
                <a:avLst/>
              </a:prstGeom>
              <a:blipFill>
                <a:blip r:embed="rId3"/>
                <a:stretch>
                  <a:fillRect l="-1458" r="-1667" b="-10526"/>
                </a:stretch>
              </a:blipFill>
              <a:ln w="9525">
                <a:solidFill>
                  <a:schemeClr val="accent1">
                    <a:lumMod val="20000"/>
                    <a:lumOff val="80000"/>
                  </a:schemeClr>
                </a:solidFill>
                <a:miter lim="800000"/>
                <a:headEnd/>
                <a:tailEnd/>
              </a:ln>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1923" name="Rectangle 3"/>
              <p:cNvSpPr>
                <a:spLocks noChangeArrowheads="1"/>
              </p:cNvSpPr>
              <p:nvPr/>
            </p:nvSpPr>
            <p:spPr bwMode="auto">
              <a:xfrm>
                <a:off x="1655676" y="1923678"/>
                <a:ext cx="2915134" cy="948333"/>
              </a:xfrm>
              <a:prstGeom prst="rect">
                <a:avLst/>
              </a:prstGeom>
              <a:solidFill>
                <a:schemeClr val="accent1">
                  <a:lumMod val="20000"/>
                  <a:lumOff val="80000"/>
                </a:schemeClr>
              </a:solidFill>
              <a:ln w="9525">
                <a:solidFill>
                  <a:schemeClr val="accent1">
                    <a:lumMod val="20000"/>
                    <a:lumOff val="80000"/>
                  </a:schemeClr>
                </a:solidFill>
                <a:miter lim="800000"/>
                <a:headEnd/>
                <a:tailEnd/>
              </a:ln>
            </p:spPr>
            <p:txBody>
              <a:bodyPr wrap="none" anchor="ctr"/>
              <a:lstStyle/>
              <a:p>
                <a:pPr algn="ctr"/>
                <a14:m>
                  <m:oMathPara xmlns:m="http://schemas.openxmlformats.org/officeDocument/2006/math">
                    <m:oMathParaPr>
                      <m:jc m:val="centerGroup"/>
                    </m:oMathParaPr>
                    <m:oMath xmlns:m="http://schemas.openxmlformats.org/officeDocument/2006/math">
                      <m:r>
                        <a:rPr lang="sv-SE" sz="1650" i="1">
                          <a:latin typeface="Cambria Math" panose="02040503050406030204" pitchFamily="18" charset="0"/>
                        </a:rPr>
                        <m:t>𝛼</m:t>
                      </m:r>
                    </m:oMath>
                  </m:oMathPara>
                </a14:m>
                <a:endParaRPr lang="en-US" sz="1650" dirty="0">
                  <a:latin typeface="Calibri" panose="020F0502020204030204" pitchFamily="34" charset="0"/>
                </a:endParaRPr>
              </a:p>
              <a:p>
                <a:pPr algn="ctr"/>
                <a:r>
                  <a:rPr lang="en-US" sz="1650" dirty="0">
                    <a:latin typeface="Calibri" panose="020F0502020204030204" pitchFamily="34" charset="0"/>
                  </a:rPr>
                  <a:t>Probability for error of type I, </a:t>
                </a:r>
              </a:p>
              <a:p>
                <a:pPr algn="ctr"/>
                <a:r>
                  <a:rPr lang="en-US" sz="1650" dirty="0">
                    <a:latin typeface="Calibri" panose="020F0502020204030204" pitchFamily="34" charset="0"/>
                  </a:rPr>
                  <a:t>Significance level</a:t>
                </a:r>
              </a:p>
              <a:p>
                <a:pPr algn="ctr"/>
                <a:r>
                  <a:rPr lang="en-US" sz="1650" dirty="0">
                    <a:latin typeface="Calibri" panose="020F0502020204030204" pitchFamily="34" charset="0"/>
                  </a:rPr>
                  <a:t>Conventionally 5%</a:t>
                </a:r>
              </a:p>
            </p:txBody>
          </p:sp>
        </mc:Choice>
        <mc:Fallback xmlns="">
          <p:sp>
            <p:nvSpPr>
              <p:cNvPr id="81923" name="Rectangle 3"/>
              <p:cNvSpPr>
                <a:spLocks noRot="1" noChangeAspect="1" noMove="1" noResize="1" noEditPoints="1" noAdjustHandles="1" noChangeArrowheads="1" noChangeShapeType="1" noTextEdit="1"/>
              </p:cNvSpPr>
              <p:nvPr/>
            </p:nvSpPr>
            <p:spPr bwMode="auto">
              <a:xfrm>
                <a:off x="1655676" y="1923678"/>
                <a:ext cx="2915134" cy="948333"/>
              </a:xfrm>
              <a:prstGeom prst="rect">
                <a:avLst/>
              </a:prstGeom>
              <a:blipFill>
                <a:blip r:embed="rId4"/>
                <a:stretch>
                  <a:fillRect b="-15924"/>
                </a:stretch>
              </a:blipFill>
              <a:ln w="9525">
                <a:solidFill>
                  <a:schemeClr val="accent1">
                    <a:lumMod val="20000"/>
                    <a:lumOff val="80000"/>
                  </a:schemeClr>
                </a:solidFill>
                <a:miter lim="800000"/>
                <a:headEnd/>
                <a:tailEnd/>
              </a:ln>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1924" name="Rectangle 4"/>
              <p:cNvSpPr>
                <a:spLocks noChangeArrowheads="1"/>
              </p:cNvSpPr>
              <p:nvPr/>
            </p:nvSpPr>
            <p:spPr bwMode="auto">
              <a:xfrm>
                <a:off x="1655677" y="3053757"/>
                <a:ext cx="2916324" cy="960131"/>
              </a:xfrm>
              <a:prstGeom prst="rect">
                <a:avLst/>
              </a:prstGeom>
              <a:solidFill>
                <a:schemeClr val="accent1">
                  <a:lumMod val="20000"/>
                  <a:lumOff val="80000"/>
                </a:schemeClr>
              </a:solidFill>
              <a:ln w="9525">
                <a:solidFill>
                  <a:schemeClr val="accent1">
                    <a:lumMod val="20000"/>
                    <a:lumOff val="80000"/>
                  </a:schemeClr>
                </a:solidFill>
                <a:miter lim="800000"/>
                <a:headEnd/>
                <a:tailEnd/>
              </a:ln>
            </p:spPr>
            <p:txBody>
              <a:bodyPr wrap="none" anchor="ctr"/>
              <a:lstStyle/>
              <a:p>
                <a:pPr algn="ctr"/>
                <a14:m>
                  <m:oMathPara xmlns:m="http://schemas.openxmlformats.org/officeDocument/2006/math">
                    <m:oMathParaPr>
                      <m:jc m:val="centerGroup"/>
                    </m:oMathParaPr>
                    <m:oMath xmlns:m="http://schemas.openxmlformats.org/officeDocument/2006/math">
                      <m:r>
                        <a:rPr lang="sv-SE" sz="1650" i="1">
                          <a:latin typeface="Cambria Math" panose="02040503050406030204" pitchFamily="18" charset="0"/>
                        </a:rPr>
                        <m:t>𝑃𝑜𝑤𝑒𝑟</m:t>
                      </m:r>
                      <m:r>
                        <a:rPr lang="sv-SE" sz="1650" i="1">
                          <a:latin typeface="Cambria Math" panose="02040503050406030204" pitchFamily="18" charset="0"/>
                        </a:rPr>
                        <m:t>=1−</m:t>
                      </m:r>
                      <m:r>
                        <a:rPr lang="sv-SE" sz="1650" i="1">
                          <a:latin typeface="Cambria Math" panose="02040503050406030204" pitchFamily="18" charset="0"/>
                        </a:rPr>
                        <m:t>𝛽</m:t>
                      </m:r>
                    </m:oMath>
                  </m:oMathPara>
                </a14:m>
                <a:endParaRPr lang="sv-SE" sz="1650" dirty="0">
                  <a:latin typeface="Calibri" panose="020F0502020204030204" pitchFamily="34" charset="0"/>
                </a:endParaRPr>
              </a:p>
              <a:p>
                <a:pPr algn="ctr"/>
                <a:r>
                  <a:rPr lang="sv-SE" sz="1650" dirty="0" err="1">
                    <a:latin typeface="Calibri" panose="020F0502020204030204" pitchFamily="34" charset="0"/>
                  </a:rPr>
                  <a:t>Probability</a:t>
                </a:r>
                <a:r>
                  <a:rPr lang="sv-SE" sz="1650" dirty="0">
                    <a:latin typeface="Calibri" panose="020F0502020204030204" pitchFamily="34" charset="0"/>
                  </a:rPr>
                  <a:t> to detect that the </a:t>
                </a:r>
              </a:p>
              <a:p>
                <a:pPr algn="ctr"/>
                <a:r>
                  <a:rPr lang="sv-SE" sz="1650" dirty="0">
                    <a:latin typeface="Calibri" panose="020F0502020204030204" pitchFamily="34" charset="0"/>
                  </a:rPr>
                  <a:t>Null hypothesis is false.</a:t>
                </a:r>
              </a:p>
              <a:p>
                <a:pPr algn="ctr"/>
                <a:r>
                  <a:rPr lang="sv-SE" sz="1650" dirty="0">
                    <a:latin typeface="Calibri" panose="020F0502020204030204" pitchFamily="34" charset="0"/>
                  </a:rPr>
                  <a:t>Conventionally power 80-90%</a:t>
                </a:r>
              </a:p>
            </p:txBody>
          </p:sp>
        </mc:Choice>
        <mc:Fallback xmlns="">
          <p:sp>
            <p:nvSpPr>
              <p:cNvPr id="81924" name="Rectangle 4"/>
              <p:cNvSpPr>
                <a:spLocks noRot="1" noChangeAspect="1" noMove="1" noResize="1" noEditPoints="1" noAdjustHandles="1" noChangeArrowheads="1" noChangeShapeType="1" noTextEdit="1"/>
              </p:cNvSpPr>
              <p:nvPr/>
            </p:nvSpPr>
            <p:spPr bwMode="auto">
              <a:xfrm>
                <a:off x="1655677" y="3053757"/>
                <a:ext cx="2916324" cy="960131"/>
              </a:xfrm>
              <a:prstGeom prst="rect">
                <a:avLst/>
              </a:prstGeom>
              <a:blipFill>
                <a:blip r:embed="rId5"/>
                <a:stretch>
                  <a:fillRect t="-1887" b="-15094"/>
                </a:stretch>
              </a:blipFill>
              <a:ln w="9525">
                <a:solidFill>
                  <a:schemeClr val="accent1">
                    <a:lumMod val="20000"/>
                    <a:lumOff val="80000"/>
                  </a:schemeClr>
                </a:solidFill>
                <a:miter lim="800000"/>
                <a:headEnd/>
                <a:tailEnd/>
              </a:ln>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1925" name="Rectangle 5"/>
              <p:cNvSpPr>
                <a:spLocks noChangeArrowheads="1"/>
              </p:cNvSpPr>
              <p:nvPr/>
            </p:nvSpPr>
            <p:spPr bwMode="auto">
              <a:xfrm>
                <a:off x="1655677" y="4113009"/>
                <a:ext cx="2916324" cy="546973"/>
              </a:xfrm>
              <a:prstGeom prst="rect">
                <a:avLst/>
              </a:prstGeom>
              <a:solidFill>
                <a:schemeClr val="accent1">
                  <a:lumMod val="20000"/>
                  <a:lumOff val="80000"/>
                </a:schemeClr>
              </a:solidFill>
              <a:ln w="9525">
                <a:solidFill>
                  <a:schemeClr val="accent1">
                    <a:lumMod val="20000"/>
                    <a:lumOff val="80000"/>
                  </a:schemeClr>
                </a:solidFill>
                <a:miter lim="800000"/>
                <a:headEnd/>
                <a:tailEnd/>
              </a:ln>
            </p:spPr>
            <p:txBody>
              <a:bodyPr wrap="none" anchor="ctr"/>
              <a:lstStyle/>
              <a:p>
                <a:pPr algn="ctr"/>
                <a14:m>
                  <m:oMathPara xmlns:m="http://schemas.openxmlformats.org/officeDocument/2006/math">
                    <m:oMathParaPr>
                      <m:jc m:val="centerGroup"/>
                    </m:oMathParaPr>
                    <m:oMath xmlns:m="http://schemas.openxmlformats.org/officeDocument/2006/math">
                      <m:r>
                        <a:rPr lang="sv-SE" sz="1650" i="1">
                          <a:latin typeface="Cambria Math" panose="02040503050406030204" pitchFamily="18" charset="0"/>
                        </a:rPr>
                        <m:t>𝜎</m:t>
                      </m:r>
                    </m:oMath>
                  </m:oMathPara>
                </a14:m>
                <a:endParaRPr lang="sv-SE" sz="1650" dirty="0">
                  <a:latin typeface="Calibri" panose="020F0502020204030204" pitchFamily="34" charset="0"/>
                </a:endParaRPr>
              </a:p>
              <a:p>
                <a:pPr algn="ctr"/>
                <a:r>
                  <a:rPr lang="sv-SE" sz="1650" dirty="0" err="1">
                    <a:latin typeface="Calibri" panose="020F0502020204030204" pitchFamily="34" charset="0"/>
                  </a:rPr>
                  <a:t>Variability</a:t>
                </a:r>
                <a:r>
                  <a:rPr lang="sv-SE" sz="1650" dirty="0">
                    <a:latin typeface="Calibri" panose="020F0502020204030204" pitchFamily="34" charset="0"/>
                  </a:rPr>
                  <a:t>, </a:t>
                </a:r>
                <a:r>
                  <a:rPr lang="sv-SE" sz="1650" dirty="0" err="1">
                    <a:latin typeface="Calibri" panose="020F0502020204030204" pitchFamily="34" charset="0"/>
                  </a:rPr>
                  <a:t>e.g</a:t>
                </a:r>
                <a:r>
                  <a:rPr lang="sv-SE" sz="1650" dirty="0">
                    <a:latin typeface="Calibri" panose="020F0502020204030204" pitchFamily="34" charset="0"/>
                  </a:rPr>
                  <a:t>. standard deviation</a:t>
                </a:r>
              </a:p>
            </p:txBody>
          </p:sp>
        </mc:Choice>
        <mc:Fallback xmlns="">
          <p:sp>
            <p:nvSpPr>
              <p:cNvPr id="81925" name="Rectangle 5"/>
              <p:cNvSpPr>
                <a:spLocks noRot="1" noChangeAspect="1" noMove="1" noResize="1" noEditPoints="1" noAdjustHandles="1" noChangeArrowheads="1" noChangeShapeType="1" noTextEdit="1"/>
              </p:cNvSpPr>
              <p:nvPr/>
            </p:nvSpPr>
            <p:spPr bwMode="auto">
              <a:xfrm>
                <a:off x="1655677" y="4113009"/>
                <a:ext cx="2916324" cy="546973"/>
              </a:xfrm>
              <a:prstGeom prst="rect">
                <a:avLst/>
              </a:prstGeom>
              <a:blipFill>
                <a:blip r:embed="rId6"/>
                <a:stretch>
                  <a:fillRect l="-3333" r="-3542" b="-17582"/>
                </a:stretch>
              </a:blipFill>
              <a:ln w="9525">
                <a:solidFill>
                  <a:schemeClr val="accent1">
                    <a:lumMod val="20000"/>
                    <a:lumOff val="80000"/>
                  </a:schemeClr>
                </a:solidFill>
                <a:miter lim="800000"/>
                <a:headEnd/>
                <a:tailEnd/>
              </a:ln>
            </p:spPr>
            <p:txBody>
              <a:bodyPr/>
              <a:lstStyle/>
              <a:p>
                <a:r>
                  <a:rPr lang="en-US">
                    <a:noFill/>
                  </a:rPr>
                  <a:t> </a:t>
                </a:r>
              </a:p>
            </p:txBody>
          </p:sp>
        </mc:Fallback>
      </mc:AlternateContent>
      <p:sp>
        <p:nvSpPr>
          <p:cNvPr id="81926" name="Oval 6"/>
          <p:cNvSpPr>
            <a:spLocks noChangeArrowheads="1"/>
          </p:cNvSpPr>
          <p:nvPr/>
        </p:nvSpPr>
        <p:spPr bwMode="auto">
          <a:xfrm>
            <a:off x="5274469" y="1599642"/>
            <a:ext cx="1782366" cy="1999060"/>
          </a:xfrm>
          <a:prstGeom prst="ellipse">
            <a:avLst/>
          </a:prstGeom>
          <a:solidFill>
            <a:schemeClr val="accent3">
              <a:lumMod val="40000"/>
              <a:lumOff val="60000"/>
            </a:schemeClr>
          </a:solidFill>
          <a:ln w="9525">
            <a:solidFill>
              <a:schemeClr val="accent3">
                <a:lumMod val="40000"/>
                <a:lumOff val="60000"/>
              </a:schemeClr>
            </a:solidFill>
            <a:round/>
            <a:headEnd/>
            <a:tailEnd/>
          </a:ln>
        </p:spPr>
        <p:txBody>
          <a:bodyPr wrap="none" anchor="ctr"/>
          <a:lstStyle/>
          <a:p>
            <a:pPr algn="ctr"/>
            <a:r>
              <a:rPr lang="sv-SE" b="1" dirty="0">
                <a:latin typeface="Calibri" panose="020F0502020204030204" pitchFamily="34" charset="0"/>
              </a:rPr>
              <a:t>Required </a:t>
            </a:r>
          </a:p>
          <a:p>
            <a:pPr algn="ctr"/>
            <a:r>
              <a:rPr lang="sv-SE" b="1" dirty="0">
                <a:latin typeface="Calibri" panose="020F0502020204030204" pitchFamily="34" charset="0"/>
              </a:rPr>
              <a:t>group </a:t>
            </a:r>
            <a:r>
              <a:rPr lang="sv-SE" b="1" dirty="0" err="1">
                <a:latin typeface="Calibri" panose="020F0502020204030204" pitchFamily="34" charset="0"/>
              </a:rPr>
              <a:t>sizes</a:t>
            </a:r>
            <a:r>
              <a:rPr lang="sv-SE" b="1" dirty="0">
                <a:latin typeface="Calibri" panose="020F0502020204030204" pitchFamily="34" charset="0"/>
              </a:rPr>
              <a:t>,</a:t>
            </a:r>
          </a:p>
          <a:p>
            <a:pPr algn="ctr"/>
            <a:r>
              <a:rPr lang="sv-SE" b="1" dirty="0" err="1">
                <a:latin typeface="Calibri" panose="020F0502020204030204" pitchFamily="34" charset="0"/>
              </a:rPr>
              <a:t>Equal</a:t>
            </a:r>
            <a:r>
              <a:rPr lang="sv-SE" b="1" dirty="0">
                <a:latin typeface="Calibri" panose="020F0502020204030204" pitchFamily="34" charset="0"/>
              </a:rPr>
              <a:t> or </a:t>
            </a:r>
          </a:p>
          <a:p>
            <a:pPr algn="ctr"/>
            <a:r>
              <a:rPr lang="sv-SE" b="1" dirty="0" err="1">
                <a:latin typeface="Calibri" panose="020F0502020204030204" pitchFamily="34" charset="0"/>
              </a:rPr>
              <a:t>Un-equal</a:t>
            </a:r>
            <a:endParaRPr lang="sv-SE" b="1" dirty="0">
              <a:latin typeface="Calibri" panose="020F0502020204030204" pitchFamily="34" charset="0"/>
            </a:endParaRPr>
          </a:p>
        </p:txBody>
      </p:sp>
      <p:sp>
        <p:nvSpPr>
          <p:cNvPr id="81927" name="Line 7"/>
          <p:cNvSpPr>
            <a:spLocks noChangeShapeType="1"/>
          </p:cNvSpPr>
          <p:nvPr/>
        </p:nvSpPr>
        <p:spPr bwMode="auto">
          <a:xfrm>
            <a:off x="4572001" y="1382410"/>
            <a:ext cx="864096" cy="63390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v-SE"/>
          </a:p>
        </p:txBody>
      </p:sp>
      <p:sp>
        <p:nvSpPr>
          <p:cNvPr id="81928" name="Line 8"/>
          <p:cNvSpPr>
            <a:spLocks noChangeShapeType="1"/>
          </p:cNvSpPr>
          <p:nvPr/>
        </p:nvSpPr>
        <p:spPr bwMode="auto">
          <a:xfrm>
            <a:off x="4572001" y="2399987"/>
            <a:ext cx="701277" cy="10548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v-SE"/>
          </a:p>
        </p:txBody>
      </p:sp>
      <p:sp>
        <p:nvSpPr>
          <p:cNvPr id="81929" name="Line 9"/>
          <p:cNvSpPr>
            <a:spLocks noChangeShapeType="1"/>
          </p:cNvSpPr>
          <p:nvPr/>
        </p:nvSpPr>
        <p:spPr bwMode="auto">
          <a:xfrm flipV="1">
            <a:off x="4570811" y="3089243"/>
            <a:ext cx="793277" cy="3362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v-SE"/>
          </a:p>
        </p:txBody>
      </p:sp>
      <p:sp>
        <p:nvSpPr>
          <p:cNvPr id="81930" name="Line 10"/>
          <p:cNvSpPr>
            <a:spLocks noChangeShapeType="1"/>
          </p:cNvSpPr>
          <p:nvPr/>
        </p:nvSpPr>
        <p:spPr bwMode="auto">
          <a:xfrm flipV="1">
            <a:off x="4572001" y="3425446"/>
            <a:ext cx="1080119" cy="96013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v-SE"/>
          </a:p>
        </p:txBody>
      </p:sp>
      <p:sp>
        <p:nvSpPr>
          <p:cNvPr id="2" name="TextBox 1"/>
          <p:cNvSpPr txBox="1"/>
          <p:nvPr/>
        </p:nvSpPr>
        <p:spPr>
          <a:xfrm>
            <a:off x="251519" y="150939"/>
            <a:ext cx="8784977" cy="523220"/>
          </a:xfrm>
          <a:prstGeom prst="rect">
            <a:avLst/>
          </a:prstGeom>
          <a:noFill/>
        </p:spPr>
        <p:txBody>
          <a:bodyPr wrap="square" rtlCol="0">
            <a:spAutoFit/>
          </a:bodyPr>
          <a:lstStyle/>
          <a:p>
            <a:r>
              <a:rPr lang="sv-SE" sz="2800" b="1" dirty="0">
                <a:latin typeface="+mj-lt"/>
              </a:rPr>
              <a:t>Obtaining the needed </a:t>
            </a:r>
            <a:r>
              <a:rPr lang="sv-SE" sz="2800" b="1" dirty="0" err="1">
                <a:latin typeface="+mj-lt"/>
              </a:rPr>
              <a:t>sample</a:t>
            </a:r>
            <a:r>
              <a:rPr lang="sv-SE" sz="2800" b="1" dirty="0">
                <a:latin typeface="+mj-lt"/>
              </a:rPr>
              <a:t> </a:t>
            </a:r>
            <a:r>
              <a:rPr lang="sv-SE" sz="2800" b="1" dirty="0" err="1">
                <a:latin typeface="+mj-lt"/>
              </a:rPr>
              <a:t>size</a:t>
            </a:r>
            <a:r>
              <a:rPr lang="sv-SE" sz="2800" b="1" dirty="0">
                <a:latin typeface="+mj-lt"/>
              </a:rPr>
              <a:t> (for </a:t>
            </a:r>
            <a:r>
              <a:rPr lang="sv-SE" sz="2800" b="1" dirty="0" err="1">
                <a:latin typeface="+mj-lt"/>
              </a:rPr>
              <a:t>comparing</a:t>
            </a:r>
            <a:r>
              <a:rPr lang="sv-SE" sz="2800" b="1" dirty="0">
                <a:latin typeface="+mj-lt"/>
              </a:rPr>
              <a:t> </a:t>
            </a:r>
            <a:r>
              <a:rPr lang="sv-SE" sz="2800" b="1" dirty="0" err="1">
                <a:latin typeface="+mj-lt"/>
              </a:rPr>
              <a:t>means</a:t>
            </a:r>
            <a:r>
              <a:rPr lang="sv-SE" sz="2800" b="1" dirty="0">
                <a:latin typeface="+mj-lt"/>
              </a:rPr>
              <a:t>)</a:t>
            </a:r>
          </a:p>
        </p:txBody>
      </p:sp>
      <p:sp>
        <p:nvSpPr>
          <p:cNvPr id="4" name="Platshållare för bildnummer 3"/>
          <p:cNvSpPr>
            <a:spLocks noGrp="1"/>
          </p:cNvSpPr>
          <p:nvPr>
            <p:ph type="sldNum" sz="quarter" idx="4294967295"/>
          </p:nvPr>
        </p:nvSpPr>
        <p:spPr>
          <a:xfrm>
            <a:off x="6400800" y="4767263"/>
            <a:ext cx="1600200" cy="273844"/>
          </a:xfrm>
        </p:spPr>
        <p:txBody>
          <a:bodyPr/>
          <a:lstStyle/>
          <a:p>
            <a:fld id="{848F4548-6D24-4817-AD0D-6AD054FBF319}" type="slidenum">
              <a:rPr lang="sv-SE" smtClean="0"/>
              <a:pPr/>
              <a:t>54</a:t>
            </a:fld>
            <a:endParaRPr lang="sv-SE" dirty="0"/>
          </a:p>
        </p:txBody>
      </p:sp>
    </p:spTree>
    <p:extLst>
      <p:ext uri="{BB962C8B-B14F-4D97-AF65-F5344CB8AC3E}">
        <p14:creationId xmlns:p14="http://schemas.microsoft.com/office/powerpoint/2010/main" val="111336236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51520" y="249052"/>
            <a:ext cx="8424936" cy="594066"/>
          </a:xfrm>
        </p:spPr>
        <p:txBody>
          <a:bodyPr>
            <a:noAutofit/>
          </a:bodyPr>
          <a:lstStyle/>
          <a:p>
            <a:pPr algn="ctr" eaLnBrk="1" hangingPunct="1"/>
            <a:r>
              <a:rPr lang="en-US" altLang="sv-SE" sz="2800" dirty="0"/>
              <a:t>What is the minimum sample size for testing subgroup differences then?</a:t>
            </a:r>
          </a:p>
        </p:txBody>
      </p:sp>
      <mc:AlternateContent xmlns:mc="http://schemas.openxmlformats.org/markup-compatibility/2006" xmlns:a14="http://schemas.microsoft.com/office/drawing/2010/main">
        <mc:Choice Requires="a14">
          <p:sp>
            <p:nvSpPr>
              <p:cNvPr id="43011" name="Rectangle 3"/>
              <p:cNvSpPr>
                <a:spLocks noGrp="1" noChangeArrowheads="1"/>
              </p:cNvSpPr>
              <p:nvPr>
                <p:ph idx="1"/>
              </p:nvPr>
            </p:nvSpPr>
            <p:spPr>
              <a:xfrm>
                <a:off x="971600" y="1203598"/>
                <a:ext cx="7488832" cy="3384376"/>
              </a:xfrm>
            </p:spPr>
            <p:txBody>
              <a:bodyPr>
                <a:noAutofit/>
              </a:bodyPr>
              <a:lstStyle/>
              <a:p>
                <a:pPr>
                  <a:lnSpc>
                    <a:spcPct val="90000"/>
                  </a:lnSpc>
                  <a:spcAft>
                    <a:spcPts val="900"/>
                  </a:spcAft>
                </a:pPr>
                <a:r>
                  <a:rPr lang="en-US" altLang="sv-SE" sz="2400" dirty="0">
                    <a:latin typeface="+mn-lt"/>
                    <a:ea typeface="Verdana" panose="020B0604030504040204" pitchFamily="34" charset="0"/>
                  </a:rPr>
                  <a:t>You must make </a:t>
                </a:r>
                <a:r>
                  <a:rPr lang="en-US" altLang="sv-SE" sz="2400" u="sng" dirty="0">
                    <a:solidFill>
                      <a:srgbClr val="002060"/>
                    </a:solidFill>
                    <a:latin typeface="+mn-lt"/>
                    <a:ea typeface="Verdana" panose="020B0604030504040204" pitchFamily="34" charset="0"/>
                  </a:rPr>
                  <a:t>assumptions</a:t>
                </a:r>
                <a:r>
                  <a:rPr lang="en-US" altLang="sv-SE" sz="2400" dirty="0">
                    <a:latin typeface="+mn-lt"/>
                    <a:ea typeface="Verdana" panose="020B0604030504040204" pitchFamily="34" charset="0"/>
                  </a:rPr>
                  <a:t> about the true difference you would</a:t>
                </a:r>
                <a:r>
                  <a:rPr lang="en-US" altLang="sv-SE" sz="2400" dirty="0">
                    <a:solidFill>
                      <a:srgbClr val="002060"/>
                    </a:solidFill>
                    <a:latin typeface="+mn-lt"/>
                    <a:ea typeface="Verdana" panose="020B0604030504040204" pitchFamily="34" charset="0"/>
                  </a:rPr>
                  <a:t> </a:t>
                </a:r>
                <a:r>
                  <a:rPr lang="en-US" altLang="sv-SE" sz="2400" u="sng" dirty="0">
                    <a:solidFill>
                      <a:srgbClr val="002060"/>
                    </a:solidFill>
                    <a:latin typeface="+mn-lt"/>
                    <a:ea typeface="Verdana" panose="020B0604030504040204" pitchFamily="34" charset="0"/>
                  </a:rPr>
                  <a:t>like</a:t>
                </a:r>
                <a:r>
                  <a:rPr lang="en-US" altLang="sv-SE" sz="2400" dirty="0">
                    <a:solidFill>
                      <a:srgbClr val="002060"/>
                    </a:solidFill>
                    <a:latin typeface="+mn-lt"/>
                    <a:ea typeface="Verdana" panose="020B0604030504040204" pitchFamily="34" charset="0"/>
                  </a:rPr>
                  <a:t> </a:t>
                </a:r>
                <a:r>
                  <a:rPr lang="en-US" altLang="sv-SE" sz="2400" dirty="0">
                    <a:latin typeface="+mn-lt"/>
                    <a:ea typeface="Verdana" panose="020B0604030504040204" pitchFamily="34" charset="0"/>
                  </a:rPr>
                  <a:t>to find and the variability. </a:t>
                </a:r>
              </a:p>
              <a:p>
                <a:pPr eaLnBrk="1" hangingPunct="1">
                  <a:lnSpc>
                    <a:spcPct val="90000"/>
                  </a:lnSpc>
                  <a:buFontTx/>
                  <a:buNone/>
                </a:pPr>
                <a:r>
                  <a:rPr lang="en-US" altLang="sv-SE" sz="2400" dirty="0">
                    <a:latin typeface="+mn-lt"/>
                    <a:ea typeface="Verdana" panose="020B0604030504040204" pitchFamily="34" charset="0"/>
                  </a:rPr>
                  <a:t>	Clinically relevant difference= 10 mmHg diastolic, </a:t>
                </a:r>
              </a:p>
              <a:p>
                <a:pPr eaLnBrk="1" hangingPunct="1">
                  <a:lnSpc>
                    <a:spcPct val="90000"/>
                  </a:lnSpc>
                  <a:buFontTx/>
                  <a:buNone/>
                </a:pPr>
                <a:r>
                  <a:rPr lang="en-US" altLang="sv-SE" sz="2400" dirty="0">
                    <a:latin typeface="+mn-lt"/>
                    <a:ea typeface="Verdana" panose="020B0604030504040204" pitchFamily="34" charset="0"/>
                  </a:rPr>
                  <a:t>	Variance in population: </a:t>
                </a:r>
                <a14:m>
                  <m:oMath xmlns:m="http://schemas.openxmlformats.org/officeDocument/2006/math">
                    <m:sSup>
                      <m:sSupPr>
                        <m:ctrlPr>
                          <a:rPr lang="sv-SE" altLang="sv-SE" sz="2400" i="1">
                            <a:latin typeface="Cambria Math" panose="02040503050406030204" pitchFamily="18" charset="0"/>
                          </a:rPr>
                        </m:ctrlPr>
                      </m:sSupPr>
                      <m:e>
                        <m:r>
                          <a:rPr lang="sv-SE" altLang="sv-SE" sz="2400" i="1">
                            <a:latin typeface="Cambria Math" panose="02040503050406030204" pitchFamily="18" charset="0"/>
                          </a:rPr>
                          <m:t>𝜎</m:t>
                        </m:r>
                      </m:e>
                      <m:sup>
                        <m:r>
                          <a:rPr lang="sv-SE" altLang="sv-SE" sz="2400" i="1">
                            <a:latin typeface="Cambria Math" panose="02040503050406030204" pitchFamily="18" charset="0"/>
                          </a:rPr>
                          <m:t>2</m:t>
                        </m:r>
                      </m:sup>
                    </m:sSup>
                  </m:oMath>
                </a14:m>
                <a:r>
                  <a:rPr lang="en-US" altLang="sv-SE" sz="2400" dirty="0">
                    <a:latin typeface="+mn-lt"/>
                    <a:ea typeface="Verdana" panose="020B0604030504040204" pitchFamily="34" charset="0"/>
                  </a:rPr>
                  <a:t>=10</a:t>
                </a:r>
              </a:p>
              <a:p>
                <a:pPr eaLnBrk="1" hangingPunct="1">
                  <a:lnSpc>
                    <a:spcPct val="90000"/>
                  </a:lnSpc>
                  <a:buFontTx/>
                  <a:buNone/>
                </a:pPr>
                <a:endParaRPr lang="en-US" altLang="sv-SE" sz="2400" dirty="0">
                  <a:latin typeface="+mn-lt"/>
                  <a:ea typeface="Verdana" panose="020B0604030504040204" pitchFamily="34" charset="0"/>
                </a:endParaRPr>
              </a:p>
              <a:p>
                <a:pPr>
                  <a:lnSpc>
                    <a:spcPct val="90000"/>
                  </a:lnSpc>
                  <a:buNone/>
                </a:pPr>
                <a:r>
                  <a:rPr lang="en-US" altLang="sv-SE" sz="2400" dirty="0">
                    <a:latin typeface="+mn-lt"/>
                    <a:ea typeface="Verdana" panose="020B0604030504040204" pitchFamily="34" charset="0"/>
                  </a:rPr>
                  <a:t>+ decide significance level </a:t>
                </a:r>
                <a14:m>
                  <m:oMath xmlns:m="http://schemas.openxmlformats.org/officeDocument/2006/math">
                    <m:r>
                      <a:rPr lang="sv-SE" sz="2400" i="1">
                        <a:latin typeface="Cambria Math" panose="02040503050406030204" pitchFamily="18" charset="0"/>
                      </a:rPr>
                      <m:t>𝛼</m:t>
                    </m:r>
                  </m:oMath>
                </a14:m>
                <a:r>
                  <a:rPr lang="en-US" altLang="sv-SE" sz="2400" dirty="0">
                    <a:latin typeface="+mn-lt"/>
                    <a:ea typeface="Verdana" panose="020B0604030504040204" pitchFamily="34" charset="0"/>
                  </a:rPr>
                  <a:t> = 5% and power 1-β=80%</a:t>
                </a:r>
              </a:p>
              <a:p>
                <a:pPr eaLnBrk="1" hangingPunct="1">
                  <a:lnSpc>
                    <a:spcPct val="90000"/>
                  </a:lnSpc>
                  <a:buFontTx/>
                  <a:buNone/>
                </a:pPr>
                <a:r>
                  <a:rPr lang="en-US" altLang="sv-SE" sz="2400" dirty="0">
                    <a:latin typeface="+mn-lt"/>
                    <a:ea typeface="Verdana" panose="020B0604030504040204" pitchFamily="34" charset="0"/>
                  </a:rPr>
                  <a:t>and you get your needed sample size (n)</a:t>
                </a:r>
              </a:p>
            </p:txBody>
          </p:sp>
        </mc:Choice>
        <mc:Fallback xmlns="">
          <p:sp>
            <p:nvSpPr>
              <p:cNvPr id="43011" name="Rectangle 3"/>
              <p:cNvSpPr>
                <a:spLocks noGrp="1" noRot="1" noChangeAspect="1" noMove="1" noResize="1" noEditPoints="1" noAdjustHandles="1" noChangeArrowheads="1" noChangeShapeType="1" noTextEdit="1"/>
              </p:cNvSpPr>
              <p:nvPr>
                <p:ph idx="1"/>
              </p:nvPr>
            </p:nvSpPr>
            <p:spPr>
              <a:xfrm>
                <a:off x="971600" y="1203598"/>
                <a:ext cx="7488832" cy="3384376"/>
              </a:xfrm>
              <a:blipFill>
                <a:blip r:embed="rId3"/>
                <a:stretch>
                  <a:fillRect l="-2441" t="-3777" r="-2116"/>
                </a:stretch>
              </a:blipFill>
            </p:spPr>
            <p:txBody>
              <a:bodyPr/>
              <a:lstStyle/>
              <a:p>
                <a:r>
                  <a:rPr lang="en-US">
                    <a:noFill/>
                  </a:rPr>
                  <a:t> </a:t>
                </a:r>
              </a:p>
            </p:txBody>
          </p:sp>
        </mc:Fallback>
      </mc:AlternateContent>
      <p:sp>
        <p:nvSpPr>
          <p:cNvPr id="2" name="Platshållare för bildnummer 1"/>
          <p:cNvSpPr>
            <a:spLocks noGrp="1"/>
          </p:cNvSpPr>
          <p:nvPr>
            <p:ph type="sldNum" sz="quarter" idx="12"/>
          </p:nvPr>
        </p:nvSpPr>
        <p:spPr/>
        <p:txBody>
          <a:bodyPr/>
          <a:lstStyle/>
          <a:p>
            <a:fld id="{227F0B53-9592-4779-891F-997228E46E01}" type="slidenum">
              <a:rPr lang="sv-SE" smtClean="0"/>
              <a:t>55</a:t>
            </a:fld>
            <a:endParaRPr lang="sv-SE"/>
          </a:p>
        </p:txBody>
      </p:sp>
    </p:spTree>
    <p:extLst>
      <p:ext uri="{BB962C8B-B14F-4D97-AF65-F5344CB8AC3E}">
        <p14:creationId xmlns:p14="http://schemas.microsoft.com/office/powerpoint/2010/main" val="17114812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tshållare för bildnummer 3"/>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56</a:t>
            </a:fld>
            <a:endParaRPr lang="sv-SE" dirty="0">
              <a:solidFill>
                <a:srgbClr val="000000">
                  <a:tint val="75000"/>
                </a:srgbClr>
              </a:solidFill>
            </a:endParaRPr>
          </a:p>
        </p:txBody>
      </p:sp>
      <mc:AlternateContent xmlns:mc="http://schemas.openxmlformats.org/markup-compatibility/2006" xmlns:a14="http://schemas.microsoft.com/office/drawing/2010/main">
        <mc:Choice Requires="a14">
          <p:sp>
            <p:nvSpPr>
              <p:cNvPr id="8" name="Rektangel 7"/>
              <p:cNvSpPr/>
              <p:nvPr/>
            </p:nvSpPr>
            <p:spPr>
              <a:xfrm>
                <a:off x="971600" y="483518"/>
                <a:ext cx="7272808" cy="3651256"/>
              </a:xfrm>
              <a:prstGeom prst="rect">
                <a:avLst/>
              </a:prstGeom>
            </p:spPr>
            <p:txBody>
              <a:bodyPr wrap="square">
                <a:spAutoFit/>
              </a:bodyPr>
              <a:lstStyle/>
              <a:p>
                <a14:m>
                  <m:oMath xmlns:m="http://schemas.openxmlformats.org/officeDocument/2006/math">
                    <m:r>
                      <m:rPr>
                        <m:sty m:val="p"/>
                      </m:rPr>
                      <a:rPr lang="en-US" sz="2000">
                        <a:solidFill>
                          <a:srgbClr val="000000"/>
                        </a:solidFill>
                        <a:latin typeface="Cambria Math" panose="02040503050406030204" pitchFamily="18" charset="0"/>
                      </a:rPr>
                      <m:t>Δ</m:t>
                    </m:r>
                  </m:oMath>
                </a14:m>
                <a:r>
                  <a:rPr lang="en-US" sz="2000" dirty="0">
                    <a:solidFill>
                      <a:srgbClr val="000000"/>
                    </a:solidFill>
                    <a:latin typeface="+mn-lt"/>
                  </a:rPr>
                  <a:t>: 	</a:t>
                </a:r>
                <a:r>
                  <a:rPr lang="en-US" sz="2000" b="1" dirty="0">
                    <a:solidFill>
                      <a:srgbClr val="000000"/>
                    </a:solidFill>
                    <a:latin typeface="+mn-lt"/>
                  </a:rPr>
                  <a:t>Minimal difference to detect, here 10</a:t>
                </a:r>
              </a:p>
              <a:p>
                <a:r>
                  <a:rPr lang="en-US" sz="2000" b="1" i="1" dirty="0">
                    <a:solidFill>
                      <a:srgbClr val="000000"/>
                    </a:solidFill>
                    <a:latin typeface="+mn-lt"/>
                  </a:rPr>
                  <a:t>n </a:t>
                </a:r>
                <a:r>
                  <a:rPr lang="en-US" sz="2000" b="1" dirty="0">
                    <a:solidFill>
                      <a:srgbClr val="000000"/>
                    </a:solidFill>
                    <a:latin typeface="+mn-lt"/>
                  </a:rPr>
                  <a:t>: </a:t>
                </a:r>
                <a:r>
                  <a:rPr lang="en-US" sz="2000" b="1" i="1" dirty="0">
                    <a:solidFill>
                      <a:srgbClr val="000000"/>
                    </a:solidFill>
                    <a:latin typeface="+mn-lt"/>
                  </a:rPr>
                  <a:t>	</a:t>
                </a:r>
                <a:r>
                  <a:rPr lang="en-US" sz="2000" b="1" dirty="0">
                    <a:solidFill>
                      <a:srgbClr val="000000"/>
                    </a:solidFill>
                    <a:latin typeface="+mn-lt"/>
                  </a:rPr>
                  <a:t>observations per group (assumed to be the same in the groups)</a:t>
                </a:r>
              </a:p>
              <a:p>
                <a14:m>
                  <m:oMath xmlns:m="http://schemas.openxmlformats.org/officeDocument/2006/math">
                    <m:sSup>
                      <m:sSupPr>
                        <m:ctrlPr>
                          <a:rPr lang="sv-SE" sz="2000" b="1" i="1">
                            <a:solidFill>
                              <a:srgbClr val="000000"/>
                            </a:solidFill>
                            <a:latin typeface="Cambria Math" panose="02040503050406030204" pitchFamily="18" charset="0"/>
                          </a:rPr>
                        </m:ctrlPr>
                      </m:sSupPr>
                      <m:e>
                        <m:r>
                          <a:rPr lang="sv-SE" sz="2000" b="1" i="1">
                            <a:solidFill>
                              <a:srgbClr val="000000"/>
                            </a:solidFill>
                            <a:latin typeface="Cambria Math" panose="02040503050406030204" pitchFamily="18" charset="0"/>
                          </a:rPr>
                          <m:t>𝝈</m:t>
                        </m:r>
                      </m:e>
                      <m:sup>
                        <m:r>
                          <a:rPr lang="sv-SE" sz="2000" b="1" i="1">
                            <a:solidFill>
                              <a:srgbClr val="000000"/>
                            </a:solidFill>
                            <a:latin typeface="Cambria Math" panose="02040503050406030204" pitchFamily="18" charset="0"/>
                          </a:rPr>
                          <m:t>𝟐</m:t>
                        </m:r>
                      </m:sup>
                    </m:sSup>
                  </m:oMath>
                </a14:m>
                <a:r>
                  <a:rPr lang="en-US" sz="2000" b="1" dirty="0">
                    <a:solidFill>
                      <a:srgbClr val="000000"/>
                    </a:solidFill>
                    <a:latin typeface="+mn-lt"/>
                  </a:rPr>
                  <a:t>: </a:t>
                </a:r>
                <a:r>
                  <a:rPr lang="en-US" sz="2000" b="1" i="1" dirty="0">
                    <a:solidFill>
                      <a:srgbClr val="000000"/>
                    </a:solidFill>
                    <a:latin typeface="+mn-lt"/>
                  </a:rPr>
                  <a:t> </a:t>
                </a:r>
                <a:r>
                  <a:rPr lang="en-US" sz="2000" b="1" dirty="0">
                    <a:solidFill>
                      <a:srgbClr val="000000"/>
                    </a:solidFill>
                    <a:latin typeface="+mn-lt"/>
                  </a:rPr>
                  <a:t>variance,  here 10 (assumed to be the same in both groups) </a:t>
                </a:r>
              </a:p>
              <a:p>
                <a:endParaRPr lang="en-US" sz="2000" dirty="0">
                  <a:solidFill>
                    <a:srgbClr val="000000"/>
                  </a:solidFill>
                  <a:latin typeface="+mn-lt"/>
                </a:endParaRPr>
              </a:p>
              <a:p>
                <a:endParaRPr lang="en-US" sz="2000" dirty="0">
                  <a:latin typeface="+mn-lt"/>
                </a:endParaRPr>
              </a:p>
              <a:p>
                <a:endParaRPr lang="en-US" sz="2000" dirty="0">
                  <a:latin typeface="+mn-lt"/>
                </a:endParaRPr>
              </a:p>
              <a:p>
                <a:endParaRPr lang="en-US" sz="2000" dirty="0">
                  <a:solidFill>
                    <a:srgbClr val="000000"/>
                  </a:solidFill>
                  <a:latin typeface="+mn-lt"/>
                </a:endParaRPr>
              </a:p>
              <a:p>
                <a14:m>
                  <m:oMath xmlns:m="http://schemas.openxmlformats.org/officeDocument/2006/math">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ea typeface="Cambria Math"/>
                      </a:rPr>
                      <m:t>≥</m:t>
                    </m:r>
                    <m:r>
                      <a:rPr lang="en-US" i="1">
                        <a:solidFill>
                          <a:srgbClr val="000000"/>
                        </a:solidFill>
                        <a:latin typeface="Cambria Math" panose="02040503050406030204" pitchFamily="18" charset="0"/>
                      </a:rPr>
                      <m:t>2⋅</m:t>
                    </m:r>
                    <m:sSup>
                      <m:sSupPr>
                        <m:ctrlPr>
                          <a:rPr lang="en-US" i="1">
                            <a:solidFill>
                              <a:srgbClr val="000000"/>
                            </a:solidFill>
                            <a:latin typeface="Cambria Math" panose="02040503050406030204" pitchFamily="18" charset="0"/>
                          </a:rPr>
                        </m:ctrlPr>
                      </m:sSupPr>
                      <m:e>
                        <m:sSup>
                          <m:sSupPr>
                            <m:ctrlPr>
                              <a:rPr lang="sv-SE" i="1">
                                <a:solidFill>
                                  <a:srgbClr val="000000"/>
                                </a:solidFill>
                                <a:latin typeface="Cambria Math" panose="02040503050406030204" pitchFamily="18" charset="0"/>
                              </a:rPr>
                            </m:ctrlPr>
                          </m:sSupPr>
                          <m:e>
                            <m:r>
                              <a:rPr lang="sv-SE" i="1">
                                <a:solidFill>
                                  <a:srgbClr val="000000"/>
                                </a:solidFill>
                                <a:latin typeface="Cambria Math" panose="02040503050406030204" pitchFamily="18" charset="0"/>
                              </a:rPr>
                              <m:t>𝜎</m:t>
                            </m:r>
                          </m:e>
                          <m:sup>
                            <m:r>
                              <a:rPr lang="sv-SE"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2</m:t>
                                        </m:r>
                                      </m:sub>
                                    </m:sSub>
                                  </m:e>
                                </m:d>
                              </m:num>
                              <m:den>
                                <m:r>
                                  <m:rPr>
                                    <m:sty m:val="p"/>
                                  </m:rPr>
                                  <a:rPr lang="en-US">
                                    <a:solidFill>
                                      <a:srgbClr val="000000"/>
                                    </a:solidFill>
                                    <a:latin typeface="Cambria Math" panose="02040503050406030204" pitchFamily="18" charset="0"/>
                                  </a:rPr>
                                  <m:t>Δ</m:t>
                                </m:r>
                              </m:den>
                            </m:f>
                          </m:e>
                        </m:d>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=2⋅</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10</m:t>
                        </m:r>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1.96+0.84</m:t>
                                    </m:r>
                                  </m:e>
                                </m:d>
                              </m:num>
                              <m:den>
                                <m:r>
                                  <a:rPr lang="en-US">
                                    <a:solidFill>
                                      <a:srgbClr val="000000"/>
                                    </a:solidFill>
                                    <a:latin typeface="Cambria Math" panose="02040503050406030204" pitchFamily="18" charset="0"/>
                                  </a:rPr>
                                  <m:t>10</m:t>
                                </m:r>
                              </m:den>
                            </m:f>
                          </m:e>
                        </m:d>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strike="sngStrike">
                        <a:solidFill>
                          <a:srgbClr val="000000"/>
                        </a:solidFill>
                        <a:highlight>
                          <a:srgbClr val="FFFF00"/>
                        </a:highlight>
                        <a:latin typeface="Cambria Math" panose="02040503050406030204" pitchFamily="18" charset="0"/>
                      </a:rPr>
                      <m:t>5.6</m:t>
                    </m:r>
                  </m:oMath>
                </a14:m>
                <a:r>
                  <a:rPr lang="en-US" strike="sngStrike" dirty="0">
                    <a:highlight>
                      <a:srgbClr val="FFFF00"/>
                    </a:highlight>
                    <a:latin typeface="+mn-lt"/>
                  </a:rPr>
                  <a:t> </a:t>
                </a:r>
                <a:r>
                  <a:rPr lang="en-US" dirty="0">
                    <a:solidFill>
                      <a:srgbClr val="000000"/>
                    </a:solidFill>
                    <a:latin typeface="Cambria Math" panose="02040503050406030204" pitchFamily="18" charset="0"/>
                  </a:rPr>
                  <a:t>= 4</a:t>
                </a:r>
              </a:p>
              <a:p>
                <a:endParaRPr lang="en-US" sz="2000" dirty="0">
                  <a:latin typeface="+mn-lt"/>
                </a:endParaRPr>
              </a:p>
              <a:p>
                <a:r>
                  <a:rPr lang="en-US" sz="2000" dirty="0">
                    <a:latin typeface="+mn-lt"/>
                  </a:rPr>
                  <a:t>The minimum sample size is </a:t>
                </a:r>
                <a:r>
                  <a:rPr lang="en-US" sz="2000" b="1" strike="sngStrike" dirty="0">
                    <a:highlight>
                      <a:srgbClr val="FFFF00"/>
                    </a:highlight>
                    <a:latin typeface="+mn-lt"/>
                  </a:rPr>
                  <a:t>6</a:t>
                </a:r>
                <a:r>
                  <a:rPr lang="en-US" sz="2000" b="1" dirty="0">
                    <a:latin typeface="+mn-lt"/>
                  </a:rPr>
                  <a:t> 2observations/group </a:t>
                </a:r>
              </a:p>
            </p:txBody>
          </p:sp>
        </mc:Choice>
        <mc:Fallback xmlns="">
          <p:sp>
            <p:nvSpPr>
              <p:cNvPr id="8" name="Rektangel 7"/>
              <p:cNvSpPr>
                <a:spLocks noRot="1" noChangeAspect="1" noMove="1" noResize="1" noEditPoints="1" noAdjustHandles="1" noChangeArrowheads="1" noChangeShapeType="1" noTextEdit="1"/>
              </p:cNvSpPr>
              <p:nvPr/>
            </p:nvSpPr>
            <p:spPr>
              <a:xfrm>
                <a:off x="971600" y="483518"/>
                <a:ext cx="7272808" cy="3651256"/>
              </a:xfrm>
              <a:prstGeom prst="rect">
                <a:avLst/>
              </a:prstGeom>
              <a:blipFill>
                <a:blip r:embed="rId3"/>
                <a:stretch>
                  <a:fillRect l="-838" t="-835" b="-2003"/>
                </a:stretch>
              </a:blipFill>
            </p:spPr>
            <p:txBody>
              <a:bodyPr/>
              <a:lstStyle/>
              <a:p>
                <a:r>
                  <a:rPr lang="en-US">
                    <a:noFill/>
                  </a:rPr>
                  <a:t> </a:t>
                </a:r>
              </a:p>
            </p:txBody>
          </p:sp>
        </mc:Fallback>
      </mc:AlternateContent>
      <p:graphicFrame>
        <p:nvGraphicFramePr>
          <p:cNvPr id="10" name="Tabell 9"/>
          <p:cNvGraphicFramePr>
            <a:graphicFrameLocks noGrp="1"/>
          </p:cNvGraphicFramePr>
          <p:nvPr>
            <p:extLst>
              <p:ext uri="{D42A27DB-BD31-4B8C-83A1-F6EECF244321}">
                <p14:modId xmlns:p14="http://schemas.microsoft.com/office/powerpoint/2010/main" val="3064051420"/>
              </p:ext>
            </p:extLst>
          </p:nvPr>
        </p:nvGraphicFramePr>
        <p:xfrm>
          <a:off x="2120402" y="1779662"/>
          <a:ext cx="4644514" cy="1127760"/>
        </p:xfrm>
        <a:graphic>
          <a:graphicData uri="http://schemas.openxmlformats.org/drawingml/2006/table">
            <a:tbl>
              <a:tblPr bandRow="1">
                <a:tableStyleId>{5940675A-B579-460E-94D1-54222C63F5DA}</a:tableStyleId>
              </a:tblPr>
              <a:tblGrid>
                <a:gridCol w="1403030">
                  <a:extLst>
                    <a:ext uri="{9D8B030D-6E8A-4147-A177-3AD203B41FA5}">
                      <a16:colId xmlns:a16="http://schemas.microsoft.com/office/drawing/2014/main" val="20000"/>
                    </a:ext>
                  </a:extLst>
                </a:gridCol>
                <a:gridCol w="810371">
                  <a:extLst>
                    <a:ext uri="{9D8B030D-6E8A-4147-A177-3AD203B41FA5}">
                      <a16:colId xmlns:a16="http://schemas.microsoft.com/office/drawing/2014/main" val="20001"/>
                    </a:ext>
                  </a:extLst>
                </a:gridCol>
                <a:gridCol w="810371">
                  <a:extLst>
                    <a:ext uri="{9D8B030D-6E8A-4147-A177-3AD203B41FA5}">
                      <a16:colId xmlns:a16="http://schemas.microsoft.com/office/drawing/2014/main" val="20002"/>
                    </a:ext>
                  </a:extLst>
                </a:gridCol>
                <a:gridCol w="810371">
                  <a:extLst>
                    <a:ext uri="{9D8B030D-6E8A-4147-A177-3AD203B41FA5}">
                      <a16:colId xmlns:a16="http://schemas.microsoft.com/office/drawing/2014/main" val="20003"/>
                    </a:ext>
                  </a:extLst>
                </a:gridCol>
                <a:gridCol w="810371">
                  <a:extLst>
                    <a:ext uri="{9D8B030D-6E8A-4147-A177-3AD203B41FA5}">
                      <a16:colId xmlns:a16="http://schemas.microsoft.com/office/drawing/2014/main" val="20004"/>
                    </a:ext>
                  </a:extLst>
                </a:gridCol>
              </a:tblGrid>
              <a:tr h="278130">
                <a:tc>
                  <a:txBody>
                    <a:bodyPr/>
                    <a:lstStyle/>
                    <a:p>
                      <a:r>
                        <a:rPr lang="en-US" sz="1400" b="1" noProof="0" dirty="0">
                          <a:solidFill>
                            <a:schemeClr val="bg1"/>
                          </a:solidFill>
                        </a:rPr>
                        <a:t>Significance level</a:t>
                      </a:r>
                    </a:p>
                  </a:txBody>
                  <a:tcPr marL="68580" marR="68580" marT="34290" marB="34290">
                    <a:solidFill>
                      <a:schemeClr val="tx2">
                        <a:lumMod val="50000"/>
                      </a:schemeClr>
                    </a:solidFill>
                  </a:tcPr>
                </a:tc>
                <a:tc>
                  <a:txBody>
                    <a:bodyPr/>
                    <a:lstStyle/>
                    <a:p>
                      <a:pPr algn="ctr"/>
                      <a:r>
                        <a:rPr lang="en-US" sz="1400" b="1" noProof="0" dirty="0">
                          <a:solidFill>
                            <a:schemeClr val="bg1"/>
                          </a:solidFill>
                        </a:rPr>
                        <a:t> 0.1 %</a:t>
                      </a:r>
                    </a:p>
                  </a:txBody>
                  <a:tcPr marL="68580" marR="68580" marT="34290" marB="34290">
                    <a:solidFill>
                      <a:schemeClr val="tx2">
                        <a:lumMod val="50000"/>
                      </a:schemeClr>
                    </a:solidFill>
                  </a:tcPr>
                </a:tc>
                <a:tc>
                  <a:txBody>
                    <a:bodyPr/>
                    <a:lstStyle/>
                    <a:p>
                      <a:pPr algn="ctr"/>
                      <a:r>
                        <a:rPr lang="en-US" sz="1400" b="1" noProof="0" dirty="0">
                          <a:solidFill>
                            <a:schemeClr val="bg1"/>
                          </a:solidFill>
                        </a:rPr>
                        <a:t>1 %</a:t>
                      </a:r>
                    </a:p>
                  </a:txBody>
                  <a:tcPr marL="68580" marR="68580" marT="34290" marB="34290">
                    <a:solidFill>
                      <a:schemeClr val="tx2">
                        <a:lumMod val="50000"/>
                      </a:schemeClr>
                    </a:solidFill>
                  </a:tcPr>
                </a:tc>
                <a:tc>
                  <a:txBody>
                    <a:bodyPr/>
                    <a:lstStyle/>
                    <a:p>
                      <a:pPr algn="ctr"/>
                      <a:r>
                        <a:rPr lang="en-US" sz="1400" b="1" noProof="0" dirty="0">
                          <a:solidFill>
                            <a:schemeClr val="bg1"/>
                          </a:solidFill>
                        </a:rPr>
                        <a:t>5 %</a:t>
                      </a:r>
                    </a:p>
                  </a:txBody>
                  <a:tcPr marL="68580" marR="68580" marT="34290" marB="34290">
                    <a:solidFill>
                      <a:schemeClr val="tx2">
                        <a:lumMod val="50000"/>
                      </a:schemeClr>
                    </a:solidFill>
                  </a:tcPr>
                </a:tc>
                <a:tc>
                  <a:txBody>
                    <a:bodyPr/>
                    <a:lstStyle/>
                    <a:p>
                      <a:pPr algn="ctr"/>
                      <a:endParaRPr lang="en-US" sz="1400" b="1" noProof="0" dirty="0">
                        <a:solidFill>
                          <a:schemeClr val="bg1"/>
                        </a:solidFill>
                      </a:endParaRPr>
                    </a:p>
                  </a:txBody>
                  <a:tcPr marL="68580" marR="68580" marT="34290" marB="34290">
                    <a:solidFill>
                      <a:schemeClr val="tx2">
                        <a:lumMod val="50000"/>
                      </a:schemeClr>
                    </a:solidFill>
                  </a:tcPr>
                </a:tc>
                <a:extLst>
                  <a:ext uri="{0D108BD9-81ED-4DB2-BD59-A6C34878D82A}">
                    <a16:rowId xmlns:a16="http://schemas.microsoft.com/office/drawing/2014/main" val="10000"/>
                  </a:ext>
                </a:extLst>
              </a:tr>
              <a:tr h="278130">
                <a:tc>
                  <a:txBody>
                    <a:bodyPr/>
                    <a:lstStyle/>
                    <a:p>
                      <a:r>
                        <a:rPr lang="en-US" sz="1400" i="1" noProof="0" dirty="0"/>
                        <a:t> k</a:t>
                      </a:r>
                      <a:r>
                        <a:rPr lang="en-US" sz="1400" i="1" baseline="-25000" noProof="0" dirty="0"/>
                        <a:t>1</a:t>
                      </a:r>
                    </a:p>
                  </a:txBody>
                  <a:tcPr marL="68580" marR="68580" marT="34290" marB="34290"/>
                </a:tc>
                <a:tc>
                  <a:txBody>
                    <a:bodyPr/>
                    <a:lstStyle/>
                    <a:p>
                      <a:pPr algn="ctr"/>
                      <a:r>
                        <a:rPr lang="en-US" sz="1400" noProof="0" dirty="0"/>
                        <a:t>3.29</a:t>
                      </a:r>
                    </a:p>
                  </a:txBody>
                  <a:tcPr marL="68580" marR="68580" marT="34290" marB="34290"/>
                </a:tc>
                <a:tc>
                  <a:txBody>
                    <a:bodyPr/>
                    <a:lstStyle/>
                    <a:p>
                      <a:pPr algn="ctr"/>
                      <a:r>
                        <a:rPr lang="en-US" sz="1400" noProof="0" dirty="0"/>
                        <a:t>2.58</a:t>
                      </a:r>
                    </a:p>
                  </a:txBody>
                  <a:tcPr marL="68580" marR="68580" marT="34290" marB="34290"/>
                </a:tc>
                <a:tc>
                  <a:txBody>
                    <a:bodyPr/>
                    <a:lstStyle/>
                    <a:p>
                      <a:pPr algn="ctr"/>
                      <a:r>
                        <a:rPr lang="en-US" sz="1400" noProof="0" dirty="0"/>
                        <a:t>1.96</a:t>
                      </a:r>
                    </a:p>
                  </a:txBody>
                  <a:tcPr marL="68580" marR="68580" marT="34290" marB="34290"/>
                </a:tc>
                <a:tc>
                  <a:txBody>
                    <a:bodyPr/>
                    <a:lstStyle/>
                    <a:p>
                      <a:pPr algn="ctr"/>
                      <a:endParaRPr lang="en-US" sz="1400" noProof="0" dirty="0"/>
                    </a:p>
                  </a:txBody>
                  <a:tcPr marL="68580" marR="68580" marT="34290" marB="34290"/>
                </a:tc>
                <a:extLst>
                  <a:ext uri="{0D108BD9-81ED-4DB2-BD59-A6C34878D82A}">
                    <a16:rowId xmlns:a16="http://schemas.microsoft.com/office/drawing/2014/main" val="10001"/>
                  </a:ext>
                </a:extLst>
              </a:tr>
              <a:tr h="278130">
                <a:tc>
                  <a:txBody>
                    <a:bodyPr/>
                    <a:lstStyle/>
                    <a:p>
                      <a:r>
                        <a:rPr lang="en-US" sz="1400" b="1" noProof="0" dirty="0">
                          <a:solidFill>
                            <a:schemeClr val="bg1"/>
                          </a:solidFill>
                        </a:rPr>
                        <a:t>Power</a:t>
                      </a:r>
                    </a:p>
                  </a:txBody>
                  <a:tcPr marL="68580" marR="68580" marT="34290" marB="34290">
                    <a:solidFill>
                      <a:schemeClr val="tx2">
                        <a:lumMod val="50000"/>
                      </a:schemeClr>
                    </a:solidFill>
                  </a:tcPr>
                </a:tc>
                <a:tc>
                  <a:txBody>
                    <a:bodyPr/>
                    <a:lstStyle/>
                    <a:p>
                      <a:pPr algn="ctr"/>
                      <a:r>
                        <a:rPr lang="en-US" sz="1400" b="1" noProof="0" dirty="0">
                          <a:solidFill>
                            <a:schemeClr val="bg1"/>
                          </a:solidFill>
                        </a:rPr>
                        <a:t> 80 %</a:t>
                      </a:r>
                    </a:p>
                  </a:txBody>
                  <a:tcPr marL="68580" marR="68580" marT="34290" marB="34290">
                    <a:solidFill>
                      <a:schemeClr val="tx2">
                        <a:lumMod val="50000"/>
                      </a:schemeClr>
                    </a:solidFill>
                  </a:tcPr>
                </a:tc>
                <a:tc>
                  <a:txBody>
                    <a:bodyPr/>
                    <a:lstStyle/>
                    <a:p>
                      <a:pPr algn="ctr"/>
                      <a:r>
                        <a:rPr lang="en-US" sz="1400" b="1" noProof="0" dirty="0">
                          <a:solidFill>
                            <a:schemeClr val="bg1"/>
                          </a:solidFill>
                        </a:rPr>
                        <a:t>90 %</a:t>
                      </a:r>
                    </a:p>
                  </a:txBody>
                  <a:tcPr marL="68580" marR="68580" marT="34290" marB="34290">
                    <a:solidFill>
                      <a:schemeClr val="tx2">
                        <a:lumMod val="50000"/>
                      </a:schemeClr>
                    </a:solidFill>
                  </a:tcPr>
                </a:tc>
                <a:tc>
                  <a:txBody>
                    <a:bodyPr/>
                    <a:lstStyle/>
                    <a:p>
                      <a:pPr algn="ctr"/>
                      <a:r>
                        <a:rPr lang="en-US" sz="1400" b="1" noProof="0" dirty="0">
                          <a:solidFill>
                            <a:schemeClr val="bg1"/>
                          </a:solidFill>
                        </a:rPr>
                        <a:t>95 %</a:t>
                      </a:r>
                    </a:p>
                  </a:txBody>
                  <a:tcPr marL="68580" marR="68580" marT="34290" marB="34290">
                    <a:solidFill>
                      <a:schemeClr val="tx2">
                        <a:lumMod val="50000"/>
                      </a:schemeClr>
                    </a:solidFill>
                  </a:tcPr>
                </a:tc>
                <a:tc>
                  <a:txBody>
                    <a:bodyPr/>
                    <a:lstStyle/>
                    <a:p>
                      <a:pPr algn="ctr"/>
                      <a:r>
                        <a:rPr lang="en-US" sz="1400" b="1" noProof="0" dirty="0">
                          <a:solidFill>
                            <a:schemeClr val="bg1"/>
                          </a:solidFill>
                        </a:rPr>
                        <a:t>99 %</a:t>
                      </a:r>
                    </a:p>
                  </a:txBody>
                  <a:tcPr marL="68580" marR="68580" marT="34290" marB="34290">
                    <a:solidFill>
                      <a:schemeClr val="tx2">
                        <a:lumMod val="50000"/>
                      </a:schemeClr>
                    </a:solidFill>
                  </a:tcPr>
                </a:tc>
                <a:extLst>
                  <a:ext uri="{0D108BD9-81ED-4DB2-BD59-A6C34878D82A}">
                    <a16:rowId xmlns:a16="http://schemas.microsoft.com/office/drawing/2014/main" val="10002"/>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i="1" noProof="0" dirty="0"/>
                        <a:t> k</a:t>
                      </a:r>
                      <a:r>
                        <a:rPr lang="en-US" sz="1400" i="1" baseline="-25000" noProof="0" dirty="0"/>
                        <a:t>2</a:t>
                      </a:r>
                    </a:p>
                  </a:txBody>
                  <a:tcPr marL="68580" marR="68580" marT="34290" marB="34290"/>
                </a:tc>
                <a:tc>
                  <a:txBody>
                    <a:bodyPr/>
                    <a:lstStyle/>
                    <a:p>
                      <a:pPr algn="ctr"/>
                      <a:r>
                        <a:rPr lang="en-US" sz="1400" noProof="0" dirty="0"/>
                        <a:t>0.84</a:t>
                      </a:r>
                    </a:p>
                  </a:txBody>
                  <a:tcPr marL="68580" marR="68580" marT="34290" marB="34290"/>
                </a:tc>
                <a:tc>
                  <a:txBody>
                    <a:bodyPr/>
                    <a:lstStyle/>
                    <a:p>
                      <a:pPr algn="ctr"/>
                      <a:r>
                        <a:rPr lang="en-US" sz="1400" noProof="0" dirty="0"/>
                        <a:t>1.28</a:t>
                      </a:r>
                    </a:p>
                  </a:txBody>
                  <a:tcPr marL="68580" marR="68580" marT="34290" marB="34290"/>
                </a:tc>
                <a:tc>
                  <a:txBody>
                    <a:bodyPr/>
                    <a:lstStyle/>
                    <a:p>
                      <a:pPr algn="ctr"/>
                      <a:r>
                        <a:rPr lang="en-US" sz="1400" noProof="0" dirty="0"/>
                        <a:t>1.96</a:t>
                      </a:r>
                    </a:p>
                  </a:txBody>
                  <a:tcPr marL="68580" marR="68580" marT="34290" marB="34290"/>
                </a:tc>
                <a:tc>
                  <a:txBody>
                    <a:bodyPr/>
                    <a:lstStyle/>
                    <a:p>
                      <a:pPr algn="ctr"/>
                      <a:r>
                        <a:rPr lang="en-US" sz="1400" noProof="0" dirty="0"/>
                        <a:t>2.33</a:t>
                      </a:r>
                    </a:p>
                  </a:txBody>
                  <a:tcPr marL="68580" marR="68580" marT="34290" marB="3429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460545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tshållare för bildnummer 3"/>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57</a:t>
            </a:fld>
            <a:endParaRPr lang="sv-SE" dirty="0">
              <a:solidFill>
                <a:srgbClr val="000000">
                  <a:tint val="75000"/>
                </a:srgbClr>
              </a:solidFill>
            </a:endParaRPr>
          </a:p>
        </p:txBody>
      </p:sp>
      <mc:AlternateContent xmlns:mc="http://schemas.openxmlformats.org/markup-compatibility/2006" xmlns:a14="http://schemas.microsoft.com/office/drawing/2010/main">
        <mc:Choice Requires="a14">
          <p:sp>
            <p:nvSpPr>
              <p:cNvPr id="8" name="Rektangel 7"/>
              <p:cNvSpPr/>
              <p:nvPr/>
            </p:nvSpPr>
            <p:spPr>
              <a:xfrm>
                <a:off x="971600" y="483518"/>
                <a:ext cx="7272808" cy="3651256"/>
              </a:xfrm>
              <a:prstGeom prst="rect">
                <a:avLst/>
              </a:prstGeom>
            </p:spPr>
            <p:txBody>
              <a:bodyPr wrap="square">
                <a:spAutoFit/>
              </a:bodyPr>
              <a:lstStyle/>
              <a:p>
                <a14:m>
                  <m:oMath xmlns:m="http://schemas.openxmlformats.org/officeDocument/2006/math">
                    <m:r>
                      <m:rPr>
                        <m:sty m:val="p"/>
                      </m:rPr>
                      <a:rPr lang="en-US" sz="2000" smtClean="0">
                        <a:solidFill>
                          <a:srgbClr val="000000"/>
                        </a:solidFill>
                        <a:latin typeface="Cambria Math" panose="02040503050406030204" pitchFamily="18" charset="0"/>
                      </a:rPr>
                      <m:t>Δ</m:t>
                    </m:r>
                  </m:oMath>
                </a14:m>
                <a:r>
                  <a:rPr lang="en-US" sz="2000" dirty="0">
                    <a:solidFill>
                      <a:srgbClr val="000000"/>
                    </a:solidFill>
                    <a:latin typeface="+mn-lt"/>
                  </a:rPr>
                  <a:t>: 	</a:t>
                </a:r>
                <a:r>
                  <a:rPr lang="en-US" sz="2000" b="1" dirty="0">
                    <a:solidFill>
                      <a:srgbClr val="000000"/>
                    </a:solidFill>
                    <a:latin typeface="+mn-lt"/>
                  </a:rPr>
                  <a:t>Minimal difference to detect, here </a:t>
                </a:r>
                <a:r>
                  <a:rPr lang="en-US" sz="2000" b="1" dirty="0">
                    <a:solidFill>
                      <a:srgbClr val="000000"/>
                    </a:solidFill>
                    <a:highlight>
                      <a:srgbClr val="FFFF00"/>
                    </a:highlight>
                    <a:latin typeface="+mn-lt"/>
                  </a:rPr>
                  <a:t>5</a:t>
                </a:r>
              </a:p>
              <a:p>
                <a:r>
                  <a:rPr lang="en-US" sz="2000" b="1" i="1" dirty="0">
                    <a:solidFill>
                      <a:srgbClr val="000000"/>
                    </a:solidFill>
                    <a:latin typeface="+mn-lt"/>
                  </a:rPr>
                  <a:t>n </a:t>
                </a:r>
                <a:r>
                  <a:rPr lang="en-US" sz="2000" b="1" dirty="0">
                    <a:solidFill>
                      <a:srgbClr val="000000"/>
                    </a:solidFill>
                    <a:latin typeface="+mn-lt"/>
                  </a:rPr>
                  <a:t>: </a:t>
                </a:r>
                <a:r>
                  <a:rPr lang="en-US" sz="2000" b="1" i="1" dirty="0">
                    <a:solidFill>
                      <a:srgbClr val="000000"/>
                    </a:solidFill>
                    <a:latin typeface="+mn-lt"/>
                  </a:rPr>
                  <a:t>	</a:t>
                </a:r>
                <a:r>
                  <a:rPr lang="en-US" sz="2000" b="1" dirty="0">
                    <a:solidFill>
                      <a:srgbClr val="000000"/>
                    </a:solidFill>
                    <a:latin typeface="+mn-lt"/>
                  </a:rPr>
                  <a:t>observations per group (assumed to be the same in the groups)</a:t>
                </a:r>
              </a:p>
              <a:p>
                <a14:m>
                  <m:oMath xmlns:m="http://schemas.openxmlformats.org/officeDocument/2006/math">
                    <m:sSup>
                      <m:sSupPr>
                        <m:ctrlPr>
                          <a:rPr lang="sv-SE" sz="2000" b="1" i="1">
                            <a:solidFill>
                              <a:srgbClr val="000000"/>
                            </a:solidFill>
                            <a:latin typeface="Cambria Math" panose="02040503050406030204" pitchFamily="18" charset="0"/>
                          </a:rPr>
                        </m:ctrlPr>
                      </m:sSupPr>
                      <m:e>
                        <m:r>
                          <a:rPr lang="sv-SE" sz="2000" b="1" i="1">
                            <a:solidFill>
                              <a:srgbClr val="000000"/>
                            </a:solidFill>
                            <a:latin typeface="Cambria Math" panose="02040503050406030204" pitchFamily="18" charset="0"/>
                          </a:rPr>
                          <m:t>𝝈</m:t>
                        </m:r>
                      </m:e>
                      <m:sup>
                        <m:r>
                          <a:rPr lang="sv-SE" sz="2000" b="1" i="1">
                            <a:solidFill>
                              <a:srgbClr val="000000"/>
                            </a:solidFill>
                            <a:latin typeface="Cambria Math" panose="02040503050406030204" pitchFamily="18" charset="0"/>
                          </a:rPr>
                          <m:t>𝟐</m:t>
                        </m:r>
                      </m:sup>
                    </m:sSup>
                  </m:oMath>
                </a14:m>
                <a:r>
                  <a:rPr lang="en-US" sz="2000" b="1" dirty="0">
                    <a:solidFill>
                      <a:srgbClr val="000000"/>
                    </a:solidFill>
                    <a:latin typeface="+mn-lt"/>
                  </a:rPr>
                  <a:t>: </a:t>
                </a:r>
                <a:r>
                  <a:rPr lang="en-US" sz="2000" b="1" i="1" dirty="0">
                    <a:solidFill>
                      <a:srgbClr val="000000"/>
                    </a:solidFill>
                    <a:latin typeface="+mn-lt"/>
                  </a:rPr>
                  <a:t> </a:t>
                </a:r>
                <a:r>
                  <a:rPr lang="en-US" sz="2000" b="1" dirty="0">
                    <a:solidFill>
                      <a:srgbClr val="000000"/>
                    </a:solidFill>
                    <a:latin typeface="+mn-lt"/>
                  </a:rPr>
                  <a:t>variance,  here 10 (assumed to be the same in both groups) </a:t>
                </a:r>
              </a:p>
              <a:p>
                <a:endParaRPr lang="en-US" sz="2000" dirty="0">
                  <a:solidFill>
                    <a:srgbClr val="000000"/>
                  </a:solidFill>
                  <a:latin typeface="+mn-lt"/>
                </a:endParaRPr>
              </a:p>
              <a:p>
                <a:endParaRPr lang="en-US" sz="2000" dirty="0">
                  <a:latin typeface="+mn-lt"/>
                </a:endParaRPr>
              </a:p>
              <a:p>
                <a:endParaRPr lang="en-US" sz="2000" dirty="0">
                  <a:latin typeface="+mn-lt"/>
                </a:endParaRPr>
              </a:p>
              <a:p>
                <a:endParaRPr lang="en-US" sz="2000" dirty="0">
                  <a:solidFill>
                    <a:srgbClr val="000000"/>
                  </a:solidFill>
                  <a:latin typeface="+mn-lt"/>
                </a:endParaRPr>
              </a:p>
              <a:p>
                <a14:m>
                  <m:oMath xmlns:m="http://schemas.openxmlformats.org/officeDocument/2006/math">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ea typeface="Cambria Math"/>
                      </a:rPr>
                      <m:t>≥</m:t>
                    </m:r>
                    <m:r>
                      <a:rPr lang="en-US" i="1">
                        <a:solidFill>
                          <a:srgbClr val="000000"/>
                        </a:solidFill>
                        <a:latin typeface="Cambria Math" panose="02040503050406030204" pitchFamily="18" charset="0"/>
                      </a:rPr>
                      <m:t>2⋅</m:t>
                    </m:r>
                    <m:sSup>
                      <m:sSupPr>
                        <m:ctrlPr>
                          <a:rPr lang="en-US" i="1">
                            <a:solidFill>
                              <a:srgbClr val="000000"/>
                            </a:solidFill>
                            <a:latin typeface="Cambria Math" panose="02040503050406030204" pitchFamily="18" charset="0"/>
                          </a:rPr>
                        </m:ctrlPr>
                      </m:sSupPr>
                      <m:e>
                        <m:sSup>
                          <m:sSupPr>
                            <m:ctrlPr>
                              <a:rPr lang="sv-SE" i="1">
                                <a:solidFill>
                                  <a:srgbClr val="000000"/>
                                </a:solidFill>
                                <a:latin typeface="Cambria Math" panose="02040503050406030204" pitchFamily="18" charset="0"/>
                              </a:rPr>
                            </m:ctrlPr>
                          </m:sSupPr>
                          <m:e>
                            <m:r>
                              <a:rPr lang="sv-SE" i="1">
                                <a:solidFill>
                                  <a:srgbClr val="000000"/>
                                </a:solidFill>
                                <a:latin typeface="Cambria Math" panose="02040503050406030204" pitchFamily="18" charset="0"/>
                              </a:rPr>
                              <m:t>𝜎</m:t>
                            </m:r>
                          </m:e>
                          <m:sup>
                            <m:r>
                              <a:rPr lang="sv-SE"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2</m:t>
                                        </m:r>
                                      </m:sub>
                                    </m:sSub>
                                  </m:e>
                                </m:d>
                              </m:num>
                              <m:den>
                                <m:r>
                                  <m:rPr>
                                    <m:sty m:val="p"/>
                                  </m:rPr>
                                  <a:rPr lang="en-US">
                                    <a:solidFill>
                                      <a:srgbClr val="000000"/>
                                    </a:solidFill>
                                    <a:latin typeface="Cambria Math" panose="02040503050406030204" pitchFamily="18" charset="0"/>
                                  </a:rPr>
                                  <m:t>Δ</m:t>
                                </m:r>
                              </m:den>
                            </m:f>
                          </m:e>
                        </m:d>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=2⋅</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10</m:t>
                        </m:r>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1.96+0.84</m:t>
                                    </m:r>
                                  </m:e>
                                </m:d>
                              </m:num>
                              <m:den>
                                <m:r>
                                  <a:rPr lang="sv-SE" b="0" i="0" smtClean="0">
                                    <a:solidFill>
                                      <a:srgbClr val="000000"/>
                                    </a:solidFill>
                                    <a:highlight>
                                      <a:srgbClr val="FFFF00"/>
                                    </a:highlight>
                                    <a:latin typeface="Cambria Math" panose="02040503050406030204" pitchFamily="18" charset="0"/>
                                  </a:rPr>
                                  <m:t>5</m:t>
                                </m:r>
                              </m:den>
                            </m:f>
                          </m:e>
                        </m:d>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oMath>
                </a14:m>
                <a:r>
                  <a:rPr lang="en-US" dirty="0">
                    <a:solidFill>
                      <a:srgbClr val="000000"/>
                    </a:solidFill>
                    <a:latin typeface="Cambria Math" panose="02040503050406030204" pitchFamily="18" charset="0"/>
                  </a:rPr>
                  <a:t>14</a:t>
                </a:r>
              </a:p>
              <a:p>
                <a:endParaRPr lang="en-US" sz="2000" dirty="0">
                  <a:latin typeface="+mn-lt"/>
                </a:endParaRPr>
              </a:p>
              <a:p>
                <a:r>
                  <a:rPr lang="en-US" sz="2000" dirty="0">
                    <a:latin typeface="+mn-lt"/>
                  </a:rPr>
                  <a:t>The minimum sample size is 7</a:t>
                </a:r>
                <a:r>
                  <a:rPr lang="en-US" sz="2000" b="1" dirty="0">
                    <a:latin typeface="+mn-lt"/>
                  </a:rPr>
                  <a:t> observations/group </a:t>
                </a:r>
              </a:p>
            </p:txBody>
          </p:sp>
        </mc:Choice>
        <mc:Fallback xmlns="">
          <p:sp>
            <p:nvSpPr>
              <p:cNvPr id="8" name="Rektangel 7"/>
              <p:cNvSpPr>
                <a:spLocks noRot="1" noChangeAspect="1" noMove="1" noResize="1" noEditPoints="1" noAdjustHandles="1" noChangeArrowheads="1" noChangeShapeType="1" noTextEdit="1"/>
              </p:cNvSpPr>
              <p:nvPr/>
            </p:nvSpPr>
            <p:spPr>
              <a:xfrm>
                <a:off x="971600" y="483518"/>
                <a:ext cx="7272808" cy="3651256"/>
              </a:xfrm>
              <a:prstGeom prst="rect">
                <a:avLst/>
              </a:prstGeom>
              <a:blipFill>
                <a:blip r:embed="rId3"/>
                <a:stretch>
                  <a:fillRect l="-838" t="-835" b="-2003"/>
                </a:stretch>
              </a:blipFill>
            </p:spPr>
            <p:txBody>
              <a:bodyPr/>
              <a:lstStyle/>
              <a:p>
                <a:r>
                  <a:rPr lang="en-US">
                    <a:noFill/>
                  </a:rPr>
                  <a:t> </a:t>
                </a:r>
              </a:p>
            </p:txBody>
          </p:sp>
        </mc:Fallback>
      </mc:AlternateContent>
      <p:graphicFrame>
        <p:nvGraphicFramePr>
          <p:cNvPr id="10" name="Tabell 9"/>
          <p:cNvGraphicFramePr>
            <a:graphicFrameLocks noGrp="1"/>
          </p:cNvGraphicFramePr>
          <p:nvPr/>
        </p:nvGraphicFramePr>
        <p:xfrm>
          <a:off x="2120402" y="1779662"/>
          <a:ext cx="4644514" cy="1127760"/>
        </p:xfrm>
        <a:graphic>
          <a:graphicData uri="http://schemas.openxmlformats.org/drawingml/2006/table">
            <a:tbl>
              <a:tblPr bandRow="1">
                <a:tableStyleId>{5940675A-B579-460E-94D1-54222C63F5DA}</a:tableStyleId>
              </a:tblPr>
              <a:tblGrid>
                <a:gridCol w="1403030">
                  <a:extLst>
                    <a:ext uri="{9D8B030D-6E8A-4147-A177-3AD203B41FA5}">
                      <a16:colId xmlns:a16="http://schemas.microsoft.com/office/drawing/2014/main" val="20000"/>
                    </a:ext>
                  </a:extLst>
                </a:gridCol>
                <a:gridCol w="810371">
                  <a:extLst>
                    <a:ext uri="{9D8B030D-6E8A-4147-A177-3AD203B41FA5}">
                      <a16:colId xmlns:a16="http://schemas.microsoft.com/office/drawing/2014/main" val="20001"/>
                    </a:ext>
                  </a:extLst>
                </a:gridCol>
                <a:gridCol w="810371">
                  <a:extLst>
                    <a:ext uri="{9D8B030D-6E8A-4147-A177-3AD203B41FA5}">
                      <a16:colId xmlns:a16="http://schemas.microsoft.com/office/drawing/2014/main" val="20002"/>
                    </a:ext>
                  </a:extLst>
                </a:gridCol>
                <a:gridCol w="810371">
                  <a:extLst>
                    <a:ext uri="{9D8B030D-6E8A-4147-A177-3AD203B41FA5}">
                      <a16:colId xmlns:a16="http://schemas.microsoft.com/office/drawing/2014/main" val="20003"/>
                    </a:ext>
                  </a:extLst>
                </a:gridCol>
                <a:gridCol w="810371">
                  <a:extLst>
                    <a:ext uri="{9D8B030D-6E8A-4147-A177-3AD203B41FA5}">
                      <a16:colId xmlns:a16="http://schemas.microsoft.com/office/drawing/2014/main" val="20004"/>
                    </a:ext>
                  </a:extLst>
                </a:gridCol>
              </a:tblGrid>
              <a:tr h="278130">
                <a:tc>
                  <a:txBody>
                    <a:bodyPr/>
                    <a:lstStyle/>
                    <a:p>
                      <a:r>
                        <a:rPr lang="en-US" sz="1400" b="1" noProof="0" dirty="0">
                          <a:solidFill>
                            <a:schemeClr val="bg1"/>
                          </a:solidFill>
                        </a:rPr>
                        <a:t>Significance level</a:t>
                      </a:r>
                    </a:p>
                  </a:txBody>
                  <a:tcPr marL="68580" marR="68580" marT="34290" marB="34290">
                    <a:solidFill>
                      <a:schemeClr val="tx2">
                        <a:lumMod val="50000"/>
                      </a:schemeClr>
                    </a:solidFill>
                  </a:tcPr>
                </a:tc>
                <a:tc>
                  <a:txBody>
                    <a:bodyPr/>
                    <a:lstStyle/>
                    <a:p>
                      <a:pPr algn="ctr"/>
                      <a:r>
                        <a:rPr lang="en-US" sz="1400" b="1" noProof="0" dirty="0">
                          <a:solidFill>
                            <a:schemeClr val="bg1"/>
                          </a:solidFill>
                        </a:rPr>
                        <a:t> 0.1 %</a:t>
                      </a:r>
                    </a:p>
                  </a:txBody>
                  <a:tcPr marL="68580" marR="68580" marT="34290" marB="34290">
                    <a:solidFill>
                      <a:schemeClr val="tx2">
                        <a:lumMod val="50000"/>
                      </a:schemeClr>
                    </a:solidFill>
                  </a:tcPr>
                </a:tc>
                <a:tc>
                  <a:txBody>
                    <a:bodyPr/>
                    <a:lstStyle/>
                    <a:p>
                      <a:pPr algn="ctr"/>
                      <a:r>
                        <a:rPr lang="en-US" sz="1400" b="1" noProof="0" dirty="0">
                          <a:solidFill>
                            <a:schemeClr val="bg1"/>
                          </a:solidFill>
                        </a:rPr>
                        <a:t>1 %</a:t>
                      </a:r>
                    </a:p>
                  </a:txBody>
                  <a:tcPr marL="68580" marR="68580" marT="34290" marB="34290">
                    <a:solidFill>
                      <a:schemeClr val="tx2">
                        <a:lumMod val="50000"/>
                      </a:schemeClr>
                    </a:solidFill>
                  </a:tcPr>
                </a:tc>
                <a:tc>
                  <a:txBody>
                    <a:bodyPr/>
                    <a:lstStyle/>
                    <a:p>
                      <a:pPr algn="ctr"/>
                      <a:r>
                        <a:rPr lang="en-US" sz="1400" b="1" noProof="0" dirty="0">
                          <a:solidFill>
                            <a:schemeClr val="bg1"/>
                          </a:solidFill>
                        </a:rPr>
                        <a:t>5 %</a:t>
                      </a:r>
                    </a:p>
                  </a:txBody>
                  <a:tcPr marL="68580" marR="68580" marT="34290" marB="34290">
                    <a:solidFill>
                      <a:schemeClr val="tx2">
                        <a:lumMod val="50000"/>
                      </a:schemeClr>
                    </a:solidFill>
                  </a:tcPr>
                </a:tc>
                <a:tc>
                  <a:txBody>
                    <a:bodyPr/>
                    <a:lstStyle/>
                    <a:p>
                      <a:pPr algn="ctr"/>
                      <a:endParaRPr lang="en-US" sz="1400" b="1" noProof="0" dirty="0">
                        <a:solidFill>
                          <a:schemeClr val="bg1"/>
                        </a:solidFill>
                      </a:endParaRPr>
                    </a:p>
                  </a:txBody>
                  <a:tcPr marL="68580" marR="68580" marT="34290" marB="34290">
                    <a:solidFill>
                      <a:schemeClr val="tx2">
                        <a:lumMod val="50000"/>
                      </a:schemeClr>
                    </a:solidFill>
                  </a:tcPr>
                </a:tc>
                <a:extLst>
                  <a:ext uri="{0D108BD9-81ED-4DB2-BD59-A6C34878D82A}">
                    <a16:rowId xmlns:a16="http://schemas.microsoft.com/office/drawing/2014/main" val="10000"/>
                  </a:ext>
                </a:extLst>
              </a:tr>
              <a:tr h="278130">
                <a:tc>
                  <a:txBody>
                    <a:bodyPr/>
                    <a:lstStyle/>
                    <a:p>
                      <a:r>
                        <a:rPr lang="en-US" sz="1400" i="1" noProof="0" dirty="0"/>
                        <a:t> k</a:t>
                      </a:r>
                      <a:r>
                        <a:rPr lang="en-US" sz="1400" i="1" baseline="-25000" noProof="0" dirty="0"/>
                        <a:t>1</a:t>
                      </a:r>
                    </a:p>
                  </a:txBody>
                  <a:tcPr marL="68580" marR="68580" marT="34290" marB="34290"/>
                </a:tc>
                <a:tc>
                  <a:txBody>
                    <a:bodyPr/>
                    <a:lstStyle/>
                    <a:p>
                      <a:pPr algn="ctr"/>
                      <a:r>
                        <a:rPr lang="en-US" sz="1400" noProof="0" dirty="0"/>
                        <a:t>3.29</a:t>
                      </a:r>
                    </a:p>
                  </a:txBody>
                  <a:tcPr marL="68580" marR="68580" marT="34290" marB="34290"/>
                </a:tc>
                <a:tc>
                  <a:txBody>
                    <a:bodyPr/>
                    <a:lstStyle/>
                    <a:p>
                      <a:pPr algn="ctr"/>
                      <a:r>
                        <a:rPr lang="en-US" sz="1400" noProof="0" dirty="0"/>
                        <a:t>2.58</a:t>
                      </a:r>
                    </a:p>
                  </a:txBody>
                  <a:tcPr marL="68580" marR="68580" marT="34290" marB="34290"/>
                </a:tc>
                <a:tc>
                  <a:txBody>
                    <a:bodyPr/>
                    <a:lstStyle/>
                    <a:p>
                      <a:pPr algn="ctr"/>
                      <a:r>
                        <a:rPr lang="en-US" sz="1400" noProof="0" dirty="0"/>
                        <a:t>1.96</a:t>
                      </a:r>
                    </a:p>
                  </a:txBody>
                  <a:tcPr marL="68580" marR="68580" marT="34290" marB="34290"/>
                </a:tc>
                <a:tc>
                  <a:txBody>
                    <a:bodyPr/>
                    <a:lstStyle/>
                    <a:p>
                      <a:pPr algn="ctr"/>
                      <a:endParaRPr lang="en-US" sz="1400" noProof="0" dirty="0"/>
                    </a:p>
                  </a:txBody>
                  <a:tcPr marL="68580" marR="68580" marT="34290" marB="34290"/>
                </a:tc>
                <a:extLst>
                  <a:ext uri="{0D108BD9-81ED-4DB2-BD59-A6C34878D82A}">
                    <a16:rowId xmlns:a16="http://schemas.microsoft.com/office/drawing/2014/main" val="10001"/>
                  </a:ext>
                </a:extLst>
              </a:tr>
              <a:tr h="278130">
                <a:tc>
                  <a:txBody>
                    <a:bodyPr/>
                    <a:lstStyle/>
                    <a:p>
                      <a:r>
                        <a:rPr lang="en-US" sz="1400" b="1" noProof="0" dirty="0">
                          <a:solidFill>
                            <a:schemeClr val="bg1"/>
                          </a:solidFill>
                        </a:rPr>
                        <a:t>Power</a:t>
                      </a:r>
                    </a:p>
                  </a:txBody>
                  <a:tcPr marL="68580" marR="68580" marT="34290" marB="34290">
                    <a:solidFill>
                      <a:schemeClr val="tx2">
                        <a:lumMod val="50000"/>
                      </a:schemeClr>
                    </a:solidFill>
                  </a:tcPr>
                </a:tc>
                <a:tc>
                  <a:txBody>
                    <a:bodyPr/>
                    <a:lstStyle/>
                    <a:p>
                      <a:pPr algn="ctr"/>
                      <a:r>
                        <a:rPr lang="en-US" sz="1400" b="1" noProof="0" dirty="0">
                          <a:solidFill>
                            <a:schemeClr val="bg1"/>
                          </a:solidFill>
                        </a:rPr>
                        <a:t> 80 %</a:t>
                      </a:r>
                    </a:p>
                  </a:txBody>
                  <a:tcPr marL="68580" marR="68580" marT="34290" marB="34290">
                    <a:solidFill>
                      <a:schemeClr val="tx2">
                        <a:lumMod val="50000"/>
                      </a:schemeClr>
                    </a:solidFill>
                  </a:tcPr>
                </a:tc>
                <a:tc>
                  <a:txBody>
                    <a:bodyPr/>
                    <a:lstStyle/>
                    <a:p>
                      <a:pPr algn="ctr"/>
                      <a:r>
                        <a:rPr lang="en-US" sz="1400" b="1" noProof="0" dirty="0">
                          <a:solidFill>
                            <a:schemeClr val="bg1"/>
                          </a:solidFill>
                        </a:rPr>
                        <a:t>90 %</a:t>
                      </a:r>
                    </a:p>
                  </a:txBody>
                  <a:tcPr marL="68580" marR="68580" marT="34290" marB="34290">
                    <a:solidFill>
                      <a:schemeClr val="tx2">
                        <a:lumMod val="50000"/>
                      </a:schemeClr>
                    </a:solidFill>
                  </a:tcPr>
                </a:tc>
                <a:tc>
                  <a:txBody>
                    <a:bodyPr/>
                    <a:lstStyle/>
                    <a:p>
                      <a:pPr algn="ctr"/>
                      <a:r>
                        <a:rPr lang="en-US" sz="1400" b="1" noProof="0" dirty="0">
                          <a:solidFill>
                            <a:schemeClr val="bg1"/>
                          </a:solidFill>
                        </a:rPr>
                        <a:t>95 %</a:t>
                      </a:r>
                    </a:p>
                  </a:txBody>
                  <a:tcPr marL="68580" marR="68580" marT="34290" marB="34290">
                    <a:solidFill>
                      <a:schemeClr val="tx2">
                        <a:lumMod val="50000"/>
                      </a:schemeClr>
                    </a:solidFill>
                  </a:tcPr>
                </a:tc>
                <a:tc>
                  <a:txBody>
                    <a:bodyPr/>
                    <a:lstStyle/>
                    <a:p>
                      <a:pPr algn="ctr"/>
                      <a:r>
                        <a:rPr lang="en-US" sz="1400" b="1" noProof="0" dirty="0">
                          <a:solidFill>
                            <a:schemeClr val="bg1"/>
                          </a:solidFill>
                        </a:rPr>
                        <a:t>99 %</a:t>
                      </a:r>
                    </a:p>
                  </a:txBody>
                  <a:tcPr marL="68580" marR="68580" marT="34290" marB="34290">
                    <a:solidFill>
                      <a:schemeClr val="tx2">
                        <a:lumMod val="50000"/>
                      </a:schemeClr>
                    </a:solidFill>
                  </a:tcPr>
                </a:tc>
                <a:extLst>
                  <a:ext uri="{0D108BD9-81ED-4DB2-BD59-A6C34878D82A}">
                    <a16:rowId xmlns:a16="http://schemas.microsoft.com/office/drawing/2014/main" val="10002"/>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i="1" noProof="0" dirty="0"/>
                        <a:t> k</a:t>
                      </a:r>
                      <a:r>
                        <a:rPr lang="en-US" sz="1400" i="1" baseline="-25000" noProof="0" dirty="0"/>
                        <a:t>2</a:t>
                      </a:r>
                    </a:p>
                  </a:txBody>
                  <a:tcPr marL="68580" marR="68580" marT="34290" marB="34290"/>
                </a:tc>
                <a:tc>
                  <a:txBody>
                    <a:bodyPr/>
                    <a:lstStyle/>
                    <a:p>
                      <a:pPr algn="ctr"/>
                      <a:r>
                        <a:rPr lang="en-US" sz="1400" noProof="0" dirty="0"/>
                        <a:t>0.84</a:t>
                      </a:r>
                    </a:p>
                  </a:txBody>
                  <a:tcPr marL="68580" marR="68580" marT="34290" marB="34290"/>
                </a:tc>
                <a:tc>
                  <a:txBody>
                    <a:bodyPr/>
                    <a:lstStyle/>
                    <a:p>
                      <a:pPr algn="ctr"/>
                      <a:r>
                        <a:rPr lang="en-US" sz="1400" noProof="0" dirty="0"/>
                        <a:t>1.28</a:t>
                      </a:r>
                    </a:p>
                  </a:txBody>
                  <a:tcPr marL="68580" marR="68580" marT="34290" marB="34290"/>
                </a:tc>
                <a:tc>
                  <a:txBody>
                    <a:bodyPr/>
                    <a:lstStyle/>
                    <a:p>
                      <a:pPr algn="ctr"/>
                      <a:r>
                        <a:rPr lang="en-US" sz="1400" noProof="0" dirty="0"/>
                        <a:t>1.96</a:t>
                      </a:r>
                    </a:p>
                  </a:txBody>
                  <a:tcPr marL="68580" marR="68580" marT="34290" marB="34290"/>
                </a:tc>
                <a:tc>
                  <a:txBody>
                    <a:bodyPr/>
                    <a:lstStyle/>
                    <a:p>
                      <a:pPr algn="ctr"/>
                      <a:r>
                        <a:rPr lang="en-US" sz="1400" noProof="0" dirty="0"/>
                        <a:t>2.33</a:t>
                      </a:r>
                    </a:p>
                  </a:txBody>
                  <a:tcPr marL="68580" marR="68580" marT="34290" marB="3429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414989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brik 1"/>
          <p:cNvSpPr>
            <a:spLocks noGrp="1"/>
          </p:cNvSpPr>
          <p:nvPr>
            <p:ph type="title"/>
          </p:nvPr>
        </p:nvSpPr>
        <p:spPr>
          <a:xfrm>
            <a:off x="971600" y="138748"/>
            <a:ext cx="8064896" cy="488786"/>
          </a:xfrm>
        </p:spPr>
        <p:txBody>
          <a:bodyPr/>
          <a:lstStyle/>
          <a:p>
            <a:r>
              <a:rPr lang="en-US" sz="3000" dirty="0"/>
              <a:t>Sample size calculation for proportions/prevalence</a:t>
            </a:r>
          </a:p>
        </p:txBody>
      </p:sp>
      <p:sp>
        <p:nvSpPr>
          <p:cNvPr id="3" name="Platshållare för innehåll 2"/>
          <p:cNvSpPr>
            <a:spLocks noGrp="1"/>
          </p:cNvSpPr>
          <p:nvPr>
            <p:ph sz="quarter" idx="12"/>
          </p:nvPr>
        </p:nvSpPr>
        <p:spPr>
          <a:xfrm>
            <a:off x="971600" y="722433"/>
            <a:ext cx="7776864" cy="2565285"/>
          </a:xfrm>
        </p:spPr>
        <p:txBody>
          <a:bodyPr>
            <a:normAutofit/>
          </a:bodyPr>
          <a:lstStyle/>
          <a:p>
            <a:pPr marL="0" indent="0">
              <a:spcBef>
                <a:spcPts val="450"/>
              </a:spcBef>
              <a:spcAft>
                <a:spcPts val="450"/>
              </a:spcAft>
              <a:buNone/>
            </a:pPr>
            <a:r>
              <a:rPr lang="en-US" sz="2400" b="1" dirty="0">
                <a:latin typeface="+mn-lt"/>
                <a:ea typeface="Verdana" panose="020B0604030504040204" pitchFamily="34" charset="0"/>
              </a:rPr>
              <a:t>Student Union</a:t>
            </a:r>
            <a:r>
              <a:rPr lang="en-US" sz="2400" dirty="0">
                <a:latin typeface="+mn-lt"/>
                <a:ea typeface="Verdana" panose="020B0604030504040204" pitchFamily="34" charset="0"/>
              </a:rPr>
              <a:t> plans to perform a telephone survey, to estimate the proportion of </a:t>
            </a:r>
            <a:r>
              <a:rPr lang="en-US" sz="2400" b="1" dirty="0">
                <a:latin typeface="+mn-lt"/>
                <a:ea typeface="Verdana" panose="020B0604030504040204" pitchFamily="34" charset="0"/>
              </a:rPr>
              <a:t>un-satisfied students </a:t>
            </a:r>
            <a:r>
              <a:rPr lang="en-US" sz="2400" dirty="0">
                <a:latin typeface="+mn-lt"/>
                <a:ea typeface="Verdana" panose="020B0604030504040204" pitchFamily="34" charset="0"/>
              </a:rPr>
              <a:t>at Sahlgrenska Academy.</a:t>
            </a:r>
          </a:p>
          <a:p>
            <a:pPr marL="0" indent="0">
              <a:spcBef>
                <a:spcPts val="450"/>
              </a:spcBef>
              <a:spcAft>
                <a:spcPts val="450"/>
              </a:spcAft>
              <a:buNone/>
            </a:pPr>
            <a:r>
              <a:rPr lang="en-US" sz="2400" dirty="0">
                <a:latin typeface="+mn-lt"/>
                <a:ea typeface="Verdana" panose="020B0604030504040204" pitchFamily="34" charset="0"/>
              </a:rPr>
              <a:t>How large of a sample is needed for a </a:t>
            </a:r>
            <a:r>
              <a:rPr lang="en-US" sz="2400" b="1" dirty="0">
                <a:solidFill>
                  <a:schemeClr val="accent1"/>
                </a:solidFill>
                <a:latin typeface="+mn-lt"/>
                <a:ea typeface="Verdana" panose="020B0604030504040204" pitchFamily="34" charset="0"/>
              </a:rPr>
              <a:t>95% </a:t>
            </a:r>
            <a:r>
              <a:rPr lang="en-US" sz="2400" dirty="0">
                <a:latin typeface="+mn-lt"/>
                <a:ea typeface="Verdana" panose="020B0604030504040204" pitchFamily="34" charset="0"/>
              </a:rPr>
              <a:t>confidence interval to have a width of 12% (or within ±6.)</a:t>
            </a:r>
          </a:p>
          <a:p>
            <a:pPr marL="0" indent="0">
              <a:spcBef>
                <a:spcPts val="450"/>
              </a:spcBef>
              <a:spcAft>
                <a:spcPts val="450"/>
              </a:spcAft>
              <a:buNone/>
            </a:pPr>
            <a:endParaRPr lang="en-GB" sz="2400" dirty="0">
              <a:latin typeface="+mn-lt"/>
              <a:ea typeface="Verdana" panose="020B0604030504040204" pitchFamily="34" charset="0"/>
            </a:endParaRPr>
          </a:p>
          <a:p>
            <a:endParaRPr lang="en-GB" sz="2400" dirty="0">
              <a:latin typeface="+mn-lt"/>
              <a:ea typeface="Verdana" panose="020B0604030504040204" pitchFamily="34" charset="0"/>
            </a:endParaRPr>
          </a:p>
          <a:p>
            <a:endParaRPr lang="en-GB" sz="2400" dirty="0">
              <a:latin typeface="+mn-lt"/>
              <a:ea typeface="Verdana" panose="020B0604030504040204" pitchFamily="34" charset="0"/>
            </a:endParaRPr>
          </a:p>
          <a:p>
            <a:endParaRPr lang="en-GB" sz="2400" b="1" dirty="0">
              <a:latin typeface="+mn-lt"/>
              <a:ea typeface="Verdana" panose="020B0604030504040204" pitchFamily="34" charset="0"/>
            </a:endParaRPr>
          </a:p>
        </p:txBody>
      </p:sp>
      <p:sp>
        <p:nvSpPr>
          <p:cNvPr id="4" name="Platshållare för bildnummer 3"/>
          <p:cNvSpPr>
            <a:spLocks noGrp="1"/>
          </p:cNvSpPr>
          <p:nvPr>
            <p:ph type="sldNum" sz="quarter" idx="4294967295"/>
          </p:nvPr>
        </p:nvSpPr>
        <p:spPr/>
        <p:txBody>
          <a:bodyPr/>
          <a:lstStyle/>
          <a:p>
            <a:pPr>
              <a:defRPr/>
            </a:pPr>
            <a:fld id="{9426A61E-93B8-384D-8975-0A89DB09A550}" type="slidenum">
              <a:rPr lang="sv-SE" smtClean="0"/>
              <a:pPr>
                <a:defRPr/>
              </a:pPr>
              <a:t>58</a:t>
            </a:fld>
            <a:endParaRPr lang="sv-SE" dirty="0"/>
          </a:p>
        </p:txBody>
      </p:sp>
      <mc:AlternateContent xmlns:mc="http://schemas.openxmlformats.org/markup-compatibility/2006" xmlns:a14="http://schemas.microsoft.com/office/drawing/2010/main">
        <mc:Choice Requires="a14">
          <p:sp>
            <p:nvSpPr>
              <p:cNvPr id="2" name="textruta 1"/>
              <p:cNvSpPr txBox="1"/>
              <p:nvPr/>
            </p:nvSpPr>
            <p:spPr>
              <a:xfrm>
                <a:off x="2114727" y="3308908"/>
                <a:ext cx="4752528" cy="1306512"/>
              </a:xfrm>
              <a:prstGeom prst="rect">
                <a:avLst/>
              </a:prstGeom>
              <a:noFill/>
            </p:spPr>
            <p:txBody>
              <a:bodyPr wrap="square" rtlCol="0">
                <a:spAutoFit/>
              </a:bodyPr>
              <a:lstStyle/>
              <a:p>
                <a:endParaRPr lang="en-GB" sz="1500" dirty="0"/>
              </a:p>
              <a:p>
                <a:pPr/>
                <a14:m>
                  <m:oMathPara xmlns:m="http://schemas.openxmlformats.org/officeDocument/2006/math">
                    <m:oMathParaPr>
                      <m:jc m:val="centerGroup"/>
                    </m:oMathParaPr>
                    <m:oMath xmlns:m="http://schemas.openxmlformats.org/officeDocument/2006/math">
                      <m:r>
                        <a:rPr lang="sv-SE" sz="1500" b="1" i="1">
                          <a:solidFill>
                            <a:srgbClr val="000000"/>
                          </a:solidFill>
                          <a:latin typeface="Cambria Math" panose="02040503050406030204" pitchFamily="18" charset="0"/>
                        </a:rPr>
                        <m:t>𝒎</m:t>
                      </m:r>
                      <m:r>
                        <a:rPr lang="sv-SE" sz="1500" b="1" i="1">
                          <a:solidFill>
                            <a:srgbClr val="000000"/>
                          </a:solidFill>
                          <a:latin typeface="Cambria Math" panose="02040503050406030204" pitchFamily="18" charset="0"/>
                        </a:rPr>
                        <m:t>= </m:t>
                      </m:r>
                      <m:f>
                        <m:fPr>
                          <m:ctrlPr>
                            <a:rPr lang="sv-SE" sz="1500" b="1" i="1">
                              <a:solidFill>
                                <a:srgbClr val="000000"/>
                              </a:solidFill>
                              <a:latin typeface="Cambria Math" panose="02040503050406030204" pitchFamily="18" charset="0"/>
                            </a:rPr>
                          </m:ctrlPr>
                        </m:fPr>
                        <m:num>
                          <m:r>
                            <a:rPr lang="sv-SE" sz="1500" b="1" i="1">
                              <a:solidFill>
                                <a:srgbClr val="000000"/>
                              </a:solidFill>
                              <a:latin typeface="Cambria Math" panose="02040503050406030204" pitchFamily="18" charset="0"/>
                            </a:rPr>
                            <m:t>𝑬𝒙𝒑𝒆𝒄𝒕𝒆</m:t>
                          </m:r>
                          <m:sSub>
                            <m:sSubPr>
                              <m:ctrlPr>
                                <a:rPr lang="sv-SE" sz="1500" b="1" i="1">
                                  <a:solidFill>
                                    <a:srgbClr val="000000"/>
                                  </a:solidFill>
                                  <a:latin typeface="Cambria Math" panose="02040503050406030204" pitchFamily="18" charset="0"/>
                                </a:rPr>
                              </m:ctrlPr>
                            </m:sSubPr>
                            <m:e>
                              <m:r>
                                <a:rPr lang="sv-SE" sz="1500" b="1" i="1">
                                  <a:solidFill>
                                    <a:srgbClr val="000000"/>
                                  </a:solidFill>
                                  <a:latin typeface="Cambria Math" panose="02040503050406030204" pitchFamily="18" charset="0"/>
                                </a:rPr>
                                <m:t>𝒅</m:t>
                              </m:r>
                            </m:e>
                            <m:sub>
                              <m:r>
                                <a:rPr lang="sv-SE" sz="1500" b="1" i="1">
                                  <a:solidFill>
                                    <a:srgbClr val="000000"/>
                                  </a:solidFill>
                                  <a:latin typeface="Cambria Math" panose="02040503050406030204" pitchFamily="18" charset="0"/>
                                </a:rPr>
                                <m:t>𝒑𝒓𝒆𝒗𝒂𝒍𝒆𝒏𝒄𝒆</m:t>
                              </m:r>
                            </m:sub>
                          </m:sSub>
                          <m:r>
                            <a:rPr lang="sv-SE" sz="1500" b="1" i="1">
                              <a:solidFill>
                                <a:srgbClr val="000000"/>
                              </a:solidFill>
                              <a:latin typeface="Cambria Math" panose="02040503050406030204" pitchFamily="18" charset="0"/>
                            </a:rPr>
                            <m:t>∗(</m:t>
                          </m:r>
                          <m:r>
                            <a:rPr lang="sv-SE" sz="1500" b="1" i="1">
                              <a:solidFill>
                                <a:srgbClr val="000000"/>
                              </a:solidFill>
                              <a:latin typeface="Cambria Math" panose="02040503050406030204" pitchFamily="18" charset="0"/>
                            </a:rPr>
                            <m:t>𝟏</m:t>
                          </m:r>
                          <m:r>
                            <a:rPr lang="sv-SE" sz="1500" b="1" i="1">
                              <a:solidFill>
                                <a:srgbClr val="000000"/>
                              </a:solidFill>
                              <a:latin typeface="Cambria Math" panose="02040503050406030204" pitchFamily="18" charset="0"/>
                            </a:rPr>
                            <m:t>−</m:t>
                          </m:r>
                          <m:r>
                            <a:rPr lang="sv-SE" sz="1500" b="1" i="1">
                              <a:solidFill>
                                <a:srgbClr val="000000"/>
                              </a:solidFill>
                              <a:latin typeface="Cambria Math" panose="02040503050406030204" pitchFamily="18" charset="0"/>
                            </a:rPr>
                            <m:t>𝑬𝒙𝒑𝒆𝒄𝒕𝒆</m:t>
                          </m:r>
                          <m:sSub>
                            <m:sSubPr>
                              <m:ctrlPr>
                                <a:rPr lang="sv-SE" sz="1500" b="1" i="1">
                                  <a:solidFill>
                                    <a:srgbClr val="000000"/>
                                  </a:solidFill>
                                  <a:latin typeface="Cambria Math" panose="02040503050406030204" pitchFamily="18" charset="0"/>
                                </a:rPr>
                              </m:ctrlPr>
                            </m:sSubPr>
                            <m:e>
                              <m:r>
                                <a:rPr lang="sv-SE" sz="1500" b="1" i="1">
                                  <a:solidFill>
                                    <a:srgbClr val="000000"/>
                                  </a:solidFill>
                                  <a:latin typeface="Cambria Math" panose="02040503050406030204" pitchFamily="18" charset="0"/>
                                </a:rPr>
                                <m:t>𝒅</m:t>
                              </m:r>
                            </m:e>
                            <m:sub>
                              <m:r>
                                <a:rPr lang="sv-SE" sz="1500" b="1" i="1">
                                  <a:solidFill>
                                    <a:srgbClr val="000000"/>
                                  </a:solidFill>
                                  <a:latin typeface="Cambria Math" panose="02040503050406030204" pitchFamily="18" charset="0"/>
                                </a:rPr>
                                <m:t>𝒑𝒓𝒆𝒗𝒂𝒍𝒆𝒏𝒄𝒆</m:t>
                              </m:r>
                            </m:sub>
                          </m:sSub>
                          <m:r>
                            <a:rPr lang="sv-SE" sz="1500" b="1" i="1">
                              <a:solidFill>
                                <a:srgbClr val="000000"/>
                              </a:solidFill>
                              <a:latin typeface="Cambria Math" panose="02040503050406030204" pitchFamily="18" charset="0"/>
                            </a:rPr>
                            <m:t>)</m:t>
                          </m:r>
                        </m:num>
                        <m:den>
                          <m:sSubSup>
                            <m:sSubSupPr>
                              <m:ctrlPr>
                                <a:rPr lang="sv-SE" sz="1500" b="1" i="1">
                                  <a:solidFill>
                                    <a:srgbClr val="000000"/>
                                  </a:solidFill>
                                  <a:latin typeface="Cambria Math" panose="02040503050406030204" pitchFamily="18" charset="0"/>
                                </a:rPr>
                              </m:ctrlPr>
                            </m:sSubSupPr>
                            <m:e>
                              <m:r>
                                <a:rPr lang="sv-SE" sz="1500" b="1" i="1">
                                  <a:solidFill>
                                    <a:srgbClr val="000000"/>
                                  </a:solidFill>
                                  <a:latin typeface="Cambria Math" panose="02040503050406030204" pitchFamily="18" charset="0"/>
                                </a:rPr>
                                <m:t>𝑺𝑬</m:t>
                              </m:r>
                            </m:e>
                            <m:sub>
                              <m:r>
                                <a:rPr lang="sv-SE" sz="1500" b="1" i="1">
                                  <a:solidFill>
                                    <a:srgbClr val="000000"/>
                                  </a:solidFill>
                                  <a:latin typeface="Cambria Math" panose="02040503050406030204" pitchFamily="18" charset="0"/>
                                </a:rPr>
                                <m:t>𝑬𝒙𝒑</m:t>
                              </m:r>
                              <m:r>
                                <a:rPr lang="sv-SE" sz="1500" b="1" i="1">
                                  <a:solidFill>
                                    <a:srgbClr val="000000"/>
                                  </a:solidFill>
                                  <a:latin typeface="Cambria Math" panose="02040503050406030204" pitchFamily="18" charset="0"/>
                                </a:rPr>
                                <m:t>_</m:t>
                              </m:r>
                              <m:r>
                                <a:rPr lang="sv-SE" sz="1500" b="1" i="1">
                                  <a:solidFill>
                                    <a:srgbClr val="000000"/>
                                  </a:solidFill>
                                  <a:latin typeface="Cambria Math" panose="02040503050406030204" pitchFamily="18" charset="0"/>
                                </a:rPr>
                                <m:t>𝒑𝒓𝒆𝒗𝒂𝒍𝒆𝒏𝒄𝒆</m:t>
                              </m:r>
                            </m:sub>
                            <m:sup>
                              <m:r>
                                <a:rPr lang="sv-SE" sz="1500" b="1" i="1">
                                  <a:solidFill>
                                    <a:srgbClr val="000000"/>
                                  </a:solidFill>
                                  <a:latin typeface="Cambria Math" panose="02040503050406030204" pitchFamily="18" charset="0"/>
                                </a:rPr>
                                <m:t>𝟐</m:t>
                              </m:r>
                            </m:sup>
                          </m:sSubSup>
                        </m:den>
                      </m:f>
                    </m:oMath>
                  </m:oMathPara>
                </a14:m>
                <a:endParaRPr lang="sv-SE" sz="1500" b="1" i="1" dirty="0">
                  <a:solidFill>
                    <a:srgbClr val="00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Sup>
                        <m:sSubSupPr>
                          <m:ctrlPr>
                            <a:rPr lang="sv-SE" sz="1500" b="1" i="1">
                              <a:solidFill>
                                <a:srgbClr val="000000"/>
                              </a:solidFill>
                              <a:latin typeface="Cambria Math" panose="02040503050406030204" pitchFamily="18" charset="0"/>
                            </a:rPr>
                          </m:ctrlPr>
                        </m:sSubSupPr>
                        <m:e>
                          <m:r>
                            <a:rPr lang="sv-SE" sz="1500" b="1" i="1">
                              <a:solidFill>
                                <a:srgbClr val="000000"/>
                              </a:solidFill>
                              <a:latin typeface="Cambria Math" panose="02040503050406030204" pitchFamily="18" charset="0"/>
                            </a:rPr>
                            <m:t>𝑺𝑬</m:t>
                          </m:r>
                        </m:e>
                        <m:sub>
                          <m:r>
                            <a:rPr lang="sv-SE" sz="1500" b="1" i="1">
                              <a:solidFill>
                                <a:srgbClr val="000000"/>
                              </a:solidFill>
                              <a:latin typeface="Cambria Math" panose="02040503050406030204" pitchFamily="18" charset="0"/>
                            </a:rPr>
                            <m:t>𝑬𝒙𝒑</m:t>
                          </m:r>
                          <m:r>
                            <a:rPr lang="sv-SE" sz="1500" b="1" i="1">
                              <a:solidFill>
                                <a:srgbClr val="000000"/>
                              </a:solidFill>
                              <a:latin typeface="Cambria Math" panose="02040503050406030204" pitchFamily="18" charset="0"/>
                            </a:rPr>
                            <m:t>_</m:t>
                          </m:r>
                          <m:r>
                            <a:rPr lang="sv-SE" sz="1500" b="1" i="1">
                              <a:solidFill>
                                <a:srgbClr val="000000"/>
                              </a:solidFill>
                              <a:latin typeface="Cambria Math" panose="02040503050406030204" pitchFamily="18" charset="0"/>
                            </a:rPr>
                            <m:t>𝒑𝒓𝒆𝒗</m:t>
                          </m:r>
                        </m:sub>
                        <m:sup/>
                      </m:sSubSup>
                      <m:r>
                        <a:rPr lang="sv-SE" sz="1500" b="1" i="1">
                          <a:solidFill>
                            <a:srgbClr val="000000"/>
                          </a:solidFill>
                          <a:latin typeface="Cambria Math" panose="02040503050406030204" pitchFamily="18" charset="0"/>
                        </a:rPr>
                        <m:t>=</m:t>
                      </m:r>
                      <m:f>
                        <m:fPr>
                          <m:ctrlPr>
                            <a:rPr lang="sv-SE" sz="1500" b="1" i="1">
                              <a:solidFill>
                                <a:srgbClr val="000000"/>
                              </a:solidFill>
                              <a:latin typeface="Cambria Math" panose="02040503050406030204" pitchFamily="18" charset="0"/>
                            </a:rPr>
                          </m:ctrlPr>
                        </m:fPr>
                        <m:num>
                          <m:r>
                            <a:rPr lang="sv-SE" sz="1500" b="1" i="1">
                              <a:solidFill>
                                <a:srgbClr val="000000"/>
                              </a:solidFill>
                              <a:latin typeface="Cambria Math" panose="02040503050406030204" pitchFamily="18" charset="0"/>
                            </a:rPr>
                            <m:t>𝑾𝒊𝒅𝒕𝒉</m:t>
                          </m:r>
                          <m:r>
                            <a:rPr lang="sv-SE" sz="1500" b="1" i="1">
                              <a:solidFill>
                                <a:srgbClr val="000000"/>
                              </a:solidFill>
                              <a:latin typeface="Cambria Math" panose="02040503050406030204" pitchFamily="18" charset="0"/>
                            </a:rPr>
                            <m:t> </m:t>
                          </m:r>
                          <m:r>
                            <a:rPr lang="sv-SE" sz="1500" b="1" i="1">
                              <a:solidFill>
                                <a:srgbClr val="000000"/>
                              </a:solidFill>
                              <a:latin typeface="Cambria Math" panose="02040503050406030204" pitchFamily="18" charset="0"/>
                            </a:rPr>
                            <m:t>𝒐𝒇</m:t>
                          </m:r>
                          <m:r>
                            <a:rPr lang="sv-SE" sz="1500" b="1" i="1">
                              <a:solidFill>
                                <a:srgbClr val="000000"/>
                              </a:solidFill>
                              <a:latin typeface="Cambria Math" panose="02040503050406030204" pitchFamily="18" charset="0"/>
                            </a:rPr>
                            <m:t> </m:t>
                          </m:r>
                          <m:r>
                            <a:rPr lang="sv-SE" sz="1500" b="1" i="1">
                              <a:solidFill>
                                <a:srgbClr val="000000"/>
                              </a:solidFill>
                              <a:latin typeface="Cambria Math" panose="02040503050406030204" pitchFamily="18" charset="0"/>
                            </a:rPr>
                            <m:t>𝑪𝑰</m:t>
                          </m:r>
                        </m:num>
                        <m:den>
                          <m:r>
                            <a:rPr lang="sv-SE" sz="1500" b="1" i="1">
                              <a:solidFill>
                                <a:srgbClr val="000000"/>
                              </a:solidFill>
                              <a:latin typeface="Cambria Math" panose="02040503050406030204" pitchFamily="18" charset="0"/>
                            </a:rPr>
                            <m:t>𝟐</m:t>
                          </m:r>
                          <m:r>
                            <a:rPr lang="sv-SE" sz="1500" b="1" i="1">
                              <a:solidFill>
                                <a:srgbClr val="000000"/>
                              </a:solidFill>
                              <a:latin typeface="Cambria Math" panose="02040503050406030204" pitchFamily="18" charset="0"/>
                            </a:rPr>
                            <m:t>∗</m:t>
                          </m:r>
                          <m:r>
                            <a:rPr lang="sv-SE" sz="1500" b="1" i="1" smtClean="0">
                              <a:solidFill>
                                <a:schemeClr val="accent1"/>
                              </a:solidFill>
                              <a:latin typeface="Cambria Math" panose="02040503050406030204" pitchFamily="18" charset="0"/>
                            </a:rPr>
                            <m:t>𝟏</m:t>
                          </m:r>
                          <m:r>
                            <a:rPr lang="sv-SE" sz="1500" b="1" i="1" smtClean="0">
                              <a:solidFill>
                                <a:schemeClr val="accent1"/>
                              </a:solidFill>
                              <a:latin typeface="Cambria Math" panose="02040503050406030204" pitchFamily="18" charset="0"/>
                            </a:rPr>
                            <m:t>.</m:t>
                          </m:r>
                          <m:r>
                            <a:rPr lang="sv-SE" sz="1500" b="1" i="1" smtClean="0">
                              <a:solidFill>
                                <a:schemeClr val="accent1"/>
                              </a:solidFill>
                              <a:latin typeface="Cambria Math" panose="02040503050406030204" pitchFamily="18" charset="0"/>
                            </a:rPr>
                            <m:t>𝟗𝟔</m:t>
                          </m:r>
                        </m:den>
                      </m:f>
                    </m:oMath>
                  </m:oMathPara>
                </a14:m>
                <a:endParaRPr lang="en-GB" sz="1500" b="1" dirty="0"/>
              </a:p>
            </p:txBody>
          </p:sp>
        </mc:Choice>
        <mc:Fallback xmlns="">
          <p:sp>
            <p:nvSpPr>
              <p:cNvPr id="2" name="textruta 1"/>
              <p:cNvSpPr txBox="1">
                <a:spLocks noRot="1" noChangeAspect="1" noMove="1" noResize="1" noEditPoints="1" noAdjustHandles="1" noChangeArrowheads="1" noChangeShapeType="1" noTextEdit="1"/>
              </p:cNvSpPr>
              <p:nvPr/>
            </p:nvSpPr>
            <p:spPr>
              <a:xfrm>
                <a:off x="2114727" y="3308908"/>
                <a:ext cx="4752528" cy="130651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8412303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tshållare för bildnummer 3"/>
          <p:cNvSpPr>
            <a:spLocks noGrp="1"/>
          </p:cNvSpPr>
          <p:nvPr>
            <p:ph type="sldNum" sz="quarter" idx="4294967295"/>
          </p:nvPr>
        </p:nvSpPr>
        <p:spPr/>
        <p:txBody>
          <a:bodyPr/>
          <a:lstStyle/>
          <a:p>
            <a:pPr>
              <a:defRPr/>
            </a:pPr>
            <a:fld id="{9426A61E-93B8-384D-8975-0A89DB09A550}" type="slidenum">
              <a:rPr lang="sv-SE" smtClean="0"/>
              <a:pPr>
                <a:defRPr/>
              </a:pPr>
              <a:t>59</a:t>
            </a:fld>
            <a:endParaRPr lang="sv-SE" dirty="0"/>
          </a:p>
        </p:txBody>
      </p:sp>
      <mc:AlternateContent xmlns:mc="http://schemas.openxmlformats.org/markup-compatibility/2006" xmlns:a14="http://schemas.microsoft.com/office/drawing/2010/main">
        <mc:Choice Requires="a14">
          <p:sp>
            <p:nvSpPr>
              <p:cNvPr id="2" name="textruta 1"/>
              <p:cNvSpPr txBox="1"/>
              <p:nvPr/>
            </p:nvSpPr>
            <p:spPr>
              <a:xfrm>
                <a:off x="315434" y="195486"/>
                <a:ext cx="6840760" cy="4197175"/>
              </a:xfrm>
              <a:prstGeom prst="rect">
                <a:avLst/>
              </a:prstGeom>
              <a:noFill/>
            </p:spPr>
            <p:txBody>
              <a:bodyPr wrap="square" rtlCol="0">
                <a:spAutoFit/>
              </a:bodyPr>
              <a:lstStyle/>
              <a:p>
                <a14:m>
                  <m:oMath xmlns:m="http://schemas.openxmlformats.org/officeDocument/2006/math">
                    <m:sSubSup>
                      <m:sSubSupPr>
                        <m:ctrlPr>
                          <a:rPr lang="sv-SE" sz="2800" b="0" i="1" smtClean="0">
                            <a:solidFill>
                              <a:srgbClr val="000000"/>
                            </a:solidFill>
                            <a:latin typeface="Cambria Math" panose="02040503050406030204" pitchFamily="18" charset="0"/>
                          </a:rPr>
                        </m:ctrlPr>
                      </m:sSubSupPr>
                      <m:e>
                        <m:r>
                          <m:rPr>
                            <m:sty m:val="p"/>
                          </m:rPr>
                          <a:rPr lang="sv-SE" sz="2800" b="0" i="0">
                            <a:solidFill>
                              <a:srgbClr val="000000"/>
                            </a:solidFill>
                            <a:latin typeface="Cambria Math" panose="02040503050406030204" pitchFamily="18" charset="0"/>
                          </a:rPr>
                          <m:t>SE</m:t>
                        </m:r>
                      </m:e>
                      <m:sub>
                        <m:sSub>
                          <m:sSubPr>
                            <m:ctrlPr>
                              <a:rPr lang="sv-SE" sz="2800" b="0" i="1">
                                <a:solidFill>
                                  <a:srgbClr val="000000"/>
                                </a:solidFill>
                                <a:latin typeface="Cambria Math" panose="02040503050406030204" pitchFamily="18" charset="0"/>
                              </a:rPr>
                            </m:ctrlPr>
                          </m:sSubPr>
                          <m:e>
                            <m:r>
                              <m:rPr>
                                <m:sty m:val="p"/>
                              </m:rPr>
                              <a:rPr lang="sv-SE" sz="2800" b="0" i="0">
                                <a:solidFill>
                                  <a:srgbClr val="000000"/>
                                </a:solidFill>
                                <a:latin typeface="Cambria Math" panose="02040503050406030204" pitchFamily="18" charset="0"/>
                              </a:rPr>
                              <m:t>Exp</m:t>
                            </m:r>
                          </m:e>
                          <m:sub>
                            <m:r>
                              <m:rPr>
                                <m:sty m:val="p"/>
                              </m:rPr>
                              <a:rPr lang="sv-SE" sz="2800" b="0" i="0">
                                <a:solidFill>
                                  <a:srgbClr val="000000"/>
                                </a:solidFill>
                                <a:latin typeface="Cambria Math" panose="02040503050406030204" pitchFamily="18" charset="0"/>
                              </a:rPr>
                              <m:t>prev</m:t>
                            </m:r>
                          </m:sub>
                        </m:sSub>
                      </m:sub>
                      <m:sup/>
                    </m:sSubSup>
                    <m:r>
                      <a:rPr lang="sv-SE" sz="2800" b="0" i="0">
                        <a:solidFill>
                          <a:srgbClr val="000000"/>
                        </a:solidFill>
                        <a:latin typeface="Cambria Math" panose="02040503050406030204" pitchFamily="18" charset="0"/>
                      </a:rPr>
                      <m:t>=</m:t>
                    </m:r>
                    <m:f>
                      <m:fPr>
                        <m:ctrlPr>
                          <a:rPr lang="sv-SE" sz="2800" i="1">
                            <a:solidFill>
                              <a:srgbClr val="000000"/>
                            </a:solidFill>
                            <a:latin typeface="Cambria Math" panose="02040503050406030204" pitchFamily="18" charset="0"/>
                          </a:rPr>
                        </m:ctrlPr>
                      </m:fPr>
                      <m:num>
                        <m:r>
                          <m:rPr>
                            <m:sty m:val="p"/>
                          </m:rPr>
                          <a:rPr lang="sv-SE" sz="2800" b="0" i="0">
                            <a:solidFill>
                              <a:srgbClr val="000000"/>
                            </a:solidFill>
                            <a:latin typeface="Cambria Math" panose="02040503050406030204" pitchFamily="18" charset="0"/>
                          </a:rPr>
                          <m:t>Width</m:t>
                        </m:r>
                        <m:r>
                          <a:rPr lang="sv-SE" sz="2800" b="0" i="0">
                            <a:solidFill>
                              <a:srgbClr val="000000"/>
                            </a:solidFill>
                            <a:latin typeface="Cambria Math" panose="02040503050406030204" pitchFamily="18" charset="0"/>
                          </a:rPr>
                          <m:t> </m:t>
                        </m:r>
                        <m:r>
                          <m:rPr>
                            <m:sty m:val="p"/>
                          </m:rPr>
                          <a:rPr lang="sv-SE" sz="2800" b="0" i="0">
                            <a:solidFill>
                              <a:srgbClr val="000000"/>
                            </a:solidFill>
                            <a:latin typeface="Cambria Math" panose="02040503050406030204" pitchFamily="18" charset="0"/>
                          </a:rPr>
                          <m:t>of</m:t>
                        </m:r>
                        <m:r>
                          <a:rPr lang="sv-SE" sz="2800" b="0" i="0">
                            <a:solidFill>
                              <a:srgbClr val="000000"/>
                            </a:solidFill>
                            <a:latin typeface="Cambria Math" panose="02040503050406030204" pitchFamily="18" charset="0"/>
                          </a:rPr>
                          <m:t> </m:t>
                        </m:r>
                        <m:r>
                          <m:rPr>
                            <m:sty m:val="p"/>
                          </m:rPr>
                          <a:rPr lang="sv-SE" sz="2800" b="0" i="0">
                            <a:solidFill>
                              <a:srgbClr val="000000"/>
                            </a:solidFill>
                            <a:latin typeface="Cambria Math" panose="02040503050406030204" pitchFamily="18" charset="0"/>
                          </a:rPr>
                          <m:t>CI</m:t>
                        </m:r>
                      </m:num>
                      <m:den>
                        <m:r>
                          <a:rPr lang="sv-SE" sz="2800" b="0" i="0">
                            <a:solidFill>
                              <a:srgbClr val="000000"/>
                            </a:solidFill>
                            <a:latin typeface="Cambria Math" panose="02040503050406030204" pitchFamily="18" charset="0"/>
                          </a:rPr>
                          <m:t>2∗</m:t>
                        </m:r>
                        <m:r>
                          <a:rPr lang="sv-SE" sz="2800" b="0" i="0" smtClean="0">
                            <a:solidFill>
                              <a:schemeClr val="accent1"/>
                            </a:solidFill>
                            <a:latin typeface="Cambria Math" panose="02040503050406030204" pitchFamily="18" charset="0"/>
                          </a:rPr>
                          <m:t>1.96</m:t>
                        </m:r>
                      </m:den>
                    </m:f>
                  </m:oMath>
                </a14:m>
                <a:r>
                  <a:rPr lang="sv-SE" sz="2800" dirty="0">
                    <a:solidFill>
                      <a:srgbClr val="000000"/>
                    </a:solidFill>
                    <a:latin typeface="+mn-lt"/>
                    <a:ea typeface="Verdana" panose="020B0604030504040204" pitchFamily="34" charset="0"/>
                  </a:rPr>
                  <a:t> </a:t>
                </a:r>
                <a14:m>
                  <m:oMath xmlns:m="http://schemas.openxmlformats.org/officeDocument/2006/math">
                    <m:r>
                      <a:rPr lang="sv-SE" sz="2800" b="0" i="0">
                        <a:solidFill>
                          <a:srgbClr val="000000"/>
                        </a:solidFill>
                        <a:latin typeface="Cambria Math" panose="02040503050406030204" pitchFamily="18" charset="0"/>
                      </a:rPr>
                      <m:t>=</m:t>
                    </m:r>
                    <m:f>
                      <m:fPr>
                        <m:ctrlPr>
                          <a:rPr lang="sv-SE" sz="2800" i="1" smtClean="0">
                            <a:solidFill>
                              <a:srgbClr val="000000"/>
                            </a:solidFill>
                            <a:latin typeface="Cambria Math" panose="02040503050406030204" pitchFamily="18" charset="0"/>
                          </a:rPr>
                        </m:ctrlPr>
                      </m:fPr>
                      <m:num>
                        <m:r>
                          <a:rPr lang="sv-SE" sz="2800" b="0" i="0" smtClean="0">
                            <a:solidFill>
                              <a:srgbClr val="000000"/>
                            </a:solidFill>
                            <a:latin typeface="Cambria Math" panose="02040503050406030204" pitchFamily="18" charset="0"/>
                          </a:rPr>
                          <m:t>0.12</m:t>
                        </m:r>
                      </m:num>
                      <m:den>
                        <m:r>
                          <a:rPr lang="sv-SE" sz="2800" b="0" i="0" smtClean="0">
                            <a:solidFill>
                              <a:srgbClr val="000000"/>
                            </a:solidFill>
                            <a:latin typeface="Cambria Math" panose="02040503050406030204" pitchFamily="18" charset="0"/>
                          </a:rPr>
                          <m:t>3.92</m:t>
                        </m:r>
                      </m:den>
                    </m:f>
                  </m:oMath>
                </a14:m>
                <a:r>
                  <a:rPr lang="en-GB" sz="2800" dirty="0">
                    <a:latin typeface="+mn-lt"/>
                    <a:ea typeface="Verdana" panose="020B0604030504040204" pitchFamily="34" charset="0"/>
                  </a:rPr>
                  <a:t> </a:t>
                </a:r>
                <a14:m>
                  <m:oMath xmlns:m="http://schemas.openxmlformats.org/officeDocument/2006/math">
                    <m:r>
                      <a:rPr lang="sv-SE" sz="2800" b="0" i="0" smtClean="0">
                        <a:solidFill>
                          <a:srgbClr val="000000"/>
                        </a:solidFill>
                        <a:latin typeface="Cambria Math" panose="02040503050406030204" pitchFamily="18" charset="0"/>
                      </a:rPr>
                      <m:t>=</m:t>
                    </m:r>
                  </m:oMath>
                </a14:m>
                <a:r>
                  <a:rPr lang="en-GB" sz="2800" dirty="0">
                    <a:latin typeface="+mn-lt"/>
                    <a:ea typeface="Verdana" panose="020B0604030504040204" pitchFamily="34" charset="0"/>
                  </a:rPr>
                  <a:t>0.031</a:t>
                </a:r>
              </a:p>
              <a:p>
                <a:endParaRPr lang="en-GB" sz="2800" dirty="0">
                  <a:latin typeface="+mn-lt"/>
                  <a:ea typeface="Verdana" panose="020B0604030504040204" pitchFamily="34" charset="0"/>
                </a:endParaRPr>
              </a:p>
              <a:p>
                <a:pPr/>
                <a14:m>
                  <m:oMathPara xmlns:m="http://schemas.openxmlformats.org/officeDocument/2006/math">
                    <m:oMathParaPr>
                      <m:jc m:val="centerGroup"/>
                    </m:oMathParaPr>
                    <m:oMath xmlns:m="http://schemas.openxmlformats.org/officeDocument/2006/math">
                      <m:r>
                        <m:rPr>
                          <m:sty m:val="p"/>
                        </m:rPr>
                        <a:rPr lang="sv-SE" sz="2800" b="0" i="0">
                          <a:solidFill>
                            <a:srgbClr val="000000"/>
                          </a:solidFill>
                          <a:latin typeface="Cambria Math" panose="02040503050406030204" pitchFamily="18" charset="0"/>
                        </a:rPr>
                        <m:t>m</m:t>
                      </m:r>
                      <m:r>
                        <a:rPr lang="sv-SE" sz="2800" b="0" i="0">
                          <a:solidFill>
                            <a:srgbClr val="000000"/>
                          </a:solidFill>
                          <a:latin typeface="Cambria Math" panose="02040503050406030204" pitchFamily="18" charset="0"/>
                        </a:rPr>
                        <m:t>= </m:t>
                      </m:r>
                      <m:f>
                        <m:fPr>
                          <m:ctrlPr>
                            <a:rPr lang="sv-SE" sz="2800" i="1">
                              <a:solidFill>
                                <a:srgbClr val="000000"/>
                              </a:solidFill>
                              <a:latin typeface="Cambria Math" panose="02040503050406030204" pitchFamily="18" charset="0"/>
                            </a:rPr>
                          </m:ctrlPr>
                        </m:fPr>
                        <m:num>
                          <m:r>
                            <a:rPr lang="sv-SE" sz="2800" b="0" i="0" smtClean="0">
                              <a:solidFill>
                                <a:srgbClr val="000000"/>
                              </a:solidFill>
                              <a:latin typeface="Cambria Math" panose="02040503050406030204" pitchFamily="18" charset="0"/>
                            </a:rPr>
                            <m:t>0.25</m:t>
                          </m:r>
                          <m:r>
                            <a:rPr lang="sv-SE" sz="2800" b="0" i="0">
                              <a:solidFill>
                                <a:srgbClr val="000000"/>
                              </a:solidFill>
                              <a:latin typeface="Cambria Math" panose="02040503050406030204" pitchFamily="18" charset="0"/>
                            </a:rPr>
                            <m:t>∗(1−</m:t>
                          </m:r>
                          <m:r>
                            <a:rPr lang="sv-SE" sz="2800" b="0" i="0" smtClean="0">
                              <a:solidFill>
                                <a:srgbClr val="000000"/>
                              </a:solidFill>
                              <a:latin typeface="Cambria Math" panose="02040503050406030204" pitchFamily="18" charset="0"/>
                            </a:rPr>
                            <m:t>0.25</m:t>
                          </m:r>
                          <m:r>
                            <a:rPr lang="sv-SE" sz="2800" b="0" i="0">
                              <a:solidFill>
                                <a:srgbClr val="000000"/>
                              </a:solidFill>
                              <a:latin typeface="Cambria Math" panose="02040503050406030204" pitchFamily="18" charset="0"/>
                            </a:rPr>
                            <m:t>)</m:t>
                          </m:r>
                        </m:num>
                        <m:den>
                          <m:sSup>
                            <m:sSupPr>
                              <m:ctrlPr>
                                <a:rPr lang="sv-SE" sz="2800" i="1">
                                  <a:solidFill>
                                    <a:srgbClr val="000000"/>
                                  </a:solidFill>
                                  <a:latin typeface="Cambria Math" panose="02040503050406030204" pitchFamily="18" charset="0"/>
                                </a:rPr>
                              </m:ctrlPr>
                            </m:sSupPr>
                            <m:e>
                              <m:d>
                                <m:dPr>
                                  <m:ctrlPr>
                                    <a:rPr lang="sv-SE" sz="2800" i="1" smtClean="0">
                                      <a:solidFill>
                                        <a:srgbClr val="000000"/>
                                      </a:solidFill>
                                      <a:latin typeface="Cambria Math" panose="02040503050406030204" pitchFamily="18" charset="0"/>
                                    </a:rPr>
                                  </m:ctrlPr>
                                </m:dPr>
                                <m:e>
                                  <m:r>
                                    <a:rPr lang="sv-SE" sz="2800" b="0" i="0" smtClean="0">
                                      <a:solidFill>
                                        <a:srgbClr val="000000"/>
                                      </a:solidFill>
                                      <a:latin typeface="Cambria Math" panose="02040503050406030204" pitchFamily="18" charset="0"/>
                                    </a:rPr>
                                    <m:t>0.031</m:t>
                                  </m:r>
                                </m:e>
                              </m:d>
                            </m:e>
                            <m:sup>
                              <m:r>
                                <a:rPr lang="sv-SE" sz="2800" b="0" i="0">
                                  <a:solidFill>
                                    <a:srgbClr val="000000"/>
                                  </a:solidFill>
                                  <a:latin typeface="Cambria Math" panose="02040503050406030204" pitchFamily="18" charset="0"/>
                                </a:rPr>
                                <m:t>2</m:t>
                              </m:r>
                            </m:sup>
                          </m:sSup>
                        </m:den>
                      </m:f>
                    </m:oMath>
                  </m:oMathPara>
                </a14:m>
                <a:endParaRPr lang="sv-SE" sz="2800" dirty="0">
                  <a:solidFill>
                    <a:srgbClr val="000000"/>
                  </a:solidFill>
                  <a:latin typeface="+mn-lt"/>
                  <a:ea typeface="Verdana" panose="020B0604030504040204" pitchFamily="34" charset="0"/>
                </a:endParaRPr>
              </a:p>
              <a:p>
                <a:pPr/>
                <a14:m>
                  <m:oMathPara xmlns:m="http://schemas.openxmlformats.org/officeDocument/2006/math">
                    <m:oMathParaPr>
                      <m:jc m:val="centerGroup"/>
                    </m:oMathParaPr>
                    <m:oMath xmlns:m="http://schemas.openxmlformats.org/officeDocument/2006/math">
                      <m:r>
                        <a:rPr lang="sv-SE" sz="2800" b="0" i="0" smtClean="0">
                          <a:solidFill>
                            <a:srgbClr val="000000"/>
                          </a:solidFill>
                          <a:latin typeface="Cambria Math" panose="02040503050406030204" pitchFamily="18" charset="0"/>
                        </a:rPr>
                        <m:t>= </m:t>
                      </m:r>
                      <m:f>
                        <m:fPr>
                          <m:ctrlPr>
                            <a:rPr lang="sv-SE" sz="2800" i="1">
                              <a:solidFill>
                                <a:srgbClr val="000000"/>
                              </a:solidFill>
                              <a:latin typeface="Cambria Math" panose="02040503050406030204" pitchFamily="18" charset="0"/>
                            </a:rPr>
                          </m:ctrlPr>
                        </m:fPr>
                        <m:num>
                          <m:r>
                            <a:rPr lang="sv-SE" sz="2800" b="0" i="0" smtClean="0">
                              <a:solidFill>
                                <a:srgbClr val="000000"/>
                              </a:solidFill>
                              <a:latin typeface="Cambria Math" panose="02040503050406030204" pitchFamily="18" charset="0"/>
                            </a:rPr>
                            <m:t>0.19</m:t>
                          </m:r>
                        </m:num>
                        <m:den>
                          <m:sSup>
                            <m:sSupPr>
                              <m:ctrlPr>
                                <a:rPr lang="sv-SE" sz="2800" i="1" smtClean="0">
                                  <a:solidFill>
                                    <a:srgbClr val="000000"/>
                                  </a:solidFill>
                                  <a:latin typeface="Cambria Math" panose="02040503050406030204" pitchFamily="18" charset="0"/>
                                </a:rPr>
                              </m:ctrlPr>
                            </m:sSupPr>
                            <m:e>
                              <m:d>
                                <m:dPr>
                                  <m:ctrlPr>
                                    <a:rPr lang="sv-SE" sz="2800" i="1" smtClean="0">
                                      <a:solidFill>
                                        <a:srgbClr val="000000"/>
                                      </a:solidFill>
                                      <a:latin typeface="Cambria Math" panose="02040503050406030204" pitchFamily="18" charset="0"/>
                                    </a:rPr>
                                  </m:ctrlPr>
                                </m:dPr>
                                <m:e>
                                  <m:r>
                                    <a:rPr lang="sv-SE" sz="2800" b="0" i="0" smtClean="0">
                                      <a:solidFill>
                                        <a:srgbClr val="000000"/>
                                      </a:solidFill>
                                      <a:latin typeface="Cambria Math" panose="02040503050406030204" pitchFamily="18" charset="0"/>
                                    </a:rPr>
                                    <m:t>0.031</m:t>
                                  </m:r>
                                </m:e>
                              </m:d>
                            </m:e>
                            <m:sup>
                              <m:r>
                                <a:rPr lang="sv-SE" sz="2800" b="0" i="0">
                                  <a:solidFill>
                                    <a:srgbClr val="000000"/>
                                  </a:solidFill>
                                  <a:latin typeface="Cambria Math" panose="02040503050406030204" pitchFamily="18" charset="0"/>
                                </a:rPr>
                                <m:t>2</m:t>
                              </m:r>
                            </m:sup>
                          </m:sSup>
                        </m:den>
                      </m:f>
                      <m:r>
                        <a:rPr lang="sv-SE" sz="2800" b="0" i="0" smtClean="0">
                          <a:solidFill>
                            <a:srgbClr val="000000"/>
                          </a:solidFill>
                          <a:latin typeface="Cambria Math" panose="02040503050406030204" pitchFamily="18" charset="0"/>
                        </a:rPr>
                        <m:t>=200</m:t>
                      </m:r>
                    </m:oMath>
                  </m:oMathPara>
                </a14:m>
                <a:endParaRPr lang="sv-SE" sz="2800" dirty="0">
                  <a:solidFill>
                    <a:srgbClr val="000000"/>
                  </a:solidFill>
                  <a:latin typeface="+mn-lt"/>
                  <a:ea typeface="Verdana" panose="020B0604030504040204" pitchFamily="34" charset="0"/>
                </a:endParaRPr>
              </a:p>
              <a:p>
                <a:r>
                  <a:rPr lang="sv-SE" sz="2800" dirty="0" err="1">
                    <a:solidFill>
                      <a:srgbClr val="000000"/>
                    </a:solidFill>
                    <a:latin typeface="+mn-lt"/>
                    <a:ea typeface="Verdana" panose="020B0604030504040204" pitchFamily="34" charset="0"/>
                  </a:rPr>
                  <a:t>What</a:t>
                </a:r>
                <a:r>
                  <a:rPr lang="sv-SE" sz="2800" dirty="0">
                    <a:solidFill>
                      <a:srgbClr val="000000"/>
                    </a:solidFill>
                    <a:latin typeface="+mn-lt"/>
                    <a:ea typeface="Verdana" panose="020B0604030504040204" pitchFamily="34" charset="0"/>
                  </a:rPr>
                  <a:t> </a:t>
                </a:r>
                <a:r>
                  <a:rPr lang="sv-SE" sz="2800" dirty="0" err="1">
                    <a:solidFill>
                      <a:srgbClr val="000000"/>
                    </a:solidFill>
                    <a:latin typeface="+mn-lt"/>
                    <a:ea typeface="Verdana" panose="020B0604030504040204" pitchFamily="34" charset="0"/>
                  </a:rPr>
                  <a:t>does</a:t>
                </a:r>
                <a:r>
                  <a:rPr lang="sv-SE" sz="2800" dirty="0">
                    <a:solidFill>
                      <a:srgbClr val="000000"/>
                    </a:solidFill>
                    <a:latin typeface="+mn-lt"/>
                    <a:ea typeface="Verdana" panose="020B0604030504040204" pitchFamily="34" charset="0"/>
                  </a:rPr>
                  <a:t> it </a:t>
                </a:r>
                <a:r>
                  <a:rPr lang="sv-SE" sz="2800" dirty="0" err="1">
                    <a:solidFill>
                      <a:srgbClr val="000000"/>
                    </a:solidFill>
                    <a:latin typeface="+mn-lt"/>
                    <a:ea typeface="Verdana" panose="020B0604030504040204" pitchFamily="34" charset="0"/>
                  </a:rPr>
                  <a:t>mean</a:t>
                </a:r>
                <a:r>
                  <a:rPr lang="sv-SE" sz="2800" dirty="0">
                    <a:solidFill>
                      <a:srgbClr val="000000"/>
                    </a:solidFill>
                    <a:latin typeface="+mn-lt"/>
                    <a:ea typeface="Verdana" panose="020B0604030504040204" pitchFamily="34" charset="0"/>
                  </a:rPr>
                  <a:t>?</a:t>
                </a:r>
              </a:p>
              <a:p>
                <a:pPr marL="514350" indent="-514350">
                  <a:buFont typeface="+mj-lt"/>
                  <a:buAutoNum type="arabicPeriod"/>
                </a:pPr>
                <a:r>
                  <a:rPr lang="sv-SE" sz="2800" dirty="0">
                    <a:solidFill>
                      <a:srgbClr val="000000"/>
                    </a:solidFill>
                    <a:latin typeface="+mn-lt"/>
                    <a:ea typeface="Verdana" panose="020B0604030504040204" pitchFamily="34" charset="0"/>
                  </a:rPr>
                  <a:t>Ask 200 </a:t>
                </a:r>
                <a:r>
                  <a:rPr lang="sv-SE" sz="2800" dirty="0" err="1">
                    <a:solidFill>
                      <a:srgbClr val="000000"/>
                    </a:solidFill>
                    <a:latin typeface="+mn-lt"/>
                    <a:ea typeface="Verdana" panose="020B0604030504040204" pitchFamily="34" charset="0"/>
                  </a:rPr>
                  <a:t>individuals</a:t>
                </a:r>
                <a:endParaRPr lang="sv-SE" sz="2800" dirty="0">
                  <a:solidFill>
                    <a:srgbClr val="000000"/>
                  </a:solidFill>
                  <a:latin typeface="+mn-lt"/>
                  <a:ea typeface="Verdana" panose="020B0604030504040204" pitchFamily="34" charset="0"/>
                </a:endParaRPr>
              </a:p>
              <a:p>
                <a:pPr marL="514350" indent="-514350">
                  <a:buFont typeface="+mj-lt"/>
                  <a:buAutoNum type="arabicPeriod"/>
                </a:pPr>
                <a:r>
                  <a:rPr lang="sv-SE" sz="2800" dirty="0" err="1">
                    <a:solidFill>
                      <a:srgbClr val="000000"/>
                    </a:solidFill>
                    <a:latin typeface="+mn-lt"/>
                    <a:ea typeface="Verdana" panose="020B0604030504040204" pitchFamily="34" charset="0"/>
                  </a:rPr>
                  <a:t>Have</a:t>
                </a:r>
                <a:r>
                  <a:rPr lang="sv-SE" sz="2800" dirty="0">
                    <a:solidFill>
                      <a:srgbClr val="000000"/>
                    </a:solidFill>
                    <a:latin typeface="+mn-lt"/>
                    <a:ea typeface="Verdana" panose="020B0604030504040204" pitchFamily="34" charset="0"/>
                  </a:rPr>
                  <a:t> 200 </a:t>
                </a:r>
                <a:r>
                  <a:rPr lang="sv-SE" sz="2800" dirty="0" err="1">
                    <a:solidFill>
                      <a:srgbClr val="000000"/>
                    </a:solidFill>
                    <a:latin typeface="+mn-lt"/>
                    <a:ea typeface="Verdana" panose="020B0604030504040204" pitchFamily="34" charset="0"/>
                  </a:rPr>
                  <a:t>answers</a:t>
                </a:r>
                <a:endParaRPr lang="sv-SE" sz="2800" dirty="0">
                  <a:solidFill>
                    <a:srgbClr val="000000"/>
                  </a:solidFill>
                  <a:latin typeface="+mn-lt"/>
                  <a:ea typeface="Verdana" panose="020B0604030504040204" pitchFamily="34" charset="0"/>
                </a:endParaRPr>
              </a:p>
            </p:txBody>
          </p:sp>
        </mc:Choice>
        <mc:Fallback xmlns="">
          <p:sp>
            <p:nvSpPr>
              <p:cNvPr id="2" name="textruta 1"/>
              <p:cNvSpPr txBox="1">
                <a:spLocks noRot="1" noChangeAspect="1" noMove="1" noResize="1" noEditPoints="1" noAdjustHandles="1" noChangeArrowheads="1" noChangeShapeType="1" noTextEdit="1"/>
              </p:cNvSpPr>
              <p:nvPr/>
            </p:nvSpPr>
            <p:spPr>
              <a:xfrm>
                <a:off x="315434" y="195486"/>
                <a:ext cx="6840760" cy="4197175"/>
              </a:xfrm>
              <a:prstGeom prst="rect">
                <a:avLst/>
              </a:prstGeom>
              <a:blipFill>
                <a:blip r:embed="rId3"/>
                <a:stretch>
                  <a:fillRect l="-1872" b="-3338"/>
                </a:stretch>
              </a:blipFill>
            </p:spPr>
            <p:txBody>
              <a:bodyPr/>
              <a:lstStyle/>
              <a:p>
                <a:r>
                  <a:rPr lang="en-US">
                    <a:noFill/>
                  </a:rPr>
                  <a:t> </a:t>
                </a:r>
              </a:p>
            </p:txBody>
          </p:sp>
        </mc:Fallback>
      </mc:AlternateContent>
    </p:spTree>
    <p:extLst>
      <p:ext uri="{BB962C8B-B14F-4D97-AF65-F5344CB8AC3E}">
        <p14:creationId xmlns:p14="http://schemas.microsoft.com/office/powerpoint/2010/main" val="235139893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brik 1"/>
          <p:cNvSpPr>
            <a:spLocks noGrp="1"/>
          </p:cNvSpPr>
          <p:nvPr>
            <p:ph type="title"/>
          </p:nvPr>
        </p:nvSpPr>
        <p:spPr>
          <a:xfrm>
            <a:off x="971600" y="138748"/>
            <a:ext cx="6894766" cy="488787"/>
          </a:xfrm>
        </p:spPr>
        <p:txBody>
          <a:bodyPr/>
          <a:lstStyle/>
          <a:p>
            <a:r>
              <a:rPr lang="en-GB" sz="3200" dirty="0"/>
              <a:t>Return to work among cancer survivors</a:t>
            </a:r>
            <a:br>
              <a:rPr lang="en-GB" sz="3200" dirty="0"/>
            </a:br>
            <a:endParaRPr lang="en-US" sz="3200" dirty="0"/>
          </a:p>
        </p:txBody>
      </p:sp>
      <p:sp>
        <p:nvSpPr>
          <p:cNvPr id="3" name="Platshållare för innehåll 2"/>
          <p:cNvSpPr>
            <a:spLocks noGrp="1"/>
          </p:cNvSpPr>
          <p:nvPr>
            <p:ph sz="quarter" idx="12"/>
          </p:nvPr>
        </p:nvSpPr>
        <p:spPr>
          <a:xfrm>
            <a:off x="683568" y="843558"/>
            <a:ext cx="7776864" cy="3240360"/>
          </a:xfrm>
        </p:spPr>
        <p:txBody>
          <a:bodyPr>
            <a:normAutofit fontScale="92500"/>
          </a:bodyPr>
          <a:lstStyle/>
          <a:p>
            <a:pPr marL="0" indent="0">
              <a:spcBef>
                <a:spcPts val="450"/>
              </a:spcBef>
              <a:spcAft>
                <a:spcPts val="450"/>
              </a:spcAft>
              <a:buNone/>
            </a:pPr>
            <a:r>
              <a:rPr lang="en-GB" sz="2700" dirty="0">
                <a:latin typeface="+mn-lt"/>
              </a:rPr>
              <a:t>We are interested in a study about RTW among cancer survivors with two-sided α = 0.05 and power = 80%. </a:t>
            </a:r>
          </a:p>
          <a:p>
            <a:pPr marL="0" indent="0">
              <a:spcBef>
                <a:spcPts val="450"/>
              </a:spcBef>
              <a:spcAft>
                <a:spcPts val="450"/>
              </a:spcAft>
              <a:buNone/>
            </a:pPr>
            <a:r>
              <a:rPr lang="en-GB" sz="2700" dirty="0">
                <a:latin typeface="+mn-lt"/>
              </a:rPr>
              <a:t>Two groups, </a:t>
            </a:r>
            <a:r>
              <a:rPr lang="en-GB" sz="2700" b="1" dirty="0">
                <a:solidFill>
                  <a:srgbClr val="C00000"/>
                </a:solidFill>
                <a:latin typeface="+mn-lt"/>
              </a:rPr>
              <a:t>Group-1</a:t>
            </a:r>
            <a:r>
              <a:rPr lang="en-GB" sz="2700" dirty="0">
                <a:latin typeface="+mn-lt"/>
              </a:rPr>
              <a:t> vs </a:t>
            </a:r>
            <a:r>
              <a:rPr lang="en-GB" sz="2700" b="1" dirty="0">
                <a:solidFill>
                  <a:srgbClr val="7030A0"/>
                </a:solidFill>
                <a:latin typeface="+mn-lt"/>
              </a:rPr>
              <a:t>Group-2</a:t>
            </a:r>
            <a:r>
              <a:rPr lang="en-GB" sz="2700" dirty="0">
                <a:latin typeface="+mn-lt"/>
              </a:rPr>
              <a:t> </a:t>
            </a:r>
          </a:p>
          <a:p>
            <a:pPr marL="0" indent="0">
              <a:spcBef>
                <a:spcPts val="450"/>
              </a:spcBef>
              <a:spcAft>
                <a:spcPts val="450"/>
              </a:spcAft>
              <a:buNone/>
            </a:pPr>
            <a:r>
              <a:rPr lang="en-GB" sz="2700" dirty="0" err="1">
                <a:latin typeface="+mn-lt"/>
              </a:rPr>
              <a:t>i</a:t>
            </a:r>
            <a:r>
              <a:rPr lang="en-GB" sz="2700" dirty="0">
                <a:latin typeface="+mn-lt"/>
              </a:rPr>
              <a:t>. </a:t>
            </a:r>
            <a:r>
              <a:rPr lang="en-GB" sz="2700" b="1" dirty="0">
                <a:latin typeface="+mn-lt"/>
              </a:rPr>
              <a:t>Equal groups ii. Un-equal groups</a:t>
            </a:r>
          </a:p>
          <a:p>
            <a:r>
              <a:rPr lang="en-GB" sz="2700" dirty="0">
                <a:latin typeface="+mn-lt"/>
              </a:rPr>
              <a:t>How large of a sample is needed for detecting at least 20% difference in risk among groups with Grp-1 = 62% RTW</a:t>
            </a:r>
          </a:p>
          <a:p>
            <a:endParaRPr lang="en-GB" sz="2700" dirty="0">
              <a:latin typeface="+mn-lt"/>
            </a:endParaRPr>
          </a:p>
          <a:p>
            <a:endParaRPr lang="en-GB" sz="2700" dirty="0">
              <a:latin typeface="+mn-lt"/>
            </a:endParaRPr>
          </a:p>
          <a:p>
            <a:endParaRPr lang="en-GB" sz="1650" b="1" dirty="0">
              <a:latin typeface="+mn-lt"/>
            </a:endParaRPr>
          </a:p>
        </p:txBody>
      </p:sp>
      <p:sp>
        <p:nvSpPr>
          <p:cNvPr id="4" name="Platshållare för bildnummer 3"/>
          <p:cNvSpPr>
            <a:spLocks noGrp="1"/>
          </p:cNvSpPr>
          <p:nvPr>
            <p:ph type="sldNum" sz="quarter" idx="4294967295"/>
          </p:nvPr>
        </p:nvSpPr>
        <p:spPr/>
        <p:txBody>
          <a:bodyPr/>
          <a:lstStyle/>
          <a:p>
            <a:pPr>
              <a:defRPr/>
            </a:pPr>
            <a:fld id="{9426A61E-93B8-384D-8975-0A89DB09A550}" type="slidenum">
              <a:rPr lang="sv-SE" smtClean="0"/>
              <a:pPr>
                <a:defRPr/>
              </a:pPr>
              <a:t>60</a:t>
            </a:fld>
            <a:endParaRPr lang="sv-SE"/>
          </a:p>
        </p:txBody>
      </p:sp>
    </p:spTree>
    <p:extLst>
      <p:ext uri="{BB962C8B-B14F-4D97-AF65-F5344CB8AC3E}">
        <p14:creationId xmlns:p14="http://schemas.microsoft.com/office/powerpoint/2010/main" val="5291998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tshållare för bildnummer 3"/>
          <p:cNvSpPr>
            <a:spLocks noGrp="1"/>
          </p:cNvSpPr>
          <p:nvPr>
            <p:ph type="sldNum" sz="quarter" idx="4294967295"/>
          </p:nvPr>
        </p:nvSpPr>
        <p:spPr/>
        <p:txBody>
          <a:bodyPr/>
          <a:lstStyle/>
          <a:p>
            <a:pPr>
              <a:defRPr/>
            </a:pPr>
            <a:fld id="{9426A61E-93B8-384D-8975-0A89DB09A550}" type="slidenum">
              <a:rPr lang="sv-SE" smtClean="0"/>
              <a:pPr>
                <a:defRPr/>
              </a:pPr>
              <a:t>61</a:t>
            </a:fld>
            <a:endParaRPr lang="sv-SE"/>
          </a:p>
        </p:txBody>
      </p:sp>
      <p:graphicFrame>
        <p:nvGraphicFramePr>
          <p:cNvPr id="6" name="Tabell 5"/>
          <p:cNvGraphicFramePr>
            <a:graphicFrameLocks noGrp="1"/>
          </p:cNvGraphicFramePr>
          <p:nvPr>
            <p:extLst>
              <p:ext uri="{D42A27DB-BD31-4B8C-83A1-F6EECF244321}">
                <p14:modId xmlns:p14="http://schemas.microsoft.com/office/powerpoint/2010/main" val="3463360361"/>
              </p:ext>
            </p:extLst>
          </p:nvPr>
        </p:nvGraphicFramePr>
        <p:xfrm>
          <a:off x="539552" y="483518"/>
          <a:ext cx="3384377" cy="4176463"/>
        </p:xfrm>
        <a:graphic>
          <a:graphicData uri="http://schemas.openxmlformats.org/drawingml/2006/table">
            <a:tbl>
              <a:tblPr>
                <a:tableStyleId>{5C22544A-7EE6-4342-B048-85BDC9FD1C3A}</a:tableStyleId>
              </a:tblPr>
              <a:tblGrid>
                <a:gridCol w="771876">
                  <a:extLst>
                    <a:ext uri="{9D8B030D-6E8A-4147-A177-3AD203B41FA5}">
                      <a16:colId xmlns:a16="http://schemas.microsoft.com/office/drawing/2014/main" val="1600913413"/>
                    </a:ext>
                  </a:extLst>
                </a:gridCol>
                <a:gridCol w="1009376">
                  <a:extLst>
                    <a:ext uri="{9D8B030D-6E8A-4147-A177-3AD203B41FA5}">
                      <a16:colId xmlns:a16="http://schemas.microsoft.com/office/drawing/2014/main" val="2315013661"/>
                    </a:ext>
                  </a:extLst>
                </a:gridCol>
                <a:gridCol w="104243">
                  <a:extLst>
                    <a:ext uri="{9D8B030D-6E8A-4147-A177-3AD203B41FA5}">
                      <a16:colId xmlns:a16="http://schemas.microsoft.com/office/drawing/2014/main" val="45362177"/>
                    </a:ext>
                  </a:extLst>
                </a:gridCol>
                <a:gridCol w="1498882">
                  <a:extLst>
                    <a:ext uri="{9D8B030D-6E8A-4147-A177-3AD203B41FA5}">
                      <a16:colId xmlns:a16="http://schemas.microsoft.com/office/drawing/2014/main" val="40220216"/>
                    </a:ext>
                  </a:extLst>
                </a:gridCol>
              </a:tblGrid>
              <a:tr h="776227">
                <a:tc gridSpan="4">
                  <a:txBody>
                    <a:bodyPr/>
                    <a:lstStyle/>
                    <a:p>
                      <a:pPr algn="ctr">
                        <a:lnSpc>
                          <a:spcPct val="107000"/>
                        </a:lnSpc>
                        <a:spcBef>
                          <a:spcPts val="145"/>
                        </a:spcBef>
                        <a:spcAft>
                          <a:spcPts val="145"/>
                        </a:spcAft>
                      </a:pPr>
                      <a:r>
                        <a:rPr lang="en-US" sz="2100" b="1" dirty="0">
                          <a:solidFill>
                            <a:schemeClr val="tx1"/>
                          </a:solidFill>
                          <a:effectLst/>
                        </a:rPr>
                        <a:t>Sample size required </a:t>
                      </a:r>
                    </a:p>
                    <a:p>
                      <a:pPr algn="ctr">
                        <a:lnSpc>
                          <a:spcPct val="107000"/>
                        </a:lnSpc>
                        <a:spcBef>
                          <a:spcPts val="145"/>
                        </a:spcBef>
                        <a:spcAft>
                          <a:spcPts val="145"/>
                        </a:spcAft>
                      </a:pPr>
                      <a:r>
                        <a:rPr lang="en-US" sz="2100" b="1" dirty="0">
                          <a:solidFill>
                            <a:schemeClr val="tx1"/>
                          </a:solidFill>
                          <a:effectLst/>
                        </a:rPr>
                        <a:t>(</a:t>
                      </a:r>
                      <a:r>
                        <a:rPr lang="en-US" sz="2100" b="1" baseline="0" dirty="0">
                          <a:solidFill>
                            <a:schemeClr val="tx1"/>
                          </a:solidFill>
                          <a:effectLst/>
                        </a:rPr>
                        <a:t>equal</a:t>
                      </a:r>
                      <a:r>
                        <a:rPr lang="en-US" sz="2100" b="1" dirty="0">
                          <a:solidFill>
                            <a:schemeClr val="tx1"/>
                          </a:solidFill>
                          <a:effectLst/>
                        </a:rPr>
                        <a:t>)</a:t>
                      </a:r>
                      <a:r>
                        <a:rPr lang="en-GB" sz="2100" b="1" dirty="0">
                          <a:solidFill>
                            <a:schemeClr val="tx1"/>
                          </a:solidFill>
                          <a:effectLst/>
                        </a:rPr>
                        <a:t> </a:t>
                      </a:r>
                      <a:endParaRPr lang="en-GB" sz="2100" b="1" dirty="0">
                        <a:solidFill>
                          <a:schemeClr val="tx1"/>
                        </a:solidFill>
                        <a:effectLst/>
                        <a:latin typeface="Times New Roman" panose="02020603050405020304" pitchFamily="18" charset="0"/>
                      </a:endParaRPr>
                    </a:p>
                  </a:txBody>
                  <a:tcPr marL="13811" marR="13811" marT="0" marB="0"/>
                </a:tc>
                <a:tc hMerge="1">
                  <a:txBody>
                    <a:bodyPr/>
                    <a:lstStyle/>
                    <a:p>
                      <a:endParaRPr lang="en-GB"/>
                    </a:p>
                  </a:txBody>
                  <a:tcPr/>
                </a:tc>
                <a:tc hMerge="1">
                  <a:txBody>
                    <a:bodyPr/>
                    <a:lstStyle/>
                    <a:p>
                      <a:endParaRPr lang="en-GB"/>
                    </a:p>
                  </a:txBody>
                  <a:tcPr/>
                </a:tc>
                <a:tc hMerge="1">
                  <a:txBody>
                    <a:bodyPr/>
                    <a:lstStyle/>
                    <a:p>
                      <a:endParaRPr lang="en-US"/>
                    </a:p>
                  </a:txBody>
                  <a:tcPr/>
                </a:tc>
                <a:extLst>
                  <a:ext uri="{0D108BD9-81ED-4DB2-BD59-A6C34878D82A}">
                    <a16:rowId xmlns:a16="http://schemas.microsoft.com/office/drawing/2014/main" val="1906023675"/>
                  </a:ext>
                </a:extLst>
              </a:tr>
              <a:tr h="373924">
                <a:tc>
                  <a:txBody>
                    <a:bodyPr/>
                    <a:lstStyle/>
                    <a:p>
                      <a:pPr algn="ctr">
                        <a:lnSpc>
                          <a:spcPct val="107000"/>
                        </a:lnSpc>
                        <a:spcBef>
                          <a:spcPts val="145"/>
                        </a:spcBef>
                        <a:spcAft>
                          <a:spcPts val="145"/>
                        </a:spcAft>
                      </a:pPr>
                      <a:r>
                        <a:rPr lang="en-US" sz="2100" b="1">
                          <a:effectLst/>
                        </a:rPr>
                        <a:t>Index</a:t>
                      </a:r>
                      <a:endParaRPr lang="en-GB" sz="2100" b="1">
                        <a:effectLst/>
                        <a:latin typeface="Times New Roman" panose="02020603050405020304" pitchFamily="18" charset="0"/>
                        <a:ea typeface="Times New Roman" panose="02020603050405020304" pitchFamily="18" charset="0"/>
                      </a:endParaRPr>
                    </a:p>
                  </a:txBody>
                  <a:tcPr marL="13811" marR="13811" marT="0" marB="0" anchor="b"/>
                </a:tc>
                <a:tc>
                  <a:txBody>
                    <a:bodyPr/>
                    <a:lstStyle/>
                    <a:p>
                      <a:pPr algn="ctr">
                        <a:lnSpc>
                          <a:spcPct val="107000"/>
                        </a:lnSpc>
                        <a:spcBef>
                          <a:spcPts val="145"/>
                        </a:spcBef>
                        <a:spcAft>
                          <a:spcPts val="145"/>
                        </a:spcAft>
                      </a:pPr>
                      <a:r>
                        <a:rPr lang="en-US" sz="2100" b="1" dirty="0">
                          <a:effectLst/>
                        </a:rPr>
                        <a:t>Power</a:t>
                      </a:r>
                      <a:endParaRPr lang="en-GB" sz="2100" b="1" dirty="0">
                        <a:effectLst/>
                        <a:latin typeface="Times New Roman" panose="02020603050405020304" pitchFamily="18" charset="0"/>
                        <a:ea typeface="Times New Roman" panose="02020603050405020304" pitchFamily="18" charset="0"/>
                      </a:endParaRPr>
                    </a:p>
                  </a:txBody>
                  <a:tcPr marL="13811" marR="13811" marT="0" marB="0" anchor="b"/>
                </a:tc>
                <a:tc>
                  <a:txBody>
                    <a:bodyPr/>
                    <a:lstStyle/>
                    <a:p>
                      <a:pPr algn="ctr">
                        <a:lnSpc>
                          <a:spcPct val="107000"/>
                        </a:lnSpc>
                        <a:spcBef>
                          <a:spcPts val="145"/>
                        </a:spcBef>
                        <a:spcAft>
                          <a:spcPts val="145"/>
                        </a:spcAft>
                      </a:pPr>
                      <a:endParaRPr lang="en-GB" sz="1600" b="1" dirty="0">
                        <a:solidFill>
                          <a:schemeClr val="bg1">
                            <a:lumMod val="75000"/>
                          </a:schemeClr>
                        </a:solidFill>
                        <a:effectLst/>
                        <a:latin typeface="Times New Roman" panose="02020603050405020304" pitchFamily="18" charset="0"/>
                        <a:ea typeface="Times New Roman" panose="02020603050405020304" pitchFamily="18" charset="0"/>
                      </a:endParaRPr>
                    </a:p>
                  </a:txBody>
                  <a:tcPr marL="13811" marR="13811" marT="0" marB="0" anchor="b"/>
                </a:tc>
                <a:tc>
                  <a:txBody>
                    <a:bodyPr/>
                    <a:lstStyle/>
                    <a:p>
                      <a:pPr marL="0" marR="0" lvl="0" indent="0" algn="ctr" defTabSz="457200" rtl="0" eaLnBrk="1" fontAlgn="auto" latinLnBrk="0" hangingPunct="1">
                        <a:lnSpc>
                          <a:spcPct val="107000"/>
                        </a:lnSpc>
                        <a:spcBef>
                          <a:spcPts val="145"/>
                        </a:spcBef>
                        <a:spcAft>
                          <a:spcPts val="145"/>
                        </a:spcAft>
                        <a:buClrTx/>
                        <a:buSzTx/>
                        <a:buFontTx/>
                        <a:buNone/>
                        <a:tabLst/>
                        <a:defRPr/>
                      </a:pPr>
                      <a:r>
                        <a:rPr lang="en-US" sz="2100" b="1" dirty="0">
                          <a:effectLst/>
                        </a:rPr>
                        <a:t>Total N </a:t>
                      </a:r>
                    </a:p>
                  </a:txBody>
                  <a:tcPr marL="13811" marR="13811" marT="0" marB="0" anchor="b"/>
                </a:tc>
                <a:extLst>
                  <a:ext uri="{0D108BD9-81ED-4DB2-BD59-A6C34878D82A}">
                    <a16:rowId xmlns:a16="http://schemas.microsoft.com/office/drawing/2014/main" val="3057952159"/>
                  </a:ext>
                </a:extLst>
              </a:tr>
              <a:tr h="378289">
                <a:tc>
                  <a:txBody>
                    <a:bodyPr/>
                    <a:lstStyle/>
                    <a:p>
                      <a:pPr algn="ctr">
                        <a:lnSpc>
                          <a:spcPct val="107000"/>
                        </a:lnSpc>
                        <a:spcBef>
                          <a:spcPts val="145"/>
                        </a:spcBef>
                        <a:spcAft>
                          <a:spcPts val="145"/>
                        </a:spcAft>
                      </a:pPr>
                      <a:r>
                        <a:rPr lang="en-US" sz="2100" b="1">
                          <a:effectLst/>
                        </a:rPr>
                        <a:t>1</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0.20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endParaRPr lang="en-GB" sz="1600" b="1" dirty="0">
                        <a:solidFill>
                          <a:schemeClr val="bg1">
                            <a:lumMod val="75000"/>
                          </a:schemeClr>
                        </a:solidFill>
                        <a:effectLst/>
                        <a:latin typeface="Times New Roman" panose="02020603050405020304" pitchFamily="18" charset="0"/>
                        <a:ea typeface="Times New Roman" panose="02020603050405020304" pitchFamily="18" charset="0"/>
                      </a:endParaRPr>
                    </a:p>
                  </a:txBody>
                  <a:tcPr marL="13811" marR="13811" marT="0" marB="0"/>
                </a:tc>
                <a:tc>
                  <a:txBody>
                    <a:bodyPr/>
                    <a:lstStyle/>
                    <a:p>
                      <a:pPr marL="0" algn="ctr" defTabSz="457200" rtl="0" eaLnBrk="1" latinLnBrk="0" hangingPunct="1">
                        <a:lnSpc>
                          <a:spcPct val="107000"/>
                        </a:lnSpc>
                        <a:spcBef>
                          <a:spcPts val="145"/>
                        </a:spcBef>
                        <a:spcAft>
                          <a:spcPts val="145"/>
                        </a:spcAft>
                      </a:pPr>
                      <a:r>
                        <a:rPr lang="en-GB" sz="2100" b="1" kern="1200" dirty="0">
                          <a:solidFill>
                            <a:schemeClr val="dk1"/>
                          </a:solidFill>
                          <a:effectLst/>
                          <a:latin typeface="+mn-lt"/>
                          <a:ea typeface="+mn-ea"/>
                          <a:cs typeface="+mn-cs"/>
                        </a:rPr>
                        <a:t>72</a:t>
                      </a:r>
                    </a:p>
                  </a:txBody>
                  <a:tcPr marL="13811" marR="13811" marT="0" marB="0"/>
                </a:tc>
                <a:extLst>
                  <a:ext uri="{0D108BD9-81ED-4DB2-BD59-A6C34878D82A}">
                    <a16:rowId xmlns:a16="http://schemas.microsoft.com/office/drawing/2014/main" val="400597539"/>
                  </a:ext>
                </a:extLst>
              </a:tr>
              <a:tr h="378289">
                <a:tc>
                  <a:txBody>
                    <a:bodyPr/>
                    <a:lstStyle/>
                    <a:p>
                      <a:pPr algn="ctr">
                        <a:lnSpc>
                          <a:spcPct val="107000"/>
                        </a:lnSpc>
                        <a:spcBef>
                          <a:spcPts val="145"/>
                        </a:spcBef>
                        <a:spcAft>
                          <a:spcPts val="145"/>
                        </a:spcAft>
                      </a:pPr>
                      <a:r>
                        <a:rPr lang="en-US" sz="2100" b="1" dirty="0">
                          <a:effectLst/>
                        </a:rPr>
                        <a:t>2</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0.30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endParaRPr lang="en-GB" sz="1600" b="1" dirty="0">
                        <a:solidFill>
                          <a:schemeClr val="bg1">
                            <a:lumMod val="75000"/>
                          </a:schemeClr>
                        </a:solidFill>
                        <a:effectLst/>
                        <a:latin typeface="Times New Roman" panose="02020603050405020304" pitchFamily="18" charset="0"/>
                        <a:ea typeface="Times New Roman" panose="02020603050405020304" pitchFamily="18" charset="0"/>
                      </a:endParaRPr>
                    </a:p>
                  </a:txBody>
                  <a:tcPr marL="13811" marR="13811" marT="0" marB="0"/>
                </a:tc>
                <a:tc>
                  <a:txBody>
                    <a:bodyPr/>
                    <a:lstStyle/>
                    <a:p>
                      <a:pPr marL="0" algn="ctr" defTabSz="457200" rtl="0" eaLnBrk="1" latinLnBrk="0" hangingPunct="1">
                        <a:lnSpc>
                          <a:spcPct val="107000"/>
                        </a:lnSpc>
                        <a:spcBef>
                          <a:spcPts val="145"/>
                        </a:spcBef>
                        <a:spcAft>
                          <a:spcPts val="145"/>
                        </a:spcAft>
                      </a:pPr>
                      <a:r>
                        <a:rPr lang="en-GB" sz="2100" b="1" kern="1200" dirty="0">
                          <a:solidFill>
                            <a:schemeClr val="dk1"/>
                          </a:solidFill>
                          <a:effectLst/>
                          <a:latin typeface="+mn-lt"/>
                          <a:ea typeface="+mn-ea"/>
                          <a:cs typeface="+mn-cs"/>
                        </a:rPr>
                        <a:t>118</a:t>
                      </a:r>
                    </a:p>
                  </a:txBody>
                  <a:tcPr marL="13811" marR="13811" marT="0" marB="0"/>
                </a:tc>
                <a:extLst>
                  <a:ext uri="{0D108BD9-81ED-4DB2-BD59-A6C34878D82A}">
                    <a16:rowId xmlns:a16="http://schemas.microsoft.com/office/drawing/2014/main" val="2181108144"/>
                  </a:ext>
                </a:extLst>
              </a:tr>
              <a:tr h="378289">
                <a:tc>
                  <a:txBody>
                    <a:bodyPr/>
                    <a:lstStyle/>
                    <a:p>
                      <a:pPr algn="ctr">
                        <a:lnSpc>
                          <a:spcPct val="107000"/>
                        </a:lnSpc>
                        <a:spcBef>
                          <a:spcPts val="145"/>
                        </a:spcBef>
                        <a:spcAft>
                          <a:spcPts val="145"/>
                        </a:spcAft>
                      </a:pPr>
                      <a:r>
                        <a:rPr lang="en-US" sz="2100" b="1">
                          <a:effectLst/>
                        </a:rPr>
                        <a:t>3</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0.40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endParaRPr lang="en-GB" sz="1600" b="1" dirty="0">
                        <a:solidFill>
                          <a:schemeClr val="bg1">
                            <a:lumMod val="75000"/>
                          </a:schemeClr>
                        </a:solidFill>
                        <a:effectLst/>
                        <a:latin typeface="Times New Roman" panose="02020603050405020304" pitchFamily="18" charset="0"/>
                        <a:ea typeface="Times New Roman" panose="02020603050405020304" pitchFamily="18" charset="0"/>
                      </a:endParaRPr>
                    </a:p>
                  </a:txBody>
                  <a:tcPr marL="13811" marR="13811" marT="0" marB="0"/>
                </a:tc>
                <a:tc>
                  <a:txBody>
                    <a:bodyPr/>
                    <a:lstStyle/>
                    <a:p>
                      <a:pPr marL="0" algn="ctr" defTabSz="457200" rtl="0" eaLnBrk="1" latinLnBrk="0" hangingPunct="1">
                        <a:lnSpc>
                          <a:spcPct val="107000"/>
                        </a:lnSpc>
                        <a:spcBef>
                          <a:spcPts val="145"/>
                        </a:spcBef>
                        <a:spcAft>
                          <a:spcPts val="145"/>
                        </a:spcAft>
                      </a:pPr>
                      <a:r>
                        <a:rPr lang="en-GB" sz="2100" b="1" kern="1200" dirty="0">
                          <a:solidFill>
                            <a:schemeClr val="dk1"/>
                          </a:solidFill>
                          <a:effectLst/>
                          <a:latin typeface="+mn-lt"/>
                          <a:ea typeface="+mn-ea"/>
                          <a:cs typeface="+mn-cs"/>
                        </a:rPr>
                        <a:t>166</a:t>
                      </a:r>
                    </a:p>
                  </a:txBody>
                  <a:tcPr marL="13811" marR="13811" marT="0" marB="0"/>
                </a:tc>
                <a:extLst>
                  <a:ext uri="{0D108BD9-81ED-4DB2-BD59-A6C34878D82A}">
                    <a16:rowId xmlns:a16="http://schemas.microsoft.com/office/drawing/2014/main" val="318467483"/>
                  </a:ext>
                </a:extLst>
              </a:tr>
              <a:tr h="378289">
                <a:tc>
                  <a:txBody>
                    <a:bodyPr/>
                    <a:lstStyle/>
                    <a:p>
                      <a:pPr algn="ctr">
                        <a:lnSpc>
                          <a:spcPct val="107000"/>
                        </a:lnSpc>
                        <a:spcBef>
                          <a:spcPts val="145"/>
                        </a:spcBef>
                        <a:spcAft>
                          <a:spcPts val="145"/>
                        </a:spcAft>
                      </a:pPr>
                      <a:r>
                        <a:rPr lang="en-US" sz="2100" b="1">
                          <a:effectLst/>
                        </a:rPr>
                        <a:t>4</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0.50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endParaRPr lang="en-GB" sz="1600" b="1" dirty="0">
                        <a:solidFill>
                          <a:schemeClr val="bg1">
                            <a:lumMod val="75000"/>
                          </a:schemeClr>
                        </a:solidFill>
                        <a:effectLst/>
                        <a:latin typeface="Times New Roman" panose="02020603050405020304" pitchFamily="18" charset="0"/>
                        <a:ea typeface="Times New Roman" panose="02020603050405020304" pitchFamily="18" charset="0"/>
                      </a:endParaRPr>
                    </a:p>
                  </a:txBody>
                  <a:tcPr marL="13811" marR="13811" marT="0" marB="0"/>
                </a:tc>
                <a:tc>
                  <a:txBody>
                    <a:bodyPr/>
                    <a:lstStyle/>
                    <a:p>
                      <a:pPr marL="0" algn="ctr" defTabSz="457200" rtl="0" eaLnBrk="1" latinLnBrk="0" hangingPunct="1">
                        <a:lnSpc>
                          <a:spcPct val="107000"/>
                        </a:lnSpc>
                        <a:spcBef>
                          <a:spcPts val="145"/>
                        </a:spcBef>
                        <a:spcAft>
                          <a:spcPts val="145"/>
                        </a:spcAft>
                      </a:pPr>
                      <a:r>
                        <a:rPr lang="en-GB" sz="2100" b="1" kern="1200" dirty="0">
                          <a:solidFill>
                            <a:schemeClr val="dk1"/>
                          </a:solidFill>
                          <a:effectLst/>
                          <a:latin typeface="+mn-lt"/>
                          <a:ea typeface="+mn-ea"/>
                          <a:cs typeface="+mn-cs"/>
                        </a:rPr>
                        <a:t>218</a:t>
                      </a:r>
                    </a:p>
                  </a:txBody>
                  <a:tcPr marL="13811" marR="13811" marT="0" marB="0"/>
                </a:tc>
                <a:extLst>
                  <a:ext uri="{0D108BD9-81ED-4DB2-BD59-A6C34878D82A}">
                    <a16:rowId xmlns:a16="http://schemas.microsoft.com/office/drawing/2014/main" val="915697208"/>
                  </a:ext>
                </a:extLst>
              </a:tr>
              <a:tr h="378289">
                <a:tc>
                  <a:txBody>
                    <a:bodyPr/>
                    <a:lstStyle/>
                    <a:p>
                      <a:pPr algn="ctr">
                        <a:lnSpc>
                          <a:spcPct val="107000"/>
                        </a:lnSpc>
                        <a:spcBef>
                          <a:spcPts val="145"/>
                        </a:spcBef>
                        <a:spcAft>
                          <a:spcPts val="145"/>
                        </a:spcAft>
                      </a:pPr>
                      <a:r>
                        <a:rPr lang="en-US" sz="2100" b="1">
                          <a:effectLst/>
                        </a:rPr>
                        <a:t>5</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0.60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endParaRPr lang="en-GB" sz="1600" b="1" dirty="0">
                        <a:solidFill>
                          <a:schemeClr val="bg1">
                            <a:lumMod val="75000"/>
                          </a:schemeClr>
                        </a:solidFill>
                        <a:effectLst/>
                        <a:latin typeface="Times New Roman" panose="02020603050405020304" pitchFamily="18" charset="0"/>
                        <a:ea typeface="Times New Roman" panose="02020603050405020304" pitchFamily="18" charset="0"/>
                      </a:endParaRPr>
                    </a:p>
                  </a:txBody>
                  <a:tcPr marL="13811" marR="13811" marT="0" marB="0"/>
                </a:tc>
                <a:tc>
                  <a:txBody>
                    <a:bodyPr/>
                    <a:lstStyle/>
                    <a:p>
                      <a:pPr marL="0" algn="ctr" defTabSz="457200" rtl="0" eaLnBrk="1" latinLnBrk="0" hangingPunct="1">
                        <a:lnSpc>
                          <a:spcPct val="107000"/>
                        </a:lnSpc>
                        <a:spcBef>
                          <a:spcPts val="145"/>
                        </a:spcBef>
                        <a:spcAft>
                          <a:spcPts val="145"/>
                        </a:spcAft>
                      </a:pPr>
                      <a:r>
                        <a:rPr lang="en-GB" sz="2100" b="1" kern="1200" dirty="0">
                          <a:solidFill>
                            <a:schemeClr val="dk1"/>
                          </a:solidFill>
                          <a:effectLst/>
                          <a:latin typeface="+mn-lt"/>
                          <a:ea typeface="+mn-ea"/>
                          <a:cs typeface="+mn-cs"/>
                        </a:rPr>
                        <a:t>276</a:t>
                      </a:r>
                    </a:p>
                  </a:txBody>
                  <a:tcPr marL="13811" marR="13811" marT="0" marB="0"/>
                </a:tc>
                <a:extLst>
                  <a:ext uri="{0D108BD9-81ED-4DB2-BD59-A6C34878D82A}">
                    <a16:rowId xmlns:a16="http://schemas.microsoft.com/office/drawing/2014/main" val="4090030973"/>
                  </a:ext>
                </a:extLst>
              </a:tr>
              <a:tr h="378289">
                <a:tc>
                  <a:txBody>
                    <a:bodyPr/>
                    <a:lstStyle/>
                    <a:p>
                      <a:pPr algn="ctr">
                        <a:lnSpc>
                          <a:spcPct val="107000"/>
                        </a:lnSpc>
                        <a:spcBef>
                          <a:spcPts val="145"/>
                        </a:spcBef>
                        <a:spcAft>
                          <a:spcPts val="145"/>
                        </a:spcAft>
                      </a:pPr>
                      <a:r>
                        <a:rPr lang="en-US" sz="2100" b="1">
                          <a:effectLst/>
                        </a:rPr>
                        <a:t>6</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0.70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endParaRPr lang="en-GB" sz="1600" b="1" dirty="0">
                        <a:solidFill>
                          <a:schemeClr val="bg1">
                            <a:lumMod val="75000"/>
                          </a:schemeClr>
                        </a:solidFill>
                        <a:effectLst/>
                        <a:latin typeface="Times New Roman" panose="02020603050405020304" pitchFamily="18" charset="0"/>
                        <a:ea typeface="Times New Roman" panose="02020603050405020304" pitchFamily="18" charset="0"/>
                      </a:endParaRPr>
                    </a:p>
                  </a:txBody>
                  <a:tcPr marL="13811" marR="13811" marT="0" marB="0"/>
                </a:tc>
                <a:tc>
                  <a:txBody>
                    <a:bodyPr/>
                    <a:lstStyle/>
                    <a:p>
                      <a:pPr marL="0" algn="ctr" defTabSz="457200" rtl="0" eaLnBrk="1" latinLnBrk="0" hangingPunct="1">
                        <a:lnSpc>
                          <a:spcPct val="107000"/>
                        </a:lnSpc>
                        <a:spcBef>
                          <a:spcPts val="145"/>
                        </a:spcBef>
                        <a:spcAft>
                          <a:spcPts val="145"/>
                        </a:spcAft>
                      </a:pPr>
                      <a:r>
                        <a:rPr lang="en-GB" sz="2100" b="1" kern="1200" dirty="0">
                          <a:solidFill>
                            <a:schemeClr val="dk1"/>
                          </a:solidFill>
                          <a:effectLst/>
                          <a:latin typeface="+mn-lt"/>
                          <a:ea typeface="+mn-ea"/>
                          <a:cs typeface="+mn-cs"/>
                        </a:rPr>
                        <a:t>348</a:t>
                      </a:r>
                    </a:p>
                  </a:txBody>
                  <a:tcPr marL="13811" marR="13811" marT="0" marB="0"/>
                </a:tc>
                <a:extLst>
                  <a:ext uri="{0D108BD9-81ED-4DB2-BD59-A6C34878D82A}">
                    <a16:rowId xmlns:a16="http://schemas.microsoft.com/office/drawing/2014/main" val="1363528584"/>
                  </a:ext>
                </a:extLst>
              </a:tr>
              <a:tr h="378289">
                <a:tc>
                  <a:txBody>
                    <a:bodyPr/>
                    <a:lstStyle/>
                    <a:p>
                      <a:pPr algn="ctr">
                        <a:lnSpc>
                          <a:spcPct val="107000"/>
                        </a:lnSpc>
                        <a:spcBef>
                          <a:spcPts val="145"/>
                        </a:spcBef>
                        <a:spcAft>
                          <a:spcPts val="145"/>
                        </a:spcAft>
                      </a:pPr>
                      <a:r>
                        <a:rPr lang="en-US" sz="2100" b="1" dirty="0">
                          <a:effectLst/>
                        </a:rPr>
                        <a:t>7</a:t>
                      </a:r>
                      <a:endParaRPr lang="en-GB" sz="2100" b="1" dirty="0">
                        <a:effectLst/>
                        <a:latin typeface="Times New Roman" panose="02020603050405020304" pitchFamily="18" charset="0"/>
                        <a:ea typeface="Times New Roman" panose="02020603050405020304" pitchFamily="18" charset="0"/>
                      </a:endParaRPr>
                    </a:p>
                  </a:txBody>
                  <a:tcPr marL="13811" marR="13811" marT="0" marB="0">
                    <a:solidFill>
                      <a:srgbClr val="FFFF00"/>
                    </a:solidFill>
                  </a:tcPr>
                </a:tc>
                <a:tc>
                  <a:txBody>
                    <a:bodyPr/>
                    <a:lstStyle/>
                    <a:p>
                      <a:pPr algn="ctr">
                        <a:lnSpc>
                          <a:spcPct val="107000"/>
                        </a:lnSpc>
                        <a:spcBef>
                          <a:spcPts val="145"/>
                        </a:spcBef>
                        <a:spcAft>
                          <a:spcPts val="145"/>
                        </a:spcAft>
                      </a:pPr>
                      <a:r>
                        <a:rPr lang="en-US" sz="2100" b="1" dirty="0">
                          <a:effectLst/>
                        </a:rPr>
                        <a:t>0.80</a:t>
                      </a:r>
                      <a:endParaRPr lang="en-GB" sz="2100" b="1" dirty="0">
                        <a:effectLst/>
                        <a:latin typeface="Times New Roman" panose="02020603050405020304" pitchFamily="18" charset="0"/>
                        <a:ea typeface="Times New Roman" panose="02020603050405020304" pitchFamily="18" charset="0"/>
                      </a:endParaRPr>
                    </a:p>
                  </a:txBody>
                  <a:tcPr marL="13811" marR="13811" marT="0" marB="0">
                    <a:solidFill>
                      <a:srgbClr val="FFFF00"/>
                    </a:solidFill>
                  </a:tcPr>
                </a:tc>
                <a:tc>
                  <a:txBody>
                    <a:bodyPr/>
                    <a:lstStyle/>
                    <a:p>
                      <a:pPr algn="ctr">
                        <a:lnSpc>
                          <a:spcPct val="107000"/>
                        </a:lnSpc>
                        <a:spcBef>
                          <a:spcPts val="145"/>
                        </a:spcBef>
                        <a:spcAft>
                          <a:spcPts val="145"/>
                        </a:spcAft>
                      </a:pPr>
                      <a:endParaRPr lang="en-GB" sz="1600" b="1" dirty="0">
                        <a:solidFill>
                          <a:schemeClr val="bg1">
                            <a:lumMod val="75000"/>
                          </a:schemeClr>
                        </a:solidFill>
                        <a:effectLst/>
                        <a:latin typeface="Times New Roman" panose="02020603050405020304" pitchFamily="18" charset="0"/>
                        <a:ea typeface="Times New Roman" panose="02020603050405020304" pitchFamily="18" charset="0"/>
                      </a:endParaRPr>
                    </a:p>
                  </a:txBody>
                  <a:tcPr marL="13811" marR="13811" marT="0" marB="0">
                    <a:solidFill>
                      <a:srgbClr val="FFFF00"/>
                    </a:solidFill>
                  </a:tcPr>
                </a:tc>
                <a:tc>
                  <a:txBody>
                    <a:bodyPr/>
                    <a:lstStyle/>
                    <a:p>
                      <a:pPr marL="0" algn="ctr" defTabSz="457200" rtl="0" eaLnBrk="1" latinLnBrk="0" hangingPunct="1">
                        <a:lnSpc>
                          <a:spcPct val="107000"/>
                        </a:lnSpc>
                        <a:spcBef>
                          <a:spcPts val="145"/>
                        </a:spcBef>
                        <a:spcAft>
                          <a:spcPts val="145"/>
                        </a:spcAft>
                      </a:pPr>
                      <a:r>
                        <a:rPr lang="en-GB" sz="2100" b="1" kern="1200" dirty="0">
                          <a:solidFill>
                            <a:schemeClr val="dk1"/>
                          </a:solidFill>
                          <a:effectLst/>
                          <a:latin typeface="+mn-lt"/>
                          <a:ea typeface="+mn-ea"/>
                          <a:cs typeface="+mn-cs"/>
                        </a:rPr>
                        <a:t>442</a:t>
                      </a:r>
                    </a:p>
                  </a:txBody>
                  <a:tcPr marL="13811" marR="13811" marT="0" marB="0">
                    <a:solidFill>
                      <a:srgbClr val="FFFF00"/>
                    </a:solidFill>
                  </a:tcPr>
                </a:tc>
                <a:extLst>
                  <a:ext uri="{0D108BD9-81ED-4DB2-BD59-A6C34878D82A}">
                    <a16:rowId xmlns:a16="http://schemas.microsoft.com/office/drawing/2014/main" val="1941718851"/>
                  </a:ext>
                </a:extLst>
              </a:tr>
              <a:tr h="378289">
                <a:tc>
                  <a:txBody>
                    <a:bodyPr/>
                    <a:lstStyle/>
                    <a:p>
                      <a:pPr algn="ctr">
                        <a:lnSpc>
                          <a:spcPct val="107000"/>
                        </a:lnSpc>
                        <a:spcBef>
                          <a:spcPts val="145"/>
                        </a:spcBef>
                        <a:spcAft>
                          <a:spcPts val="145"/>
                        </a:spcAft>
                      </a:pPr>
                      <a:r>
                        <a:rPr lang="en-US" sz="2100" b="1">
                          <a:effectLst/>
                        </a:rPr>
                        <a:t>8</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0.90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endParaRPr lang="en-GB" sz="1600" b="1" dirty="0">
                        <a:solidFill>
                          <a:schemeClr val="bg1">
                            <a:lumMod val="75000"/>
                          </a:schemeClr>
                        </a:solidFill>
                        <a:effectLst/>
                        <a:latin typeface="Times New Roman" panose="02020603050405020304" pitchFamily="18" charset="0"/>
                        <a:ea typeface="Times New Roman" panose="02020603050405020304" pitchFamily="18" charset="0"/>
                      </a:endParaRPr>
                    </a:p>
                  </a:txBody>
                  <a:tcPr marL="13811" marR="13811" marT="0" marB="0"/>
                </a:tc>
                <a:tc>
                  <a:txBody>
                    <a:bodyPr/>
                    <a:lstStyle/>
                    <a:p>
                      <a:pPr marL="0" algn="ctr" defTabSz="457200" rtl="0" eaLnBrk="1" latinLnBrk="0" hangingPunct="1">
                        <a:lnSpc>
                          <a:spcPct val="107000"/>
                        </a:lnSpc>
                        <a:spcBef>
                          <a:spcPts val="145"/>
                        </a:spcBef>
                        <a:spcAft>
                          <a:spcPts val="145"/>
                        </a:spcAft>
                      </a:pPr>
                      <a:r>
                        <a:rPr lang="en-GB" sz="2100" b="1" kern="1200" dirty="0">
                          <a:solidFill>
                            <a:schemeClr val="dk1"/>
                          </a:solidFill>
                          <a:effectLst/>
                          <a:latin typeface="+mn-lt"/>
                          <a:ea typeface="+mn-ea"/>
                          <a:cs typeface="+mn-cs"/>
                        </a:rPr>
                        <a:t>590</a:t>
                      </a:r>
                    </a:p>
                  </a:txBody>
                  <a:tcPr marL="13811" marR="13811" marT="0" marB="0"/>
                </a:tc>
                <a:extLst>
                  <a:ext uri="{0D108BD9-81ED-4DB2-BD59-A6C34878D82A}">
                    <a16:rowId xmlns:a16="http://schemas.microsoft.com/office/drawing/2014/main" val="2320870063"/>
                  </a:ext>
                </a:extLst>
              </a:tr>
            </a:tbl>
          </a:graphicData>
        </a:graphic>
      </p:graphicFrame>
      <p:graphicFrame>
        <p:nvGraphicFramePr>
          <p:cNvPr id="10" name="Tabell 9"/>
          <p:cNvGraphicFramePr>
            <a:graphicFrameLocks noGrp="1"/>
          </p:cNvGraphicFramePr>
          <p:nvPr>
            <p:extLst>
              <p:ext uri="{D42A27DB-BD31-4B8C-83A1-F6EECF244321}">
                <p14:modId xmlns:p14="http://schemas.microsoft.com/office/powerpoint/2010/main" val="3244989217"/>
              </p:ext>
            </p:extLst>
          </p:nvPr>
        </p:nvGraphicFramePr>
        <p:xfrm>
          <a:off x="5292081" y="483517"/>
          <a:ext cx="2932278" cy="4176463"/>
        </p:xfrm>
        <a:graphic>
          <a:graphicData uri="http://schemas.openxmlformats.org/drawingml/2006/table">
            <a:tbl>
              <a:tblPr>
                <a:tableStyleId>{5C22544A-7EE6-4342-B048-85BDC9FD1C3A}</a:tableStyleId>
              </a:tblPr>
              <a:tblGrid>
                <a:gridCol w="915466">
                  <a:extLst>
                    <a:ext uri="{9D8B030D-6E8A-4147-A177-3AD203B41FA5}">
                      <a16:colId xmlns:a16="http://schemas.microsoft.com/office/drawing/2014/main" val="1600913413"/>
                    </a:ext>
                  </a:extLst>
                </a:gridCol>
                <a:gridCol w="973634">
                  <a:extLst>
                    <a:ext uri="{9D8B030D-6E8A-4147-A177-3AD203B41FA5}">
                      <a16:colId xmlns:a16="http://schemas.microsoft.com/office/drawing/2014/main" val="2315013661"/>
                    </a:ext>
                  </a:extLst>
                </a:gridCol>
                <a:gridCol w="1043178">
                  <a:extLst>
                    <a:ext uri="{9D8B030D-6E8A-4147-A177-3AD203B41FA5}">
                      <a16:colId xmlns:a16="http://schemas.microsoft.com/office/drawing/2014/main" val="45362177"/>
                    </a:ext>
                  </a:extLst>
                </a:gridCol>
              </a:tblGrid>
              <a:tr h="776227">
                <a:tc gridSpan="3">
                  <a:txBody>
                    <a:bodyPr/>
                    <a:lstStyle/>
                    <a:p>
                      <a:pPr algn="ctr">
                        <a:lnSpc>
                          <a:spcPct val="107000"/>
                        </a:lnSpc>
                        <a:spcBef>
                          <a:spcPts val="145"/>
                        </a:spcBef>
                        <a:spcAft>
                          <a:spcPts val="145"/>
                        </a:spcAft>
                      </a:pPr>
                      <a:r>
                        <a:rPr lang="en-US" sz="2100" b="1" dirty="0">
                          <a:effectLst/>
                        </a:rPr>
                        <a:t>Sample size required</a:t>
                      </a:r>
                    </a:p>
                    <a:p>
                      <a:pPr algn="ctr">
                        <a:lnSpc>
                          <a:spcPct val="107000"/>
                        </a:lnSpc>
                        <a:spcBef>
                          <a:spcPts val="145"/>
                        </a:spcBef>
                        <a:spcAft>
                          <a:spcPts val="145"/>
                        </a:spcAft>
                      </a:pPr>
                      <a:r>
                        <a:rPr lang="en-US" sz="2100" b="1" baseline="0" dirty="0">
                          <a:effectLst/>
                        </a:rPr>
                        <a:t>(</a:t>
                      </a:r>
                      <a:r>
                        <a:rPr lang="en-US" sz="2100" b="1" baseline="0" dirty="0">
                          <a:solidFill>
                            <a:srgbClr val="7030A0"/>
                          </a:solidFill>
                          <a:effectLst/>
                        </a:rPr>
                        <a:t>3</a:t>
                      </a:r>
                      <a:r>
                        <a:rPr lang="en-US" sz="2100" b="1" baseline="0" dirty="0">
                          <a:effectLst/>
                        </a:rPr>
                        <a:t>-to-</a:t>
                      </a:r>
                      <a:r>
                        <a:rPr lang="en-US" sz="2100" b="1" baseline="0" dirty="0">
                          <a:solidFill>
                            <a:srgbClr val="C00000"/>
                          </a:solidFill>
                          <a:effectLst/>
                        </a:rPr>
                        <a:t>1</a:t>
                      </a:r>
                      <a:r>
                        <a:rPr lang="en-US" sz="2100" b="1" baseline="0" dirty="0">
                          <a:effectLst/>
                        </a:rPr>
                        <a:t> ratio)</a:t>
                      </a:r>
                      <a:r>
                        <a:rPr lang="en-GB" sz="2100" b="1" dirty="0">
                          <a:effectLst/>
                        </a:rPr>
                        <a:t> </a:t>
                      </a:r>
                      <a:endParaRPr lang="en-GB" sz="2100" b="1" dirty="0">
                        <a:effectLst/>
                        <a:latin typeface="Times New Roman" panose="02020603050405020304" pitchFamily="18" charset="0"/>
                      </a:endParaRPr>
                    </a:p>
                  </a:txBody>
                  <a:tcPr marL="13811" marR="13811"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906023675"/>
                  </a:ext>
                </a:extLst>
              </a:tr>
              <a:tr h="373924">
                <a:tc>
                  <a:txBody>
                    <a:bodyPr/>
                    <a:lstStyle/>
                    <a:p>
                      <a:pPr algn="ctr">
                        <a:lnSpc>
                          <a:spcPct val="107000"/>
                        </a:lnSpc>
                        <a:spcBef>
                          <a:spcPts val="145"/>
                        </a:spcBef>
                        <a:spcAft>
                          <a:spcPts val="145"/>
                        </a:spcAft>
                      </a:pPr>
                      <a:r>
                        <a:rPr lang="en-US" sz="2100" b="1">
                          <a:effectLst/>
                        </a:rPr>
                        <a:t>Index</a:t>
                      </a:r>
                      <a:endParaRPr lang="en-GB" sz="2100" b="1">
                        <a:effectLst/>
                        <a:latin typeface="Times New Roman" panose="02020603050405020304" pitchFamily="18" charset="0"/>
                        <a:ea typeface="Times New Roman" panose="02020603050405020304" pitchFamily="18" charset="0"/>
                      </a:endParaRPr>
                    </a:p>
                  </a:txBody>
                  <a:tcPr marL="13811" marR="13811" marT="0" marB="0" anchor="b"/>
                </a:tc>
                <a:tc>
                  <a:txBody>
                    <a:bodyPr/>
                    <a:lstStyle/>
                    <a:p>
                      <a:pPr algn="ctr">
                        <a:lnSpc>
                          <a:spcPct val="107000"/>
                        </a:lnSpc>
                        <a:spcBef>
                          <a:spcPts val="145"/>
                        </a:spcBef>
                        <a:spcAft>
                          <a:spcPts val="145"/>
                        </a:spcAft>
                      </a:pPr>
                      <a:r>
                        <a:rPr lang="en-US" sz="2100" b="1" dirty="0">
                          <a:effectLst/>
                        </a:rPr>
                        <a:t>Power</a:t>
                      </a:r>
                      <a:endParaRPr lang="en-GB" sz="2100" b="1" dirty="0">
                        <a:effectLst/>
                        <a:latin typeface="Times New Roman" panose="02020603050405020304" pitchFamily="18" charset="0"/>
                        <a:ea typeface="Times New Roman" panose="02020603050405020304" pitchFamily="18" charset="0"/>
                      </a:endParaRPr>
                    </a:p>
                  </a:txBody>
                  <a:tcPr marL="13811" marR="13811" marT="0" marB="0" anchor="b"/>
                </a:tc>
                <a:tc>
                  <a:txBody>
                    <a:bodyPr/>
                    <a:lstStyle/>
                    <a:p>
                      <a:pPr algn="ctr">
                        <a:lnSpc>
                          <a:spcPct val="107000"/>
                        </a:lnSpc>
                        <a:spcBef>
                          <a:spcPts val="145"/>
                        </a:spcBef>
                        <a:spcAft>
                          <a:spcPts val="145"/>
                        </a:spcAft>
                      </a:pPr>
                      <a:r>
                        <a:rPr lang="en-US" sz="2100" b="1" dirty="0">
                          <a:effectLst/>
                        </a:rPr>
                        <a:t>Total N </a:t>
                      </a:r>
                    </a:p>
                  </a:txBody>
                  <a:tcPr marL="13811" marR="13811" marT="0" marB="0" anchor="b"/>
                </a:tc>
                <a:extLst>
                  <a:ext uri="{0D108BD9-81ED-4DB2-BD59-A6C34878D82A}">
                    <a16:rowId xmlns:a16="http://schemas.microsoft.com/office/drawing/2014/main" val="3057952159"/>
                  </a:ext>
                </a:extLst>
              </a:tr>
              <a:tr h="378289">
                <a:tc>
                  <a:txBody>
                    <a:bodyPr/>
                    <a:lstStyle/>
                    <a:p>
                      <a:pPr algn="ctr">
                        <a:lnSpc>
                          <a:spcPct val="107000"/>
                        </a:lnSpc>
                        <a:spcBef>
                          <a:spcPts val="145"/>
                        </a:spcBef>
                        <a:spcAft>
                          <a:spcPts val="145"/>
                        </a:spcAft>
                      </a:pPr>
                      <a:r>
                        <a:rPr lang="en-US" sz="2100" b="1">
                          <a:effectLst/>
                        </a:rPr>
                        <a:t>1</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0.20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108</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extLst>
                  <a:ext uri="{0D108BD9-81ED-4DB2-BD59-A6C34878D82A}">
                    <a16:rowId xmlns:a16="http://schemas.microsoft.com/office/drawing/2014/main" val="400597539"/>
                  </a:ext>
                </a:extLst>
              </a:tr>
              <a:tr h="378289">
                <a:tc>
                  <a:txBody>
                    <a:bodyPr/>
                    <a:lstStyle/>
                    <a:p>
                      <a:pPr algn="ctr">
                        <a:lnSpc>
                          <a:spcPct val="107000"/>
                        </a:lnSpc>
                        <a:spcBef>
                          <a:spcPts val="145"/>
                        </a:spcBef>
                        <a:spcAft>
                          <a:spcPts val="145"/>
                        </a:spcAft>
                      </a:pPr>
                      <a:r>
                        <a:rPr lang="en-US" sz="2100" b="1">
                          <a:effectLst/>
                        </a:rPr>
                        <a:t>2</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0.30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latin typeface="+mn-lt"/>
                          <a:ea typeface="+mn-ea"/>
                        </a:rPr>
                        <a:t>172</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extLst>
                  <a:ext uri="{0D108BD9-81ED-4DB2-BD59-A6C34878D82A}">
                    <a16:rowId xmlns:a16="http://schemas.microsoft.com/office/drawing/2014/main" val="2181108144"/>
                  </a:ext>
                </a:extLst>
              </a:tr>
              <a:tr h="378289">
                <a:tc>
                  <a:txBody>
                    <a:bodyPr/>
                    <a:lstStyle/>
                    <a:p>
                      <a:pPr algn="ctr">
                        <a:lnSpc>
                          <a:spcPct val="107000"/>
                        </a:lnSpc>
                        <a:spcBef>
                          <a:spcPts val="145"/>
                        </a:spcBef>
                        <a:spcAft>
                          <a:spcPts val="145"/>
                        </a:spcAft>
                      </a:pPr>
                      <a:r>
                        <a:rPr lang="en-US" sz="2100" b="1">
                          <a:effectLst/>
                        </a:rPr>
                        <a:t>3</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0.40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latin typeface="+mn-lt"/>
                          <a:ea typeface="+mn-ea"/>
                        </a:rPr>
                        <a:t>236</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extLst>
                  <a:ext uri="{0D108BD9-81ED-4DB2-BD59-A6C34878D82A}">
                    <a16:rowId xmlns:a16="http://schemas.microsoft.com/office/drawing/2014/main" val="318467483"/>
                  </a:ext>
                </a:extLst>
              </a:tr>
              <a:tr h="378289">
                <a:tc>
                  <a:txBody>
                    <a:bodyPr/>
                    <a:lstStyle/>
                    <a:p>
                      <a:pPr algn="ctr">
                        <a:lnSpc>
                          <a:spcPct val="107000"/>
                        </a:lnSpc>
                        <a:spcBef>
                          <a:spcPts val="145"/>
                        </a:spcBef>
                        <a:spcAft>
                          <a:spcPts val="145"/>
                        </a:spcAft>
                      </a:pPr>
                      <a:r>
                        <a:rPr lang="en-US" sz="2100" b="1">
                          <a:effectLst/>
                        </a:rPr>
                        <a:t>4</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0.50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latin typeface="+mn-lt"/>
                          <a:ea typeface="+mn-ea"/>
                        </a:rPr>
                        <a:t>304</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extLst>
                  <a:ext uri="{0D108BD9-81ED-4DB2-BD59-A6C34878D82A}">
                    <a16:rowId xmlns:a16="http://schemas.microsoft.com/office/drawing/2014/main" val="915697208"/>
                  </a:ext>
                </a:extLst>
              </a:tr>
              <a:tr h="378289">
                <a:tc>
                  <a:txBody>
                    <a:bodyPr/>
                    <a:lstStyle/>
                    <a:p>
                      <a:pPr algn="ctr">
                        <a:lnSpc>
                          <a:spcPct val="107000"/>
                        </a:lnSpc>
                        <a:spcBef>
                          <a:spcPts val="145"/>
                        </a:spcBef>
                        <a:spcAft>
                          <a:spcPts val="145"/>
                        </a:spcAft>
                      </a:pPr>
                      <a:r>
                        <a:rPr lang="en-US" sz="2100" b="1">
                          <a:effectLst/>
                        </a:rPr>
                        <a:t>5</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0.60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latin typeface="+mn-lt"/>
                          <a:ea typeface="+mn-ea"/>
                        </a:rPr>
                        <a:t>384</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extLst>
                  <a:ext uri="{0D108BD9-81ED-4DB2-BD59-A6C34878D82A}">
                    <a16:rowId xmlns:a16="http://schemas.microsoft.com/office/drawing/2014/main" val="4090030973"/>
                  </a:ext>
                </a:extLst>
              </a:tr>
              <a:tr h="378289">
                <a:tc>
                  <a:txBody>
                    <a:bodyPr/>
                    <a:lstStyle/>
                    <a:p>
                      <a:pPr algn="ctr">
                        <a:lnSpc>
                          <a:spcPct val="107000"/>
                        </a:lnSpc>
                        <a:spcBef>
                          <a:spcPts val="145"/>
                        </a:spcBef>
                        <a:spcAft>
                          <a:spcPts val="145"/>
                        </a:spcAft>
                      </a:pPr>
                      <a:r>
                        <a:rPr lang="en-US" sz="2100" b="1">
                          <a:effectLst/>
                        </a:rPr>
                        <a:t>6</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0.70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latin typeface="+mn-lt"/>
                          <a:ea typeface="+mn-ea"/>
                        </a:rPr>
                        <a:t>476</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extLst>
                  <a:ext uri="{0D108BD9-81ED-4DB2-BD59-A6C34878D82A}">
                    <a16:rowId xmlns:a16="http://schemas.microsoft.com/office/drawing/2014/main" val="1363528584"/>
                  </a:ext>
                </a:extLst>
              </a:tr>
              <a:tr h="378289">
                <a:tc>
                  <a:txBody>
                    <a:bodyPr/>
                    <a:lstStyle/>
                    <a:p>
                      <a:pPr algn="ctr">
                        <a:lnSpc>
                          <a:spcPct val="107000"/>
                        </a:lnSpc>
                        <a:spcBef>
                          <a:spcPts val="145"/>
                        </a:spcBef>
                        <a:spcAft>
                          <a:spcPts val="145"/>
                        </a:spcAft>
                      </a:pPr>
                      <a:r>
                        <a:rPr lang="en-US" sz="2100" b="1" dirty="0">
                          <a:effectLst/>
                        </a:rPr>
                        <a:t>7</a:t>
                      </a:r>
                      <a:endParaRPr lang="en-GB" sz="2100" b="1" dirty="0">
                        <a:effectLst/>
                        <a:latin typeface="Times New Roman" panose="02020603050405020304" pitchFamily="18" charset="0"/>
                        <a:ea typeface="Times New Roman" panose="02020603050405020304" pitchFamily="18" charset="0"/>
                      </a:endParaRPr>
                    </a:p>
                  </a:txBody>
                  <a:tcPr marL="13811" marR="13811" marT="0" marB="0">
                    <a:solidFill>
                      <a:srgbClr val="FFFF00"/>
                    </a:solidFill>
                  </a:tcPr>
                </a:tc>
                <a:tc>
                  <a:txBody>
                    <a:bodyPr/>
                    <a:lstStyle/>
                    <a:p>
                      <a:pPr algn="ctr">
                        <a:lnSpc>
                          <a:spcPct val="107000"/>
                        </a:lnSpc>
                        <a:spcBef>
                          <a:spcPts val="145"/>
                        </a:spcBef>
                        <a:spcAft>
                          <a:spcPts val="145"/>
                        </a:spcAft>
                      </a:pPr>
                      <a:r>
                        <a:rPr lang="en-US" sz="2100" b="1" dirty="0">
                          <a:effectLst/>
                        </a:rPr>
                        <a:t>0.80</a:t>
                      </a:r>
                      <a:endParaRPr lang="en-GB" sz="2100" b="1" dirty="0">
                        <a:effectLst/>
                        <a:latin typeface="Times New Roman" panose="02020603050405020304" pitchFamily="18" charset="0"/>
                        <a:ea typeface="Times New Roman" panose="02020603050405020304" pitchFamily="18" charset="0"/>
                      </a:endParaRPr>
                    </a:p>
                  </a:txBody>
                  <a:tcPr marL="13811" marR="13811" marT="0" marB="0">
                    <a:solidFill>
                      <a:srgbClr val="FFFF00"/>
                    </a:solidFill>
                  </a:tcPr>
                </a:tc>
                <a:tc>
                  <a:txBody>
                    <a:bodyPr/>
                    <a:lstStyle/>
                    <a:p>
                      <a:pPr algn="ctr">
                        <a:lnSpc>
                          <a:spcPct val="107000"/>
                        </a:lnSpc>
                        <a:spcBef>
                          <a:spcPts val="145"/>
                        </a:spcBef>
                        <a:spcAft>
                          <a:spcPts val="145"/>
                        </a:spcAft>
                      </a:pPr>
                      <a:r>
                        <a:rPr lang="en-US" sz="2100" b="1" dirty="0">
                          <a:effectLst/>
                          <a:latin typeface="+mn-lt"/>
                          <a:ea typeface="+mn-ea"/>
                        </a:rPr>
                        <a:t>600</a:t>
                      </a:r>
                      <a:endParaRPr lang="en-GB" sz="2100" b="1" dirty="0">
                        <a:effectLst/>
                        <a:latin typeface="Times New Roman" panose="02020603050405020304" pitchFamily="18" charset="0"/>
                        <a:ea typeface="Times New Roman" panose="02020603050405020304" pitchFamily="18" charset="0"/>
                      </a:endParaRPr>
                    </a:p>
                  </a:txBody>
                  <a:tcPr marL="13811" marR="13811" marT="0" marB="0">
                    <a:solidFill>
                      <a:srgbClr val="FFFF00"/>
                    </a:solidFill>
                  </a:tcPr>
                </a:tc>
                <a:extLst>
                  <a:ext uri="{0D108BD9-81ED-4DB2-BD59-A6C34878D82A}">
                    <a16:rowId xmlns:a16="http://schemas.microsoft.com/office/drawing/2014/main" val="1941718851"/>
                  </a:ext>
                </a:extLst>
              </a:tr>
              <a:tr h="378289">
                <a:tc>
                  <a:txBody>
                    <a:bodyPr/>
                    <a:lstStyle/>
                    <a:p>
                      <a:pPr algn="ctr">
                        <a:lnSpc>
                          <a:spcPct val="107000"/>
                        </a:lnSpc>
                        <a:spcBef>
                          <a:spcPts val="145"/>
                        </a:spcBef>
                        <a:spcAft>
                          <a:spcPts val="145"/>
                        </a:spcAft>
                      </a:pPr>
                      <a:r>
                        <a:rPr lang="en-US" sz="2100" b="1">
                          <a:effectLst/>
                        </a:rPr>
                        <a:t>8</a:t>
                      </a:r>
                      <a:endParaRPr lang="en-GB" sz="2100" b="1">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rPr>
                        <a:t>0.90</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tc>
                  <a:txBody>
                    <a:bodyPr/>
                    <a:lstStyle/>
                    <a:p>
                      <a:pPr algn="ctr">
                        <a:lnSpc>
                          <a:spcPct val="107000"/>
                        </a:lnSpc>
                        <a:spcBef>
                          <a:spcPts val="145"/>
                        </a:spcBef>
                        <a:spcAft>
                          <a:spcPts val="145"/>
                        </a:spcAft>
                      </a:pPr>
                      <a:r>
                        <a:rPr lang="en-US" sz="2100" b="1" dirty="0">
                          <a:effectLst/>
                          <a:latin typeface="+mn-lt"/>
                          <a:ea typeface="+mn-ea"/>
                        </a:rPr>
                        <a:t>792</a:t>
                      </a:r>
                      <a:endParaRPr lang="en-GB" sz="2100" b="1" dirty="0">
                        <a:effectLst/>
                        <a:latin typeface="Times New Roman" panose="02020603050405020304" pitchFamily="18" charset="0"/>
                        <a:ea typeface="Times New Roman" panose="02020603050405020304" pitchFamily="18" charset="0"/>
                      </a:endParaRPr>
                    </a:p>
                  </a:txBody>
                  <a:tcPr marL="13811" marR="13811" marT="0" marB="0"/>
                </a:tc>
                <a:extLst>
                  <a:ext uri="{0D108BD9-81ED-4DB2-BD59-A6C34878D82A}">
                    <a16:rowId xmlns:a16="http://schemas.microsoft.com/office/drawing/2014/main" val="2320870063"/>
                  </a:ext>
                </a:extLst>
              </a:tr>
            </a:tbl>
          </a:graphicData>
        </a:graphic>
      </p:graphicFrame>
      <p:sp>
        <p:nvSpPr>
          <p:cNvPr id="8" name="Rubrik 1"/>
          <p:cNvSpPr txBox="1">
            <a:spLocks/>
          </p:cNvSpPr>
          <p:nvPr/>
        </p:nvSpPr>
        <p:spPr bwMode="auto">
          <a:xfrm>
            <a:off x="1619672" y="138749"/>
            <a:ext cx="6246694" cy="344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l" defTabSz="457200" rtl="0" eaLnBrk="1" fontAlgn="base" hangingPunct="1">
              <a:lnSpc>
                <a:spcPct val="90000"/>
              </a:lnSpc>
              <a:spcBef>
                <a:spcPct val="0"/>
              </a:spcBef>
              <a:spcAft>
                <a:spcPct val="0"/>
              </a:spcAft>
              <a:defRPr sz="4400" b="1" i="0" kern="1200">
                <a:solidFill>
                  <a:schemeClr val="tx1">
                    <a:lumMod val="85000"/>
                    <a:lumOff val="15000"/>
                  </a:schemeClr>
                </a:solidFill>
                <a:latin typeface="+mj-lt"/>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en-US" sz="2700" dirty="0"/>
              <a:t>Example: </a:t>
            </a:r>
            <a:r>
              <a:rPr lang="en-GB" sz="2700" dirty="0"/>
              <a:t>RTW among cancer survivors</a:t>
            </a:r>
            <a:br>
              <a:rPr lang="en-GB" sz="3000" dirty="0"/>
            </a:br>
            <a:endParaRPr lang="en-GB" sz="3000" dirty="0"/>
          </a:p>
          <a:p>
            <a:endParaRPr lang="en-US" sz="3000" dirty="0"/>
          </a:p>
        </p:txBody>
      </p:sp>
    </p:spTree>
    <p:extLst>
      <p:ext uri="{BB962C8B-B14F-4D97-AF65-F5344CB8AC3E}">
        <p14:creationId xmlns:p14="http://schemas.microsoft.com/office/powerpoint/2010/main" val="140776070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tshållare för bildnummer 3"/>
          <p:cNvSpPr>
            <a:spLocks noGrp="1"/>
          </p:cNvSpPr>
          <p:nvPr>
            <p:ph type="sldNum" sz="quarter" idx="4294967295"/>
          </p:nvPr>
        </p:nvSpPr>
        <p:spPr/>
        <p:txBody>
          <a:bodyPr/>
          <a:lstStyle/>
          <a:p>
            <a:pPr>
              <a:defRPr/>
            </a:pPr>
            <a:fld id="{9426A61E-93B8-384D-8975-0A89DB09A550}" type="slidenum">
              <a:rPr lang="sv-SE" smtClean="0"/>
              <a:pPr>
                <a:defRPr/>
              </a:pPr>
              <a:t>62</a:t>
            </a:fld>
            <a:endParaRPr lang="sv-SE"/>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3267" y="816815"/>
            <a:ext cx="3672000" cy="2867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816819"/>
            <a:ext cx="3642346" cy="28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ubrik 1"/>
          <p:cNvSpPr txBox="1">
            <a:spLocks/>
          </p:cNvSpPr>
          <p:nvPr/>
        </p:nvSpPr>
        <p:spPr bwMode="auto">
          <a:xfrm>
            <a:off x="1619672" y="138748"/>
            <a:ext cx="6246694" cy="48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l" defTabSz="457200" rtl="0" eaLnBrk="1" fontAlgn="base" hangingPunct="1">
              <a:lnSpc>
                <a:spcPct val="90000"/>
              </a:lnSpc>
              <a:spcBef>
                <a:spcPct val="0"/>
              </a:spcBef>
              <a:spcAft>
                <a:spcPct val="0"/>
              </a:spcAft>
              <a:defRPr sz="4400" b="1" i="0" kern="1200">
                <a:solidFill>
                  <a:schemeClr val="tx1">
                    <a:lumMod val="85000"/>
                    <a:lumOff val="15000"/>
                  </a:schemeClr>
                </a:solidFill>
                <a:latin typeface="+mj-lt"/>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en-US" sz="2700"/>
              <a:t>Example: </a:t>
            </a:r>
            <a:r>
              <a:rPr lang="en-GB" sz="2700"/>
              <a:t>RTW among cancer survivors</a:t>
            </a:r>
            <a:br>
              <a:rPr lang="en-GB" sz="3000"/>
            </a:br>
            <a:endParaRPr lang="en-US" sz="3000" dirty="0"/>
          </a:p>
        </p:txBody>
      </p:sp>
    </p:spTree>
    <p:extLst>
      <p:ext uri="{BB962C8B-B14F-4D97-AF65-F5344CB8AC3E}">
        <p14:creationId xmlns:p14="http://schemas.microsoft.com/office/powerpoint/2010/main" val="245766166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bildnummer 2"/>
          <p:cNvSpPr>
            <a:spLocks noGrp="1"/>
          </p:cNvSpPr>
          <p:nvPr>
            <p:ph type="sldNum" sz="quarter" idx="4294967295"/>
          </p:nvPr>
        </p:nvSpPr>
        <p:spPr/>
        <p:txBody>
          <a:bodyPr/>
          <a:lstStyle/>
          <a:p>
            <a:pPr>
              <a:defRPr/>
            </a:pPr>
            <a:fld id="{9426A61E-93B8-384D-8975-0A89DB09A550}" type="slidenum">
              <a:rPr lang="sv-SE" smtClean="0"/>
              <a:pPr>
                <a:defRPr/>
              </a:pPr>
              <a:t>63</a:t>
            </a:fld>
            <a:endParaRPr lang="sv-SE"/>
          </a:p>
        </p:txBody>
      </p:sp>
      <p:sp>
        <p:nvSpPr>
          <p:cNvPr id="8" name="Rubrik 1"/>
          <p:cNvSpPr txBox="1">
            <a:spLocks/>
          </p:cNvSpPr>
          <p:nvPr/>
        </p:nvSpPr>
        <p:spPr bwMode="auto">
          <a:xfrm>
            <a:off x="899592" y="267495"/>
            <a:ext cx="8096488"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l" defTabSz="457200" rtl="0" eaLnBrk="1" fontAlgn="base" hangingPunct="1">
              <a:lnSpc>
                <a:spcPct val="90000"/>
              </a:lnSpc>
              <a:spcBef>
                <a:spcPct val="0"/>
              </a:spcBef>
              <a:spcAft>
                <a:spcPct val="0"/>
              </a:spcAft>
              <a:defRPr sz="3300" b="1" i="0" kern="1200">
                <a:solidFill>
                  <a:schemeClr val="tx1"/>
                </a:solidFill>
                <a:latin typeface="Arial Narrow"/>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en-GB" sz="2600" dirty="0">
                <a:latin typeface="+mj-lt"/>
              </a:rPr>
              <a:t>An online epidemiology calculator</a:t>
            </a:r>
            <a:endParaRPr lang="en-US" sz="2600" dirty="0">
              <a:latin typeface="+mj-lt"/>
            </a:endParaRPr>
          </a:p>
        </p:txBody>
      </p:sp>
      <p:sp>
        <p:nvSpPr>
          <p:cNvPr id="4" name="textruta 3"/>
          <p:cNvSpPr txBox="1"/>
          <p:nvPr/>
        </p:nvSpPr>
        <p:spPr>
          <a:xfrm>
            <a:off x="683568" y="1059582"/>
            <a:ext cx="8312512" cy="923330"/>
          </a:xfrm>
          <a:prstGeom prst="rect">
            <a:avLst/>
          </a:prstGeom>
          <a:noFill/>
        </p:spPr>
        <p:txBody>
          <a:bodyPr wrap="square" rtlCol="0">
            <a:spAutoFit/>
          </a:bodyPr>
          <a:lstStyle/>
          <a:p>
            <a:r>
              <a:rPr lang="en-US" b="1" dirty="0" err="1">
                <a:latin typeface="+mn-lt"/>
              </a:rPr>
              <a:t>OpenEpi</a:t>
            </a:r>
            <a:r>
              <a:rPr lang="en-US" dirty="0">
                <a:latin typeface="+mn-lt"/>
              </a:rPr>
              <a:t> </a:t>
            </a:r>
            <a:r>
              <a:rPr lang="en-US" dirty="0">
                <a:latin typeface="+mn-lt"/>
                <a:hlinkClick r:id="rId3"/>
              </a:rPr>
              <a:t>(</a:t>
            </a:r>
            <a:r>
              <a:rPr lang="en-GB" dirty="0">
                <a:latin typeface="+mn-lt"/>
                <a:hlinkClick r:id="rId3"/>
              </a:rPr>
              <a:t>http://www.openepi.com/Menu/OE_Menu.htm</a:t>
            </a:r>
            <a:r>
              <a:rPr lang="en-US" dirty="0">
                <a:latin typeface="+mn-lt"/>
              </a:rPr>
              <a:t>) </a:t>
            </a:r>
            <a:endParaRPr lang="en-GB" dirty="0">
              <a:latin typeface="+mn-lt"/>
            </a:endParaRPr>
          </a:p>
          <a:p>
            <a:r>
              <a:rPr lang="en-GB" dirty="0">
                <a:latin typeface="+mn-lt"/>
              </a:rPr>
              <a:t>Epidemiological / statistical analysis and calculations using </a:t>
            </a:r>
            <a:r>
              <a:rPr lang="en-GB" dirty="0" err="1">
                <a:latin typeface="+mn-lt"/>
              </a:rPr>
              <a:t>OpenEpi</a:t>
            </a:r>
            <a:r>
              <a:rPr lang="en-GB" dirty="0">
                <a:latin typeface="+mn-lt"/>
              </a:rPr>
              <a:t>. </a:t>
            </a:r>
          </a:p>
          <a:p>
            <a:endParaRPr lang="en-GB" dirty="0">
              <a:latin typeface="+mn-lt"/>
            </a:endParaRPr>
          </a:p>
        </p:txBody>
      </p:sp>
    </p:spTree>
    <p:extLst>
      <p:ext uri="{BB962C8B-B14F-4D97-AF65-F5344CB8AC3E}">
        <p14:creationId xmlns:p14="http://schemas.microsoft.com/office/powerpoint/2010/main" val="161426515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683569" y="393020"/>
            <a:ext cx="7501090" cy="1098610"/>
          </a:xfrm>
        </p:spPr>
        <p:txBody>
          <a:bodyPr>
            <a:normAutofit/>
          </a:bodyPr>
          <a:lstStyle/>
          <a:p>
            <a:r>
              <a:rPr lang="en-US" sz="3200" dirty="0"/>
              <a:t>Multiple testing </a:t>
            </a:r>
            <a:br>
              <a:rPr lang="en-US" sz="3200" dirty="0"/>
            </a:br>
            <a:r>
              <a:rPr lang="en-US" sz="2800" dirty="0"/>
              <a:t>- doing a set of simultaneous statistical testing</a:t>
            </a:r>
          </a:p>
        </p:txBody>
      </p:sp>
      <p:sp>
        <p:nvSpPr>
          <p:cNvPr id="3" name="Platshållare för bildnummer 2"/>
          <p:cNvSpPr>
            <a:spLocks noGrp="1"/>
          </p:cNvSpPr>
          <p:nvPr>
            <p:ph type="sldNum" sz="quarter" idx="12"/>
          </p:nvPr>
        </p:nvSpPr>
        <p:spPr/>
        <p:txBody>
          <a:bodyPr/>
          <a:lstStyle/>
          <a:p>
            <a:fld id="{49D34020-361E-4A13-8C95-66E98A929282}" type="slidenum">
              <a:rPr lang="sv-SE" smtClean="0"/>
              <a:pPr/>
              <a:t>64</a:t>
            </a:fld>
            <a:endParaRPr lang="sv-SE"/>
          </a:p>
        </p:txBody>
      </p:sp>
      <p:pic>
        <p:nvPicPr>
          <p:cNvPr id="1026" name="Picture 2" descr="http://www.kdnuggets.com/wp-content/uploads/xkcd-p-value-jellybean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9797" y="1545635"/>
            <a:ext cx="3770802" cy="2214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ruta 4"/>
          <p:cNvSpPr txBox="1"/>
          <p:nvPr/>
        </p:nvSpPr>
        <p:spPr>
          <a:xfrm>
            <a:off x="7131542" y="4457388"/>
            <a:ext cx="1053117" cy="276999"/>
          </a:xfrm>
          <a:prstGeom prst="rect">
            <a:avLst/>
          </a:prstGeom>
          <a:noFill/>
        </p:spPr>
        <p:txBody>
          <a:bodyPr wrap="square" rtlCol="0">
            <a:spAutoFit/>
          </a:bodyPr>
          <a:lstStyle/>
          <a:p>
            <a:r>
              <a:rPr lang="sv-SE" sz="1200" i="1" dirty="0"/>
              <a:t>xkcd.com</a:t>
            </a:r>
          </a:p>
        </p:txBody>
      </p:sp>
    </p:spTree>
    <p:extLst>
      <p:ext uri="{BB962C8B-B14F-4D97-AF65-F5344CB8AC3E}">
        <p14:creationId xmlns:p14="http://schemas.microsoft.com/office/powerpoint/2010/main" val="36442057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Rektangel 236"/>
          <p:cNvSpPr/>
          <p:nvPr/>
        </p:nvSpPr>
        <p:spPr>
          <a:xfrm>
            <a:off x="1223628" y="87475"/>
            <a:ext cx="6777372" cy="46797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34" name="Grupp 233"/>
          <p:cNvGrpSpPr/>
          <p:nvPr/>
        </p:nvGrpSpPr>
        <p:grpSpPr>
          <a:xfrm>
            <a:off x="1606109" y="516629"/>
            <a:ext cx="5463576" cy="4250634"/>
            <a:chOff x="311568" y="931291"/>
            <a:chExt cx="7284768" cy="5667512"/>
          </a:xfrm>
        </p:grpSpPr>
        <p:grpSp>
          <p:nvGrpSpPr>
            <p:cNvPr id="6" name="Grupp 5"/>
            <p:cNvGrpSpPr/>
            <p:nvPr/>
          </p:nvGrpSpPr>
          <p:grpSpPr>
            <a:xfrm>
              <a:off x="323528" y="944724"/>
              <a:ext cx="1079634" cy="1849637"/>
              <a:chOff x="3969060" y="865642"/>
              <a:chExt cx="1079634" cy="1849637"/>
            </a:xfrm>
          </p:grpSpPr>
          <p:grpSp>
            <p:nvGrpSpPr>
              <p:cNvPr id="7" name="Grupp 6"/>
              <p:cNvGrpSpPr/>
              <p:nvPr/>
            </p:nvGrpSpPr>
            <p:grpSpPr>
              <a:xfrm>
                <a:off x="3969060" y="865642"/>
                <a:ext cx="972108" cy="1849637"/>
                <a:chOff x="3969060" y="865642"/>
                <a:chExt cx="972108" cy="1849637"/>
              </a:xfrm>
            </p:grpSpPr>
            <p:pic>
              <p:nvPicPr>
                <p:cNvPr id="9"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10" name="Rektangel 9"/>
                <p:cNvSpPr/>
                <p:nvPr/>
              </p:nvSpPr>
              <p:spPr>
                <a:xfrm>
                  <a:off x="4041068" y="1203598"/>
                  <a:ext cx="720080" cy="1080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8" name="textruta 7"/>
              <p:cNvSpPr txBox="1"/>
              <p:nvPr/>
            </p:nvSpPr>
            <p:spPr>
              <a:xfrm>
                <a:off x="3995576" y="1146997"/>
                <a:ext cx="1053118" cy="261611"/>
              </a:xfrm>
              <a:prstGeom prst="rect">
                <a:avLst/>
              </a:prstGeom>
              <a:noFill/>
            </p:spPr>
            <p:txBody>
              <a:bodyPr wrap="square" rtlCol="0">
                <a:spAutoFit/>
              </a:bodyPr>
              <a:lstStyle/>
              <a:p>
                <a:r>
                  <a:rPr lang="sv-SE" sz="675" b="1" dirty="0">
                    <a:solidFill>
                      <a:schemeClr val="bg2">
                        <a:lumMod val="50000"/>
                      </a:schemeClr>
                    </a:solidFill>
                    <a:latin typeface="xkcd" pitchFamily="50" charset="0"/>
                  </a:rPr>
                  <a:t>TAN</a:t>
                </a:r>
                <a:r>
                  <a:rPr lang="sv-SE" sz="675" dirty="0">
                    <a:solidFill>
                      <a:schemeClr val="tx1">
                        <a:lumMod val="75000"/>
                        <a:lumOff val="25000"/>
                      </a:schemeClr>
                    </a:solidFill>
                    <a:latin typeface="xkcd" pitchFamily="50" charset="0"/>
                  </a:rPr>
                  <a:t> JELLY</a:t>
                </a:r>
                <a:endParaRPr lang="sv-SE" sz="675" dirty="0">
                  <a:solidFill>
                    <a:schemeClr val="tx1">
                      <a:lumMod val="75000"/>
                      <a:lumOff val="25000"/>
                    </a:schemeClr>
                  </a:solidFill>
                </a:endParaRPr>
              </a:p>
            </p:txBody>
          </p:sp>
        </p:grpSp>
        <p:grpSp>
          <p:nvGrpSpPr>
            <p:cNvPr id="11" name="Grupp 10"/>
            <p:cNvGrpSpPr/>
            <p:nvPr/>
          </p:nvGrpSpPr>
          <p:grpSpPr>
            <a:xfrm>
              <a:off x="1546966" y="944724"/>
              <a:ext cx="1053118" cy="1849637"/>
              <a:chOff x="3960367" y="865642"/>
              <a:chExt cx="1053118" cy="1849637"/>
            </a:xfrm>
          </p:grpSpPr>
          <p:grpSp>
            <p:nvGrpSpPr>
              <p:cNvPr id="12" name="Grupp 11"/>
              <p:cNvGrpSpPr/>
              <p:nvPr/>
            </p:nvGrpSpPr>
            <p:grpSpPr>
              <a:xfrm>
                <a:off x="3969060" y="865642"/>
                <a:ext cx="972108" cy="1849637"/>
                <a:chOff x="3969060" y="865642"/>
                <a:chExt cx="972108" cy="1849637"/>
              </a:xfrm>
            </p:grpSpPr>
            <p:pic>
              <p:nvPicPr>
                <p:cNvPr id="14"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15" name="Rektangel 14"/>
                <p:cNvSpPr/>
                <p:nvPr/>
              </p:nvSpPr>
              <p:spPr>
                <a:xfrm>
                  <a:off x="4041068" y="1203598"/>
                  <a:ext cx="720080" cy="1080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13" name="textruta 12"/>
              <p:cNvSpPr txBox="1"/>
              <p:nvPr/>
            </p:nvSpPr>
            <p:spPr>
              <a:xfrm>
                <a:off x="3960367" y="1142865"/>
                <a:ext cx="1053118" cy="400109"/>
              </a:xfrm>
              <a:prstGeom prst="rect">
                <a:avLst/>
              </a:prstGeom>
              <a:noFill/>
            </p:spPr>
            <p:txBody>
              <a:bodyPr wrap="square" rtlCol="0">
                <a:spAutoFit/>
              </a:bodyPr>
              <a:lstStyle/>
              <a:p>
                <a:r>
                  <a:rPr lang="sv-SE" sz="675" b="1" dirty="0">
                    <a:solidFill>
                      <a:srgbClr val="7030A0"/>
                    </a:solidFill>
                    <a:latin typeface="xkcd" pitchFamily="50" charset="0"/>
                  </a:rPr>
                  <a:t>Purple</a:t>
                </a:r>
                <a:r>
                  <a:rPr lang="sv-SE" sz="675" dirty="0">
                    <a:solidFill>
                      <a:schemeClr val="tx1">
                        <a:lumMod val="75000"/>
                        <a:lumOff val="25000"/>
                      </a:schemeClr>
                    </a:solidFill>
                    <a:latin typeface="xkcd" pitchFamily="50" charset="0"/>
                  </a:rPr>
                  <a:t> JELLY</a:t>
                </a:r>
                <a:endParaRPr lang="sv-SE" sz="675" dirty="0">
                  <a:solidFill>
                    <a:schemeClr val="tx1">
                      <a:lumMod val="75000"/>
                      <a:lumOff val="25000"/>
                    </a:schemeClr>
                  </a:solidFill>
                </a:endParaRPr>
              </a:p>
            </p:txBody>
          </p:sp>
        </p:grpSp>
        <p:grpSp>
          <p:nvGrpSpPr>
            <p:cNvPr id="16" name="Grupp 15"/>
            <p:cNvGrpSpPr/>
            <p:nvPr/>
          </p:nvGrpSpPr>
          <p:grpSpPr>
            <a:xfrm>
              <a:off x="2743888" y="944724"/>
              <a:ext cx="1120691" cy="1849637"/>
              <a:chOff x="3928489" y="865642"/>
              <a:chExt cx="1120691" cy="1849637"/>
            </a:xfrm>
          </p:grpSpPr>
          <p:grpSp>
            <p:nvGrpSpPr>
              <p:cNvPr id="17" name="Grupp 16"/>
              <p:cNvGrpSpPr/>
              <p:nvPr/>
            </p:nvGrpSpPr>
            <p:grpSpPr>
              <a:xfrm>
                <a:off x="3969060" y="865642"/>
                <a:ext cx="972108" cy="1849637"/>
                <a:chOff x="3969060" y="865642"/>
                <a:chExt cx="972108" cy="1849637"/>
              </a:xfrm>
            </p:grpSpPr>
            <p:pic>
              <p:nvPicPr>
                <p:cNvPr id="19"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20" name="Rektangel 19"/>
                <p:cNvSpPr/>
                <p:nvPr/>
              </p:nvSpPr>
              <p:spPr>
                <a:xfrm>
                  <a:off x="4041068" y="1203598"/>
                  <a:ext cx="720080" cy="1080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18" name="textruta 17"/>
              <p:cNvSpPr txBox="1"/>
              <p:nvPr/>
            </p:nvSpPr>
            <p:spPr>
              <a:xfrm>
                <a:off x="3928489" y="1153674"/>
                <a:ext cx="1120691" cy="246221"/>
              </a:xfrm>
              <a:prstGeom prst="rect">
                <a:avLst/>
              </a:prstGeom>
              <a:noFill/>
            </p:spPr>
            <p:txBody>
              <a:bodyPr wrap="square" rtlCol="0">
                <a:spAutoFit/>
              </a:bodyPr>
              <a:lstStyle/>
              <a:p>
                <a:r>
                  <a:rPr lang="sv-SE" sz="600" b="1" dirty="0">
                    <a:solidFill>
                      <a:srgbClr val="FFCC00"/>
                    </a:solidFill>
                    <a:latin typeface="xkcd" pitchFamily="50" charset="0"/>
                  </a:rPr>
                  <a:t>YELLOW</a:t>
                </a:r>
                <a:r>
                  <a:rPr lang="sv-SE" sz="600" dirty="0">
                    <a:solidFill>
                      <a:schemeClr val="tx1">
                        <a:lumMod val="75000"/>
                        <a:lumOff val="25000"/>
                      </a:schemeClr>
                    </a:solidFill>
                    <a:latin typeface="xkcd" pitchFamily="50" charset="0"/>
                  </a:rPr>
                  <a:t> JELLY</a:t>
                </a:r>
                <a:endParaRPr lang="sv-SE" sz="600" dirty="0">
                  <a:solidFill>
                    <a:schemeClr val="tx1">
                      <a:lumMod val="75000"/>
                      <a:lumOff val="25000"/>
                    </a:schemeClr>
                  </a:solidFill>
                </a:endParaRPr>
              </a:p>
            </p:txBody>
          </p:sp>
        </p:grpSp>
        <p:grpSp>
          <p:nvGrpSpPr>
            <p:cNvPr id="21" name="Grupp 20"/>
            <p:cNvGrpSpPr/>
            <p:nvPr/>
          </p:nvGrpSpPr>
          <p:grpSpPr>
            <a:xfrm>
              <a:off x="4008383" y="944724"/>
              <a:ext cx="1079634" cy="1849637"/>
              <a:chOff x="3969060" y="865642"/>
              <a:chExt cx="1079634" cy="1849637"/>
            </a:xfrm>
          </p:grpSpPr>
          <p:grpSp>
            <p:nvGrpSpPr>
              <p:cNvPr id="22" name="Grupp 21"/>
              <p:cNvGrpSpPr/>
              <p:nvPr/>
            </p:nvGrpSpPr>
            <p:grpSpPr>
              <a:xfrm>
                <a:off x="3969060" y="865642"/>
                <a:ext cx="972108" cy="1849637"/>
                <a:chOff x="3969060" y="865642"/>
                <a:chExt cx="972108" cy="1849637"/>
              </a:xfrm>
            </p:grpSpPr>
            <p:pic>
              <p:nvPicPr>
                <p:cNvPr id="24"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25" name="Rektangel 24"/>
                <p:cNvSpPr/>
                <p:nvPr/>
              </p:nvSpPr>
              <p:spPr>
                <a:xfrm>
                  <a:off x="4041068" y="1203598"/>
                  <a:ext cx="720080" cy="1080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23" name="textruta 22"/>
              <p:cNvSpPr txBox="1"/>
              <p:nvPr/>
            </p:nvSpPr>
            <p:spPr>
              <a:xfrm>
                <a:off x="3995576" y="1146997"/>
                <a:ext cx="1053118" cy="261611"/>
              </a:xfrm>
              <a:prstGeom prst="rect">
                <a:avLst/>
              </a:prstGeom>
              <a:noFill/>
            </p:spPr>
            <p:txBody>
              <a:bodyPr wrap="square" rtlCol="0">
                <a:spAutoFit/>
              </a:bodyPr>
              <a:lstStyle/>
              <a:p>
                <a:r>
                  <a:rPr lang="sv-SE" sz="675" b="1" dirty="0">
                    <a:solidFill>
                      <a:schemeClr val="bg2">
                        <a:lumMod val="25000"/>
                      </a:schemeClr>
                    </a:solidFill>
                    <a:latin typeface="xkcd" pitchFamily="50" charset="0"/>
                  </a:rPr>
                  <a:t>BROWN</a:t>
                </a:r>
                <a:r>
                  <a:rPr lang="sv-SE" sz="675" dirty="0">
                    <a:solidFill>
                      <a:schemeClr val="tx1">
                        <a:lumMod val="75000"/>
                        <a:lumOff val="25000"/>
                      </a:schemeClr>
                    </a:solidFill>
                    <a:latin typeface="xkcd" pitchFamily="50" charset="0"/>
                  </a:rPr>
                  <a:t> JELLY</a:t>
                </a:r>
                <a:endParaRPr lang="sv-SE" sz="675" dirty="0">
                  <a:solidFill>
                    <a:schemeClr val="tx1">
                      <a:lumMod val="75000"/>
                      <a:lumOff val="25000"/>
                    </a:schemeClr>
                  </a:solidFill>
                </a:endParaRPr>
              </a:p>
            </p:txBody>
          </p:sp>
        </p:grpSp>
        <p:grpSp>
          <p:nvGrpSpPr>
            <p:cNvPr id="26" name="Grupp 25"/>
            <p:cNvGrpSpPr/>
            <p:nvPr/>
          </p:nvGrpSpPr>
          <p:grpSpPr>
            <a:xfrm>
              <a:off x="5231821" y="944724"/>
              <a:ext cx="1053118" cy="1849637"/>
              <a:chOff x="3960367" y="865642"/>
              <a:chExt cx="1053118" cy="1849637"/>
            </a:xfrm>
          </p:grpSpPr>
          <p:grpSp>
            <p:nvGrpSpPr>
              <p:cNvPr id="27" name="Grupp 26"/>
              <p:cNvGrpSpPr/>
              <p:nvPr/>
            </p:nvGrpSpPr>
            <p:grpSpPr>
              <a:xfrm>
                <a:off x="3969060" y="865642"/>
                <a:ext cx="972108" cy="1849637"/>
                <a:chOff x="3969060" y="865642"/>
                <a:chExt cx="972108" cy="1849637"/>
              </a:xfrm>
            </p:grpSpPr>
            <p:pic>
              <p:nvPicPr>
                <p:cNvPr id="29"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30" name="Rektangel 29"/>
                <p:cNvSpPr/>
                <p:nvPr/>
              </p:nvSpPr>
              <p:spPr>
                <a:xfrm>
                  <a:off x="4041068" y="1203598"/>
                  <a:ext cx="720080" cy="1080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28" name="textruta 27"/>
              <p:cNvSpPr txBox="1"/>
              <p:nvPr/>
            </p:nvSpPr>
            <p:spPr>
              <a:xfrm>
                <a:off x="3960367" y="1142865"/>
                <a:ext cx="1053118" cy="261611"/>
              </a:xfrm>
              <a:prstGeom prst="rect">
                <a:avLst/>
              </a:prstGeom>
              <a:noFill/>
            </p:spPr>
            <p:txBody>
              <a:bodyPr wrap="square" rtlCol="0">
                <a:spAutoFit/>
              </a:bodyPr>
              <a:lstStyle/>
              <a:p>
                <a:r>
                  <a:rPr lang="sv-SE" sz="675" b="1" dirty="0">
                    <a:solidFill>
                      <a:srgbClr val="33CCCC"/>
                    </a:solidFill>
                    <a:latin typeface="xkcd" pitchFamily="50" charset="0"/>
                  </a:rPr>
                  <a:t>TEAL</a:t>
                </a:r>
                <a:r>
                  <a:rPr lang="sv-SE" sz="675" dirty="0">
                    <a:solidFill>
                      <a:schemeClr val="tx1">
                        <a:lumMod val="75000"/>
                        <a:lumOff val="25000"/>
                      </a:schemeClr>
                    </a:solidFill>
                    <a:latin typeface="xkcd" pitchFamily="50" charset="0"/>
                  </a:rPr>
                  <a:t> JELLY</a:t>
                </a:r>
                <a:endParaRPr lang="sv-SE" sz="675" dirty="0">
                  <a:solidFill>
                    <a:schemeClr val="tx1">
                      <a:lumMod val="75000"/>
                      <a:lumOff val="25000"/>
                    </a:schemeClr>
                  </a:solidFill>
                </a:endParaRPr>
              </a:p>
            </p:txBody>
          </p:sp>
        </p:grpSp>
        <p:grpSp>
          <p:nvGrpSpPr>
            <p:cNvPr id="31" name="Grupp 30"/>
            <p:cNvGrpSpPr/>
            <p:nvPr/>
          </p:nvGrpSpPr>
          <p:grpSpPr>
            <a:xfrm>
              <a:off x="6469314" y="931291"/>
              <a:ext cx="1127022" cy="1849637"/>
              <a:chOff x="3969060" y="866622"/>
              <a:chExt cx="1127022" cy="1849637"/>
            </a:xfrm>
          </p:grpSpPr>
          <p:grpSp>
            <p:nvGrpSpPr>
              <p:cNvPr id="32" name="Grupp 31"/>
              <p:cNvGrpSpPr/>
              <p:nvPr/>
            </p:nvGrpSpPr>
            <p:grpSpPr>
              <a:xfrm>
                <a:off x="3969060" y="866622"/>
                <a:ext cx="972108" cy="1849637"/>
                <a:chOff x="3969060" y="866622"/>
                <a:chExt cx="972108" cy="1849637"/>
              </a:xfrm>
            </p:grpSpPr>
            <p:pic>
              <p:nvPicPr>
                <p:cNvPr id="34"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662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35" name="Rektangel 34"/>
                <p:cNvSpPr/>
                <p:nvPr/>
              </p:nvSpPr>
              <p:spPr>
                <a:xfrm>
                  <a:off x="4041068" y="1203598"/>
                  <a:ext cx="720080" cy="1080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33" name="textruta 32"/>
              <p:cNvSpPr txBox="1"/>
              <p:nvPr/>
            </p:nvSpPr>
            <p:spPr>
              <a:xfrm>
                <a:off x="3975391" y="1146023"/>
                <a:ext cx="1120691" cy="246221"/>
              </a:xfrm>
              <a:prstGeom prst="rect">
                <a:avLst/>
              </a:prstGeom>
              <a:noFill/>
            </p:spPr>
            <p:txBody>
              <a:bodyPr wrap="square" rtlCol="0">
                <a:spAutoFit/>
              </a:bodyPr>
              <a:lstStyle/>
              <a:p>
                <a:r>
                  <a:rPr lang="sv-SE" sz="600" b="1" dirty="0">
                    <a:solidFill>
                      <a:schemeClr val="bg1">
                        <a:lumMod val="50000"/>
                      </a:schemeClr>
                    </a:solidFill>
                    <a:latin typeface="xkcd" pitchFamily="50" charset="0"/>
                  </a:rPr>
                  <a:t>GREY</a:t>
                </a:r>
                <a:r>
                  <a:rPr lang="sv-SE" sz="600" dirty="0">
                    <a:solidFill>
                      <a:schemeClr val="tx1">
                        <a:lumMod val="75000"/>
                        <a:lumOff val="25000"/>
                      </a:schemeClr>
                    </a:solidFill>
                    <a:latin typeface="xkcd" pitchFamily="50" charset="0"/>
                  </a:rPr>
                  <a:t> JELLY</a:t>
                </a:r>
                <a:endParaRPr lang="sv-SE" sz="600" dirty="0">
                  <a:solidFill>
                    <a:schemeClr val="tx1">
                      <a:lumMod val="75000"/>
                      <a:lumOff val="25000"/>
                    </a:schemeClr>
                  </a:solidFill>
                </a:endParaRPr>
              </a:p>
            </p:txBody>
          </p:sp>
        </p:grpSp>
        <p:grpSp>
          <p:nvGrpSpPr>
            <p:cNvPr id="171" name="Grupp 170"/>
            <p:cNvGrpSpPr/>
            <p:nvPr/>
          </p:nvGrpSpPr>
          <p:grpSpPr>
            <a:xfrm>
              <a:off x="311568" y="2830852"/>
              <a:ext cx="1079634" cy="1849637"/>
              <a:chOff x="3969060" y="865642"/>
              <a:chExt cx="1079634" cy="1849637"/>
            </a:xfrm>
          </p:grpSpPr>
          <p:grpSp>
            <p:nvGrpSpPr>
              <p:cNvPr id="172" name="Grupp 171"/>
              <p:cNvGrpSpPr/>
              <p:nvPr/>
            </p:nvGrpSpPr>
            <p:grpSpPr>
              <a:xfrm>
                <a:off x="3969060" y="865642"/>
                <a:ext cx="972108" cy="1849637"/>
                <a:chOff x="3969060" y="865642"/>
                <a:chExt cx="972108" cy="1849637"/>
              </a:xfrm>
            </p:grpSpPr>
            <p:pic>
              <p:nvPicPr>
                <p:cNvPr id="174"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175" name="Rektangel 174"/>
                <p:cNvSpPr/>
                <p:nvPr/>
              </p:nvSpPr>
              <p:spPr>
                <a:xfrm>
                  <a:off x="4041068" y="1203598"/>
                  <a:ext cx="720080" cy="1080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173" name="textruta 172"/>
              <p:cNvSpPr txBox="1"/>
              <p:nvPr/>
            </p:nvSpPr>
            <p:spPr>
              <a:xfrm>
                <a:off x="3995576" y="1146997"/>
                <a:ext cx="1053118" cy="400109"/>
              </a:xfrm>
              <a:prstGeom prst="rect">
                <a:avLst/>
              </a:prstGeom>
              <a:noFill/>
            </p:spPr>
            <p:txBody>
              <a:bodyPr wrap="square" rtlCol="0">
                <a:spAutoFit/>
              </a:bodyPr>
              <a:lstStyle/>
              <a:p>
                <a:r>
                  <a:rPr lang="sv-SE" sz="675" b="1" dirty="0">
                    <a:solidFill>
                      <a:srgbClr val="FF99CC"/>
                    </a:solidFill>
                    <a:latin typeface="xkcd" pitchFamily="50" charset="0"/>
                  </a:rPr>
                  <a:t>SALMON</a:t>
                </a:r>
                <a:r>
                  <a:rPr lang="sv-SE" sz="675" dirty="0">
                    <a:solidFill>
                      <a:schemeClr val="tx1">
                        <a:lumMod val="75000"/>
                        <a:lumOff val="25000"/>
                      </a:schemeClr>
                    </a:solidFill>
                    <a:latin typeface="xkcd" pitchFamily="50" charset="0"/>
                  </a:rPr>
                  <a:t> JELLY</a:t>
                </a:r>
                <a:endParaRPr lang="sv-SE" sz="675" dirty="0">
                  <a:solidFill>
                    <a:schemeClr val="tx1">
                      <a:lumMod val="75000"/>
                      <a:lumOff val="25000"/>
                    </a:schemeClr>
                  </a:solidFill>
                </a:endParaRPr>
              </a:p>
            </p:txBody>
          </p:sp>
        </p:grpSp>
        <p:grpSp>
          <p:nvGrpSpPr>
            <p:cNvPr id="176" name="Grupp 175"/>
            <p:cNvGrpSpPr/>
            <p:nvPr/>
          </p:nvGrpSpPr>
          <p:grpSpPr>
            <a:xfrm>
              <a:off x="1535006" y="2830852"/>
              <a:ext cx="1053118" cy="1849637"/>
              <a:chOff x="3960367" y="865642"/>
              <a:chExt cx="1053118" cy="1849637"/>
            </a:xfrm>
          </p:grpSpPr>
          <p:grpSp>
            <p:nvGrpSpPr>
              <p:cNvPr id="177" name="Grupp 176"/>
              <p:cNvGrpSpPr/>
              <p:nvPr/>
            </p:nvGrpSpPr>
            <p:grpSpPr>
              <a:xfrm>
                <a:off x="3969060" y="865642"/>
                <a:ext cx="972108" cy="1849637"/>
                <a:chOff x="3969060" y="865642"/>
                <a:chExt cx="972108" cy="1849637"/>
              </a:xfrm>
            </p:grpSpPr>
            <p:pic>
              <p:nvPicPr>
                <p:cNvPr id="179"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180" name="Rektangel 179"/>
                <p:cNvSpPr/>
                <p:nvPr/>
              </p:nvSpPr>
              <p:spPr>
                <a:xfrm>
                  <a:off x="4041068" y="1203598"/>
                  <a:ext cx="720080" cy="1080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178" name="textruta 177"/>
              <p:cNvSpPr txBox="1"/>
              <p:nvPr/>
            </p:nvSpPr>
            <p:spPr>
              <a:xfrm>
                <a:off x="3960367" y="1142865"/>
                <a:ext cx="1053118" cy="400109"/>
              </a:xfrm>
              <a:prstGeom prst="rect">
                <a:avLst/>
              </a:prstGeom>
              <a:noFill/>
            </p:spPr>
            <p:txBody>
              <a:bodyPr wrap="square" rtlCol="0">
                <a:spAutoFit/>
              </a:bodyPr>
              <a:lstStyle/>
              <a:p>
                <a:r>
                  <a:rPr lang="sv-SE" sz="600" b="1" dirty="0">
                    <a:solidFill>
                      <a:srgbClr val="00FFFF"/>
                    </a:solidFill>
                    <a:latin typeface="xkcd" pitchFamily="50" charset="0"/>
                  </a:rPr>
                  <a:t>TURQUISE</a:t>
                </a:r>
                <a:r>
                  <a:rPr lang="sv-SE" sz="675" dirty="0">
                    <a:solidFill>
                      <a:schemeClr val="tx1">
                        <a:lumMod val="75000"/>
                        <a:lumOff val="25000"/>
                      </a:schemeClr>
                    </a:solidFill>
                    <a:latin typeface="xkcd" pitchFamily="50" charset="0"/>
                  </a:rPr>
                  <a:t> JELLY</a:t>
                </a:r>
                <a:endParaRPr lang="sv-SE" sz="675" dirty="0">
                  <a:solidFill>
                    <a:schemeClr val="tx1">
                      <a:lumMod val="75000"/>
                      <a:lumOff val="25000"/>
                    </a:schemeClr>
                  </a:solidFill>
                </a:endParaRPr>
              </a:p>
            </p:txBody>
          </p:sp>
        </p:grpSp>
        <p:grpSp>
          <p:nvGrpSpPr>
            <p:cNvPr id="181" name="Grupp 180"/>
            <p:cNvGrpSpPr/>
            <p:nvPr/>
          </p:nvGrpSpPr>
          <p:grpSpPr>
            <a:xfrm>
              <a:off x="2731928" y="2830852"/>
              <a:ext cx="1120691" cy="1849637"/>
              <a:chOff x="3928489" y="865642"/>
              <a:chExt cx="1120691" cy="1849637"/>
            </a:xfrm>
          </p:grpSpPr>
          <p:grpSp>
            <p:nvGrpSpPr>
              <p:cNvPr id="182" name="Grupp 181"/>
              <p:cNvGrpSpPr/>
              <p:nvPr/>
            </p:nvGrpSpPr>
            <p:grpSpPr>
              <a:xfrm>
                <a:off x="3969060" y="865642"/>
                <a:ext cx="972108" cy="1849637"/>
                <a:chOff x="3969060" y="865642"/>
                <a:chExt cx="972108" cy="1849637"/>
              </a:xfrm>
            </p:grpSpPr>
            <p:pic>
              <p:nvPicPr>
                <p:cNvPr id="184"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185" name="Rektangel 184"/>
                <p:cNvSpPr/>
                <p:nvPr/>
              </p:nvSpPr>
              <p:spPr>
                <a:xfrm>
                  <a:off x="4041068" y="1203598"/>
                  <a:ext cx="720080" cy="1080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183" name="textruta 182"/>
              <p:cNvSpPr txBox="1"/>
              <p:nvPr/>
            </p:nvSpPr>
            <p:spPr>
              <a:xfrm>
                <a:off x="3928489" y="1153674"/>
                <a:ext cx="1120691" cy="246221"/>
              </a:xfrm>
              <a:prstGeom prst="rect">
                <a:avLst/>
              </a:prstGeom>
              <a:noFill/>
            </p:spPr>
            <p:txBody>
              <a:bodyPr wrap="square" rtlCol="0">
                <a:spAutoFit/>
              </a:bodyPr>
              <a:lstStyle/>
              <a:p>
                <a:r>
                  <a:rPr lang="sv-SE" sz="600" b="1" dirty="0">
                    <a:solidFill>
                      <a:srgbClr val="0070C0"/>
                    </a:solidFill>
                    <a:latin typeface="xkcd" pitchFamily="50" charset="0"/>
                  </a:rPr>
                  <a:t>BLUE</a:t>
                </a:r>
                <a:r>
                  <a:rPr lang="sv-SE" sz="600" dirty="0">
                    <a:solidFill>
                      <a:schemeClr val="tx1">
                        <a:lumMod val="75000"/>
                        <a:lumOff val="25000"/>
                      </a:schemeClr>
                    </a:solidFill>
                    <a:latin typeface="xkcd" pitchFamily="50" charset="0"/>
                  </a:rPr>
                  <a:t> JELLY</a:t>
                </a:r>
                <a:endParaRPr lang="sv-SE" sz="600" dirty="0">
                  <a:solidFill>
                    <a:schemeClr val="tx1">
                      <a:lumMod val="75000"/>
                      <a:lumOff val="25000"/>
                    </a:schemeClr>
                  </a:solidFill>
                </a:endParaRPr>
              </a:p>
            </p:txBody>
          </p:sp>
        </p:grpSp>
        <p:grpSp>
          <p:nvGrpSpPr>
            <p:cNvPr id="191" name="Grupp 190"/>
            <p:cNvGrpSpPr/>
            <p:nvPr/>
          </p:nvGrpSpPr>
          <p:grpSpPr>
            <a:xfrm>
              <a:off x="5219861" y="2830852"/>
              <a:ext cx="1053118" cy="1849637"/>
              <a:chOff x="3960367" y="865642"/>
              <a:chExt cx="1053118" cy="1849637"/>
            </a:xfrm>
          </p:grpSpPr>
          <p:grpSp>
            <p:nvGrpSpPr>
              <p:cNvPr id="192" name="Grupp 191"/>
              <p:cNvGrpSpPr/>
              <p:nvPr/>
            </p:nvGrpSpPr>
            <p:grpSpPr>
              <a:xfrm>
                <a:off x="3969060" y="865642"/>
                <a:ext cx="972108" cy="1849637"/>
                <a:chOff x="3969060" y="865642"/>
                <a:chExt cx="972108" cy="1849637"/>
              </a:xfrm>
            </p:grpSpPr>
            <p:pic>
              <p:nvPicPr>
                <p:cNvPr id="194"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195" name="Rektangel 194"/>
                <p:cNvSpPr/>
                <p:nvPr/>
              </p:nvSpPr>
              <p:spPr>
                <a:xfrm>
                  <a:off x="4041068" y="1203598"/>
                  <a:ext cx="720080" cy="1080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193" name="textruta 192"/>
              <p:cNvSpPr txBox="1"/>
              <p:nvPr/>
            </p:nvSpPr>
            <p:spPr>
              <a:xfrm>
                <a:off x="3960367" y="1142865"/>
                <a:ext cx="1053118" cy="261611"/>
              </a:xfrm>
              <a:prstGeom prst="rect">
                <a:avLst/>
              </a:prstGeom>
              <a:noFill/>
            </p:spPr>
            <p:txBody>
              <a:bodyPr wrap="square" rtlCol="0">
                <a:spAutoFit/>
              </a:bodyPr>
              <a:lstStyle/>
              <a:p>
                <a:r>
                  <a:rPr lang="sv-SE" sz="675" b="1" dirty="0">
                    <a:solidFill>
                      <a:srgbClr val="FFBDC8"/>
                    </a:solidFill>
                    <a:latin typeface="xkcd" pitchFamily="50" charset="0"/>
                  </a:rPr>
                  <a:t>PINK</a:t>
                </a:r>
                <a:r>
                  <a:rPr lang="sv-SE" sz="675" dirty="0">
                    <a:solidFill>
                      <a:schemeClr val="tx1">
                        <a:lumMod val="75000"/>
                        <a:lumOff val="25000"/>
                      </a:schemeClr>
                    </a:solidFill>
                    <a:latin typeface="xkcd" pitchFamily="50" charset="0"/>
                  </a:rPr>
                  <a:t> JELLY</a:t>
                </a:r>
                <a:endParaRPr lang="sv-SE" sz="675" dirty="0">
                  <a:solidFill>
                    <a:schemeClr val="tx1">
                      <a:lumMod val="75000"/>
                      <a:lumOff val="25000"/>
                    </a:schemeClr>
                  </a:solidFill>
                </a:endParaRPr>
              </a:p>
            </p:txBody>
          </p:sp>
        </p:grpSp>
        <p:grpSp>
          <p:nvGrpSpPr>
            <p:cNvPr id="196" name="Grupp 195"/>
            <p:cNvGrpSpPr/>
            <p:nvPr/>
          </p:nvGrpSpPr>
          <p:grpSpPr>
            <a:xfrm>
              <a:off x="6457354" y="2817419"/>
              <a:ext cx="1127022" cy="1849637"/>
              <a:chOff x="3969060" y="866622"/>
              <a:chExt cx="1127022" cy="1849637"/>
            </a:xfrm>
          </p:grpSpPr>
          <p:grpSp>
            <p:nvGrpSpPr>
              <p:cNvPr id="197" name="Grupp 196"/>
              <p:cNvGrpSpPr/>
              <p:nvPr/>
            </p:nvGrpSpPr>
            <p:grpSpPr>
              <a:xfrm>
                <a:off x="3969060" y="866622"/>
                <a:ext cx="972108" cy="1849637"/>
                <a:chOff x="3969060" y="866622"/>
                <a:chExt cx="972108" cy="1849637"/>
              </a:xfrm>
            </p:grpSpPr>
            <p:pic>
              <p:nvPicPr>
                <p:cNvPr id="199"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662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200" name="Rektangel 199"/>
                <p:cNvSpPr/>
                <p:nvPr/>
              </p:nvSpPr>
              <p:spPr>
                <a:xfrm>
                  <a:off x="4041068" y="1203598"/>
                  <a:ext cx="720080" cy="10801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198" name="textruta 197"/>
              <p:cNvSpPr txBox="1"/>
              <p:nvPr/>
            </p:nvSpPr>
            <p:spPr>
              <a:xfrm>
                <a:off x="3975391" y="1156979"/>
                <a:ext cx="1120691" cy="246221"/>
              </a:xfrm>
              <a:prstGeom prst="rect">
                <a:avLst/>
              </a:prstGeom>
              <a:noFill/>
            </p:spPr>
            <p:txBody>
              <a:bodyPr wrap="square" rtlCol="0">
                <a:spAutoFit/>
              </a:bodyPr>
              <a:lstStyle/>
              <a:p>
                <a:r>
                  <a:rPr lang="sv-SE" sz="600" b="1" dirty="0">
                    <a:solidFill>
                      <a:srgbClr val="FF00FF"/>
                    </a:solidFill>
                    <a:latin typeface="xkcd" pitchFamily="50" charset="0"/>
                  </a:rPr>
                  <a:t>magenta</a:t>
                </a:r>
                <a:r>
                  <a:rPr lang="sv-SE" sz="600" dirty="0">
                    <a:solidFill>
                      <a:schemeClr val="tx1">
                        <a:lumMod val="75000"/>
                        <a:lumOff val="25000"/>
                      </a:schemeClr>
                    </a:solidFill>
                    <a:latin typeface="xkcd" pitchFamily="50" charset="0"/>
                  </a:rPr>
                  <a:t> JELLY</a:t>
                </a:r>
                <a:endParaRPr lang="sv-SE" sz="600" dirty="0">
                  <a:solidFill>
                    <a:schemeClr val="tx1">
                      <a:lumMod val="75000"/>
                      <a:lumOff val="25000"/>
                    </a:schemeClr>
                  </a:solidFill>
                </a:endParaRPr>
              </a:p>
            </p:txBody>
          </p:sp>
        </p:grpSp>
        <p:grpSp>
          <p:nvGrpSpPr>
            <p:cNvPr id="201" name="Grupp 200"/>
            <p:cNvGrpSpPr/>
            <p:nvPr/>
          </p:nvGrpSpPr>
          <p:grpSpPr>
            <a:xfrm>
              <a:off x="350044" y="4749166"/>
              <a:ext cx="972108" cy="1849637"/>
              <a:chOff x="3969060" y="865642"/>
              <a:chExt cx="972108" cy="1849637"/>
            </a:xfrm>
          </p:grpSpPr>
          <p:grpSp>
            <p:nvGrpSpPr>
              <p:cNvPr id="202" name="Grupp 201"/>
              <p:cNvGrpSpPr/>
              <p:nvPr/>
            </p:nvGrpSpPr>
            <p:grpSpPr>
              <a:xfrm>
                <a:off x="3969060" y="865642"/>
                <a:ext cx="972108" cy="1849637"/>
                <a:chOff x="3969060" y="865642"/>
                <a:chExt cx="972108" cy="1849637"/>
              </a:xfrm>
            </p:grpSpPr>
            <p:pic>
              <p:nvPicPr>
                <p:cNvPr id="204"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205" name="Rektangel 204"/>
                <p:cNvSpPr/>
                <p:nvPr/>
              </p:nvSpPr>
              <p:spPr>
                <a:xfrm>
                  <a:off x="4041068" y="1168468"/>
                  <a:ext cx="720080" cy="1260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203" name="textruta 202"/>
              <p:cNvSpPr txBox="1"/>
              <p:nvPr/>
            </p:nvSpPr>
            <p:spPr>
              <a:xfrm>
                <a:off x="4005613" y="1146997"/>
                <a:ext cx="864000" cy="400109"/>
              </a:xfrm>
              <a:prstGeom prst="rect">
                <a:avLst/>
              </a:prstGeom>
              <a:noFill/>
            </p:spPr>
            <p:txBody>
              <a:bodyPr wrap="square" rtlCol="0">
                <a:spAutoFit/>
              </a:bodyPr>
              <a:lstStyle/>
              <a:p>
                <a:r>
                  <a:rPr lang="sv-SE" sz="675" b="1" dirty="0">
                    <a:solidFill>
                      <a:srgbClr val="33CCFF"/>
                    </a:solidFill>
                    <a:latin typeface="xkcd" pitchFamily="50" charset="0"/>
                  </a:rPr>
                  <a:t>CYAN</a:t>
                </a:r>
                <a:r>
                  <a:rPr lang="sv-SE" sz="675" dirty="0">
                    <a:solidFill>
                      <a:srgbClr val="33CCFF"/>
                    </a:solidFill>
                    <a:latin typeface="xkcd" pitchFamily="50" charset="0"/>
                  </a:rPr>
                  <a:t> </a:t>
                </a:r>
                <a:r>
                  <a:rPr lang="sv-SE" sz="675" dirty="0">
                    <a:solidFill>
                      <a:schemeClr val="tx1">
                        <a:lumMod val="75000"/>
                        <a:lumOff val="25000"/>
                      </a:schemeClr>
                    </a:solidFill>
                    <a:latin typeface="xkcd" pitchFamily="50" charset="0"/>
                  </a:rPr>
                  <a:t>JELLY</a:t>
                </a:r>
                <a:endParaRPr lang="sv-SE" sz="675" dirty="0">
                  <a:solidFill>
                    <a:schemeClr val="tx1">
                      <a:lumMod val="75000"/>
                      <a:lumOff val="25000"/>
                    </a:schemeClr>
                  </a:solidFill>
                </a:endParaRPr>
              </a:p>
            </p:txBody>
          </p:sp>
        </p:grpSp>
        <p:grpSp>
          <p:nvGrpSpPr>
            <p:cNvPr id="206" name="Grupp 205"/>
            <p:cNvGrpSpPr/>
            <p:nvPr/>
          </p:nvGrpSpPr>
          <p:grpSpPr>
            <a:xfrm>
              <a:off x="1582175" y="4749166"/>
              <a:ext cx="1081678" cy="1849637"/>
              <a:chOff x="3969060" y="865642"/>
              <a:chExt cx="1081678" cy="1849637"/>
            </a:xfrm>
          </p:grpSpPr>
          <p:grpSp>
            <p:nvGrpSpPr>
              <p:cNvPr id="207" name="Grupp 206"/>
              <p:cNvGrpSpPr/>
              <p:nvPr/>
            </p:nvGrpSpPr>
            <p:grpSpPr>
              <a:xfrm>
                <a:off x="3969060" y="865642"/>
                <a:ext cx="972108" cy="1849637"/>
                <a:chOff x="3969060" y="865642"/>
                <a:chExt cx="972108" cy="1849637"/>
              </a:xfrm>
            </p:grpSpPr>
            <p:pic>
              <p:nvPicPr>
                <p:cNvPr id="209"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210" name="Rektangel 209"/>
                <p:cNvSpPr/>
                <p:nvPr/>
              </p:nvSpPr>
              <p:spPr>
                <a:xfrm>
                  <a:off x="4041068" y="1168468"/>
                  <a:ext cx="720080" cy="1260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208" name="textruta 207"/>
              <p:cNvSpPr txBox="1"/>
              <p:nvPr/>
            </p:nvSpPr>
            <p:spPr>
              <a:xfrm>
                <a:off x="3997619" y="1142865"/>
                <a:ext cx="1053119" cy="261611"/>
              </a:xfrm>
              <a:prstGeom prst="rect">
                <a:avLst/>
              </a:prstGeom>
              <a:noFill/>
            </p:spPr>
            <p:txBody>
              <a:bodyPr wrap="square" rtlCol="0">
                <a:spAutoFit/>
              </a:bodyPr>
              <a:lstStyle/>
              <a:p>
                <a:r>
                  <a:rPr lang="sv-SE" sz="675" b="1" dirty="0">
                    <a:latin typeface="xkcd" pitchFamily="50" charset="0"/>
                  </a:rPr>
                  <a:t>BLACK</a:t>
                </a:r>
                <a:r>
                  <a:rPr lang="sv-SE" sz="675" dirty="0">
                    <a:solidFill>
                      <a:schemeClr val="tx1">
                        <a:lumMod val="75000"/>
                        <a:lumOff val="25000"/>
                      </a:schemeClr>
                    </a:solidFill>
                    <a:latin typeface="xkcd" pitchFamily="50" charset="0"/>
                  </a:rPr>
                  <a:t> JELLY</a:t>
                </a:r>
                <a:endParaRPr lang="sv-SE" sz="675" dirty="0">
                  <a:solidFill>
                    <a:schemeClr val="tx1">
                      <a:lumMod val="75000"/>
                      <a:lumOff val="25000"/>
                    </a:schemeClr>
                  </a:solidFill>
                </a:endParaRPr>
              </a:p>
            </p:txBody>
          </p:sp>
        </p:grpSp>
        <p:grpSp>
          <p:nvGrpSpPr>
            <p:cNvPr id="211" name="Grupp 210"/>
            <p:cNvGrpSpPr/>
            <p:nvPr/>
          </p:nvGrpSpPr>
          <p:grpSpPr>
            <a:xfrm>
              <a:off x="2810975" y="4749166"/>
              <a:ext cx="972108" cy="1849637"/>
              <a:chOff x="3969060" y="865642"/>
              <a:chExt cx="972108" cy="1849637"/>
            </a:xfrm>
          </p:grpSpPr>
          <p:grpSp>
            <p:nvGrpSpPr>
              <p:cNvPr id="212" name="Grupp 211"/>
              <p:cNvGrpSpPr/>
              <p:nvPr/>
            </p:nvGrpSpPr>
            <p:grpSpPr>
              <a:xfrm>
                <a:off x="3969060" y="865642"/>
                <a:ext cx="972108" cy="1849637"/>
                <a:chOff x="3969060" y="865642"/>
                <a:chExt cx="972108" cy="1849637"/>
              </a:xfrm>
            </p:grpSpPr>
            <p:pic>
              <p:nvPicPr>
                <p:cNvPr id="214"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215" name="Rektangel 214"/>
                <p:cNvSpPr/>
                <p:nvPr/>
              </p:nvSpPr>
              <p:spPr>
                <a:xfrm>
                  <a:off x="4041068" y="1168468"/>
                  <a:ext cx="720080" cy="1260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213" name="textruta 212"/>
              <p:cNvSpPr txBox="1"/>
              <p:nvPr/>
            </p:nvSpPr>
            <p:spPr>
              <a:xfrm>
                <a:off x="3993051" y="1153674"/>
                <a:ext cx="864000" cy="369332"/>
              </a:xfrm>
              <a:prstGeom prst="rect">
                <a:avLst/>
              </a:prstGeom>
              <a:noFill/>
            </p:spPr>
            <p:txBody>
              <a:bodyPr wrap="square" rtlCol="0">
                <a:spAutoFit/>
              </a:bodyPr>
              <a:lstStyle/>
              <a:p>
                <a:r>
                  <a:rPr lang="sv-SE" sz="600" b="1" dirty="0">
                    <a:solidFill>
                      <a:srgbClr val="9933FF"/>
                    </a:solidFill>
                    <a:latin typeface="xkcd" pitchFamily="50" charset="0"/>
                  </a:rPr>
                  <a:t>MAUVE</a:t>
                </a:r>
                <a:r>
                  <a:rPr lang="sv-SE" sz="600" dirty="0">
                    <a:solidFill>
                      <a:schemeClr val="tx1">
                        <a:lumMod val="75000"/>
                        <a:lumOff val="25000"/>
                      </a:schemeClr>
                    </a:solidFill>
                    <a:latin typeface="xkcd" pitchFamily="50" charset="0"/>
                  </a:rPr>
                  <a:t> JELLY</a:t>
                </a:r>
                <a:endParaRPr lang="sv-SE" sz="600" dirty="0">
                  <a:solidFill>
                    <a:schemeClr val="tx1">
                      <a:lumMod val="75000"/>
                      <a:lumOff val="25000"/>
                    </a:schemeClr>
                  </a:solidFill>
                </a:endParaRPr>
              </a:p>
            </p:txBody>
          </p:sp>
        </p:grpSp>
        <p:grpSp>
          <p:nvGrpSpPr>
            <p:cNvPr id="216" name="Grupp 215"/>
            <p:cNvGrpSpPr/>
            <p:nvPr/>
          </p:nvGrpSpPr>
          <p:grpSpPr>
            <a:xfrm>
              <a:off x="4023001" y="4749166"/>
              <a:ext cx="1053118" cy="1849637"/>
              <a:chOff x="3957162" y="865642"/>
              <a:chExt cx="1053118" cy="1849637"/>
            </a:xfrm>
          </p:grpSpPr>
          <p:grpSp>
            <p:nvGrpSpPr>
              <p:cNvPr id="217" name="Grupp 216"/>
              <p:cNvGrpSpPr/>
              <p:nvPr/>
            </p:nvGrpSpPr>
            <p:grpSpPr>
              <a:xfrm>
                <a:off x="3969060" y="865642"/>
                <a:ext cx="972108" cy="1849637"/>
                <a:chOff x="3969060" y="865642"/>
                <a:chExt cx="972108" cy="1849637"/>
              </a:xfrm>
            </p:grpSpPr>
            <p:pic>
              <p:nvPicPr>
                <p:cNvPr id="219"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220" name="Rektangel 219"/>
                <p:cNvSpPr/>
                <p:nvPr/>
              </p:nvSpPr>
              <p:spPr>
                <a:xfrm>
                  <a:off x="4041068" y="1168468"/>
                  <a:ext cx="720080" cy="1260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218" name="textruta 217"/>
              <p:cNvSpPr txBox="1"/>
              <p:nvPr/>
            </p:nvSpPr>
            <p:spPr>
              <a:xfrm>
                <a:off x="3957162" y="1132465"/>
                <a:ext cx="1053118" cy="261611"/>
              </a:xfrm>
              <a:prstGeom prst="rect">
                <a:avLst/>
              </a:prstGeom>
              <a:noFill/>
            </p:spPr>
            <p:txBody>
              <a:bodyPr wrap="square" rtlCol="0">
                <a:spAutoFit/>
              </a:bodyPr>
              <a:lstStyle/>
              <a:p>
                <a:r>
                  <a:rPr lang="sv-SE" sz="675" b="1" dirty="0">
                    <a:solidFill>
                      <a:srgbClr val="FFE393"/>
                    </a:solidFill>
                    <a:latin typeface="xkcd" pitchFamily="50" charset="0"/>
                  </a:rPr>
                  <a:t>PEACH</a:t>
                </a:r>
                <a:r>
                  <a:rPr lang="sv-SE" sz="675" dirty="0">
                    <a:solidFill>
                      <a:schemeClr val="accent4">
                        <a:lumMod val="20000"/>
                        <a:lumOff val="80000"/>
                      </a:schemeClr>
                    </a:solidFill>
                    <a:latin typeface="xkcd" pitchFamily="50" charset="0"/>
                  </a:rPr>
                  <a:t> </a:t>
                </a:r>
                <a:r>
                  <a:rPr lang="sv-SE" sz="675" dirty="0">
                    <a:solidFill>
                      <a:schemeClr val="tx1">
                        <a:lumMod val="75000"/>
                        <a:lumOff val="25000"/>
                      </a:schemeClr>
                    </a:solidFill>
                    <a:latin typeface="xkcd" pitchFamily="50" charset="0"/>
                  </a:rPr>
                  <a:t>JELLY</a:t>
                </a:r>
                <a:endParaRPr lang="sv-SE" sz="675" dirty="0">
                  <a:solidFill>
                    <a:schemeClr val="tx1">
                      <a:lumMod val="75000"/>
                      <a:lumOff val="25000"/>
                    </a:schemeClr>
                  </a:solidFill>
                </a:endParaRPr>
              </a:p>
            </p:txBody>
          </p:sp>
        </p:grpSp>
        <p:grpSp>
          <p:nvGrpSpPr>
            <p:cNvPr id="221" name="Grupp 220"/>
            <p:cNvGrpSpPr/>
            <p:nvPr/>
          </p:nvGrpSpPr>
          <p:grpSpPr>
            <a:xfrm>
              <a:off x="5267030" y="4749166"/>
              <a:ext cx="1069229" cy="1849637"/>
              <a:chOff x="3969060" y="865642"/>
              <a:chExt cx="1069229" cy="1849637"/>
            </a:xfrm>
          </p:grpSpPr>
          <p:grpSp>
            <p:nvGrpSpPr>
              <p:cNvPr id="222" name="Grupp 221"/>
              <p:cNvGrpSpPr/>
              <p:nvPr/>
            </p:nvGrpSpPr>
            <p:grpSpPr>
              <a:xfrm>
                <a:off x="3969060" y="865642"/>
                <a:ext cx="972108" cy="1849637"/>
                <a:chOff x="3969060" y="865642"/>
                <a:chExt cx="972108" cy="1849637"/>
              </a:xfrm>
            </p:grpSpPr>
            <p:pic>
              <p:nvPicPr>
                <p:cNvPr id="224" name="Picture 2" descr="Significant"/>
                <p:cNvPicPr>
                  <a:picLocks noChangeAspect="1" noChangeArrowheads="1"/>
                </p:cNvPicPr>
                <p:nvPr/>
              </p:nvPicPr>
              <p:blipFill rotWithShape="1">
                <a:blip r:embed="rId3">
                  <a:extLst>
                    <a:ext uri="{28A0092B-C50C-407E-A947-70E740481C1C}">
                      <a14:useLocalDpi xmlns:a14="http://schemas.microsoft.com/office/drawing/2010/main" val="0"/>
                    </a:ext>
                  </a:extLst>
                </a:blip>
                <a:srcRect t="21448" r="81100" b="65589"/>
                <a:stretch/>
              </p:blipFill>
              <p:spPr bwMode="auto">
                <a:xfrm>
                  <a:off x="3969060" y="865642"/>
                  <a:ext cx="972108" cy="1849637"/>
                </a:xfrm>
                <a:prstGeom prst="rect">
                  <a:avLst/>
                </a:prstGeom>
                <a:noFill/>
                <a:extLst>
                  <a:ext uri="{909E8E84-426E-40DD-AFC4-6F175D3DCCD1}">
                    <a14:hiddenFill xmlns:a14="http://schemas.microsoft.com/office/drawing/2010/main">
                      <a:solidFill>
                        <a:srgbClr val="FFFFFF"/>
                      </a:solidFill>
                    </a14:hiddenFill>
                  </a:ext>
                </a:extLst>
              </p:spPr>
            </p:pic>
            <p:sp>
              <p:nvSpPr>
                <p:cNvPr id="225" name="Rektangel 224"/>
                <p:cNvSpPr/>
                <p:nvPr/>
              </p:nvSpPr>
              <p:spPr>
                <a:xfrm>
                  <a:off x="4041068" y="1168468"/>
                  <a:ext cx="720080" cy="1260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grpSp>
          <p:sp>
            <p:nvSpPr>
              <p:cNvPr id="223" name="textruta 222"/>
              <p:cNvSpPr txBox="1"/>
              <p:nvPr/>
            </p:nvSpPr>
            <p:spPr>
              <a:xfrm>
                <a:off x="3985171" y="1132465"/>
                <a:ext cx="1053118" cy="261611"/>
              </a:xfrm>
              <a:prstGeom prst="rect">
                <a:avLst/>
              </a:prstGeom>
              <a:noFill/>
            </p:spPr>
            <p:txBody>
              <a:bodyPr wrap="square" rtlCol="0">
                <a:spAutoFit/>
              </a:bodyPr>
              <a:lstStyle/>
              <a:p>
                <a:r>
                  <a:rPr lang="sv-SE" sz="675" b="1" dirty="0" err="1">
                    <a:solidFill>
                      <a:srgbClr val="CCCCFF"/>
                    </a:solidFill>
                    <a:latin typeface="xkcd" pitchFamily="50" charset="0"/>
                  </a:rPr>
                  <a:t>lilac</a:t>
                </a:r>
                <a:r>
                  <a:rPr lang="sv-SE" sz="675" dirty="0">
                    <a:solidFill>
                      <a:srgbClr val="CCCCFF"/>
                    </a:solidFill>
                    <a:latin typeface="xkcd" pitchFamily="50" charset="0"/>
                  </a:rPr>
                  <a:t> </a:t>
                </a:r>
                <a:r>
                  <a:rPr lang="sv-SE" sz="675" dirty="0">
                    <a:solidFill>
                      <a:schemeClr val="tx1">
                        <a:lumMod val="75000"/>
                        <a:lumOff val="25000"/>
                      </a:schemeClr>
                    </a:solidFill>
                    <a:latin typeface="xkcd" pitchFamily="50" charset="0"/>
                  </a:rPr>
                  <a:t>JELLY</a:t>
                </a:r>
                <a:endParaRPr lang="sv-SE" sz="675" dirty="0">
                  <a:solidFill>
                    <a:schemeClr val="tx1">
                      <a:lumMod val="75000"/>
                      <a:lumOff val="25000"/>
                    </a:schemeClr>
                  </a:solidFill>
                </a:endParaRPr>
              </a:p>
            </p:txBody>
          </p:sp>
        </p:grpSp>
        <p:pic>
          <p:nvPicPr>
            <p:cNvPr id="231" name="Bildobjekt 230"/>
            <p:cNvPicPr/>
            <p:nvPr/>
          </p:nvPicPr>
          <p:blipFill rotWithShape="1">
            <a:blip r:embed="rId4">
              <a:extLst>
                <a:ext uri="{28A0092B-C50C-407E-A947-70E740481C1C}">
                  <a14:useLocalDpi xmlns:a14="http://schemas.microsoft.com/office/drawing/2010/main" val="0"/>
                </a:ext>
              </a:extLst>
            </a:blip>
            <a:srcRect l="59800" t="34198" r="19638" b="48921"/>
            <a:stretch/>
          </p:blipFill>
          <p:spPr bwMode="auto">
            <a:xfrm>
              <a:off x="3972568" y="2792277"/>
              <a:ext cx="1058545" cy="1899920"/>
            </a:xfrm>
            <a:prstGeom prst="rect">
              <a:avLst/>
            </a:prstGeom>
            <a:noFill/>
            <a:ln>
              <a:noFill/>
            </a:ln>
            <a:extLst>
              <a:ext uri="{53640926-AAD7-44D8-BBD7-CCE9431645EC}">
                <a14:shadowObscured xmlns:a14="http://schemas.microsoft.com/office/drawing/2010/main"/>
              </a:ext>
            </a:extLst>
          </p:spPr>
        </p:pic>
        <p:sp>
          <p:nvSpPr>
            <p:cNvPr id="232" name="Rektangel 231"/>
            <p:cNvSpPr/>
            <p:nvPr/>
          </p:nvSpPr>
          <p:spPr>
            <a:xfrm>
              <a:off x="4052139" y="3176984"/>
              <a:ext cx="748332" cy="108000"/>
            </a:xfrm>
            <a:prstGeom prst="rect">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33" name="textruta 232"/>
            <p:cNvSpPr txBox="1"/>
            <p:nvPr/>
          </p:nvSpPr>
          <p:spPr>
            <a:xfrm>
              <a:off x="3998451" y="3089126"/>
              <a:ext cx="1053119" cy="261611"/>
            </a:xfrm>
            <a:prstGeom prst="rect">
              <a:avLst/>
            </a:prstGeom>
            <a:noFill/>
          </p:spPr>
          <p:txBody>
            <a:bodyPr wrap="square" rtlCol="0">
              <a:spAutoFit/>
            </a:bodyPr>
            <a:lstStyle/>
            <a:p>
              <a:r>
                <a:rPr lang="sv-SE" sz="675" b="1" dirty="0">
                  <a:solidFill>
                    <a:srgbClr val="00B050"/>
                  </a:solidFill>
                  <a:latin typeface="xkcd" pitchFamily="50" charset="0"/>
                </a:rPr>
                <a:t>GREEN</a:t>
              </a:r>
              <a:r>
                <a:rPr lang="sv-SE" sz="675" b="1" dirty="0">
                  <a:solidFill>
                    <a:schemeClr val="accent5"/>
                  </a:solidFill>
                  <a:latin typeface="xkcd" pitchFamily="50" charset="0"/>
                </a:rPr>
                <a:t> </a:t>
              </a:r>
              <a:r>
                <a:rPr lang="sv-SE" sz="675" dirty="0">
                  <a:solidFill>
                    <a:schemeClr val="tx1">
                      <a:lumMod val="75000"/>
                      <a:lumOff val="25000"/>
                    </a:schemeClr>
                  </a:solidFill>
                  <a:latin typeface="xkcd" pitchFamily="50" charset="0"/>
                </a:rPr>
                <a:t>JELLY</a:t>
              </a:r>
              <a:endParaRPr lang="sv-SE" sz="675" dirty="0">
                <a:solidFill>
                  <a:schemeClr val="tx1">
                    <a:lumMod val="75000"/>
                    <a:lumOff val="25000"/>
                  </a:schemeClr>
                </a:solidFill>
              </a:endParaRPr>
            </a:p>
          </p:txBody>
        </p:sp>
      </p:grpSp>
      <p:sp>
        <p:nvSpPr>
          <p:cNvPr id="4" name="Platshållare för bildnummer 3"/>
          <p:cNvSpPr>
            <a:spLocks noGrp="1"/>
          </p:cNvSpPr>
          <p:nvPr>
            <p:ph type="sldNum" sz="quarter" idx="4294967295"/>
          </p:nvPr>
        </p:nvSpPr>
        <p:spPr>
          <a:xfrm>
            <a:off x="6400800" y="4767263"/>
            <a:ext cx="1600200" cy="273844"/>
          </a:xfrm>
        </p:spPr>
        <p:txBody>
          <a:bodyPr/>
          <a:lstStyle/>
          <a:p>
            <a:fld id="{49D34020-361E-4A13-8C95-66E98A929282}" type="slidenum">
              <a:rPr lang="sv-SE" smtClean="0"/>
              <a:pPr/>
              <a:t>65</a:t>
            </a:fld>
            <a:endParaRPr lang="sv-SE"/>
          </a:p>
        </p:txBody>
      </p:sp>
      <p:sp>
        <p:nvSpPr>
          <p:cNvPr id="5" name="textruta 4"/>
          <p:cNvSpPr txBox="1"/>
          <p:nvPr/>
        </p:nvSpPr>
        <p:spPr>
          <a:xfrm>
            <a:off x="7131542" y="4457388"/>
            <a:ext cx="1053117" cy="276999"/>
          </a:xfrm>
          <a:prstGeom prst="rect">
            <a:avLst/>
          </a:prstGeom>
          <a:noFill/>
        </p:spPr>
        <p:txBody>
          <a:bodyPr wrap="square" rtlCol="0">
            <a:spAutoFit/>
          </a:bodyPr>
          <a:lstStyle/>
          <a:p>
            <a:r>
              <a:rPr lang="sv-SE" sz="1200" i="1" dirty="0"/>
              <a:t>xkcd.com</a:t>
            </a:r>
          </a:p>
        </p:txBody>
      </p:sp>
      <p:sp>
        <p:nvSpPr>
          <p:cNvPr id="236" name="Rektangel 235"/>
          <p:cNvSpPr/>
          <p:nvPr/>
        </p:nvSpPr>
        <p:spPr>
          <a:xfrm>
            <a:off x="4328139" y="1903857"/>
            <a:ext cx="870355" cy="141459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95524577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tshållare för bildnummer 3"/>
          <p:cNvSpPr>
            <a:spLocks noGrp="1"/>
          </p:cNvSpPr>
          <p:nvPr>
            <p:ph type="sldNum" sz="quarter" idx="4294967295"/>
          </p:nvPr>
        </p:nvSpPr>
        <p:spPr>
          <a:xfrm>
            <a:off x="6400800" y="4767263"/>
            <a:ext cx="1600200" cy="273844"/>
          </a:xfrm>
        </p:spPr>
        <p:txBody>
          <a:bodyPr/>
          <a:lstStyle/>
          <a:p>
            <a:fld id="{49D34020-361E-4A13-8C95-66E98A929282}" type="slidenum">
              <a:rPr lang="sv-SE" smtClean="0"/>
              <a:pPr/>
              <a:t>66</a:t>
            </a:fld>
            <a:endParaRPr lang="sv-SE"/>
          </a:p>
        </p:txBody>
      </p:sp>
      <p:pic>
        <p:nvPicPr>
          <p:cNvPr id="6" name="Bildobjekt 5"/>
          <p:cNvPicPr>
            <a:picLocks noChangeAspect="1"/>
          </p:cNvPicPr>
          <p:nvPr/>
        </p:nvPicPr>
        <p:blipFill rotWithShape="1">
          <a:blip r:embed="rId3"/>
          <a:srcRect t="1555"/>
          <a:stretch/>
        </p:blipFill>
        <p:spPr>
          <a:xfrm>
            <a:off x="1871700" y="1059582"/>
            <a:ext cx="4905291" cy="3417224"/>
          </a:xfrm>
          <a:prstGeom prst="rect">
            <a:avLst/>
          </a:prstGeom>
        </p:spPr>
      </p:pic>
      <p:sp>
        <p:nvSpPr>
          <p:cNvPr id="5" name="textruta 4"/>
          <p:cNvSpPr txBox="1"/>
          <p:nvPr/>
        </p:nvSpPr>
        <p:spPr>
          <a:xfrm>
            <a:off x="7131542" y="4457388"/>
            <a:ext cx="1053117" cy="276999"/>
          </a:xfrm>
          <a:prstGeom prst="rect">
            <a:avLst/>
          </a:prstGeom>
          <a:noFill/>
        </p:spPr>
        <p:txBody>
          <a:bodyPr wrap="square" rtlCol="0">
            <a:spAutoFit/>
          </a:bodyPr>
          <a:lstStyle/>
          <a:p>
            <a:r>
              <a:rPr lang="sv-SE" sz="1200" i="1" dirty="0"/>
              <a:t>xkcd.com</a:t>
            </a:r>
          </a:p>
        </p:txBody>
      </p:sp>
    </p:spTree>
    <p:extLst>
      <p:ext uri="{BB962C8B-B14F-4D97-AF65-F5344CB8AC3E}">
        <p14:creationId xmlns:p14="http://schemas.microsoft.com/office/powerpoint/2010/main" val="351408996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2771800" y="57316"/>
            <a:ext cx="3186354" cy="432048"/>
          </a:xfrm>
        </p:spPr>
        <p:txBody>
          <a:bodyPr>
            <a:normAutofit/>
          </a:bodyPr>
          <a:lstStyle/>
          <a:p>
            <a:r>
              <a:rPr lang="en-US" sz="2800" dirty="0"/>
              <a:t>Multiple testing</a:t>
            </a:r>
            <a:endParaRPr lang="sv-SE" sz="2800" dirty="0"/>
          </a:p>
        </p:txBody>
      </p:sp>
      <mc:AlternateContent xmlns:mc="http://schemas.openxmlformats.org/markup-compatibility/2006" xmlns:a14="http://schemas.microsoft.com/office/drawing/2010/main">
        <mc:Choice Requires="a14">
          <p:sp>
            <p:nvSpPr>
              <p:cNvPr id="3" name="Platshållare för innehåll 2"/>
              <p:cNvSpPr>
                <a:spLocks noGrp="1"/>
              </p:cNvSpPr>
              <p:nvPr>
                <p:ph idx="1"/>
              </p:nvPr>
            </p:nvSpPr>
            <p:spPr>
              <a:xfrm>
                <a:off x="323528" y="483518"/>
                <a:ext cx="8568952" cy="3949962"/>
              </a:xfrm>
            </p:spPr>
            <p:txBody>
              <a:bodyPr>
                <a:noAutofit/>
              </a:bodyPr>
              <a:lstStyle/>
              <a:p>
                <a:pPr marL="0" indent="0">
                  <a:spcAft>
                    <a:spcPts val="450"/>
                  </a:spcAft>
                  <a:buNone/>
                </a:pPr>
                <a:r>
                  <a:rPr lang="en-US" dirty="0">
                    <a:ea typeface="Verdana" panose="020B0604030504040204" pitchFamily="34" charset="0"/>
                  </a:rPr>
                  <a:t>One hypothesis test with a 5% level of significance have a 5% risk for a false positive (type I error).</a:t>
                </a:r>
              </a:p>
              <a:p>
                <a:pPr marL="0" indent="0">
                  <a:spcAft>
                    <a:spcPts val="450"/>
                  </a:spcAft>
                  <a:buNone/>
                </a:pPr>
                <a:r>
                  <a:rPr lang="en-US" dirty="0">
                    <a:ea typeface="Verdana" panose="020B0604030504040204" pitchFamily="34" charset="0"/>
                  </a:rPr>
                  <a:t>With two tests, we have </a:t>
                </a:r>
                <a14:m>
                  <m:oMath xmlns:m="http://schemas.openxmlformats.org/officeDocument/2006/math">
                    <m:sSup>
                      <m:sSupPr>
                        <m:ctrlPr>
                          <a:rPr lang="sv-SE" i="1">
                            <a:latin typeface="Cambria Math" panose="02040503050406030204" pitchFamily="18" charset="0"/>
                          </a:rPr>
                        </m:ctrlPr>
                      </m:sSupPr>
                      <m:e>
                        <m:r>
                          <a:rPr lang="sv-SE" i="1">
                            <a:latin typeface="Cambria Math" panose="02040503050406030204" pitchFamily="18" charset="0"/>
                          </a:rPr>
                          <m:t>1−</m:t>
                        </m:r>
                        <m:d>
                          <m:dPr>
                            <m:ctrlPr>
                              <a:rPr lang="sv-SE" i="1">
                                <a:latin typeface="Cambria Math" panose="02040503050406030204" pitchFamily="18" charset="0"/>
                              </a:rPr>
                            </m:ctrlPr>
                          </m:dPr>
                          <m:e>
                            <m:r>
                              <a:rPr lang="sv-SE" i="1">
                                <a:latin typeface="Cambria Math" panose="02040503050406030204" pitchFamily="18" charset="0"/>
                              </a:rPr>
                              <m:t>1−0.05</m:t>
                            </m:r>
                          </m:e>
                        </m:d>
                      </m:e>
                      <m:sup>
                        <m:r>
                          <a:rPr lang="sv-SE" i="1">
                            <a:latin typeface="Cambria Math" panose="02040503050406030204" pitchFamily="18" charset="0"/>
                          </a:rPr>
                          <m:t>2</m:t>
                        </m:r>
                      </m:sup>
                    </m:sSup>
                    <m:r>
                      <a:rPr lang="sv-SE" i="1">
                        <a:latin typeface="Cambria Math" panose="02040503050406030204" pitchFamily="18" charset="0"/>
                      </a:rPr>
                      <m:t>=0.0975</m:t>
                    </m:r>
                  </m:oMath>
                </a14:m>
                <a:endParaRPr lang="en-US" dirty="0">
                  <a:ea typeface="Verdana" panose="020B0604030504040204" pitchFamily="34" charset="0"/>
                </a:endParaRPr>
              </a:p>
              <a:p>
                <a:pPr marL="0" indent="0">
                  <a:spcAft>
                    <a:spcPts val="900"/>
                  </a:spcAft>
                  <a:buNone/>
                </a:pPr>
                <a:r>
                  <a:rPr lang="en-US" dirty="0">
                    <a:ea typeface="Verdana" panose="020B0604030504040204" pitchFamily="34" charset="0"/>
                  </a:rPr>
                  <a:t>If </a:t>
                </a:r>
                <a:r>
                  <a:rPr lang="en-US" b="1" dirty="0">
                    <a:ea typeface="Verdana" panose="020B0604030504040204" pitchFamily="34" charset="0"/>
                  </a:rPr>
                  <a:t>c</a:t>
                </a:r>
                <a:r>
                  <a:rPr lang="en-US" dirty="0">
                    <a:ea typeface="Verdana" panose="020B0604030504040204" pitchFamily="34" charset="0"/>
                  </a:rPr>
                  <a:t> independent tests are performed, with significance level </a:t>
                </a:r>
                <a14:m>
                  <m:oMath xmlns:m="http://schemas.openxmlformats.org/officeDocument/2006/math">
                    <m:r>
                      <a:rPr lang="sv-SE" b="1">
                        <a:latin typeface="Cambria Math" panose="02040503050406030204" pitchFamily="18" charset="0"/>
                        <a:ea typeface="Cambria Math" panose="02040503050406030204" pitchFamily="18" charset="0"/>
                      </a:rPr>
                      <m:t>𝛂</m:t>
                    </m:r>
                  </m:oMath>
                </a14:m>
                <a:r>
                  <a:rPr lang="en-US" dirty="0">
                    <a:ea typeface="Verdana" panose="020B0604030504040204" pitchFamily="34" charset="0"/>
                  </a:rPr>
                  <a:t>, the combined risk of at least one false positive test, also called </a:t>
                </a:r>
                <a:r>
                  <a:rPr lang="en-US" b="1" dirty="0">
                    <a:ea typeface="Verdana" panose="020B0604030504040204" pitchFamily="34" charset="0"/>
                  </a:rPr>
                  <a:t>family-wise error rate</a:t>
                </a:r>
                <a:r>
                  <a:rPr lang="en-US" dirty="0">
                    <a:ea typeface="Verdana" panose="020B0604030504040204" pitchFamily="34" charset="0"/>
                  </a:rPr>
                  <a:t> (FWER), is given by </a:t>
                </a:r>
                <a:endParaRPr lang="sv-SE" i="1" dirty="0">
                  <a:ea typeface="Verdana" panose="020B0604030504040204" pitchFamily="34" charset="0"/>
                </a:endParaRPr>
              </a:p>
              <a:p>
                <a:pPr marL="0" indent="0">
                  <a:spcAft>
                    <a:spcPts val="900"/>
                  </a:spcAft>
                  <a:buNone/>
                </a:pPr>
                <a:r>
                  <a:rPr lang="sv-SE" dirty="0">
                    <a:ea typeface="Verdana" panose="020B0604030504040204" pitchFamily="34" charset="0"/>
                  </a:rPr>
                  <a:t>			</a:t>
                </a:r>
                <a14:m>
                  <m:oMath xmlns:m="http://schemas.openxmlformats.org/officeDocument/2006/math">
                    <m:acc>
                      <m:accPr>
                        <m:chr m:val="̅"/>
                        <m:ctrlPr>
                          <a:rPr lang="sv-SE" i="1">
                            <a:latin typeface="Cambria Math" panose="02040503050406030204" pitchFamily="18" charset="0"/>
                          </a:rPr>
                        </m:ctrlPr>
                      </m:accPr>
                      <m:e>
                        <m:r>
                          <a:rPr lang="sv-SE" i="1">
                            <a:latin typeface="Cambria Math" panose="02040503050406030204" pitchFamily="18" charset="0"/>
                          </a:rPr>
                          <m:t>𝛼</m:t>
                        </m:r>
                      </m:e>
                    </m:acc>
                    <m:r>
                      <a:rPr lang="sv-SE" i="1" dirty="0">
                        <a:latin typeface="Cambria Math" panose="02040503050406030204" pitchFamily="18" charset="0"/>
                      </a:rPr>
                      <m:t>=</m:t>
                    </m:r>
                    <m:r>
                      <a:rPr lang="sv-SE" i="1">
                        <a:latin typeface="Cambria Math" panose="02040503050406030204" pitchFamily="18" charset="0"/>
                      </a:rPr>
                      <m:t>1−</m:t>
                    </m:r>
                    <m:sSup>
                      <m:sSupPr>
                        <m:ctrlPr>
                          <a:rPr lang="sv-SE" i="1">
                            <a:latin typeface="Cambria Math" panose="02040503050406030204" pitchFamily="18" charset="0"/>
                          </a:rPr>
                        </m:ctrlPr>
                      </m:sSupPr>
                      <m:e>
                        <m:d>
                          <m:dPr>
                            <m:ctrlPr>
                              <a:rPr lang="sv-SE" i="1">
                                <a:latin typeface="Cambria Math" panose="02040503050406030204" pitchFamily="18" charset="0"/>
                              </a:rPr>
                            </m:ctrlPr>
                          </m:dPr>
                          <m:e>
                            <m:r>
                              <a:rPr lang="sv-SE" i="1">
                                <a:latin typeface="Cambria Math" panose="02040503050406030204" pitchFamily="18" charset="0"/>
                              </a:rPr>
                              <m:t>1−</m:t>
                            </m:r>
                            <m:r>
                              <a:rPr lang="sv-SE" i="1">
                                <a:latin typeface="Cambria Math" panose="02040503050406030204" pitchFamily="18" charset="0"/>
                              </a:rPr>
                              <m:t>𝛼</m:t>
                            </m:r>
                          </m:e>
                        </m:d>
                      </m:e>
                      <m:sup>
                        <m:r>
                          <a:rPr lang="sv-SE" i="1">
                            <a:latin typeface="Cambria Math" panose="02040503050406030204" pitchFamily="18" charset="0"/>
                          </a:rPr>
                          <m:t>𝐶</m:t>
                        </m:r>
                      </m:sup>
                    </m:sSup>
                  </m:oMath>
                </a14:m>
                <a:r>
                  <a:rPr lang="en-US" dirty="0">
                    <a:ea typeface="Verdana" panose="020B0604030504040204" pitchFamily="34" charset="0"/>
                  </a:rPr>
                  <a:t>	</a:t>
                </a:r>
                <a14:m>
                  <m:oMath xmlns:m="http://schemas.openxmlformats.org/officeDocument/2006/math">
                    <m:r>
                      <a:rPr lang="sv-SE" i="1">
                        <a:latin typeface="Cambria Math" panose="02040503050406030204" pitchFamily="18" charset="0"/>
                        <a:ea typeface="Cambria Math" panose="02040503050406030204" pitchFamily="18" charset="0"/>
                      </a:rPr>
                      <m:t>≤   </m:t>
                    </m:r>
                    <m:r>
                      <a:rPr lang="sv-SE" i="1">
                        <a:latin typeface="Cambria Math" panose="02040503050406030204" pitchFamily="18" charset="0"/>
                        <a:ea typeface="Cambria Math" panose="02040503050406030204" pitchFamily="18" charset="0"/>
                      </a:rPr>
                      <m:t>𝐶</m:t>
                    </m:r>
                    <m:r>
                      <a:rPr lang="sv-SE" i="1">
                        <a:latin typeface="Cambria Math" panose="02040503050406030204" pitchFamily="18" charset="0"/>
                        <a:ea typeface="Cambria Math" panose="02040503050406030204" pitchFamily="18" charset="0"/>
                      </a:rPr>
                      <m:t>⋅</m:t>
                    </m:r>
                    <m:r>
                      <a:rPr lang="sv-SE" i="1">
                        <a:latin typeface="Cambria Math" panose="02040503050406030204" pitchFamily="18" charset="0"/>
                        <a:ea typeface="Cambria Math" panose="02040503050406030204" pitchFamily="18" charset="0"/>
                      </a:rPr>
                      <m:t>𝛼</m:t>
                    </m:r>
                  </m:oMath>
                </a14:m>
                <a:endParaRPr lang="en-US" i="1" dirty="0">
                  <a:ea typeface="Verdana" panose="020B0604030504040204" pitchFamily="34" charset="0"/>
                </a:endParaRPr>
              </a:p>
              <a:p>
                <a:pPr marL="0" indent="0">
                  <a:spcAft>
                    <a:spcPts val="900"/>
                  </a:spcAft>
                  <a:buNone/>
                </a:pPr>
                <a:r>
                  <a:rPr lang="en-US" b="1" dirty="0" err="1">
                    <a:ea typeface="Verdana" panose="020B0604030504040204" pitchFamily="34" charset="0"/>
                  </a:rPr>
                  <a:t>Bonferroni</a:t>
                </a:r>
                <a:r>
                  <a:rPr lang="en-US" b="1" dirty="0">
                    <a:ea typeface="Verdana" panose="020B0604030504040204" pitchFamily="34" charset="0"/>
                  </a:rPr>
                  <a:t> correction:</a:t>
                </a:r>
                <a:r>
                  <a:rPr lang="en-US" i="1" dirty="0">
                    <a:ea typeface="Verdana" panose="020B0604030504040204" pitchFamily="34" charset="0"/>
                  </a:rPr>
                  <a:t> </a:t>
                </a:r>
                <a:r>
                  <a:rPr lang="en-US" dirty="0">
                    <a:ea typeface="Verdana" panose="020B0604030504040204" pitchFamily="34" charset="0"/>
                  </a:rPr>
                  <a:t>Re-scale significance level:</a:t>
                </a:r>
              </a:p>
              <a:p>
                <a:pPr marL="0" indent="0">
                  <a:spcAft>
                    <a:spcPts val="900"/>
                  </a:spcAft>
                  <a:buNone/>
                </a:pPr>
                <a14:m>
                  <m:oMath xmlns:m="http://schemas.openxmlformats.org/officeDocument/2006/math">
                    <m:sSub>
                      <m:sSubPr>
                        <m:ctrlPr>
                          <a:rPr lang="sv-SE" i="1">
                            <a:latin typeface="Cambria Math" panose="02040503050406030204" pitchFamily="18" charset="0"/>
                            <a:ea typeface="Cambria Math" panose="02040503050406030204" pitchFamily="18" charset="0"/>
                          </a:rPr>
                        </m:ctrlPr>
                      </m:sSubPr>
                      <m:e>
                        <m:r>
                          <a:rPr lang="sv-SE" i="1">
                            <a:latin typeface="Cambria Math" panose="02040503050406030204" pitchFamily="18" charset="0"/>
                            <a:ea typeface="Cambria Math" panose="02040503050406030204" pitchFamily="18" charset="0"/>
                          </a:rPr>
                          <m:t>𝛼</m:t>
                        </m:r>
                      </m:e>
                      <m:sub>
                        <m:r>
                          <a:rPr lang="sv-SE" i="1">
                            <a:latin typeface="Cambria Math" panose="02040503050406030204" pitchFamily="18" charset="0"/>
                            <a:ea typeface="Cambria Math" panose="02040503050406030204" pitchFamily="18" charset="0"/>
                          </a:rPr>
                          <m:t>𝑛𝑒𝑤</m:t>
                        </m:r>
                      </m:sub>
                    </m:sSub>
                    <m:r>
                      <a:rPr lang="sv-SE" i="1">
                        <a:latin typeface="Cambria Math" panose="02040503050406030204" pitchFamily="18" charset="0"/>
                        <a:ea typeface="Cambria Math" panose="02040503050406030204" pitchFamily="18" charset="0"/>
                      </a:rPr>
                      <m:t>=</m:t>
                    </m:r>
                    <m:sSub>
                      <m:sSubPr>
                        <m:ctrlPr>
                          <a:rPr lang="sv-SE" i="1">
                            <a:latin typeface="Cambria Math" panose="02040503050406030204" pitchFamily="18" charset="0"/>
                            <a:ea typeface="Cambria Math" panose="02040503050406030204" pitchFamily="18" charset="0"/>
                          </a:rPr>
                        </m:ctrlPr>
                      </m:sSubPr>
                      <m:e>
                        <m:r>
                          <a:rPr lang="sv-SE" i="1">
                            <a:latin typeface="Cambria Math" panose="02040503050406030204" pitchFamily="18" charset="0"/>
                            <a:ea typeface="Cambria Math" panose="02040503050406030204" pitchFamily="18" charset="0"/>
                          </a:rPr>
                          <m:t>𝛼</m:t>
                        </m:r>
                      </m:e>
                      <m:sub>
                        <m:r>
                          <a:rPr lang="sv-SE" i="1">
                            <a:latin typeface="Cambria Math" panose="02040503050406030204" pitchFamily="18" charset="0"/>
                            <a:ea typeface="Cambria Math" panose="02040503050406030204" pitchFamily="18" charset="0"/>
                          </a:rPr>
                          <m:t>𝑜𝑙𝑑</m:t>
                        </m:r>
                      </m:sub>
                    </m:sSub>
                    <m:r>
                      <a:rPr lang="sv-SE" b="0" i="1" smtClean="0">
                        <a:latin typeface="Cambria Math" panose="02040503050406030204" pitchFamily="18" charset="0"/>
                        <a:ea typeface="Cambria Math" panose="02040503050406030204" pitchFamily="18" charset="0"/>
                      </a:rPr>
                      <m:t>/</m:t>
                    </m:r>
                    <m:r>
                      <a:rPr lang="sv-SE" i="1">
                        <a:latin typeface="Cambria Math" panose="02040503050406030204" pitchFamily="18" charset="0"/>
                      </a:rPr>
                      <m:t>𝐶</m:t>
                    </m:r>
                    <m:r>
                      <a:rPr lang="sv-SE">
                        <a:latin typeface="Cambria Math" panose="02040503050406030204" pitchFamily="18" charset="0"/>
                      </a:rPr>
                      <m:t> </m:t>
                    </m:r>
                  </m:oMath>
                </a14:m>
                <a:r>
                  <a:rPr lang="en-US" dirty="0">
                    <a:ea typeface="Verdana" panose="020B0604030504040204" pitchFamily="34" charset="0"/>
                  </a:rPr>
                  <a:t>(</a:t>
                </a:r>
                <a:r>
                  <a:rPr lang="en-US" u="sng" dirty="0">
                    <a:ea typeface="Verdana" panose="020B0604030504040204" pitchFamily="34" charset="0"/>
                  </a:rPr>
                  <a:t>or </a:t>
                </a:r>
                <a:r>
                  <a:rPr lang="en-US" dirty="0">
                    <a:ea typeface="Verdana" panose="020B0604030504040204" pitchFamily="34" charset="0"/>
                  </a:rPr>
                  <a:t>re-scale the </a:t>
                </a:r>
                <a:r>
                  <a:rPr lang="en-US" i="1" dirty="0">
                    <a:ea typeface="Verdana" panose="020B0604030504040204" pitchFamily="34" charset="0"/>
                  </a:rPr>
                  <a:t>p</a:t>
                </a:r>
                <a:r>
                  <a:rPr lang="en-US" dirty="0">
                    <a:ea typeface="Verdana" panose="020B0604030504040204" pitchFamily="34" charset="0"/>
                  </a:rPr>
                  <a:t>-values: </a:t>
                </a:r>
                <a14:m>
                  <m:oMath xmlns:m="http://schemas.openxmlformats.org/officeDocument/2006/math">
                    <m:sSub>
                      <m:sSubPr>
                        <m:ctrlPr>
                          <a:rPr lang="sv-SE" i="1">
                            <a:latin typeface="Cambria Math" panose="02040503050406030204" pitchFamily="18" charset="0"/>
                          </a:rPr>
                        </m:ctrlPr>
                      </m:sSubPr>
                      <m:e>
                        <m:r>
                          <a:rPr lang="sv-SE" i="1">
                            <a:latin typeface="Cambria Math" panose="02040503050406030204" pitchFamily="18" charset="0"/>
                          </a:rPr>
                          <m:t>𝑝</m:t>
                        </m:r>
                      </m:e>
                      <m:sub>
                        <m:r>
                          <a:rPr lang="sv-SE" i="1">
                            <a:latin typeface="Cambria Math" panose="02040503050406030204" pitchFamily="18" charset="0"/>
                          </a:rPr>
                          <m:t>𝑛𝑒𝑤</m:t>
                        </m:r>
                      </m:sub>
                    </m:sSub>
                    <m:r>
                      <a:rPr lang="sv-SE" i="1">
                        <a:latin typeface="Cambria Math" panose="02040503050406030204" pitchFamily="18" charset="0"/>
                      </a:rPr>
                      <m:t>=</m:t>
                    </m:r>
                    <m:sSub>
                      <m:sSubPr>
                        <m:ctrlPr>
                          <a:rPr lang="sv-SE" i="1">
                            <a:latin typeface="Cambria Math" panose="02040503050406030204" pitchFamily="18" charset="0"/>
                          </a:rPr>
                        </m:ctrlPr>
                      </m:sSubPr>
                      <m:e>
                        <m:r>
                          <a:rPr lang="sv-SE" i="1">
                            <a:latin typeface="Cambria Math" panose="02040503050406030204" pitchFamily="18" charset="0"/>
                          </a:rPr>
                          <m:t>𝑝</m:t>
                        </m:r>
                      </m:e>
                      <m:sub>
                        <m:r>
                          <a:rPr lang="sv-SE" i="1">
                            <a:latin typeface="Cambria Math" panose="02040503050406030204" pitchFamily="18" charset="0"/>
                          </a:rPr>
                          <m:t>𝑜𝑙𝑑</m:t>
                        </m:r>
                      </m:sub>
                    </m:sSub>
                    <m:r>
                      <a:rPr lang="sv-SE" i="1">
                        <a:latin typeface="Cambria Math" panose="02040503050406030204" pitchFamily="18" charset="0"/>
                      </a:rPr>
                      <m:t>⋅</m:t>
                    </m:r>
                    <m:r>
                      <a:rPr lang="sv-SE" i="1">
                        <a:latin typeface="Cambria Math" panose="02040503050406030204" pitchFamily="18" charset="0"/>
                      </a:rPr>
                      <m:t>𝐶</m:t>
                    </m:r>
                  </m:oMath>
                </a14:m>
                <a:r>
                  <a:rPr lang="en-US" dirty="0">
                    <a:ea typeface="Verdana" panose="020B0604030504040204" pitchFamily="34" charset="0"/>
                  </a:rPr>
                  <a:t> )</a:t>
                </a:r>
              </a:p>
              <a:p>
                <a:pPr marL="0" indent="0">
                  <a:buNone/>
                </a:pPr>
                <a:r>
                  <a:rPr lang="en-US" i="1" dirty="0" err="1">
                    <a:ea typeface="Verdana" panose="020B0604030504040204" pitchFamily="34" charset="0"/>
                  </a:rPr>
                  <a:t>Šidák</a:t>
                </a:r>
                <a:r>
                  <a:rPr lang="en-US" i="1" dirty="0">
                    <a:ea typeface="Verdana" panose="020B0604030504040204" pitchFamily="34" charset="0"/>
                  </a:rPr>
                  <a:t> correction: </a:t>
                </a:r>
                <a14:m>
                  <m:oMath xmlns:m="http://schemas.openxmlformats.org/officeDocument/2006/math">
                    <m:sSub>
                      <m:sSubPr>
                        <m:ctrlPr>
                          <a:rPr lang="sv-SE" i="1">
                            <a:latin typeface="Cambria Math" panose="02040503050406030204" pitchFamily="18" charset="0"/>
                            <a:ea typeface="Cambria Math" panose="02040503050406030204" pitchFamily="18" charset="0"/>
                          </a:rPr>
                        </m:ctrlPr>
                      </m:sSubPr>
                      <m:e>
                        <m:r>
                          <a:rPr lang="sv-SE" i="1">
                            <a:latin typeface="Cambria Math" panose="02040503050406030204" pitchFamily="18" charset="0"/>
                            <a:ea typeface="Cambria Math" panose="02040503050406030204" pitchFamily="18" charset="0"/>
                          </a:rPr>
                          <m:t>𝛼</m:t>
                        </m:r>
                      </m:e>
                      <m:sub>
                        <m:r>
                          <a:rPr lang="sv-SE" i="1">
                            <a:latin typeface="Cambria Math" panose="02040503050406030204" pitchFamily="18" charset="0"/>
                            <a:ea typeface="Cambria Math" panose="02040503050406030204" pitchFamily="18" charset="0"/>
                          </a:rPr>
                          <m:t>𝑛𝑒𝑤</m:t>
                        </m:r>
                      </m:sub>
                    </m:sSub>
                    <m:r>
                      <a:rPr lang="sv-SE" i="1">
                        <a:latin typeface="Cambria Math" panose="02040503050406030204" pitchFamily="18" charset="0"/>
                        <a:ea typeface="Cambria Math" panose="02040503050406030204" pitchFamily="18" charset="0"/>
                      </a:rPr>
                      <m:t>=</m:t>
                    </m:r>
                    <m:r>
                      <a:rPr lang="sv-SE" i="1">
                        <a:latin typeface="Cambria Math" panose="02040503050406030204" pitchFamily="18" charset="0"/>
                      </a:rPr>
                      <m:t>1−</m:t>
                    </m:r>
                    <m:sSup>
                      <m:sSupPr>
                        <m:ctrlPr>
                          <a:rPr lang="sv-SE" i="1">
                            <a:latin typeface="Cambria Math" panose="02040503050406030204" pitchFamily="18" charset="0"/>
                          </a:rPr>
                        </m:ctrlPr>
                      </m:sSupPr>
                      <m:e>
                        <m:d>
                          <m:dPr>
                            <m:ctrlPr>
                              <a:rPr lang="sv-SE" i="1">
                                <a:latin typeface="Cambria Math" panose="02040503050406030204" pitchFamily="18" charset="0"/>
                              </a:rPr>
                            </m:ctrlPr>
                          </m:dPr>
                          <m:e>
                            <m:r>
                              <a:rPr lang="sv-SE" i="1">
                                <a:latin typeface="Cambria Math" panose="02040503050406030204" pitchFamily="18" charset="0"/>
                              </a:rPr>
                              <m:t>1−</m:t>
                            </m:r>
                            <m:sSub>
                              <m:sSubPr>
                                <m:ctrlPr>
                                  <a:rPr lang="sv-SE" i="1">
                                    <a:latin typeface="Cambria Math" panose="02040503050406030204" pitchFamily="18" charset="0"/>
                                  </a:rPr>
                                </m:ctrlPr>
                              </m:sSubPr>
                              <m:e>
                                <m:r>
                                  <a:rPr lang="sv-SE" i="1">
                                    <a:latin typeface="Cambria Math" panose="02040503050406030204" pitchFamily="18" charset="0"/>
                                  </a:rPr>
                                  <m:t>𝛼</m:t>
                                </m:r>
                              </m:e>
                              <m:sub>
                                <m:r>
                                  <a:rPr lang="sv-SE" i="1">
                                    <a:latin typeface="Cambria Math" panose="02040503050406030204" pitchFamily="18" charset="0"/>
                                  </a:rPr>
                                  <m:t>𝑜𝑙𝑑</m:t>
                                </m:r>
                              </m:sub>
                            </m:sSub>
                          </m:e>
                        </m:d>
                      </m:e>
                      <m:sup>
                        <m:r>
                          <a:rPr lang="sv-SE" i="1">
                            <a:latin typeface="Cambria Math" panose="02040503050406030204" pitchFamily="18" charset="0"/>
                          </a:rPr>
                          <m:t>1/</m:t>
                        </m:r>
                        <m:r>
                          <a:rPr lang="sv-SE" i="1">
                            <a:latin typeface="Cambria Math" panose="02040503050406030204" pitchFamily="18" charset="0"/>
                          </a:rPr>
                          <m:t>𝐶</m:t>
                        </m:r>
                      </m:sup>
                    </m:sSup>
                    <m:r>
                      <m:rPr>
                        <m:nor/>
                      </m:rPr>
                      <a:rPr lang="en-US" dirty="0">
                        <a:ea typeface="Verdana" panose="020B0604030504040204" pitchFamily="34" charset="0"/>
                      </a:rPr>
                      <m:t>	</m:t>
                    </m:r>
                  </m:oMath>
                </a14:m>
                <a:endParaRPr lang="en-US" i="1" dirty="0">
                  <a:ea typeface="Verdana" panose="020B0604030504040204" pitchFamily="34" charset="0"/>
                </a:endParaRPr>
              </a:p>
              <a:p>
                <a:pPr marL="0" indent="0">
                  <a:buNone/>
                </a:pPr>
                <a:endParaRPr lang="en-US" i="1" dirty="0">
                  <a:ea typeface="Verdana" panose="020B0604030504040204" pitchFamily="34" charset="0"/>
                </a:endParaRPr>
              </a:p>
            </p:txBody>
          </p:sp>
        </mc:Choice>
        <mc:Fallback xmlns="">
          <p:sp>
            <p:nvSpPr>
              <p:cNvPr id="3" name="Platshållare för innehåll 2"/>
              <p:cNvSpPr>
                <a:spLocks noGrp="1" noRot="1" noChangeAspect="1" noMove="1" noResize="1" noEditPoints="1" noAdjustHandles="1" noChangeArrowheads="1" noChangeShapeType="1" noTextEdit="1"/>
              </p:cNvSpPr>
              <p:nvPr>
                <p:ph idx="1"/>
              </p:nvPr>
            </p:nvSpPr>
            <p:spPr>
              <a:xfrm>
                <a:off x="323528" y="483518"/>
                <a:ext cx="8568952" cy="3949962"/>
              </a:xfrm>
              <a:blipFill>
                <a:blip r:embed="rId3"/>
                <a:stretch>
                  <a:fillRect l="-1636" t="-1698" r="-1494" b="-3395"/>
                </a:stretch>
              </a:blipFill>
            </p:spPr>
            <p:txBody>
              <a:bodyPr/>
              <a:lstStyle/>
              <a:p>
                <a:r>
                  <a:rPr lang="en-US">
                    <a:noFill/>
                  </a:rPr>
                  <a:t> </a:t>
                </a:r>
              </a:p>
            </p:txBody>
          </p:sp>
        </mc:Fallback>
      </mc:AlternateContent>
      <p:sp>
        <p:nvSpPr>
          <p:cNvPr id="6" name="Platshållare för bildnummer 5"/>
          <p:cNvSpPr>
            <a:spLocks noGrp="1"/>
          </p:cNvSpPr>
          <p:nvPr>
            <p:ph type="sldNum" sz="quarter" idx="12"/>
          </p:nvPr>
        </p:nvSpPr>
        <p:spPr/>
        <p:txBody>
          <a:bodyPr/>
          <a:lstStyle/>
          <a:p>
            <a:fld id="{49D34020-361E-4A13-8C95-66E98A929282}" type="slidenum">
              <a:rPr lang="sv-SE" smtClean="0"/>
              <a:pPr/>
              <a:t>67</a:t>
            </a:fld>
            <a:endParaRPr lang="sv-SE"/>
          </a:p>
        </p:txBody>
      </p:sp>
    </p:spTree>
    <p:extLst>
      <p:ext uri="{BB962C8B-B14F-4D97-AF65-F5344CB8AC3E}">
        <p14:creationId xmlns:p14="http://schemas.microsoft.com/office/powerpoint/2010/main" val="24658350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187624" y="347194"/>
            <a:ext cx="6408376" cy="594122"/>
          </a:xfrm>
        </p:spPr>
        <p:txBody>
          <a:bodyPr>
            <a:noAutofit/>
          </a:bodyPr>
          <a:lstStyle/>
          <a:p>
            <a:r>
              <a:rPr lang="sv-SE" sz="3600" dirty="0" err="1"/>
              <a:t>Mean</a:t>
            </a:r>
            <a:r>
              <a:rPr lang="sv-SE" sz="3600" dirty="0"/>
              <a:t> </a:t>
            </a:r>
            <a:r>
              <a:rPr lang="sv-SE" sz="3600" dirty="0" err="1"/>
              <a:t>value</a:t>
            </a:r>
            <a:r>
              <a:rPr lang="sv-SE" sz="3600" dirty="0"/>
              <a:t> - Group </a:t>
            </a:r>
            <a:r>
              <a:rPr lang="sv-SE" sz="3600" dirty="0" err="1"/>
              <a:t>comparison</a:t>
            </a:r>
            <a:r>
              <a:rPr lang="sv-SE" sz="3600" dirty="0"/>
              <a:t> </a:t>
            </a:r>
          </a:p>
        </p:txBody>
      </p:sp>
      <p:sp>
        <p:nvSpPr>
          <p:cNvPr id="4" name="Platshållare för bildnummer 3"/>
          <p:cNvSpPr>
            <a:spLocks noGrp="1"/>
          </p:cNvSpPr>
          <p:nvPr>
            <p:ph type="sldNum" sz="quarter" idx="12"/>
          </p:nvPr>
        </p:nvSpPr>
        <p:spPr/>
        <p:txBody>
          <a:bodyPr/>
          <a:lstStyle/>
          <a:p>
            <a:fld id="{227F0B53-9592-4779-891F-997228E46E01}" type="slidenum">
              <a:rPr lang="sv-SE" smtClean="0"/>
              <a:t>68</a:t>
            </a:fld>
            <a:endParaRPr lang="sv-SE"/>
          </a:p>
        </p:txBody>
      </p:sp>
      <p:pic>
        <p:nvPicPr>
          <p:cNvPr id="6" name="Bildobjekt 5"/>
          <p:cNvPicPr>
            <a:picLocks noChangeAspect="1"/>
          </p:cNvPicPr>
          <p:nvPr/>
        </p:nvPicPr>
        <p:blipFill>
          <a:blip r:embed="rId3"/>
          <a:stretch>
            <a:fillRect/>
          </a:stretch>
        </p:blipFill>
        <p:spPr>
          <a:xfrm>
            <a:off x="1014510" y="882321"/>
            <a:ext cx="6819407" cy="3993685"/>
          </a:xfrm>
          <a:prstGeom prst="rect">
            <a:avLst/>
          </a:prstGeom>
        </p:spPr>
      </p:pic>
      <p:sp>
        <p:nvSpPr>
          <p:cNvPr id="7" name="Rektangel 6"/>
          <p:cNvSpPr/>
          <p:nvPr/>
        </p:nvSpPr>
        <p:spPr>
          <a:xfrm>
            <a:off x="1835696" y="2211710"/>
            <a:ext cx="2088232" cy="216024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29750849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p:cNvSpPr/>
          <p:nvPr/>
        </p:nvSpPr>
        <p:spPr>
          <a:xfrm>
            <a:off x="1143000" y="0"/>
            <a:ext cx="6858000" cy="4767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2000"/>
          </a:p>
        </p:txBody>
      </p:sp>
      <p:sp>
        <p:nvSpPr>
          <p:cNvPr id="17410" name="Rubrik 1"/>
          <p:cNvSpPr>
            <a:spLocks noGrp="1"/>
          </p:cNvSpPr>
          <p:nvPr>
            <p:ph type="title"/>
          </p:nvPr>
        </p:nvSpPr>
        <p:spPr>
          <a:xfrm>
            <a:off x="1043608" y="196643"/>
            <a:ext cx="6551762" cy="421556"/>
          </a:xfrm>
        </p:spPr>
        <p:txBody>
          <a:bodyPr>
            <a:normAutofit/>
          </a:bodyPr>
          <a:lstStyle/>
          <a:p>
            <a:pPr algn="l"/>
            <a:r>
              <a:rPr lang="en-US" sz="2800" dirty="0">
                <a:solidFill>
                  <a:schemeClr val="accent1"/>
                </a:solidFill>
              </a:rPr>
              <a:t>EXAMPLE: Group comparison</a:t>
            </a:r>
            <a:endParaRPr lang="sv-SE" sz="2800" dirty="0">
              <a:solidFill>
                <a:schemeClr val="accent1"/>
              </a:solidFill>
            </a:endParaRPr>
          </a:p>
        </p:txBody>
      </p:sp>
      <p:sp>
        <p:nvSpPr>
          <p:cNvPr id="2" name="Platshållare för bildnummer 1"/>
          <p:cNvSpPr>
            <a:spLocks noGrp="1"/>
          </p:cNvSpPr>
          <p:nvPr>
            <p:ph type="sldNum" sz="quarter" idx="12"/>
          </p:nvPr>
        </p:nvSpPr>
        <p:spPr>
          <a:prstGeom prst="rect">
            <a:avLst/>
          </a:prstGeom>
        </p:spPr>
        <p:txBody>
          <a:bodyPr/>
          <a:lstStyle/>
          <a:p>
            <a:pPr>
              <a:defRPr/>
            </a:pPr>
            <a:fld id="{6EA40670-0085-46BE-8A1D-C037329D2922}" type="slidenum">
              <a:rPr lang="sv-SE" smtClean="0"/>
              <a:pPr>
                <a:defRPr/>
              </a:pPr>
              <a:t>69</a:t>
            </a:fld>
            <a:endParaRPr lang="sv-SE"/>
          </a:p>
        </p:txBody>
      </p:sp>
      <p:sp>
        <p:nvSpPr>
          <p:cNvPr id="7" name="TextBox 6"/>
          <p:cNvSpPr txBox="1"/>
          <p:nvPr/>
        </p:nvSpPr>
        <p:spPr>
          <a:xfrm>
            <a:off x="1160138" y="2169503"/>
            <a:ext cx="6318702" cy="2825132"/>
          </a:xfrm>
          <a:prstGeom prst="rect">
            <a:avLst/>
          </a:prstGeom>
          <a:noFill/>
        </p:spPr>
        <p:txBody>
          <a:bodyPr wrap="square" rtlCol="0">
            <a:spAutoFit/>
          </a:bodyPr>
          <a:lstStyle/>
          <a:p>
            <a:pPr marL="214313" indent="-214313">
              <a:spcAft>
                <a:spcPts val="450"/>
              </a:spcAft>
              <a:buFont typeface="Arial" panose="020B0604020202020204" pitchFamily="34" charset="0"/>
              <a:buChar char="•"/>
            </a:pPr>
            <a:r>
              <a:rPr lang="en-US" sz="1650" b="1" u="sng" dirty="0">
                <a:latin typeface="Calibri" panose="020F0502020204030204" pitchFamily="34" charset="0"/>
              </a:rPr>
              <a:t>Aim</a:t>
            </a:r>
            <a:r>
              <a:rPr lang="en-US" sz="1650" b="1" dirty="0">
                <a:latin typeface="Calibri" panose="020F0502020204030204" pitchFamily="34" charset="0"/>
              </a:rPr>
              <a:t>: </a:t>
            </a:r>
            <a:r>
              <a:rPr lang="en-US" sz="1650" dirty="0">
                <a:latin typeface="Calibri" panose="020F0502020204030204" pitchFamily="34" charset="0"/>
              </a:rPr>
              <a:t>To investigate predictors of both symptomatic and functional outcomes after an acute Achilles tendon rupture.</a:t>
            </a:r>
          </a:p>
          <a:p>
            <a:pPr marL="214313" indent="-214313">
              <a:spcAft>
                <a:spcPts val="450"/>
              </a:spcAft>
              <a:buFont typeface="Arial" panose="020B0604020202020204" pitchFamily="34" charset="0"/>
              <a:buChar char="•"/>
            </a:pPr>
            <a:r>
              <a:rPr lang="en-US" sz="1650" b="1" u="sng" dirty="0">
                <a:latin typeface="Calibri" panose="020F0502020204030204" pitchFamily="34" charset="0"/>
              </a:rPr>
              <a:t>Sample</a:t>
            </a:r>
            <a:r>
              <a:rPr lang="en-US" sz="1650" dirty="0">
                <a:latin typeface="Calibri" panose="020F0502020204030204" pitchFamily="34" charset="0"/>
              </a:rPr>
              <a:t> of 79 men and 14 women at 3, 6 and 12 months.</a:t>
            </a:r>
          </a:p>
          <a:p>
            <a:pPr>
              <a:spcAft>
                <a:spcPts val="450"/>
              </a:spcAft>
            </a:pPr>
            <a:endParaRPr lang="en-US" sz="1650" dirty="0">
              <a:latin typeface="Calibri" panose="020F0502020204030204" pitchFamily="34" charset="0"/>
            </a:endParaRPr>
          </a:p>
          <a:p>
            <a:pPr marL="214313" indent="-214313">
              <a:spcAft>
                <a:spcPts val="450"/>
              </a:spcAft>
              <a:buFont typeface="Arial" panose="020B0604020202020204" pitchFamily="34" charset="0"/>
              <a:buChar char="•"/>
            </a:pPr>
            <a:r>
              <a:rPr lang="en-US" sz="1650" b="1" u="sng" dirty="0">
                <a:latin typeface="Calibri" panose="020F0502020204030204" pitchFamily="34" charset="0"/>
              </a:rPr>
              <a:t>Outcomes</a:t>
            </a:r>
            <a:r>
              <a:rPr lang="en-US" sz="1650" b="1" dirty="0">
                <a:latin typeface="Calibri" panose="020F0502020204030204" pitchFamily="34" charset="0"/>
              </a:rPr>
              <a:t>:</a:t>
            </a:r>
            <a:r>
              <a:rPr lang="en-US" sz="1650" dirty="0">
                <a:latin typeface="Calibri" panose="020F0502020204030204" pitchFamily="34" charset="0"/>
              </a:rPr>
              <a:t> Achilles tendon Total Rupture Score (</a:t>
            </a:r>
            <a:r>
              <a:rPr lang="en-US" sz="1650" b="1" i="1" dirty="0">
                <a:latin typeface="Calibri" panose="020F0502020204030204" pitchFamily="34" charset="0"/>
              </a:rPr>
              <a:t>ATRS</a:t>
            </a:r>
            <a:r>
              <a:rPr lang="en-US" sz="1650" dirty="0">
                <a:latin typeface="Calibri" panose="020F0502020204030204" pitchFamily="34" charset="0"/>
              </a:rPr>
              <a:t>) for symptoms and </a:t>
            </a:r>
            <a:r>
              <a:rPr lang="en-US" sz="1650" i="1" dirty="0">
                <a:latin typeface="Calibri" panose="020F0502020204030204" pitchFamily="34" charset="0"/>
              </a:rPr>
              <a:t>maximum heel-rise height </a:t>
            </a:r>
            <a:r>
              <a:rPr lang="en-US" sz="1650" dirty="0">
                <a:latin typeface="Calibri" panose="020F0502020204030204" pitchFamily="34" charset="0"/>
              </a:rPr>
              <a:t>(</a:t>
            </a:r>
            <a:r>
              <a:rPr lang="en-US" sz="1650" b="1" i="1" dirty="0">
                <a:latin typeface="Calibri" panose="020F0502020204030204" pitchFamily="34" charset="0"/>
              </a:rPr>
              <a:t>Heel-rise</a:t>
            </a:r>
            <a:r>
              <a:rPr lang="en-US" sz="1650" dirty="0">
                <a:latin typeface="Calibri" panose="020F0502020204030204" pitchFamily="34" charset="0"/>
              </a:rPr>
              <a:t>)</a:t>
            </a:r>
            <a:r>
              <a:rPr lang="en-US" sz="1650" b="1" i="1" dirty="0">
                <a:latin typeface="Calibri" panose="020F0502020204030204" pitchFamily="34" charset="0"/>
              </a:rPr>
              <a:t> </a:t>
            </a:r>
            <a:r>
              <a:rPr lang="en-US" sz="1650" dirty="0">
                <a:latin typeface="Calibri" panose="020F0502020204030204" pitchFamily="34" charset="0"/>
              </a:rPr>
              <a:t>for function.</a:t>
            </a:r>
          </a:p>
          <a:p>
            <a:pPr marL="214313" indent="-214313">
              <a:spcAft>
                <a:spcPts val="450"/>
              </a:spcAft>
              <a:buFont typeface="Arial" panose="020B0604020202020204" pitchFamily="34" charset="0"/>
              <a:buChar char="•"/>
            </a:pPr>
            <a:r>
              <a:rPr lang="en-US" sz="1650" b="1" u="sng" dirty="0">
                <a:latin typeface="Calibri" panose="020F0502020204030204" pitchFamily="34" charset="0"/>
              </a:rPr>
              <a:t>Predictors</a:t>
            </a:r>
            <a:r>
              <a:rPr lang="en-US" sz="1650" b="1" dirty="0">
                <a:latin typeface="Calibri" panose="020F0502020204030204" pitchFamily="34" charset="0"/>
              </a:rPr>
              <a:t>:</a:t>
            </a:r>
            <a:r>
              <a:rPr lang="en-US" sz="1650" dirty="0">
                <a:latin typeface="Calibri" panose="020F0502020204030204" pitchFamily="34" charset="0"/>
              </a:rPr>
              <a:t> Treatment, age, BMI, physical activity, heel-rise 6m, ATRS 3m</a:t>
            </a:r>
          </a:p>
          <a:p>
            <a:pPr marL="214313" indent="-214313">
              <a:lnSpc>
                <a:spcPct val="150000"/>
              </a:lnSpc>
              <a:spcAft>
                <a:spcPts val="450"/>
              </a:spcAft>
              <a:buFont typeface="Arial" panose="020B0604020202020204" pitchFamily="34" charset="0"/>
              <a:buChar char="•"/>
            </a:pPr>
            <a:endParaRPr lang="en-US" sz="1650" dirty="0">
              <a:latin typeface="Calibri" panose="020F0502020204030204"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732118"/>
            <a:ext cx="5607572" cy="144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descr="http://kenoshaorthopedics.com/wp-content/uploads/2014/09/achillestendon-copy.jpg"/>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29866"/>
          <a:stretch/>
        </p:blipFill>
        <p:spPr bwMode="auto">
          <a:xfrm flipH="1">
            <a:off x="6579172" y="737042"/>
            <a:ext cx="1548565" cy="14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26187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1331640" y="83770"/>
            <a:ext cx="7256570" cy="421556"/>
          </a:xfrm>
        </p:spPr>
        <p:txBody>
          <a:bodyPr>
            <a:noAutofit/>
          </a:bodyPr>
          <a:lstStyle/>
          <a:p>
            <a:r>
              <a:rPr lang="en-US" sz="2800" dirty="0">
                <a:latin typeface="+mn-lt"/>
              </a:rPr>
              <a:t>Comparing mean values between two groups</a:t>
            </a:r>
            <a:endParaRPr lang="sv-SE" sz="2800" dirty="0">
              <a:latin typeface="+mn-lt"/>
            </a:endParaRPr>
          </a:p>
        </p:txBody>
      </p:sp>
      <p:sp>
        <p:nvSpPr>
          <p:cNvPr id="2" name="Platshållare för bildnummer 1"/>
          <p:cNvSpPr>
            <a:spLocks noGrp="1"/>
          </p:cNvSpPr>
          <p:nvPr>
            <p:ph type="sldNum" sz="quarter" idx="12"/>
          </p:nvPr>
        </p:nvSpPr>
        <p:spPr>
          <a:prstGeom prst="rect">
            <a:avLst/>
          </a:prstGeom>
        </p:spPr>
        <p:txBody>
          <a:bodyPr/>
          <a:lstStyle/>
          <a:p>
            <a:pPr>
              <a:defRPr/>
            </a:pPr>
            <a:fld id="{6EA40670-0085-46BE-8A1D-C037329D2922}" type="slidenum">
              <a:rPr lang="sv-SE" sz="900"/>
              <a:pPr>
                <a:defRPr/>
              </a:pPr>
              <a:t>70</a:t>
            </a:fld>
            <a:endParaRPr lang="sv-SE" sz="9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446" y="2609938"/>
            <a:ext cx="8481258" cy="1581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ktangel 2"/>
          <p:cNvSpPr/>
          <p:nvPr/>
        </p:nvSpPr>
        <p:spPr>
          <a:xfrm>
            <a:off x="344320" y="1243974"/>
            <a:ext cx="8651759" cy="830997"/>
          </a:xfrm>
          <a:prstGeom prst="rect">
            <a:avLst/>
          </a:prstGeom>
        </p:spPr>
        <p:txBody>
          <a:bodyPr wrap="square">
            <a:spAutoFit/>
          </a:bodyPr>
          <a:lstStyle/>
          <a:p>
            <a:r>
              <a:rPr lang="sv-SE" sz="1600" dirty="0">
                <a:latin typeface="+mn-lt"/>
                <a:ea typeface="Verdana" panose="020B0604030504040204" pitchFamily="34" charset="0"/>
              </a:rPr>
              <a:t>H</a:t>
            </a:r>
            <a:r>
              <a:rPr lang="sv-SE" sz="1600" baseline="-25000" dirty="0">
                <a:latin typeface="+mn-lt"/>
                <a:ea typeface="Verdana" panose="020B0604030504040204" pitchFamily="34" charset="0"/>
              </a:rPr>
              <a:t>0</a:t>
            </a:r>
            <a:r>
              <a:rPr lang="sv-SE" sz="1600" dirty="0">
                <a:latin typeface="+mn-lt"/>
                <a:ea typeface="Verdana" panose="020B0604030504040204" pitchFamily="34" charset="0"/>
              </a:rPr>
              <a:t> : </a:t>
            </a:r>
            <a:r>
              <a:rPr lang="sv-SE" sz="1600" b="1" dirty="0">
                <a:latin typeface="+mn-lt"/>
                <a:ea typeface="Verdana" panose="020B0604030504040204" pitchFamily="34" charset="0"/>
              </a:rPr>
              <a:t>No </a:t>
            </a:r>
            <a:r>
              <a:rPr lang="sv-SE" sz="1600" b="1" dirty="0" err="1">
                <a:latin typeface="+mn-lt"/>
                <a:ea typeface="Verdana" panose="020B0604030504040204" pitchFamily="34" charset="0"/>
              </a:rPr>
              <a:t>difference</a:t>
            </a:r>
            <a:r>
              <a:rPr lang="sv-SE" sz="1600" dirty="0">
                <a:latin typeface="+mn-lt"/>
                <a:ea typeface="Verdana" panose="020B0604030504040204" pitchFamily="34" charset="0"/>
              </a:rPr>
              <a:t> in</a:t>
            </a:r>
            <a:r>
              <a:rPr lang="en-US" sz="1600" dirty="0">
                <a:latin typeface="+mn-lt"/>
                <a:ea typeface="Verdana" panose="020B0604030504040204" pitchFamily="34" charset="0"/>
              </a:rPr>
              <a:t> mean heel-rise between males and females after 6 months </a:t>
            </a:r>
          </a:p>
          <a:p>
            <a:pPr algn="ctr"/>
            <a:r>
              <a:rPr lang="en-US" sz="1600" dirty="0">
                <a:latin typeface="+mn-lt"/>
                <a:ea typeface="Verdana" panose="020B0604030504040204" pitchFamily="34" charset="0"/>
              </a:rPr>
              <a:t>vs. </a:t>
            </a:r>
          </a:p>
          <a:p>
            <a:r>
              <a:rPr lang="sv-SE" sz="1600" dirty="0">
                <a:latin typeface="+mn-lt"/>
                <a:ea typeface="Verdana" panose="020B0604030504040204" pitchFamily="34" charset="0"/>
              </a:rPr>
              <a:t>H</a:t>
            </a:r>
            <a:r>
              <a:rPr lang="sv-SE" sz="1600" baseline="-25000" dirty="0">
                <a:latin typeface="+mn-lt"/>
                <a:ea typeface="Verdana" panose="020B0604030504040204" pitchFamily="34" charset="0"/>
              </a:rPr>
              <a:t>A</a:t>
            </a:r>
            <a:r>
              <a:rPr lang="sv-SE" sz="1600" dirty="0">
                <a:latin typeface="+mn-lt"/>
                <a:ea typeface="Verdana" panose="020B0604030504040204" pitchFamily="34" charset="0"/>
              </a:rPr>
              <a:t> : </a:t>
            </a:r>
            <a:r>
              <a:rPr lang="sv-SE" sz="1600" b="1" dirty="0" err="1">
                <a:latin typeface="+mn-lt"/>
                <a:ea typeface="Verdana" panose="020B0604030504040204" pitchFamily="34" charset="0"/>
              </a:rPr>
              <a:t>Difference</a:t>
            </a:r>
            <a:r>
              <a:rPr lang="sv-SE" sz="1600" dirty="0">
                <a:latin typeface="+mn-lt"/>
                <a:ea typeface="Verdana" panose="020B0604030504040204" pitchFamily="34" charset="0"/>
              </a:rPr>
              <a:t> in</a:t>
            </a:r>
            <a:r>
              <a:rPr lang="en-US" sz="1600" dirty="0">
                <a:latin typeface="+mn-lt"/>
                <a:ea typeface="Verdana" panose="020B0604030504040204" pitchFamily="34" charset="0"/>
              </a:rPr>
              <a:t> mean heel-rise between males and females after 6 months </a:t>
            </a:r>
            <a:endParaRPr lang="sv-SE" sz="1600" dirty="0">
              <a:latin typeface="+mn-lt"/>
              <a:ea typeface="Verdana" panose="020B0604030504040204" pitchFamily="34" charset="0"/>
            </a:endParaRPr>
          </a:p>
        </p:txBody>
      </p:sp>
      <p:sp>
        <p:nvSpPr>
          <p:cNvPr id="6" name="Title 1"/>
          <p:cNvSpPr txBox="1">
            <a:spLocks/>
          </p:cNvSpPr>
          <p:nvPr/>
        </p:nvSpPr>
        <p:spPr>
          <a:xfrm>
            <a:off x="240549" y="639967"/>
            <a:ext cx="6116240" cy="504825"/>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000" kern="1200" baseline="0">
                <a:solidFill>
                  <a:schemeClr val="tx1"/>
                </a:solidFill>
                <a:latin typeface="+mj-lt"/>
                <a:ea typeface="+mj-ea"/>
                <a:cs typeface="+mj-cs"/>
              </a:defRPr>
            </a:lvl1pPr>
          </a:lstStyle>
          <a:p>
            <a:pPr algn="l" fontAlgn="auto">
              <a:spcAft>
                <a:spcPts val="0"/>
              </a:spcAft>
            </a:pPr>
            <a:r>
              <a:rPr lang="sv-SE" sz="2400" b="1" dirty="0" err="1">
                <a:latin typeface="+mn-lt"/>
              </a:rPr>
              <a:t>Statistical</a:t>
            </a:r>
            <a:r>
              <a:rPr lang="sv-SE" sz="2400" b="1" dirty="0">
                <a:latin typeface="+mn-lt"/>
              </a:rPr>
              <a:t> </a:t>
            </a:r>
            <a:r>
              <a:rPr lang="sv-SE" sz="2400" b="1" dirty="0" err="1">
                <a:latin typeface="+mn-lt"/>
              </a:rPr>
              <a:t>hypothesis</a:t>
            </a:r>
            <a:endParaRPr lang="sv-SE" sz="2400" b="1" dirty="0">
              <a:latin typeface="+mn-lt"/>
            </a:endParaRPr>
          </a:p>
        </p:txBody>
      </p:sp>
      <p:sp>
        <p:nvSpPr>
          <p:cNvPr id="4" name="Rektangel 3"/>
          <p:cNvSpPr/>
          <p:nvPr/>
        </p:nvSpPr>
        <p:spPr>
          <a:xfrm>
            <a:off x="2843808" y="3867894"/>
            <a:ext cx="2808312" cy="17739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73604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971600" y="195486"/>
            <a:ext cx="7704856" cy="695232"/>
          </a:xfrm>
        </p:spPr>
        <p:txBody>
          <a:bodyPr>
            <a:noAutofit/>
          </a:bodyPr>
          <a:lstStyle/>
          <a:p>
            <a:r>
              <a:rPr lang="en-US" sz="3200" dirty="0">
                <a:latin typeface="+mn-lt"/>
              </a:rPr>
              <a:t>Comparison of Group mean values: t-test</a:t>
            </a:r>
          </a:p>
        </p:txBody>
      </p:sp>
      <p:sp>
        <p:nvSpPr>
          <p:cNvPr id="3" name="Platshållare för innehåll 2"/>
          <p:cNvSpPr>
            <a:spLocks noGrp="1"/>
          </p:cNvSpPr>
          <p:nvPr>
            <p:ph idx="1"/>
          </p:nvPr>
        </p:nvSpPr>
        <p:spPr>
          <a:xfrm>
            <a:off x="971600" y="699542"/>
            <a:ext cx="7808456" cy="3960440"/>
          </a:xfrm>
        </p:spPr>
        <p:txBody>
          <a:bodyPr>
            <a:noAutofit/>
          </a:bodyPr>
          <a:lstStyle/>
          <a:p>
            <a:pPr marL="0" indent="0">
              <a:buNone/>
            </a:pPr>
            <a:r>
              <a:rPr lang="en-US" sz="2000" b="1" dirty="0">
                <a:latin typeface="+mn-lt"/>
                <a:ea typeface="Verdana" panose="020B0604030504040204" pitchFamily="34" charset="0"/>
              </a:rPr>
              <a:t>T-tests</a:t>
            </a:r>
            <a:r>
              <a:rPr lang="en-US" sz="2000" dirty="0">
                <a:latin typeface="+mn-lt"/>
                <a:ea typeface="Verdana" panose="020B0604030504040204" pitchFamily="34" charset="0"/>
              </a:rPr>
              <a:t> are a family of tests for mean values.</a:t>
            </a:r>
          </a:p>
          <a:p>
            <a:pPr marL="0" indent="0">
              <a:buNone/>
            </a:pPr>
            <a:r>
              <a:rPr lang="en-US" sz="2000" u="sng" dirty="0">
                <a:latin typeface="+mn-lt"/>
                <a:ea typeface="Verdana" panose="020B0604030504040204" pitchFamily="34" charset="0"/>
              </a:rPr>
              <a:t>Common assumptions:</a:t>
            </a:r>
          </a:p>
          <a:p>
            <a:pPr marL="257175" indent="-257175">
              <a:buFont typeface="Arial" panose="020B0604020202020204" pitchFamily="34" charset="0"/>
              <a:buChar char="•"/>
            </a:pPr>
            <a:r>
              <a:rPr lang="en-US" sz="2000" dirty="0">
                <a:latin typeface="+mn-lt"/>
                <a:ea typeface="Verdana" panose="020B0604030504040204" pitchFamily="34" charset="0"/>
              </a:rPr>
              <a:t>Variable of interest is </a:t>
            </a:r>
            <a:r>
              <a:rPr lang="en-US" sz="2000" b="1" dirty="0">
                <a:solidFill>
                  <a:srgbClr val="002060"/>
                </a:solidFill>
                <a:latin typeface="+mn-lt"/>
                <a:ea typeface="Verdana" panose="020B0604030504040204" pitchFamily="34" charset="0"/>
              </a:rPr>
              <a:t>quantitative</a:t>
            </a:r>
            <a:r>
              <a:rPr lang="en-US" sz="2000" dirty="0">
                <a:latin typeface="+mn-lt"/>
                <a:ea typeface="Verdana" panose="020B0604030504040204" pitchFamily="34" charset="0"/>
              </a:rPr>
              <a:t> </a:t>
            </a:r>
          </a:p>
          <a:p>
            <a:pPr marL="257175" indent="-257175">
              <a:buFont typeface="Arial" panose="020B0604020202020204" pitchFamily="34" charset="0"/>
              <a:buChar char="•"/>
            </a:pPr>
            <a:r>
              <a:rPr lang="en-US" sz="2000" dirty="0">
                <a:latin typeface="+mn-lt"/>
                <a:ea typeface="Verdana" panose="020B0604030504040204" pitchFamily="34" charset="0"/>
              </a:rPr>
              <a:t>The </a:t>
            </a:r>
            <a:r>
              <a:rPr lang="en-US" sz="2000" dirty="0">
                <a:solidFill>
                  <a:srgbClr val="002060"/>
                </a:solidFill>
                <a:latin typeface="+mn-lt"/>
                <a:ea typeface="Verdana" panose="020B0604030504040204" pitchFamily="34" charset="0"/>
              </a:rPr>
              <a:t>distribution</a:t>
            </a:r>
            <a:r>
              <a:rPr lang="en-US" sz="2000" dirty="0">
                <a:latin typeface="+mn-lt"/>
                <a:ea typeface="Verdana" panose="020B0604030504040204" pitchFamily="34" charset="0"/>
              </a:rPr>
              <a:t> of the sample mean is </a:t>
            </a:r>
            <a:r>
              <a:rPr lang="en-US" sz="2000" dirty="0">
                <a:solidFill>
                  <a:srgbClr val="002060"/>
                </a:solidFill>
                <a:latin typeface="+mn-lt"/>
                <a:ea typeface="Verdana" panose="020B0604030504040204" pitchFamily="34" charset="0"/>
              </a:rPr>
              <a:t>approximately normal</a:t>
            </a:r>
          </a:p>
          <a:p>
            <a:pPr marL="1053629" lvl="1" indent="-257175">
              <a:buFont typeface="Arial" panose="020B0604020202020204" pitchFamily="34" charset="0"/>
              <a:buChar char="•"/>
            </a:pPr>
            <a:r>
              <a:rPr lang="en-US" sz="2000" dirty="0">
                <a:latin typeface="+mn-lt"/>
                <a:ea typeface="Verdana" panose="020B0604030504040204" pitchFamily="34" charset="0"/>
              </a:rPr>
              <a:t>The variable is normally distributed, </a:t>
            </a:r>
            <a:r>
              <a:rPr lang="en-US" sz="2000" b="1" i="1" dirty="0">
                <a:latin typeface="+mn-lt"/>
                <a:ea typeface="Verdana" panose="020B0604030504040204" pitchFamily="34" charset="0"/>
              </a:rPr>
              <a:t>or </a:t>
            </a:r>
            <a:r>
              <a:rPr lang="en-US" sz="2000" dirty="0">
                <a:latin typeface="+mn-lt"/>
                <a:ea typeface="Verdana" panose="020B0604030504040204" pitchFamily="34" charset="0"/>
              </a:rPr>
              <a:t>the sample size is ”large enough”.</a:t>
            </a:r>
          </a:p>
          <a:p>
            <a:pPr marL="1205954" lvl="1" indent="-257175">
              <a:buFont typeface="Arial" panose="020B0604020202020204" pitchFamily="34" charset="0"/>
              <a:buChar char="•"/>
            </a:pPr>
            <a:r>
              <a:rPr lang="en-US" sz="2000" dirty="0">
                <a:latin typeface="+mn-lt"/>
                <a:ea typeface="Verdana" panose="020B0604030504040204" pitchFamily="34" charset="0"/>
              </a:rPr>
              <a:t>What is a ”large enough” sample size?</a:t>
            </a:r>
          </a:p>
          <a:p>
            <a:r>
              <a:rPr lang="en-US" sz="2000" dirty="0">
                <a:latin typeface="+mn-lt"/>
                <a:ea typeface="Verdana" panose="020B0604030504040204" pitchFamily="34" charset="0"/>
              </a:rPr>
              <a:t>Maximum of 2 groups, 2-sample T-test</a:t>
            </a:r>
          </a:p>
        </p:txBody>
      </p:sp>
      <p:sp>
        <p:nvSpPr>
          <p:cNvPr id="4" name="Platshållare för bildnummer 3"/>
          <p:cNvSpPr>
            <a:spLocks noGrp="1"/>
          </p:cNvSpPr>
          <p:nvPr>
            <p:ph type="sldNum" sz="quarter" idx="12"/>
          </p:nvPr>
        </p:nvSpPr>
        <p:spPr/>
        <p:txBody>
          <a:bodyPr/>
          <a:lstStyle/>
          <a:p>
            <a:fld id="{49D34020-361E-4A13-8C95-66E98A929282}" type="slidenum">
              <a:rPr lang="sv-SE" smtClean="0"/>
              <a:pPr/>
              <a:t>71</a:t>
            </a:fld>
            <a:endParaRPr lang="sv-SE"/>
          </a:p>
        </p:txBody>
      </p:sp>
    </p:spTree>
    <p:extLst>
      <p:ext uri="{BB962C8B-B14F-4D97-AF65-F5344CB8AC3E}">
        <p14:creationId xmlns:p14="http://schemas.microsoft.com/office/powerpoint/2010/main" val="43839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971600" y="411510"/>
            <a:ext cx="6624400" cy="594122"/>
          </a:xfrm>
        </p:spPr>
        <p:txBody>
          <a:bodyPr/>
          <a:lstStyle/>
          <a:p>
            <a:r>
              <a:rPr lang="en-US" sz="3600" dirty="0"/>
              <a:t>Rule of thumb from </a:t>
            </a:r>
            <a:r>
              <a:rPr lang="en-US" sz="3600" dirty="0" err="1"/>
              <a:t>Björk’s</a:t>
            </a:r>
            <a:r>
              <a:rPr lang="en-US" sz="3600" dirty="0"/>
              <a:t> book</a:t>
            </a:r>
          </a:p>
        </p:txBody>
      </p:sp>
      <p:sp>
        <p:nvSpPr>
          <p:cNvPr id="3" name="Platshållare för innehåll 2"/>
          <p:cNvSpPr>
            <a:spLocks noGrp="1"/>
          </p:cNvSpPr>
          <p:nvPr>
            <p:ph idx="1"/>
          </p:nvPr>
        </p:nvSpPr>
        <p:spPr>
          <a:xfrm>
            <a:off x="971600" y="1082444"/>
            <a:ext cx="7200799" cy="3213357"/>
          </a:xfrm>
        </p:spPr>
        <p:txBody>
          <a:bodyPr>
            <a:noAutofit/>
          </a:bodyPr>
          <a:lstStyle/>
          <a:p>
            <a:pPr marL="385763" indent="-385763">
              <a:buFont typeface="+mj-lt"/>
              <a:buAutoNum type="arabicPeriod"/>
            </a:pPr>
            <a:r>
              <a:rPr lang="en-US" sz="2000" dirty="0">
                <a:latin typeface="+mn-lt"/>
                <a:ea typeface="Verdana" panose="020B0604030504040204" pitchFamily="34" charset="0"/>
              </a:rPr>
              <a:t>&lt; 20 obs. per group </a:t>
            </a:r>
          </a:p>
          <a:p>
            <a:pPr lvl="1" indent="0">
              <a:buNone/>
            </a:pPr>
            <a:r>
              <a:rPr lang="en-US" sz="2000" dirty="0">
                <a:latin typeface="+mn-lt"/>
                <a:ea typeface="Verdana" panose="020B0604030504040204" pitchFamily="34" charset="0"/>
              </a:rPr>
              <a:t>T-test should only be used if the variable in known to be normally distributed (e.g., from previous larger studies)  </a:t>
            </a:r>
          </a:p>
          <a:p>
            <a:pPr marL="342900" indent="-342900">
              <a:buFont typeface="+mj-lt"/>
              <a:buAutoNum type="arabicPeriod"/>
            </a:pPr>
            <a:r>
              <a:rPr lang="en-US" sz="2000" dirty="0">
                <a:latin typeface="+mn-lt"/>
                <a:ea typeface="Verdana" panose="020B0604030504040204" pitchFamily="34" charset="0"/>
              </a:rPr>
              <a:t>Between 20 and  50 obs.</a:t>
            </a:r>
          </a:p>
          <a:p>
            <a:pPr lvl="1" indent="0">
              <a:buNone/>
            </a:pPr>
            <a:r>
              <a:rPr lang="en-US" sz="2000" dirty="0">
                <a:latin typeface="+mn-lt"/>
                <a:ea typeface="Verdana" panose="020B0604030504040204" pitchFamily="34" charset="0"/>
              </a:rPr>
              <a:t>T-test can be used if data is </a:t>
            </a:r>
            <a:r>
              <a:rPr lang="en-US" sz="2000" b="1" dirty="0">
                <a:latin typeface="+mn-lt"/>
                <a:ea typeface="Verdana" panose="020B0604030504040204" pitchFamily="34" charset="0"/>
              </a:rPr>
              <a:t>approximately normally </a:t>
            </a:r>
            <a:r>
              <a:rPr lang="en-US" sz="2000" dirty="0">
                <a:latin typeface="+mn-lt"/>
                <a:ea typeface="Verdana" panose="020B0604030504040204" pitchFamily="34" charset="0"/>
              </a:rPr>
              <a:t>distributed</a:t>
            </a:r>
          </a:p>
          <a:p>
            <a:pPr marL="342900" indent="-342900">
              <a:buFont typeface="+mj-lt"/>
              <a:buAutoNum type="arabicPeriod"/>
            </a:pPr>
            <a:r>
              <a:rPr lang="en-US" sz="2000" dirty="0">
                <a:latin typeface="+mn-lt"/>
                <a:ea typeface="Verdana" panose="020B0604030504040204" pitchFamily="34" charset="0"/>
              </a:rPr>
              <a:t>&gt; 50 obs. per group</a:t>
            </a:r>
          </a:p>
          <a:p>
            <a:pPr lvl="1" indent="0">
              <a:buNone/>
            </a:pPr>
            <a:r>
              <a:rPr lang="en-US" sz="2000" dirty="0">
                <a:latin typeface="+mn-lt"/>
                <a:ea typeface="Verdana" panose="020B0604030504040204" pitchFamily="34" charset="0"/>
              </a:rPr>
              <a:t>T-test can be used (with few extreme exceptions) </a:t>
            </a:r>
          </a:p>
        </p:txBody>
      </p:sp>
      <p:sp>
        <p:nvSpPr>
          <p:cNvPr id="4" name="Platshållare för bildnummer 3"/>
          <p:cNvSpPr>
            <a:spLocks noGrp="1"/>
          </p:cNvSpPr>
          <p:nvPr>
            <p:ph type="sldNum" sz="quarter" idx="12"/>
          </p:nvPr>
        </p:nvSpPr>
        <p:spPr/>
        <p:txBody>
          <a:bodyPr/>
          <a:lstStyle/>
          <a:p>
            <a:fld id="{49D34020-361E-4A13-8C95-66E98A929282}" type="slidenum">
              <a:rPr lang="sv-SE" smtClean="0"/>
              <a:pPr/>
              <a:t>72</a:t>
            </a:fld>
            <a:endParaRPr lang="sv-SE"/>
          </a:p>
        </p:txBody>
      </p:sp>
    </p:spTree>
    <p:extLst>
      <p:ext uri="{BB962C8B-B14F-4D97-AF65-F5344CB8AC3E}">
        <p14:creationId xmlns:p14="http://schemas.microsoft.com/office/powerpoint/2010/main" val="28791126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ubrik 1"/>
          <p:cNvSpPr>
            <a:spLocks noGrp="1"/>
          </p:cNvSpPr>
          <p:nvPr>
            <p:ph type="title"/>
          </p:nvPr>
        </p:nvSpPr>
        <p:spPr>
          <a:xfrm>
            <a:off x="395536" y="359122"/>
            <a:ext cx="8352928" cy="695232"/>
          </a:xfrm>
        </p:spPr>
        <p:txBody>
          <a:bodyPr>
            <a:noAutofit/>
          </a:bodyPr>
          <a:lstStyle/>
          <a:p>
            <a:r>
              <a:rPr lang="en-US" sz="3200" dirty="0"/>
              <a:t>Comparing mean of </a:t>
            </a:r>
            <a:r>
              <a:rPr lang="en-US" sz="3200" dirty="0">
                <a:solidFill>
                  <a:srgbClr val="002060"/>
                </a:solidFill>
              </a:rPr>
              <a:t>several</a:t>
            </a:r>
            <a:r>
              <a:rPr lang="en-US" sz="3200" dirty="0"/>
              <a:t> </a:t>
            </a:r>
            <a:r>
              <a:rPr lang="en-US" sz="3200" i="1" dirty="0">
                <a:solidFill>
                  <a:srgbClr val="002060"/>
                </a:solidFill>
              </a:rPr>
              <a:t>independent</a:t>
            </a:r>
            <a:r>
              <a:rPr lang="en-US" sz="3200" dirty="0"/>
              <a:t> samples</a:t>
            </a:r>
          </a:p>
        </p:txBody>
      </p:sp>
      <p:sp>
        <p:nvSpPr>
          <p:cNvPr id="3" name="Platshållare för innehåll 2"/>
          <p:cNvSpPr>
            <a:spLocks noGrp="1"/>
          </p:cNvSpPr>
          <p:nvPr>
            <p:ph idx="1"/>
          </p:nvPr>
        </p:nvSpPr>
        <p:spPr/>
        <p:txBody>
          <a:bodyPr/>
          <a:lstStyle/>
          <a:p>
            <a:pPr marL="0" indent="0">
              <a:buNone/>
            </a:pPr>
            <a:r>
              <a:rPr lang="en-US" dirty="0"/>
              <a:t> </a:t>
            </a:r>
          </a:p>
        </p:txBody>
      </p:sp>
      <p:sp>
        <p:nvSpPr>
          <p:cNvPr id="8" name="Platshållare för bildnummer 7"/>
          <p:cNvSpPr>
            <a:spLocks noGrp="1"/>
          </p:cNvSpPr>
          <p:nvPr>
            <p:ph type="sldNum" sz="quarter" idx="12"/>
          </p:nvPr>
        </p:nvSpPr>
        <p:spPr>
          <a:xfrm>
            <a:off x="6057900" y="4836189"/>
            <a:ext cx="1600200" cy="273844"/>
          </a:xfrm>
          <a:prstGeom prst="rect">
            <a:avLst/>
          </a:prstGeom>
        </p:spPr>
        <p:txBody>
          <a:bodyPr/>
          <a:lstStyle/>
          <a:p>
            <a:fld id="{49D34020-361E-4A13-8C95-66E98A929282}" type="slidenum">
              <a:rPr lang="sv-SE" smtClean="0"/>
              <a:pPr/>
              <a:t>73</a:t>
            </a:fld>
            <a:endParaRPr lang="sv-SE"/>
          </a:p>
        </p:txBody>
      </p:sp>
      <p:sp>
        <p:nvSpPr>
          <p:cNvPr id="7" name="textruta 6"/>
          <p:cNvSpPr txBox="1"/>
          <p:nvPr/>
        </p:nvSpPr>
        <p:spPr>
          <a:xfrm>
            <a:off x="899592" y="1054354"/>
            <a:ext cx="7615758" cy="2987356"/>
          </a:xfrm>
          <a:prstGeom prst="rect">
            <a:avLst/>
          </a:prstGeom>
          <a:noFill/>
        </p:spPr>
        <p:txBody>
          <a:bodyPr wrap="square" rtlCol="0">
            <a:spAutoFit/>
          </a:bodyPr>
          <a:lstStyle/>
          <a:p>
            <a:r>
              <a:rPr lang="en-US" sz="2400" dirty="0">
                <a:latin typeface="+mn-lt"/>
                <a:ea typeface="Verdana" panose="020B0604030504040204" pitchFamily="34" charset="0"/>
              </a:rPr>
              <a:t>What if we have samples from more than two groups?</a:t>
            </a:r>
          </a:p>
          <a:p>
            <a:endParaRPr lang="en-US" sz="2400" dirty="0">
              <a:latin typeface="+mn-lt"/>
              <a:ea typeface="Verdana" panose="020B0604030504040204" pitchFamily="34" charset="0"/>
            </a:endParaRPr>
          </a:p>
          <a:p>
            <a:r>
              <a:rPr lang="en-US" sz="2400" dirty="0">
                <a:latin typeface="+mn-lt"/>
                <a:ea typeface="Verdana" panose="020B0604030504040204" pitchFamily="34" charset="0"/>
              </a:rPr>
              <a:t>We use </a:t>
            </a:r>
            <a:r>
              <a:rPr lang="en-US" sz="2400" b="1" dirty="0">
                <a:latin typeface="+mn-lt"/>
                <a:ea typeface="Verdana" panose="020B0604030504040204" pitchFamily="34" charset="0"/>
              </a:rPr>
              <a:t>ANOVA</a:t>
            </a:r>
            <a:endParaRPr lang="en-US" sz="2400" dirty="0">
              <a:latin typeface="+mn-lt"/>
              <a:ea typeface="Verdana" panose="020B0604030504040204" pitchFamily="34" charset="0"/>
            </a:endParaRPr>
          </a:p>
          <a:p>
            <a:endParaRPr lang="en-US" sz="2400" dirty="0">
              <a:latin typeface="+mn-lt"/>
              <a:ea typeface="Verdana" panose="020B0604030504040204" pitchFamily="34" charset="0"/>
            </a:endParaRPr>
          </a:p>
          <a:p>
            <a:r>
              <a:rPr lang="en-US" sz="2400" b="1" dirty="0">
                <a:latin typeface="+mn-lt"/>
                <a:ea typeface="Verdana" panose="020B0604030504040204" pitchFamily="34" charset="0"/>
              </a:rPr>
              <a:t>Note: </a:t>
            </a:r>
          </a:p>
          <a:p>
            <a:pPr>
              <a:lnSpc>
                <a:spcPct val="150000"/>
              </a:lnSpc>
            </a:pPr>
            <a:r>
              <a:rPr lang="en-US" sz="2400" dirty="0">
                <a:latin typeface="+mn-lt"/>
                <a:ea typeface="Verdana" panose="020B0604030504040204" pitchFamily="34" charset="0"/>
              </a:rPr>
              <a:t>Independent sample </a:t>
            </a:r>
            <a:r>
              <a:rPr lang="en-US" sz="2400" dirty="0">
                <a:latin typeface="+mn-lt"/>
                <a:ea typeface="Verdana" panose="020B0604030504040204" pitchFamily="34" charset="0"/>
                <a:sym typeface="Wingdings" panose="05000000000000000000" pitchFamily="2" charset="2"/>
              </a:rPr>
              <a:t> Independent ANOVA</a:t>
            </a:r>
          </a:p>
          <a:p>
            <a:pPr>
              <a:lnSpc>
                <a:spcPct val="150000"/>
              </a:lnSpc>
            </a:pPr>
            <a:r>
              <a:rPr lang="en-US" sz="2400" dirty="0">
                <a:latin typeface="+mn-lt"/>
                <a:ea typeface="Verdana" panose="020B0604030504040204" pitchFamily="34" charset="0"/>
                <a:sym typeface="Wingdings" panose="05000000000000000000" pitchFamily="2" charset="2"/>
              </a:rPr>
              <a:t>Paired data  Paired ANOVA</a:t>
            </a:r>
            <a:endParaRPr lang="en-US" sz="2000" dirty="0">
              <a:latin typeface="+mn-lt"/>
              <a:ea typeface="Verdana" panose="020B0604030504040204" pitchFamily="34" charset="0"/>
            </a:endParaRPr>
          </a:p>
        </p:txBody>
      </p:sp>
    </p:spTree>
    <p:extLst>
      <p:ext uri="{BB962C8B-B14F-4D97-AF65-F5344CB8AC3E}">
        <p14:creationId xmlns:p14="http://schemas.microsoft.com/office/powerpoint/2010/main" val="412540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493658" y="342677"/>
            <a:ext cx="6172200" cy="695232"/>
          </a:xfrm>
        </p:spPr>
        <p:txBody>
          <a:bodyPr>
            <a:noAutofit/>
          </a:bodyPr>
          <a:lstStyle/>
          <a:p>
            <a:r>
              <a:rPr lang="en-US" sz="3600" dirty="0" err="1"/>
              <a:t>ANalysis</a:t>
            </a:r>
            <a:r>
              <a:rPr lang="en-US" sz="3600" dirty="0"/>
              <a:t> Of </a:t>
            </a:r>
            <a:r>
              <a:rPr lang="en-US" sz="3600" dirty="0" err="1"/>
              <a:t>VAriance</a:t>
            </a:r>
            <a:r>
              <a:rPr lang="en-US" sz="3600" dirty="0"/>
              <a:t> (ANOVA) </a:t>
            </a:r>
          </a:p>
        </p:txBody>
      </p:sp>
      <p:sp>
        <p:nvSpPr>
          <p:cNvPr id="3" name="Platshållare för innehåll 2"/>
          <p:cNvSpPr>
            <a:spLocks noGrp="1"/>
          </p:cNvSpPr>
          <p:nvPr>
            <p:ph idx="1"/>
          </p:nvPr>
        </p:nvSpPr>
        <p:spPr>
          <a:xfrm>
            <a:off x="1043608" y="1203598"/>
            <a:ext cx="6622250" cy="2952328"/>
          </a:xfrm>
        </p:spPr>
        <p:txBody>
          <a:bodyPr>
            <a:noAutofit/>
          </a:bodyPr>
          <a:lstStyle/>
          <a:p>
            <a:pPr algn="ctr"/>
            <a:r>
              <a:rPr lang="en-US" sz="2000" dirty="0">
                <a:latin typeface="+mn-lt"/>
                <a:ea typeface="Verdana" panose="020B0604030504040204" pitchFamily="34" charset="0"/>
              </a:rPr>
              <a:t>H</a:t>
            </a:r>
            <a:r>
              <a:rPr lang="en-US" sz="2000" baseline="-25000" dirty="0">
                <a:latin typeface="+mn-lt"/>
                <a:ea typeface="Verdana" panose="020B0604030504040204" pitchFamily="34" charset="0"/>
              </a:rPr>
              <a:t>0</a:t>
            </a:r>
            <a:r>
              <a:rPr lang="en-US" sz="2000" dirty="0">
                <a:latin typeface="+mn-lt"/>
                <a:ea typeface="Verdana" panose="020B0604030504040204" pitchFamily="34" charset="0"/>
              </a:rPr>
              <a:t>: </a:t>
            </a:r>
            <a:r>
              <a:rPr lang="el-GR" sz="2000" dirty="0">
                <a:latin typeface="+mn-lt"/>
                <a:ea typeface="Verdana" panose="020B0604030504040204" pitchFamily="34" charset="0"/>
              </a:rPr>
              <a:t>μ</a:t>
            </a:r>
            <a:r>
              <a:rPr lang="sv-SE" sz="2000" baseline="-25000" dirty="0">
                <a:latin typeface="+mn-lt"/>
                <a:ea typeface="Verdana" panose="020B0604030504040204" pitchFamily="34" charset="0"/>
              </a:rPr>
              <a:t>1</a:t>
            </a:r>
            <a:r>
              <a:rPr lang="sv-SE" sz="2000" dirty="0">
                <a:latin typeface="+mn-lt"/>
                <a:ea typeface="Verdana" panose="020B0604030504040204" pitchFamily="34" charset="0"/>
              </a:rPr>
              <a:t>=</a:t>
            </a:r>
            <a:r>
              <a:rPr lang="el-GR" sz="2000" dirty="0">
                <a:latin typeface="+mn-lt"/>
                <a:ea typeface="Verdana" panose="020B0604030504040204" pitchFamily="34" charset="0"/>
              </a:rPr>
              <a:t>μ</a:t>
            </a:r>
            <a:r>
              <a:rPr lang="sv-SE" sz="2000" baseline="-25000" dirty="0">
                <a:latin typeface="+mn-lt"/>
                <a:ea typeface="Verdana" panose="020B0604030504040204" pitchFamily="34" charset="0"/>
              </a:rPr>
              <a:t>2</a:t>
            </a:r>
            <a:r>
              <a:rPr lang="sv-SE" sz="2000" dirty="0">
                <a:latin typeface="+mn-lt"/>
                <a:ea typeface="Verdana" panose="020B0604030504040204" pitchFamily="34" charset="0"/>
              </a:rPr>
              <a:t>=…=</a:t>
            </a:r>
            <a:r>
              <a:rPr lang="el-GR" sz="2000" dirty="0">
                <a:latin typeface="+mn-lt"/>
                <a:ea typeface="Verdana" panose="020B0604030504040204" pitchFamily="34" charset="0"/>
              </a:rPr>
              <a:t>μ</a:t>
            </a:r>
            <a:r>
              <a:rPr lang="sv-SE" sz="2000" baseline="-25000" dirty="0">
                <a:latin typeface="+mn-lt"/>
                <a:ea typeface="Verdana" panose="020B0604030504040204" pitchFamily="34" charset="0"/>
              </a:rPr>
              <a:t>p </a:t>
            </a:r>
            <a:r>
              <a:rPr lang="sv-SE" sz="2000" dirty="0">
                <a:latin typeface="+mn-lt"/>
                <a:ea typeface="Verdana" panose="020B0604030504040204" pitchFamily="34" charset="0"/>
              </a:rPr>
              <a:t> </a:t>
            </a:r>
            <a:r>
              <a:rPr lang="sv-SE" sz="2000" i="1" dirty="0">
                <a:latin typeface="+mn-lt"/>
                <a:ea typeface="Verdana" panose="020B0604030504040204" pitchFamily="34" charset="0"/>
              </a:rPr>
              <a:t>vs</a:t>
            </a:r>
            <a:r>
              <a:rPr lang="sv-SE" sz="2000" dirty="0">
                <a:latin typeface="+mn-lt"/>
                <a:ea typeface="Verdana" panose="020B0604030504040204" pitchFamily="34" charset="0"/>
              </a:rPr>
              <a:t>  </a:t>
            </a:r>
            <a:r>
              <a:rPr lang="en-US" sz="2000" dirty="0">
                <a:latin typeface="+mn-lt"/>
                <a:ea typeface="Verdana" panose="020B0604030504040204" pitchFamily="34" charset="0"/>
              </a:rPr>
              <a:t>H</a:t>
            </a:r>
            <a:r>
              <a:rPr lang="en-US" sz="2000" baseline="-25000" dirty="0">
                <a:latin typeface="+mn-lt"/>
                <a:ea typeface="Verdana" panose="020B0604030504040204" pitchFamily="34" charset="0"/>
              </a:rPr>
              <a:t>1</a:t>
            </a:r>
            <a:r>
              <a:rPr lang="en-US" sz="2000" dirty="0">
                <a:latin typeface="+mn-lt"/>
                <a:ea typeface="Verdana" panose="020B0604030504040204" pitchFamily="34" charset="0"/>
              </a:rPr>
              <a:t>: </a:t>
            </a:r>
            <a:r>
              <a:rPr lang="el-GR" sz="2000" dirty="0">
                <a:latin typeface="+mn-lt"/>
                <a:ea typeface="Verdana" panose="020B0604030504040204" pitchFamily="34" charset="0"/>
              </a:rPr>
              <a:t>μ</a:t>
            </a:r>
            <a:r>
              <a:rPr lang="sv-SE" sz="2000" baseline="-25000" dirty="0">
                <a:latin typeface="+mn-lt"/>
                <a:ea typeface="Verdana" panose="020B0604030504040204" pitchFamily="34" charset="0"/>
              </a:rPr>
              <a:t>i</a:t>
            </a:r>
            <a:r>
              <a:rPr lang="sv-SE" sz="2000" dirty="0">
                <a:latin typeface="+mn-lt"/>
                <a:ea typeface="Verdana" panose="020B0604030504040204" pitchFamily="34" charset="0"/>
              </a:rPr>
              <a:t>≠</a:t>
            </a:r>
            <a:r>
              <a:rPr lang="el-GR" sz="2000" dirty="0">
                <a:latin typeface="+mn-lt"/>
                <a:ea typeface="Verdana" panose="020B0604030504040204" pitchFamily="34" charset="0"/>
              </a:rPr>
              <a:t>μ</a:t>
            </a:r>
            <a:r>
              <a:rPr lang="sv-SE" sz="2000" baseline="-25000" dirty="0">
                <a:latin typeface="+mn-lt"/>
                <a:ea typeface="Verdana" panose="020B0604030504040204" pitchFamily="34" charset="0"/>
              </a:rPr>
              <a:t>j</a:t>
            </a:r>
            <a:r>
              <a:rPr lang="sv-SE" sz="2000" dirty="0">
                <a:latin typeface="+mn-lt"/>
                <a:ea typeface="Verdana" panose="020B0604030504040204" pitchFamily="34" charset="0"/>
              </a:rPr>
              <a:t> for </a:t>
            </a:r>
            <a:r>
              <a:rPr lang="sv-SE" sz="2000" dirty="0" err="1">
                <a:latin typeface="+mn-lt"/>
                <a:ea typeface="Verdana" panose="020B0604030504040204" pitchFamily="34" charset="0"/>
              </a:rPr>
              <a:t>any</a:t>
            </a:r>
            <a:r>
              <a:rPr lang="sv-SE" sz="2000" dirty="0">
                <a:latin typeface="+mn-lt"/>
                <a:ea typeface="Verdana" panose="020B0604030504040204" pitchFamily="34" charset="0"/>
              </a:rPr>
              <a:t> </a:t>
            </a:r>
            <a:r>
              <a:rPr lang="sv-SE" sz="2000" i="1" dirty="0">
                <a:latin typeface="+mn-lt"/>
                <a:ea typeface="Verdana" panose="020B0604030504040204" pitchFamily="34" charset="0"/>
              </a:rPr>
              <a:t>i</a:t>
            </a:r>
            <a:r>
              <a:rPr lang="sv-SE" sz="2000" dirty="0">
                <a:latin typeface="+mn-lt"/>
                <a:ea typeface="Verdana" panose="020B0604030504040204" pitchFamily="34" charset="0"/>
              </a:rPr>
              <a:t> and</a:t>
            </a:r>
            <a:r>
              <a:rPr lang="sv-SE" sz="2000" i="1" dirty="0">
                <a:latin typeface="+mn-lt"/>
                <a:ea typeface="Verdana" panose="020B0604030504040204" pitchFamily="34" charset="0"/>
              </a:rPr>
              <a:t> j</a:t>
            </a:r>
          </a:p>
          <a:p>
            <a:pPr algn="ctr"/>
            <a:endParaRPr lang="en-US" sz="2000" i="1" baseline="-25000" dirty="0">
              <a:latin typeface="+mn-lt"/>
              <a:ea typeface="Verdana" panose="020B0604030504040204" pitchFamily="34" charset="0"/>
            </a:endParaRPr>
          </a:p>
          <a:p>
            <a:pPr marL="0" indent="0">
              <a:buNone/>
            </a:pPr>
            <a:r>
              <a:rPr lang="en-US" sz="2000" dirty="0">
                <a:latin typeface="+mn-lt"/>
                <a:ea typeface="Verdana" panose="020B0604030504040204" pitchFamily="34" charset="0"/>
              </a:rPr>
              <a:t>Assumptions for ANOVA:</a:t>
            </a:r>
          </a:p>
          <a:p>
            <a:pPr marL="270000" lvl="1"/>
            <a:r>
              <a:rPr lang="en-US" sz="2000" dirty="0">
                <a:latin typeface="+mn-lt"/>
                <a:ea typeface="Verdana" panose="020B0604030504040204" pitchFamily="34" charset="0"/>
              </a:rPr>
              <a:t>Response variable </a:t>
            </a:r>
            <a:r>
              <a:rPr lang="en-US" sz="2000" dirty="0">
                <a:solidFill>
                  <a:srgbClr val="002060"/>
                </a:solidFill>
                <a:latin typeface="+mn-lt"/>
                <a:ea typeface="Verdana" panose="020B0604030504040204" pitchFamily="34" charset="0"/>
              </a:rPr>
              <a:t>residuals</a:t>
            </a:r>
            <a:r>
              <a:rPr lang="en-US" sz="2000" dirty="0">
                <a:latin typeface="+mn-lt"/>
                <a:ea typeface="Verdana" panose="020B0604030504040204" pitchFamily="34" charset="0"/>
              </a:rPr>
              <a:t> are normally distributed </a:t>
            </a:r>
          </a:p>
          <a:p>
            <a:pPr marL="270000" lvl="1"/>
            <a:r>
              <a:rPr lang="en-US" sz="2000" dirty="0">
                <a:latin typeface="+mn-lt"/>
                <a:ea typeface="Verdana" panose="020B0604030504040204" pitchFamily="34" charset="0"/>
              </a:rPr>
              <a:t>Variances of populations are equal</a:t>
            </a:r>
          </a:p>
          <a:p>
            <a:pPr marL="270000" lvl="1"/>
            <a:r>
              <a:rPr lang="en-US" sz="2000" dirty="0">
                <a:latin typeface="+mn-lt"/>
                <a:ea typeface="Verdana" panose="020B0604030504040204" pitchFamily="34" charset="0"/>
              </a:rPr>
              <a:t>Responses for a given group are independent and identically distributed normal random variables </a:t>
            </a:r>
          </a:p>
          <a:p>
            <a:pPr marL="270000" lvl="1"/>
            <a:r>
              <a:rPr lang="en-US" sz="2000" dirty="0">
                <a:latin typeface="+mn-lt"/>
                <a:ea typeface="Verdana" panose="020B0604030504040204" pitchFamily="34" charset="0"/>
              </a:rPr>
              <a:t>Samples are </a:t>
            </a:r>
            <a:r>
              <a:rPr lang="en-US" sz="2000" dirty="0">
                <a:solidFill>
                  <a:srgbClr val="002060"/>
                </a:solidFill>
                <a:latin typeface="+mn-lt"/>
                <a:ea typeface="Verdana" panose="020B0604030504040204" pitchFamily="34" charset="0"/>
              </a:rPr>
              <a:t>independent</a:t>
            </a:r>
          </a:p>
        </p:txBody>
      </p:sp>
      <p:sp>
        <p:nvSpPr>
          <p:cNvPr id="4" name="Platshållare för bildnummer 3"/>
          <p:cNvSpPr>
            <a:spLocks noGrp="1"/>
          </p:cNvSpPr>
          <p:nvPr>
            <p:ph type="sldNum" sz="quarter" idx="12"/>
          </p:nvPr>
        </p:nvSpPr>
        <p:spPr>
          <a:xfrm>
            <a:off x="6057900" y="4836189"/>
            <a:ext cx="1600200" cy="273844"/>
          </a:xfrm>
          <a:prstGeom prst="rect">
            <a:avLst/>
          </a:prstGeom>
        </p:spPr>
        <p:txBody>
          <a:bodyPr/>
          <a:lstStyle/>
          <a:p>
            <a:fld id="{49D34020-361E-4A13-8C95-66E98A929282}" type="slidenum">
              <a:rPr lang="sv-SE" smtClean="0"/>
              <a:pPr/>
              <a:t>74</a:t>
            </a:fld>
            <a:endParaRPr lang="sv-SE"/>
          </a:p>
        </p:txBody>
      </p:sp>
    </p:spTree>
    <p:extLst>
      <p:ext uri="{BB962C8B-B14F-4D97-AF65-F5344CB8AC3E}">
        <p14:creationId xmlns:p14="http://schemas.microsoft.com/office/powerpoint/2010/main" val="35957086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99592" y="87474"/>
            <a:ext cx="7416823" cy="708840"/>
          </a:xfrm>
        </p:spPr>
        <p:txBody>
          <a:bodyPr/>
          <a:lstStyle/>
          <a:p>
            <a:pPr eaLnBrk="1" hangingPunct="1"/>
            <a:r>
              <a:rPr lang="sv-SE" altLang="en-US" sz="3600" dirty="0" err="1"/>
              <a:t>Result</a:t>
            </a:r>
            <a:r>
              <a:rPr lang="sv-SE" altLang="en-US" sz="3600" dirty="0"/>
              <a:t> : The ANOVA table</a:t>
            </a:r>
          </a:p>
        </p:txBody>
      </p:sp>
      <p:sp>
        <p:nvSpPr>
          <p:cNvPr id="2" name="Platshållare för bildnummer 1"/>
          <p:cNvSpPr>
            <a:spLocks noGrp="1"/>
          </p:cNvSpPr>
          <p:nvPr>
            <p:ph type="sldNum" sz="quarter" idx="12"/>
          </p:nvPr>
        </p:nvSpPr>
        <p:spPr>
          <a:xfrm>
            <a:off x="6057900" y="4836189"/>
            <a:ext cx="1600200" cy="273844"/>
          </a:xfrm>
          <a:prstGeom prst="rect">
            <a:avLst/>
          </a:prstGeom>
        </p:spPr>
        <p:txBody>
          <a:bodyPr/>
          <a:lstStyle/>
          <a:p>
            <a:fld id="{49D34020-361E-4A13-8C95-66E98A929282}" type="slidenum">
              <a:rPr lang="sv-SE" smtClean="0"/>
              <a:pPr/>
              <a:t>75</a:t>
            </a:fld>
            <a:endParaRPr lang="sv-SE"/>
          </a:p>
        </p:txBody>
      </p:sp>
      <p:sp>
        <p:nvSpPr>
          <p:cNvPr id="3" name="Rektangel 2"/>
          <p:cNvSpPr/>
          <p:nvPr/>
        </p:nvSpPr>
        <p:spPr bwMode="auto">
          <a:xfrm>
            <a:off x="1763688" y="1329612"/>
            <a:ext cx="756084" cy="432048"/>
          </a:xfrm>
          <a:prstGeom prst="rect">
            <a:avLst/>
          </a:prstGeom>
          <a:solidFill>
            <a:schemeClr val="bg1"/>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hangingPunct="0"/>
            <a:endParaRPr lang="sv-SE">
              <a:latin typeface="Arial" panose="020B0604020202020204" pitchFamily="34" charset="0"/>
              <a:ea typeface="ヒラギノ角ゴ Pro W3"/>
              <a:cs typeface="ヒラギノ角ゴ Pro W3"/>
            </a:endParaRPr>
          </a:p>
        </p:txBody>
      </p:sp>
      <p:pic>
        <p:nvPicPr>
          <p:cNvPr id="7" name="Picture 6">
            <a:extLst>
              <a:ext uri="{FF2B5EF4-FFF2-40B4-BE49-F238E27FC236}">
                <a16:creationId xmlns:a16="http://schemas.microsoft.com/office/drawing/2014/main" id="{DAAD33A7-4FD0-4497-A6DE-EDAD7FD5BE9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2411760" y="593301"/>
            <a:ext cx="3289066" cy="2707530"/>
          </a:xfrm>
          <a:prstGeom prst="rect">
            <a:avLst/>
          </a:prstGeom>
          <a:noFill/>
        </p:spPr>
      </p:pic>
      <p:pic>
        <p:nvPicPr>
          <p:cNvPr id="12" name="Picture 4">
            <a:extLst>
              <a:ext uri="{FF2B5EF4-FFF2-40B4-BE49-F238E27FC236}">
                <a16:creationId xmlns:a16="http://schemas.microsoft.com/office/drawing/2014/main" id="{CE969E04-4CF4-4574-84C9-32C75C59238B}"/>
              </a:ext>
            </a:extLst>
          </p:cNvPr>
          <p:cNvPicPr>
            <a:picLocks noGrp="1" noChangeAspect="1" noChangeArrowheads="1"/>
          </p:cNvPicPr>
          <p:nvPr>
            <p:ph idx="1"/>
          </p:nvPr>
        </p:nvPicPr>
        <p:blipFill>
          <a:blip r:embed="rId4" cstate="print">
            <a:extLst>
              <a:ext uri="{28A0092B-C50C-407E-A947-70E740481C1C}">
                <a14:useLocalDpi xmlns:a14="http://schemas.microsoft.com/office/drawing/2010/main" val="0"/>
              </a:ext>
            </a:extLst>
          </a:blip>
          <a:srcRect/>
          <a:stretch>
            <a:fillRect/>
          </a:stretch>
        </p:blipFill>
        <p:spPr>
          <a:xfrm>
            <a:off x="957945" y="3214210"/>
            <a:ext cx="6481763" cy="1665685"/>
          </a:xfrm>
          <a:noFill/>
        </p:spPr>
      </p:pic>
      <p:sp>
        <p:nvSpPr>
          <p:cNvPr id="13" name="Text Box 6">
            <a:extLst>
              <a:ext uri="{FF2B5EF4-FFF2-40B4-BE49-F238E27FC236}">
                <a16:creationId xmlns:a16="http://schemas.microsoft.com/office/drawing/2014/main" id="{4677ADB5-5EBC-4BCD-8440-394FF2D023E5}"/>
              </a:ext>
            </a:extLst>
          </p:cNvPr>
          <p:cNvSpPr txBox="1">
            <a:spLocks noChangeArrowheads="1"/>
          </p:cNvSpPr>
          <p:nvPr/>
        </p:nvSpPr>
        <p:spPr bwMode="auto">
          <a:xfrm>
            <a:off x="6755600" y="4030251"/>
            <a:ext cx="2077338" cy="300082"/>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sv-SE" altLang="en-US" sz="1350" dirty="0"/>
              <a:t>F=15,43 </a:t>
            </a:r>
            <a:r>
              <a:rPr lang="sv-SE" altLang="en-US" sz="1350" dirty="0">
                <a:cs typeface="Arial" panose="020B0604020202020204" pitchFamily="34" charset="0"/>
              </a:rPr>
              <a:t>→ p &lt; 0.0001</a:t>
            </a:r>
          </a:p>
        </p:txBody>
      </p:sp>
    </p:spTree>
    <p:extLst>
      <p:ext uri="{BB962C8B-B14F-4D97-AF65-F5344CB8AC3E}">
        <p14:creationId xmlns:p14="http://schemas.microsoft.com/office/powerpoint/2010/main" val="5840346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Platshållare för innehåll 2"/>
          <p:cNvSpPr>
            <a:spLocks noGrp="1"/>
          </p:cNvSpPr>
          <p:nvPr>
            <p:ph idx="1"/>
          </p:nvPr>
        </p:nvSpPr>
        <p:spPr>
          <a:xfrm>
            <a:off x="971600" y="951570"/>
            <a:ext cx="7272808" cy="3132348"/>
          </a:xfrm>
        </p:spPr>
        <p:txBody>
          <a:bodyPr vert="horz" lIns="27000" tIns="0" rIns="27000" bIns="0" rtlCol="0">
            <a:noAutofit/>
          </a:bodyPr>
          <a:lstStyle/>
          <a:p>
            <a:pPr>
              <a:spcAft>
                <a:spcPts val="900"/>
              </a:spcAft>
            </a:pPr>
            <a:r>
              <a:rPr lang="en-US" sz="2200" dirty="0">
                <a:latin typeface="+mn-lt"/>
                <a:ea typeface="Verdana" panose="020B0604030504040204" pitchFamily="34" charset="0"/>
              </a:rPr>
              <a:t>What if I have a </a:t>
            </a:r>
            <a:r>
              <a:rPr lang="en-US" sz="2200" b="1" dirty="0">
                <a:solidFill>
                  <a:srgbClr val="002060"/>
                </a:solidFill>
                <a:latin typeface="+mn-lt"/>
                <a:ea typeface="Verdana" panose="020B0604030504040204" pitchFamily="34" charset="0"/>
              </a:rPr>
              <a:t>skewed</a:t>
            </a:r>
            <a:r>
              <a:rPr lang="en-US" sz="2200" dirty="0">
                <a:latin typeface="+mn-lt"/>
                <a:ea typeface="Verdana" panose="020B0604030504040204" pitchFamily="34" charset="0"/>
              </a:rPr>
              <a:t> distribution?</a:t>
            </a:r>
          </a:p>
          <a:p>
            <a:pPr>
              <a:spcAft>
                <a:spcPts val="900"/>
              </a:spcAft>
            </a:pPr>
            <a:r>
              <a:rPr lang="en-US" sz="2200" dirty="0">
                <a:latin typeface="+mn-lt"/>
                <a:ea typeface="Verdana" panose="020B0604030504040204" pitchFamily="34" charset="0"/>
              </a:rPr>
              <a:t>The assumptions for parametric tests are not met</a:t>
            </a:r>
          </a:p>
          <a:p>
            <a:pPr>
              <a:spcAft>
                <a:spcPts val="900"/>
              </a:spcAft>
            </a:pPr>
            <a:r>
              <a:rPr lang="en-US" sz="2200" dirty="0">
                <a:latin typeface="+mn-lt"/>
                <a:ea typeface="Verdana" panose="020B0604030504040204" pitchFamily="34" charset="0"/>
              </a:rPr>
              <a:t>What if the variable is not continuous, but is </a:t>
            </a:r>
            <a:r>
              <a:rPr lang="en-US" sz="2200" b="1" dirty="0">
                <a:solidFill>
                  <a:srgbClr val="002060"/>
                </a:solidFill>
                <a:latin typeface="+mn-lt"/>
                <a:ea typeface="Verdana" panose="020B0604030504040204" pitchFamily="34" charset="0"/>
              </a:rPr>
              <a:t>ordinal</a:t>
            </a:r>
            <a:r>
              <a:rPr lang="en-US" sz="2200" dirty="0">
                <a:latin typeface="+mn-lt"/>
                <a:ea typeface="Verdana" panose="020B0604030504040204" pitchFamily="34" charset="0"/>
              </a:rPr>
              <a:t>?</a:t>
            </a:r>
          </a:p>
          <a:p>
            <a:pPr marL="64294" lvl="1" indent="0">
              <a:spcBef>
                <a:spcPts val="0"/>
              </a:spcBef>
              <a:spcAft>
                <a:spcPts val="900"/>
              </a:spcAft>
              <a:buNone/>
            </a:pPr>
            <a:r>
              <a:rPr lang="en-US" sz="2200" dirty="0">
                <a:latin typeface="+mn-lt"/>
                <a:ea typeface="Verdana" panose="020B0604030504040204" pitchFamily="34" charset="0"/>
              </a:rPr>
              <a:t>In all these situations use</a:t>
            </a:r>
          </a:p>
          <a:p>
            <a:pPr marL="64294" lvl="1" indent="0" algn="ctr">
              <a:spcBef>
                <a:spcPts val="0"/>
              </a:spcBef>
              <a:spcAft>
                <a:spcPts val="900"/>
              </a:spcAft>
              <a:buNone/>
            </a:pPr>
            <a:r>
              <a:rPr lang="en-US" sz="2200" b="1" dirty="0">
                <a:solidFill>
                  <a:srgbClr val="002060"/>
                </a:solidFill>
                <a:latin typeface="+mn-lt"/>
                <a:ea typeface="Verdana" panose="020B0604030504040204" pitchFamily="34" charset="0"/>
              </a:rPr>
              <a:t>NON-PARAMETRIC</a:t>
            </a:r>
            <a:r>
              <a:rPr lang="en-US" sz="2200" dirty="0">
                <a:solidFill>
                  <a:srgbClr val="002060"/>
                </a:solidFill>
                <a:latin typeface="+mn-lt"/>
                <a:ea typeface="Verdana" panose="020B0604030504040204" pitchFamily="34" charset="0"/>
              </a:rPr>
              <a:t> TESTS!</a:t>
            </a:r>
          </a:p>
        </p:txBody>
      </p:sp>
      <p:sp>
        <p:nvSpPr>
          <p:cNvPr id="4" name="Platshållare för bildnummer 3"/>
          <p:cNvSpPr>
            <a:spLocks noGrp="1"/>
          </p:cNvSpPr>
          <p:nvPr>
            <p:ph type="sldNum" sz="quarter" idx="12"/>
          </p:nvPr>
        </p:nvSpPr>
        <p:spPr/>
        <p:txBody>
          <a:bodyPr/>
          <a:lstStyle/>
          <a:p>
            <a:pPr>
              <a:defRPr/>
            </a:pPr>
            <a:fld id="{16DFEED4-8269-4E9E-94F4-7AD1E9C38893}" type="slidenum">
              <a:rPr lang="sv-SE" smtClean="0">
                <a:solidFill>
                  <a:srgbClr val="000000">
                    <a:tint val="75000"/>
                  </a:srgbClr>
                </a:solidFill>
              </a:rPr>
              <a:pPr>
                <a:defRPr/>
              </a:pPr>
              <a:t>76</a:t>
            </a:fld>
            <a:endParaRPr lang="sv-SE">
              <a:solidFill>
                <a:srgbClr val="000000">
                  <a:tint val="75000"/>
                </a:srgbClr>
              </a:solidFill>
            </a:endParaRPr>
          </a:p>
        </p:txBody>
      </p:sp>
      <p:sp>
        <p:nvSpPr>
          <p:cNvPr id="6" name="Rubrik 1"/>
          <p:cNvSpPr txBox="1">
            <a:spLocks/>
          </p:cNvSpPr>
          <p:nvPr/>
        </p:nvSpPr>
        <p:spPr>
          <a:xfrm>
            <a:off x="2411760" y="118323"/>
            <a:ext cx="4608512" cy="723917"/>
          </a:xfrm>
          <a:prstGeom prst="rect">
            <a:avLst/>
          </a:prstGeom>
          <a:noFill/>
          <a:ln>
            <a:noFill/>
          </a:ln>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t>Non-parametric tests</a:t>
            </a:r>
          </a:p>
        </p:txBody>
      </p:sp>
    </p:spTree>
    <p:extLst>
      <p:ext uri="{BB962C8B-B14F-4D97-AF65-F5344CB8AC3E}">
        <p14:creationId xmlns:p14="http://schemas.microsoft.com/office/powerpoint/2010/main" val="1365837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Platshållare för innehåll 2"/>
          <p:cNvSpPr>
            <a:spLocks noGrp="1"/>
          </p:cNvSpPr>
          <p:nvPr>
            <p:ph idx="1"/>
          </p:nvPr>
        </p:nvSpPr>
        <p:spPr>
          <a:xfrm>
            <a:off x="971600" y="915590"/>
            <a:ext cx="7704856" cy="3726414"/>
          </a:xfrm>
        </p:spPr>
        <p:txBody>
          <a:bodyPr>
            <a:normAutofit lnSpcReduction="10000"/>
          </a:bodyPr>
          <a:lstStyle/>
          <a:p>
            <a:pPr>
              <a:lnSpc>
                <a:spcPct val="130000"/>
              </a:lnSpc>
              <a:spcBef>
                <a:spcPts val="450"/>
              </a:spcBef>
            </a:pPr>
            <a:r>
              <a:rPr lang="en-US" dirty="0">
                <a:latin typeface="+mn-lt"/>
                <a:ea typeface="Verdana" panose="020B0604030504040204" pitchFamily="34" charset="0"/>
              </a:rPr>
              <a:t>One group/ sample:  the </a:t>
            </a:r>
            <a:r>
              <a:rPr lang="en-US" b="1" dirty="0">
                <a:solidFill>
                  <a:srgbClr val="002060"/>
                </a:solidFill>
                <a:latin typeface="+mn-lt"/>
                <a:ea typeface="Verdana" panose="020B0604030504040204" pitchFamily="34" charset="0"/>
              </a:rPr>
              <a:t>Sign test</a:t>
            </a:r>
          </a:p>
          <a:p>
            <a:pPr>
              <a:lnSpc>
                <a:spcPct val="130000"/>
              </a:lnSpc>
              <a:spcBef>
                <a:spcPts val="450"/>
              </a:spcBef>
            </a:pPr>
            <a:r>
              <a:rPr lang="en-US" dirty="0">
                <a:latin typeface="+mn-lt"/>
                <a:ea typeface="Verdana" panose="020B0604030504040204" pitchFamily="34" charset="0"/>
              </a:rPr>
              <a:t>2 </a:t>
            </a:r>
            <a:r>
              <a:rPr lang="en-US" dirty="0">
                <a:solidFill>
                  <a:srgbClr val="002060"/>
                </a:solidFill>
                <a:latin typeface="+mn-lt"/>
                <a:ea typeface="Verdana" panose="020B0604030504040204" pitchFamily="34" charset="0"/>
              </a:rPr>
              <a:t>independent</a:t>
            </a:r>
            <a:r>
              <a:rPr lang="en-US" dirty="0">
                <a:latin typeface="+mn-lt"/>
                <a:ea typeface="Verdana" panose="020B0604030504040204" pitchFamily="34" charset="0"/>
              </a:rPr>
              <a:t> groups:  </a:t>
            </a:r>
            <a:r>
              <a:rPr lang="en-US" b="1" dirty="0">
                <a:solidFill>
                  <a:srgbClr val="002060"/>
                </a:solidFill>
                <a:latin typeface="+mn-lt"/>
                <a:ea typeface="Verdana" panose="020B0604030504040204" pitchFamily="34" charset="0"/>
              </a:rPr>
              <a:t>Mann-Whitney U test</a:t>
            </a:r>
          </a:p>
          <a:p>
            <a:pPr lvl="1">
              <a:lnSpc>
                <a:spcPct val="130000"/>
              </a:lnSpc>
              <a:spcBef>
                <a:spcPts val="450"/>
              </a:spcBef>
            </a:pPr>
            <a:r>
              <a:rPr lang="en-US" sz="1800" dirty="0">
                <a:solidFill>
                  <a:srgbClr val="002060"/>
                </a:solidFill>
                <a:latin typeface="+mn-lt"/>
                <a:ea typeface="Verdana" panose="020B0604030504040204" pitchFamily="34" charset="0"/>
              </a:rPr>
              <a:t>Physically active </a:t>
            </a:r>
            <a:r>
              <a:rPr lang="en-US" sz="1800" dirty="0">
                <a:latin typeface="+mn-lt"/>
                <a:ea typeface="Verdana" panose="020B0604030504040204" pitchFamily="34" charset="0"/>
              </a:rPr>
              <a:t>vs </a:t>
            </a:r>
            <a:r>
              <a:rPr lang="en-US" sz="1800" dirty="0">
                <a:solidFill>
                  <a:srgbClr val="002060"/>
                </a:solidFill>
                <a:latin typeface="+mn-lt"/>
                <a:ea typeface="Verdana" panose="020B0604030504040204" pitchFamily="34" charset="0"/>
              </a:rPr>
              <a:t>Physically not-active </a:t>
            </a:r>
            <a:r>
              <a:rPr lang="en-US" sz="1800" dirty="0">
                <a:solidFill>
                  <a:schemeClr val="tx1"/>
                </a:solidFill>
                <a:latin typeface="+mn-lt"/>
                <a:ea typeface="Verdana" panose="020B0604030504040204" pitchFamily="34" charset="0"/>
              </a:rPr>
              <a:t>people</a:t>
            </a:r>
          </a:p>
          <a:p>
            <a:pPr lvl="1">
              <a:lnSpc>
                <a:spcPct val="130000"/>
              </a:lnSpc>
              <a:spcBef>
                <a:spcPts val="450"/>
              </a:spcBef>
            </a:pPr>
            <a:r>
              <a:rPr lang="en-US" sz="1800" dirty="0">
                <a:solidFill>
                  <a:srgbClr val="002060"/>
                </a:solidFill>
                <a:latin typeface="+mn-lt"/>
                <a:ea typeface="Verdana" panose="020B0604030504040204" pitchFamily="34" charset="0"/>
              </a:rPr>
              <a:t>Intervention</a:t>
            </a:r>
            <a:r>
              <a:rPr lang="en-US" sz="1800" dirty="0">
                <a:latin typeface="+mn-lt"/>
                <a:ea typeface="Verdana" panose="020B0604030504040204" pitchFamily="34" charset="0"/>
              </a:rPr>
              <a:t> vs </a:t>
            </a:r>
            <a:r>
              <a:rPr lang="en-US" sz="1800" dirty="0">
                <a:solidFill>
                  <a:srgbClr val="002060"/>
                </a:solidFill>
                <a:latin typeface="+mn-lt"/>
                <a:ea typeface="Verdana" panose="020B0604030504040204" pitchFamily="34" charset="0"/>
              </a:rPr>
              <a:t>non-intervention</a:t>
            </a:r>
            <a:r>
              <a:rPr lang="en-US" sz="1800" dirty="0">
                <a:latin typeface="+mn-lt"/>
                <a:ea typeface="Verdana" panose="020B0604030504040204" pitchFamily="34" charset="0"/>
              </a:rPr>
              <a:t> group </a:t>
            </a:r>
          </a:p>
          <a:p>
            <a:pPr marL="342900" lvl="1" indent="0">
              <a:lnSpc>
                <a:spcPct val="130000"/>
              </a:lnSpc>
              <a:spcBef>
                <a:spcPts val="450"/>
              </a:spcBef>
              <a:buNone/>
            </a:pPr>
            <a:r>
              <a:rPr lang="en-US" sz="1800" dirty="0">
                <a:latin typeface="+mn-lt"/>
                <a:ea typeface="Verdana" panose="020B0604030504040204" pitchFamily="34" charset="0"/>
              </a:rPr>
              <a:t>Note: You don’t need to have the same number of observations in both groups!</a:t>
            </a:r>
          </a:p>
          <a:p>
            <a:pPr>
              <a:lnSpc>
                <a:spcPct val="130000"/>
              </a:lnSpc>
              <a:spcBef>
                <a:spcPts val="450"/>
              </a:spcBef>
            </a:pPr>
            <a:r>
              <a:rPr lang="en-US" dirty="0">
                <a:solidFill>
                  <a:srgbClr val="002060"/>
                </a:solidFill>
                <a:latin typeface="+mn-lt"/>
                <a:ea typeface="Verdana" panose="020B0604030504040204" pitchFamily="34" charset="0"/>
              </a:rPr>
              <a:t>Paired</a:t>
            </a:r>
            <a:r>
              <a:rPr lang="en-US" dirty="0">
                <a:latin typeface="+mn-lt"/>
                <a:ea typeface="Verdana" panose="020B0604030504040204" pitchFamily="34" charset="0"/>
              </a:rPr>
              <a:t> observations:  </a:t>
            </a:r>
            <a:r>
              <a:rPr lang="en-US" b="1" dirty="0">
                <a:solidFill>
                  <a:srgbClr val="002060"/>
                </a:solidFill>
                <a:latin typeface="+mn-lt"/>
                <a:ea typeface="Verdana" panose="020B0604030504040204" pitchFamily="34" charset="0"/>
              </a:rPr>
              <a:t>Wilcoxon signed rank test</a:t>
            </a:r>
          </a:p>
          <a:p>
            <a:pPr lvl="1">
              <a:lnSpc>
                <a:spcPct val="130000"/>
              </a:lnSpc>
              <a:spcBef>
                <a:spcPts val="450"/>
              </a:spcBef>
            </a:pPr>
            <a:r>
              <a:rPr lang="en-US" sz="1800" dirty="0">
                <a:latin typeface="+mn-lt"/>
                <a:ea typeface="Verdana" panose="020B0604030504040204" pitchFamily="34" charset="0"/>
              </a:rPr>
              <a:t>Matched case-control data</a:t>
            </a:r>
          </a:p>
          <a:p>
            <a:pPr lvl="1">
              <a:lnSpc>
                <a:spcPct val="130000"/>
              </a:lnSpc>
              <a:spcBef>
                <a:spcPts val="450"/>
              </a:spcBef>
            </a:pPr>
            <a:r>
              <a:rPr lang="en-US" sz="1800" dirty="0">
                <a:latin typeface="+mn-lt"/>
                <a:ea typeface="Verdana" panose="020B0604030504040204" pitchFamily="34" charset="0"/>
              </a:rPr>
              <a:t>Same group before and after an event</a:t>
            </a: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77</a:t>
            </a:fld>
            <a:endParaRPr lang="sv-SE">
              <a:solidFill>
                <a:srgbClr val="000000">
                  <a:tint val="75000"/>
                </a:srgbClr>
              </a:solidFill>
            </a:endParaRPr>
          </a:p>
        </p:txBody>
      </p:sp>
      <p:sp>
        <p:nvSpPr>
          <p:cNvPr id="4" name="Rubrik 1"/>
          <p:cNvSpPr txBox="1">
            <a:spLocks/>
          </p:cNvSpPr>
          <p:nvPr/>
        </p:nvSpPr>
        <p:spPr>
          <a:xfrm>
            <a:off x="1259632" y="213296"/>
            <a:ext cx="6336704" cy="432048"/>
          </a:xfrm>
          <a:prstGeom prst="rect">
            <a:avLst/>
          </a:prstGeom>
          <a:noFill/>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900"/>
              </a:spcBef>
            </a:pPr>
            <a:r>
              <a:rPr lang="en-US" sz="3600" b="1" cap="small" dirty="0"/>
              <a:t>More non-parametric tests </a:t>
            </a:r>
          </a:p>
        </p:txBody>
      </p:sp>
    </p:spTree>
    <p:extLst>
      <p:ext uri="{BB962C8B-B14F-4D97-AF65-F5344CB8AC3E}">
        <p14:creationId xmlns:p14="http://schemas.microsoft.com/office/powerpoint/2010/main" val="4283899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 3"/>
          <p:cNvGrpSpPr/>
          <p:nvPr/>
        </p:nvGrpSpPr>
        <p:grpSpPr>
          <a:xfrm>
            <a:off x="1942085" y="1707655"/>
            <a:ext cx="4914546" cy="2821758"/>
            <a:chOff x="611560" y="2301648"/>
            <a:chExt cx="6043379" cy="3618475"/>
          </a:xfrm>
        </p:grpSpPr>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0249" b="8342"/>
            <a:stretch/>
          </p:blipFill>
          <p:spPr bwMode="auto">
            <a:xfrm>
              <a:off x="611560" y="2301648"/>
              <a:ext cx="6043379" cy="3308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ruta 1"/>
            <p:cNvSpPr txBox="1"/>
            <p:nvPr/>
          </p:nvSpPr>
          <p:spPr>
            <a:xfrm>
              <a:off x="3112790" y="5579715"/>
              <a:ext cx="1512169" cy="340408"/>
            </a:xfrm>
            <a:prstGeom prst="rect">
              <a:avLst/>
            </a:prstGeom>
            <a:noFill/>
          </p:spPr>
          <p:txBody>
            <a:bodyPr wrap="square" rtlCol="0">
              <a:spAutoFit/>
            </a:bodyPr>
            <a:lstStyle/>
            <a:p>
              <a:pPr algn="ctr"/>
              <a:r>
                <a:rPr lang="sv-SE" sz="1125" b="1" dirty="0">
                  <a:solidFill>
                    <a:srgbClr val="000000"/>
                  </a:solidFill>
                  <a:latin typeface="Calibri"/>
                </a:rPr>
                <a:t>Estimated GFR</a:t>
              </a:r>
            </a:p>
          </p:txBody>
        </p:sp>
      </p:grpSp>
      <p:sp>
        <p:nvSpPr>
          <p:cNvPr id="6" name="Rubrik 1"/>
          <p:cNvSpPr txBox="1">
            <a:spLocks/>
          </p:cNvSpPr>
          <p:nvPr/>
        </p:nvSpPr>
        <p:spPr>
          <a:xfrm>
            <a:off x="1043608" y="-20538"/>
            <a:ext cx="7704855" cy="643901"/>
          </a:xfrm>
          <a:prstGeom prst="rect">
            <a:avLst/>
          </a:prstGeom>
          <a:noFill/>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Bef>
                <a:spcPts val="1350"/>
              </a:spcBef>
            </a:pPr>
            <a:r>
              <a:rPr lang="en-US" sz="2800" b="1" cap="small" dirty="0">
                <a:solidFill>
                  <a:sysClr val="windowText" lastClr="000000"/>
                </a:solidFill>
              </a:rPr>
              <a:t>Example: Two methods for estimating renal function </a:t>
            </a:r>
          </a:p>
        </p:txBody>
      </p:sp>
      <p:sp>
        <p:nvSpPr>
          <p:cNvPr id="7" name="TextBox 6"/>
          <p:cNvSpPr txBox="1"/>
          <p:nvPr/>
        </p:nvSpPr>
        <p:spPr>
          <a:xfrm>
            <a:off x="179512" y="623363"/>
            <a:ext cx="8703231" cy="987450"/>
          </a:xfrm>
          <a:prstGeom prst="rect">
            <a:avLst/>
          </a:prstGeom>
          <a:noFill/>
        </p:spPr>
        <p:txBody>
          <a:bodyPr wrap="square" rtlCol="0">
            <a:spAutoFit/>
          </a:bodyPr>
          <a:lstStyle/>
          <a:p>
            <a:pPr>
              <a:spcAft>
                <a:spcPts val="450"/>
              </a:spcAft>
            </a:pPr>
            <a:r>
              <a:rPr lang="en-US" b="1" dirty="0">
                <a:solidFill>
                  <a:srgbClr val="000000"/>
                </a:solidFill>
                <a:latin typeface="+mn-lt"/>
                <a:ea typeface="Verdana" panose="020B0604030504040204" pitchFamily="34" charset="0"/>
              </a:rPr>
              <a:t>The problem</a:t>
            </a:r>
            <a:r>
              <a:rPr lang="en-US" dirty="0">
                <a:solidFill>
                  <a:srgbClr val="000000"/>
                </a:solidFill>
                <a:latin typeface="+mn-lt"/>
                <a:ea typeface="Verdana" panose="020B0604030504040204" pitchFamily="34" charset="0"/>
              </a:rPr>
              <a:t>: A study of two methods for estimating the renal function (GFR): creatinine and cystatin C, including n=16 children.</a:t>
            </a:r>
          </a:p>
          <a:p>
            <a:r>
              <a:rPr lang="en-US" dirty="0">
                <a:solidFill>
                  <a:srgbClr val="000000"/>
                </a:solidFill>
                <a:latin typeface="+mn-lt"/>
                <a:ea typeface="Verdana" panose="020B0604030504040204" pitchFamily="34" charset="0"/>
              </a:rPr>
              <a:t> Is there evidence that the two methods result in a different conclusion regarding GFR?  </a:t>
            </a:r>
          </a:p>
        </p:txBody>
      </p:sp>
      <p:sp>
        <p:nvSpPr>
          <p:cNvPr id="3" name="TextBox 2"/>
          <p:cNvSpPr txBox="1"/>
          <p:nvPr/>
        </p:nvSpPr>
        <p:spPr>
          <a:xfrm>
            <a:off x="179512" y="4461960"/>
            <a:ext cx="8816568" cy="323165"/>
          </a:xfrm>
          <a:prstGeom prst="rect">
            <a:avLst/>
          </a:prstGeom>
          <a:noFill/>
        </p:spPr>
        <p:txBody>
          <a:bodyPr wrap="square" rtlCol="0">
            <a:spAutoFit/>
          </a:bodyPr>
          <a:lstStyle/>
          <a:p>
            <a:pPr>
              <a:spcAft>
                <a:spcPts val="450"/>
              </a:spcAft>
            </a:pPr>
            <a:r>
              <a:rPr lang="en-US" sz="1500" dirty="0">
                <a:solidFill>
                  <a:srgbClr val="000000"/>
                </a:solidFill>
                <a:latin typeface="+mn-lt"/>
                <a:ea typeface="Verdana" panose="020B0604030504040204" pitchFamily="34" charset="0"/>
              </a:rPr>
              <a:t>Higher values (for both creatinine and cystatin C) associate with worse renal function</a:t>
            </a:r>
          </a:p>
        </p:txBody>
      </p:sp>
      <p:sp>
        <p:nvSpPr>
          <p:cNvPr id="5" name="Platshållare för bildnummer 4"/>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78</a:t>
            </a:fld>
            <a:endParaRPr lang="sv-SE">
              <a:solidFill>
                <a:srgbClr val="000000">
                  <a:tint val="75000"/>
                </a:srgbClr>
              </a:solidFill>
            </a:endParaRPr>
          </a:p>
        </p:txBody>
      </p:sp>
    </p:spTree>
    <p:extLst>
      <p:ext uri="{BB962C8B-B14F-4D97-AF65-F5344CB8AC3E}">
        <p14:creationId xmlns:p14="http://schemas.microsoft.com/office/powerpoint/2010/main" val="37783008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ell 11"/>
          <p:cNvGraphicFramePr>
            <a:graphicFrameLocks noGrp="1"/>
          </p:cNvGraphicFramePr>
          <p:nvPr>
            <p:extLst>
              <p:ext uri="{D42A27DB-BD31-4B8C-83A1-F6EECF244321}">
                <p14:modId xmlns:p14="http://schemas.microsoft.com/office/powerpoint/2010/main" val="1125386490"/>
              </p:ext>
            </p:extLst>
          </p:nvPr>
        </p:nvGraphicFramePr>
        <p:xfrm>
          <a:off x="899592" y="195486"/>
          <a:ext cx="7272806" cy="2204793"/>
        </p:xfrm>
        <a:graphic>
          <a:graphicData uri="http://schemas.openxmlformats.org/drawingml/2006/table">
            <a:tbl>
              <a:tblPr firstRow="1">
                <a:tableStyleId>{5C22544A-7EE6-4342-B048-85BDC9FD1C3A}</a:tableStyleId>
              </a:tblPr>
              <a:tblGrid>
                <a:gridCol w="2163810">
                  <a:extLst>
                    <a:ext uri="{9D8B030D-6E8A-4147-A177-3AD203B41FA5}">
                      <a16:colId xmlns:a16="http://schemas.microsoft.com/office/drawing/2014/main" val="20000"/>
                    </a:ext>
                  </a:extLst>
                </a:gridCol>
                <a:gridCol w="2554498">
                  <a:extLst>
                    <a:ext uri="{9D8B030D-6E8A-4147-A177-3AD203B41FA5}">
                      <a16:colId xmlns:a16="http://schemas.microsoft.com/office/drawing/2014/main" val="20001"/>
                    </a:ext>
                  </a:extLst>
                </a:gridCol>
                <a:gridCol w="2554498">
                  <a:extLst>
                    <a:ext uri="{9D8B030D-6E8A-4147-A177-3AD203B41FA5}">
                      <a16:colId xmlns:a16="http://schemas.microsoft.com/office/drawing/2014/main" val="20002"/>
                    </a:ext>
                  </a:extLst>
                </a:gridCol>
              </a:tblGrid>
              <a:tr h="371413">
                <a:tc gridSpan="3">
                  <a:txBody>
                    <a:bodyPr/>
                    <a:lstStyle/>
                    <a:p>
                      <a:pPr algn="ctr" fontAlgn="b"/>
                      <a:r>
                        <a:rPr lang="en-US" sz="2400" b="1" u="none" strike="noStrike" dirty="0">
                          <a:effectLst/>
                          <a:latin typeface="+mj-lt"/>
                        </a:rPr>
                        <a:t>GFR (mL/min per 1.73 m</a:t>
                      </a:r>
                      <a:r>
                        <a:rPr lang="en-US" sz="2400" b="1" u="none" strike="noStrike" baseline="30000" dirty="0">
                          <a:effectLst/>
                          <a:latin typeface="+mj-lt"/>
                        </a:rPr>
                        <a:t>2</a:t>
                      </a:r>
                      <a:r>
                        <a:rPr lang="en-US" sz="2400" b="1" u="none" strike="noStrike" dirty="0">
                          <a:effectLst/>
                          <a:latin typeface="+mj-lt"/>
                        </a:rPr>
                        <a:t>) </a:t>
                      </a:r>
                      <a:endParaRPr lang="en-US" sz="2400" b="1" i="0" u="none" strike="noStrike" dirty="0">
                        <a:solidFill>
                          <a:srgbClr val="000000"/>
                        </a:solidFill>
                        <a:effectLst/>
                        <a:latin typeface="+mj-lt"/>
                      </a:endParaRPr>
                    </a:p>
                  </a:txBody>
                  <a:tcPr marL="54000" marR="27000" marT="27000" marB="27000" anchor="ctr"/>
                </a:tc>
                <a:tc hMerge="1">
                  <a:txBody>
                    <a:bodyPr/>
                    <a:lstStyle/>
                    <a:p>
                      <a:pPr algn="ctr" fontAlgn="b"/>
                      <a:endParaRPr lang="en-US" sz="1800" b="0" i="0" u="none" strike="noStrike" dirty="0">
                        <a:solidFill>
                          <a:srgbClr val="000000"/>
                        </a:solidFill>
                        <a:effectLst/>
                        <a:latin typeface="Calibri"/>
                      </a:endParaRPr>
                    </a:p>
                  </a:txBody>
                  <a:tcPr marL="54000" marR="27000" marT="27000" marB="27000" anchor="ctr"/>
                </a:tc>
                <a:tc hMerge="1">
                  <a:txBody>
                    <a:bodyPr/>
                    <a:lstStyle/>
                    <a:p>
                      <a:pPr algn="l" fontAlgn="b"/>
                      <a:endParaRPr lang="en-US" sz="1200" b="0" i="0" u="none" strike="noStrike" dirty="0">
                        <a:solidFill>
                          <a:srgbClr val="000000"/>
                        </a:solidFill>
                        <a:effectLst/>
                        <a:latin typeface="+mn-lt"/>
                      </a:endParaRPr>
                    </a:p>
                  </a:txBody>
                  <a:tcPr marL="72000" marR="36000" marT="36000" marB="36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00"/>
                  </a:ext>
                </a:extLst>
              </a:tr>
              <a:tr h="371413">
                <a:tc>
                  <a:txBody>
                    <a:bodyPr/>
                    <a:lstStyle/>
                    <a:p>
                      <a:pPr algn="l" fontAlgn="b"/>
                      <a:endParaRPr lang="sv-SE" sz="2000" b="1" i="0" u="none" strike="noStrike" dirty="0">
                        <a:solidFill>
                          <a:srgbClr val="000000"/>
                        </a:solidFill>
                        <a:effectLst/>
                        <a:latin typeface="+mj-lt"/>
                      </a:endParaRPr>
                    </a:p>
                  </a:txBody>
                  <a:tcPr marL="54000" marR="27000" marT="27000" marB="27000" anchor="ctr"/>
                </a:tc>
                <a:tc>
                  <a:txBody>
                    <a:bodyPr/>
                    <a:lstStyle/>
                    <a:p>
                      <a:pPr algn="l" fontAlgn="b"/>
                      <a:r>
                        <a:rPr lang="en-US" sz="2000" b="1" u="none" strike="noStrike" dirty="0">
                          <a:effectLst/>
                          <a:latin typeface="+mj-lt"/>
                        </a:rPr>
                        <a:t>Creatinine formula</a:t>
                      </a:r>
                      <a:endParaRPr lang="en-US" sz="2000" b="1" i="0" u="none" strike="noStrike" dirty="0">
                        <a:solidFill>
                          <a:schemeClr val="bg1"/>
                        </a:solidFill>
                        <a:effectLst/>
                        <a:latin typeface="+mj-lt"/>
                      </a:endParaRPr>
                    </a:p>
                  </a:txBody>
                  <a:tcPr marL="54000" marR="27000" marT="27000" marB="27000" anchor="ctr"/>
                </a:tc>
                <a:tc>
                  <a:txBody>
                    <a:bodyPr/>
                    <a:lstStyle/>
                    <a:p>
                      <a:pPr algn="l" fontAlgn="b"/>
                      <a:r>
                        <a:rPr lang="en-US" sz="2000" b="1" u="none" strike="noStrike" dirty="0">
                          <a:effectLst/>
                          <a:latin typeface="+mj-lt"/>
                        </a:rPr>
                        <a:t>Cystatin C formula</a:t>
                      </a:r>
                      <a:endParaRPr lang="en-US" sz="2000" b="1" i="0" u="none" strike="noStrike" dirty="0">
                        <a:solidFill>
                          <a:schemeClr val="bg1"/>
                        </a:solidFill>
                        <a:effectLst/>
                        <a:latin typeface="+mj-lt"/>
                      </a:endParaRPr>
                    </a:p>
                  </a:txBody>
                  <a:tcPr marL="54000" marR="27000" marT="27000" marB="27000" anchor="ctr"/>
                </a:tc>
                <a:extLst>
                  <a:ext uri="{0D108BD9-81ED-4DB2-BD59-A6C34878D82A}">
                    <a16:rowId xmlns:a16="http://schemas.microsoft.com/office/drawing/2014/main" val="10001"/>
                  </a:ext>
                </a:extLst>
              </a:tr>
              <a:tr h="353405">
                <a:tc>
                  <a:txBody>
                    <a:bodyPr/>
                    <a:lstStyle/>
                    <a:p>
                      <a:pPr algn="l" fontAlgn="b"/>
                      <a:r>
                        <a:rPr lang="en-US" sz="1800" b="1" u="none" strike="noStrike" noProof="0" dirty="0">
                          <a:effectLst/>
                        </a:rPr>
                        <a:t>Mean</a:t>
                      </a:r>
                      <a:endParaRPr lang="en-US" sz="1800" b="1" i="0" u="none" strike="noStrike" noProof="0" dirty="0">
                        <a:solidFill>
                          <a:srgbClr val="000000"/>
                        </a:solidFill>
                        <a:effectLst/>
                        <a:latin typeface="Calibri"/>
                      </a:endParaRPr>
                    </a:p>
                  </a:txBody>
                  <a:tcPr marL="54000" marR="27000" marT="27000" marB="27000" anchor="ctr"/>
                </a:tc>
                <a:tc>
                  <a:txBody>
                    <a:bodyPr/>
                    <a:lstStyle/>
                    <a:p>
                      <a:pPr algn="l" fontAlgn="b"/>
                      <a:r>
                        <a:rPr lang="sv-SE" sz="1800" u="none" strike="noStrike" dirty="0">
                          <a:effectLst/>
                        </a:rPr>
                        <a:t>78</a:t>
                      </a:r>
                      <a:endParaRPr lang="sv-SE" sz="1800" b="0" i="0" u="none" strike="noStrike" dirty="0">
                        <a:solidFill>
                          <a:srgbClr val="000000"/>
                        </a:solidFill>
                        <a:effectLst/>
                        <a:latin typeface="Arial" pitchFamily="34" charset="0"/>
                        <a:cs typeface="Arial" pitchFamily="34" charset="0"/>
                      </a:endParaRPr>
                    </a:p>
                  </a:txBody>
                  <a:tcPr marL="54000" marR="27000" marT="27000" marB="27000" anchor="ctr"/>
                </a:tc>
                <a:tc>
                  <a:txBody>
                    <a:bodyPr/>
                    <a:lstStyle/>
                    <a:p>
                      <a:pPr algn="l" fontAlgn="b"/>
                      <a:r>
                        <a:rPr lang="sv-SE" sz="1800" u="none" strike="noStrike" dirty="0">
                          <a:effectLst/>
                        </a:rPr>
                        <a:t>106</a:t>
                      </a:r>
                      <a:endParaRPr lang="sv-SE" sz="1800" b="0" i="0" u="none" strike="noStrike" dirty="0">
                        <a:solidFill>
                          <a:srgbClr val="000000"/>
                        </a:solidFill>
                        <a:effectLst/>
                        <a:latin typeface="Arial" pitchFamily="34" charset="0"/>
                        <a:cs typeface="Arial" pitchFamily="34" charset="0"/>
                      </a:endParaRPr>
                    </a:p>
                  </a:txBody>
                  <a:tcPr marL="54000" marR="27000" marT="27000" marB="27000" anchor="ctr"/>
                </a:tc>
                <a:extLst>
                  <a:ext uri="{0D108BD9-81ED-4DB2-BD59-A6C34878D82A}">
                    <a16:rowId xmlns:a16="http://schemas.microsoft.com/office/drawing/2014/main" val="10002"/>
                  </a:ext>
                </a:extLst>
              </a:tr>
              <a:tr h="353405">
                <a:tc>
                  <a:txBody>
                    <a:bodyPr/>
                    <a:lstStyle/>
                    <a:p>
                      <a:pPr algn="l" fontAlgn="b"/>
                      <a:r>
                        <a:rPr lang="sv-SE" sz="1800" b="1" u="none" strike="noStrike" dirty="0">
                          <a:effectLst/>
                        </a:rPr>
                        <a:t>Median</a:t>
                      </a:r>
                      <a:endParaRPr lang="sv-SE" sz="1800" b="1" i="0" u="none" strike="noStrike" dirty="0">
                        <a:solidFill>
                          <a:srgbClr val="000000"/>
                        </a:solidFill>
                        <a:effectLst/>
                        <a:latin typeface="Calibri"/>
                      </a:endParaRPr>
                    </a:p>
                  </a:txBody>
                  <a:tcPr marL="54000" marR="27000" marT="27000" marB="27000" anchor="ctr"/>
                </a:tc>
                <a:tc>
                  <a:txBody>
                    <a:bodyPr/>
                    <a:lstStyle/>
                    <a:p>
                      <a:pPr algn="l" fontAlgn="b"/>
                      <a:r>
                        <a:rPr lang="sv-SE" sz="1800" u="none" strike="noStrike" dirty="0">
                          <a:effectLst/>
                        </a:rPr>
                        <a:t>70</a:t>
                      </a:r>
                      <a:endParaRPr lang="sv-SE" sz="1800" b="0" i="0" u="none" strike="noStrike" dirty="0">
                        <a:solidFill>
                          <a:srgbClr val="000000"/>
                        </a:solidFill>
                        <a:effectLst/>
                        <a:latin typeface="Arial" pitchFamily="34" charset="0"/>
                        <a:cs typeface="Arial" pitchFamily="34" charset="0"/>
                      </a:endParaRPr>
                    </a:p>
                  </a:txBody>
                  <a:tcPr marL="54000" marR="27000" marT="27000" marB="27000" anchor="ctr"/>
                </a:tc>
                <a:tc>
                  <a:txBody>
                    <a:bodyPr/>
                    <a:lstStyle/>
                    <a:p>
                      <a:pPr algn="l" fontAlgn="b"/>
                      <a:r>
                        <a:rPr lang="sv-SE" sz="1800" u="none" strike="noStrike" dirty="0">
                          <a:effectLst/>
                        </a:rPr>
                        <a:t>105</a:t>
                      </a:r>
                      <a:endParaRPr lang="sv-SE" sz="1800" b="0" i="0" u="none" strike="noStrike" dirty="0">
                        <a:solidFill>
                          <a:srgbClr val="000000"/>
                        </a:solidFill>
                        <a:effectLst/>
                        <a:latin typeface="Arial" pitchFamily="34" charset="0"/>
                        <a:cs typeface="Arial" pitchFamily="34" charset="0"/>
                      </a:endParaRPr>
                    </a:p>
                  </a:txBody>
                  <a:tcPr marL="54000" marR="27000" marT="27000" marB="27000" anchor="ctr"/>
                </a:tc>
                <a:extLst>
                  <a:ext uri="{0D108BD9-81ED-4DB2-BD59-A6C34878D82A}">
                    <a16:rowId xmlns:a16="http://schemas.microsoft.com/office/drawing/2014/main" val="10003"/>
                  </a:ext>
                </a:extLst>
              </a:tr>
              <a:tr h="353405">
                <a:tc>
                  <a:txBody>
                    <a:bodyPr/>
                    <a:lstStyle/>
                    <a:p>
                      <a:pPr algn="l" fontAlgn="b"/>
                      <a:r>
                        <a:rPr lang="sv-SE" sz="1800" b="1" u="none" strike="noStrike" dirty="0">
                          <a:effectLst/>
                        </a:rPr>
                        <a:t>Standard Deviation</a:t>
                      </a:r>
                      <a:endParaRPr lang="sv-SE" sz="1800" b="1" i="0" u="none" strike="noStrike" dirty="0">
                        <a:solidFill>
                          <a:srgbClr val="000000"/>
                        </a:solidFill>
                        <a:effectLst/>
                        <a:latin typeface="Calibri"/>
                      </a:endParaRPr>
                    </a:p>
                  </a:txBody>
                  <a:tcPr marL="54000" marR="27000" marT="27000" marB="27000" anchor="ctr"/>
                </a:tc>
                <a:tc>
                  <a:txBody>
                    <a:bodyPr/>
                    <a:lstStyle/>
                    <a:p>
                      <a:pPr algn="l" fontAlgn="b"/>
                      <a:r>
                        <a:rPr lang="sv-SE" sz="1800" u="none" strike="noStrike" dirty="0">
                          <a:effectLst/>
                        </a:rPr>
                        <a:t>27</a:t>
                      </a:r>
                      <a:endParaRPr lang="sv-SE" sz="1800" b="0" i="0" u="none" strike="noStrike" dirty="0">
                        <a:solidFill>
                          <a:srgbClr val="000000"/>
                        </a:solidFill>
                        <a:effectLst/>
                        <a:latin typeface="Arial" pitchFamily="34" charset="0"/>
                        <a:cs typeface="Arial" pitchFamily="34" charset="0"/>
                      </a:endParaRPr>
                    </a:p>
                  </a:txBody>
                  <a:tcPr marL="54000" marR="27000" marT="27000" marB="27000" anchor="ctr"/>
                </a:tc>
                <a:tc>
                  <a:txBody>
                    <a:bodyPr/>
                    <a:lstStyle/>
                    <a:p>
                      <a:pPr algn="l" fontAlgn="b"/>
                      <a:r>
                        <a:rPr lang="sv-SE" sz="1800" u="none" strike="noStrike" dirty="0">
                          <a:effectLst/>
                        </a:rPr>
                        <a:t>36</a:t>
                      </a:r>
                      <a:endParaRPr lang="sv-SE" sz="1800" b="0" i="0" u="none" strike="noStrike" dirty="0">
                        <a:solidFill>
                          <a:srgbClr val="000000"/>
                        </a:solidFill>
                        <a:effectLst/>
                        <a:latin typeface="Arial" pitchFamily="34" charset="0"/>
                        <a:cs typeface="Arial" pitchFamily="34" charset="0"/>
                      </a:endParaRPr>
                    </a:p>
                  </a:txBody>
                  <a:tcPr marL="54000" marR="27000" marT="27000" marB="27000" anchor="ctr"/>
                </a:tc>
                <a:extLst>
                  <a:ext uri="{0D108BD9-81ED-4DB2-BD59-A6C34878D82A}">
                    <a16:rowId xmlns:a16="http://schemas.microsoft.com/office/drawing/2014/main" val="10004"/>
                  </a:ext>
                </a:extLst>
              </a:tr>
              <a:tr h="353405">
                <a:tc>
                  <a:txBody>
                    <a:bodyPr/>
                    <a:lstStyle/>
                    <a:p>
                      <a:pPr algn="l" fontAlgn="b"/>
                      <a:r>
                        <a:rPr lang="sv-SE" sz="1800" b="1" u="none" strike="noStrike" dirty="0">
                          <a:effectLst/>
                        </a:rPr>
                        <a:t>Min − max</a:t>
                      </a:r>
                      <a:endParaRPr lang="sv-SE" sz="1800" b="1" i="0" u="none" strike="noStrike" dirty="0">
                        <a:solidFill>
                          <a:srgbClr val="000000"/>
                        </a:solidFill>
                        <a:effectLst/>
                        <a:latin typeface="Calibri"/>
                      </a:endParaRPr>
                    </a:p>
                  </a:txBody>
                  <a:tcPr marL="54000" marR="27000" marT="27000" marB="27000" anchor="ctr"/>
                </a:tc>
                <a:tc>
                  <a:txBody>
                    <a:bodyPr/>
                    <a:lstStyle/>
                    <a:p>
                      <a:pPr algn="l" fontAlgn="b"/>
                      <a:r>
                        <a:rPr lang="sv-SE" sz="1800" u="none" strike="noStrike" dirty="0">
                          <a:effectLst/>
                        </a:rPr>
                        <a:t>44 − 126</a:t>
                      </a:r>
                      <a:endParaRPr lang="sv-SE" sz="1800" b="0" i="0" u="none" strike="noStrike" dirty="0">
                        <a:solidFill>
                          <a:srgbClr val="000000"/>
                        </a:solidFill>
                        <a:effectLst/>
                        <a:latin typeface="Arial" pitchFamily="34" charset="0"/>
                        <a:cs typeface="Arial" pitchFamily="34" charset="0"/>
                      </a:endParaRPr>
                    </a:p>
                  </a:txBody>
                  <a:tcPr marL="54000" marR="27000" marT="27000" marB="27000" anchor="ctr"/>
                </a:tc>
                <a:tc>
                  <a:txBody>
                    <a:bodyPr/>
                    <a:lstStyle/>
                    <a:p>
                      <a:pPr algn="l" fontAlgn="b"/>
                      <a:r>
                        <a:rPr lang="sv-SE" sz="1800" u="none" strike="noStrike" dirty="0">
                          <a:effectLst/>
                        </a:rPr>
                        <a:t>52 − 180</a:t>
                      </a:r>
                      <a:endParaRPr lang="sv-SE" sz="1800" b="0" i="0" u="none" strike="noStrike" dirty="0">
                        <a:solidFill>
                          <a:srgbClr val="000000"/>
                        </a:solidFill>
                        <a:effectLst/>
                        <a:latin typeface="Arial" pitchFamily="34" charset="0"/>
                        <a:cs typeface="Arial" pitchFamily="34" charset="0"/>
                      </a:endParaRPr>
                    </a:p>
                  </a:txBody>
                  <a:tcPr marL="54000" marR="27000" marT="27000" marB="27000" anchor="ctr"/>
                </a:tc>
                <a:extLst>
                  <a:ext uri="{0D108BD9-81ED-4DB2-BD59-A6C34878D82A}">
                    <a16:rowId xmlns:a16="http://schemas.microsoft.com/office/drawing/2014/main" val="10005"/>
                  </a:ext>
                </a:extLst>
              </a:tr>
            </a:tbl>
          </a:graphicData>
        </a:graphic>
      </p:graphicFrame>
      <p:sp>
        <p:nvSpPr>
          <p:cNvPr id="4" name="TextBox 3"/>
          <p:cNvSpPr txBox="1"/>
          <p:nvPr/>
        </p:nvSpPr>
        <p:spPr>
          <a:xfrm>
            <a:off x="899592" y="2571750"/>
            <a:ext cx="7560840" cy="1938992"/>
          </a:xfrm>
          <a:prstGeom prst="rect">
            <a:avLst/>
          </a:prstGeom>
          <a:noFill/>
        </p:spPr>
        <p:txBody>
          <a:bodyPr wrap="square" rtlCol="0">
            <a:spAutoFit/>
          </a:bodyPr>
          <a:lstStyle/>
          <a:p>
            <a:pPr marL="257175" indent="-257175">
              <a:spcAft>
                <a:spcPts val="0"/>
              </a:spcAft>
              <a:buFont typeface="Arial" panose="020B0604020202020204" pitchFamily="34" charset="0"/>
              <a:buChar char="•"/>
            </a:pPr>
            <a:r>
              <a:rPr lang="en-US" sz="2400" dirty="0">
                <a:solidFill>
                  <a:srgbClr val="000000"/>
                </a:solidFill>
                <a:latin typeface="+mn-lt"/>
              </a:rPr>
              <a:t>Distribution does NOT look symmetrical (for neither the creatinine based, nor the cystatin C based estimates)</a:t>
            </a:r>
          </a:p>
          <a:p>
            <a:pPr marL="257175" indent="-257175">
              <a:spcAft>
                <a:spcPts val="0"/>
              </a:spcAft>
              <a:buFont typeface="Arial" panose="020B0604020202020204" pitchFamily="34" charset="0"/>
              <a:buChar char="•"/>
            </a:pPr>
            <a:r>
              <a:rPr lang="en-US" sz="2400" dirty="0">
                <a:solidFill>
                  <a:srgbClr val="000000"/>
                </a:solidFill>
                <a:latin typeface="+mn-lt"/>
              </a:rPr>
              <a:t>Small sample size </a:t>
            </a:r>
          </a:p>
          <a:p>
            <a:pPr>
              <a:spcAft>
                <a:spcPts val="0"/>
              </a:spcAft>
            </a:pPr>
            <a:r>
              <a:rPr lang="en-US" sz="2400" dirty="0">
                <a:solidFill>
                  <a:srgbClr val="000000"/>
                </a:solidFill>
                <a:latin typeface="+mn-lt"/>
              </a:rPr>
              <a:t>	</a:t>
            </a:r>
            <a:r>
              <a:rPr lang="en-US" sz="2400" dirty="0">
                <a:solidFill>
                  <a:srgbClr val="0070C0"/>
                </a:solidFill>
                <a:latin typeface="+mn-lt"/>
              </a:rPr>
              <a:t>=&gt; We can’t use the parametric ‘paired t-test’</a:t>
            </a:r>
          </a:p>
          <a:p>
            <a:pPr>
              <a:spcAft>
                <a:spcPts val="0"/>
              </a:spcAft>
            </a:pPr>
            <a:r>
              <a:rPr lang="en-US" sz="2400" dirty="0">
                <a:solidFill>
                  <a:srgbClr val="000000"/>
                </a:solidFill>
                <a:latin typeface="+mn-lt"/>
              </a:rPr>
              <a:t>	=&gt; Need a non-parametric test!</a:t>
            </a:r>
          </a:p>
        </p:txBody>
      </p:sp>
      <p:sp>
        <p:nvSpPr>
          <p:cNvPr id="3" name="Platshållare för bildnummer 2"/>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79</a:t>
            </a:fld>
            <a:endParaRPr lang="sv-SE">
              <a:solidFill>
                <a:srgbClr val="000000">
                  <a:tint val="75000"/>
                </a:srgbClr>
              </a:solidFill>
            </a:endParaRPr>
          </a:p>
        </p:txBody>
      </p:sp>
    </p:spTree>
    <p:extLst>
      <p:ext uri="{BB962C8B-B14F-4D97-AF65-F5344CB8AC3E}">
        <p14:creationId xmlns:p14="http://schemas.microsoft.com/office/powerpoint/2010/main" val="6770084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p:cNvSpPr>
            <a:spLocks noGrp="1"/>
          </p:cNvSpPr>
          <p:nvPr>
            <p:ph idx="1"/>
          </p:nvPr>
        </p:nvSpPr>
        <p:spPr>
          <a:xfrm>
            <a:off x="395536" y="897564"/>
            <a:ext cx="8352928" cy="3394472"/>
          </a:xfrm>
        </p:spPr>
        <p:txBody>
          <a:bodyPr vert="horz" lIns="54000" tIns="0" rIns="27000" bIns="0" rtlCol="0">
            <a:normAutofit/>
          </a:bodyPr>
          <a:lstStyle/>
          <a:p>
            <a:pPr>
              <a:spcAft>
                <a:spcPts val="900"/>
              </a:spcAft>
            </a:pPr>
            <a:r>
              <a:rPr lang="en-US" sz="2400" dirty="0"/>
              <a:t>Paired data </a:t>
            </a:r>
            <a:r>
              <a:rPr lang="en-US" sz="2400" dirty="0">
                <a:sym typeface="Wingdings" panose="05000000000000000000" pitchFamily="2" charset="2"/>
              </a:rPr>
              <a:t> Wilcoxon Signed Rank test</a:t>
            </a:r>
            <a:endParaRPr lang="sv-SE" sz="2400" dirty="0"/>
          </a:p>
        </p:txBody>
      </p:sp>
      <p:pic>
        <p:nvPicPr>
          <p:cNvPr id="2355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1333" b="17755"/>
          <a:stretch/>
        </p:blipFill>
        <p:spPr bwMode="auto">
          <a:xfrm>
            <a:off x="688458" y="1491630"/>
            <a:ext cx="7555408"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80</a:t>
            </a:fld>
            <a:endParaRPr lang="sv-SE">
              <a:solidFill>
                <a:srgbClr val="000000">
                  <a:tint val="75000"/>
                </a:srgbClr>
              </a:solidFill>
            </a:endParaRPr>
          </a:p>
        </p:txBody>
      </p:sp>
    </p:spTree>
    <p:extLst>
      <p:ext uri="{BB962C8B-B14F-4D97-AF65-F5344CB8AC3E}">
        <p14:creationId xmlns:p14="http://schemas.microsoft.com/office/powerpoint/2010/main" val="23050742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Platshållare för innehåll 2"/>
          <p:cNvSpPr>
            <a:spLocks noGrp="1"/>
          </p:cNvSpPr>
          <p:nvPr>
            <p:ph idx="1"/>
          </p:nvPr>
        </p:nvSpPr>
        <p:spPr>
          <a:xfrm>
            <a:off x="899592" y="835288"/>
            <a:ext cx="7416824" cy="3626672"/>
          </a:xfrm>
        </p:spPr>
        <p:txBody>
          <a:bodyPr vert="horz" lIns="0" tIns="0" rIns="0" bIns="0" rtlCol="0">
            <a:noAutofit/>
          </a:bodyPr>
          <a:lstStyle/>
          <a:p>
            <a:pPr>
              <a:spcBef>
                <a:spcPts val="450"/>
              </a:spcBef>
              <a:spcAft>
                <a:spcPts val="450"/>
              </a:spcAft>
            </a:pPr>
            <a:r>
              <a:rPr lang="en-US" dirty="0">
                <a:latin typeface="+mn-lt"/>
                <a:ea typeface="Verdana" panose="020B0604030504040204" pitchFamily="34" charset="0"/>
              </a:rPr>
              <a:t>Which information is used?</a:t>
            </a:r>
          </a:p>
          <a:p>
            <a:pPr marL="405000" lvl="2"/>
            <a:r>
              <a:rPr lang="en-US" sz="1800" b="1" dirty="0">
                <a:solidFill>
                  <a:srgbClr val="0070C0"/>
                </a:solidFill>
                <a:latin typeface="+mn-lt"/>
                <a:ea typeface="Verdana" panose="020B0604030504040204" pitchFamily="34" charset="0"/>
              </a:rPr>
              <a:t>Parametric</a:t>
            </a:r>
            <a:r>
              <a:rPr lang="en-US" sz="1800" dirty="0">
                <a:latin typeface="+mn-lt"/>
                <a:ea typeface="Verdana" panose="020B0604030504040204" pitchFamily="34" charset="0"/>
              </a:rPr>
              <a:t>: Knowledge about distribution &amp; observed values</a:t>
            </a:r>
          </a:p>
          <a:p>
            <a:pPr marL="405000" lvl="2"/>
            <a:r>
              <a:rPr lang="en-US" sz="1800" b="1" dirty="0">
                <a:solidFill>
                  <a:srgbClr val="0070C0"/>
                </a:solidFill>
                <a:latin typeface="+mn-lt"/>
                <a:ea typeface="Verdana" panose="020B0604030504040204" pitchFamily="34" charset="0"/>
              </a:rPr>
              <a:t>Non-parametric</a:t>
            </a:r>
            <a:r>
              <a:rPr lang="en-US" sz="1800" dirty="0">
                <a:latin typeface="+mn-lt"/>
                <a:ea typeface="Verdana" panose="020B0604030504040204" pitchFamily="34" charset="0"/>
              </a:rPr>
              <a:t>: The ranks of the observed values</a:t>
            </a:r>
          </a:p>
          <a:p>
            <a:pPr>
              <a:lnSpc>
                <a:spcPct val="150000"/>
              </a:lnSpc>
              <a:spcBef>
                <a:spcPts val="600"/>
              </a:spcBef>
            </a:pPr>
            <a:r>
              <a:rPr lang="en-US" dirty="0">
                <a:latin typeface="+mn-lt"/>
                <a:ea typeface="Verdana" panose="020B0604030504040204" pitchFamily="34" charset="0"/>
              </a:rPr>
              <a:t>What is the risk with parametric tests?</a:t>
            </a:r>
          </a:p>
          <a:p>
            <a:pPr marL="270000" lvl="1" indent="0">
              <a:spcBef>
                <a:spcPts val="0"/>
              </a:spcBef>
              <a:buNone/>
            </a:pPr>
            <a:r>
              <a:rPr lang="en-US" sz="1800" dirty="0">
                <a:latin typeface="+mn-lt"/>
                <a:ea typeface="Verdana" panose="020B0604030504040204" pitchFamily="34" charset="0"/>
              </a:rPr>
              <a:t>	If the assumptions are not fulfilled =&gt; erroneous conclusions</a:t>
            </a:r>
          </a:p>
          <a:p>
            <a:pPr>
              <a:lnSpc>
                <a:spcPct val="150000"/>
              </a:lnSpc>
              <a:spcBef>
                <a:spcPts val="600"/>
              </a:spcBef>
            </a:pPr>
            <a:r>
              <a:rPr lang="en-US" dirty="0">
                <a:latin typeface="+mn-lt"/>
                <a:ea typeface="Verdana" panose="020B0604030504040204" pitchFamily="34" charset="0"/>
              </a:rPr>
              <a:t>Why don’t we always use non-parametric tests?</a:t>
            </a:r>
          </a:p>
          <a:p>
            <a:pPr marL="270000" lvl="1" indent="0">
              <a:lnSpc>
                <a:spcPct val="150000"/>
              </a:lnSpc>
              <a:spcBef>
                <a:spcPts val="0"/>
              </a:spcBef>
              <a:buNone/>
            </a:pPr>
            <a:r>
              <a:rPr lang="en-US" sz="1800" dirty="0">
                <a:latin typeface="+mn-lt"/>
                <a:ea typeface="Verdana" panose="020B0604030504040204" pitchFamily="34" charset="0"/>
              </a:rPr>
              <a:t>If assumptions for parametric are fulfilled </a:t>
            </a:r>
          </a:p>
          <a:p>
            <a:pPr marL="270000" lvl="1" indent="0">
              <a:lnSpc>
                <a:spcPct val="150000"/>
              </a:lnSpc>
              <a:spcBef>
                <a:spcPts val="0"/>
              </a:spcBef>
              <a:buNone/>
            </a:pPr>
            <a:r>
              <a:rPr lang="en-US" sz="1800" dirty="0">
                <a:latin typeface="+mn-lt"/>
                <a:ea typeface="Verdana" panose="020B0604030504040204" pitchFamily="34" charset="0"/>
              </a:rPr>
              <a:t>=&gt; parametric are more powerful to detect differences</a:t>
            </a:r>
          </a:p>
        </p:txBody>
      </p:sp>
      <p:sp>
        <p:nvSpPr>
          <p:cNvPr id="5" name="Rubrik 1"/>
          <p:cNvSpPr txBox="1">
            <a:spLocks/>
          </p:cNvSpPr>
          <p:nvPr/>
        </p:nvSpPr>
        <p:spPr>
          <a:xfrm>
            <a:off x="1259633" y="132604"/>
            <a:ext cx="6754868" cy="504788"/>
          </a:xfrm>
          <a:prstGeom prst="rect">
            <a:avLst/>
          </a:prstGeom>
          <a:noFill/>
        </p:spPr>
        <p:txBody>
          <a:bodyPr vert="horz" lIns="68580" tIns="34290" rIns="68580" bIns="34290" rtlCol="0" anchor="ctr">
            <a:noAutofit/>
          </a:bodyPr>
          <a:lstStyle>
            <a:defPPr>
              <a:defRPr lang="sv-SE"/>
            </a:defPPr>
            <a:lvl1pPr defTabSz="914400" eaLnBrk="1" latinLnBrk="0" hangingPunct="1">
              <a:spcBef>
                <a:spcPts val="1800"/>
              </a:spcBef>
              <a:buNone/>
              <a:defRPr sz="3200" b="1" cap="small">
                <a:solidFill>
                  <a:sysClr val="windowText" lastClr="000000"/>
                </a:solidFill>
                <a:latin typeface="Trebuchet MS" panose="020B0603020202020204" pitchFamily="34" charset="0"/>
                <a:ea typeface="+mj-ea"/>
                <a:cs typeface="+mj-cs"/>
              </a:defRPr>
            </a:lvl1pPr>
          </a:lstStyle>
          <a:p>
            <a:r>
              <a:rPr lang="en-US" sz="4000" dirty="0">
                <a:latin typeface="+mj-lt"/>
              </a:rPr>
              <a:t>Parametric vs. Non-parametric </a:t>
            </a: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81</a:t>
            </a:fld>
            <a:endParaRPr lang="sv-SE">
              <a:solidFill>
                <a:srgbClr val="000000">
                  <a:tint val="75000"/>
                </a:srgbClr>
              </a:solidFill>
            </a:endParaRPr>
          </a:p>
        </p:txBody>
      </p:sp>
    </p:spTree>
    <p:extLst>
      <p:ext uri="{BB962C8B-B14F-4D97-AF65-F5344CB8AC3E}">
        <p14:creationId xmlns:p14="http://schemas.microsoft.com/office/powerpoint/2010/main" val="137270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459">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p:cNvSpPr>
            <a:spLocks noGrp="1"/>
          </p:cNvSpPr>
          <p:nvPr>
            <p:ph type="title"/>
          </p:nvPr>
        </p:nvSpPr>
        <p:spPr>
          <a:xfrm>
            <a:off x="1331640" y="311375"/>
            <a:ext cx="5832173" cy="451360"/>
          </a:xfrm>
        </p:spPr>
        <p:txBody>
          <a:bodyPr/>
          <a:lstStyle/>
          <a:p>
            <a:r>
              <a:rPr lang="sv-SE" sz="3600" dirty="0" err="1"/>
              <a:t>Linear</a:t>
            </a:r>
            <a:r>
              <a:rPr lang="sv-SE" sz="3600" dirty="0"/>
              <a:t> relationships</a:t>
            </a:r>
          </a:p>
        </p:txBody>
      </p:sp>
      <p:sp>
        <p:nvSpPr>
          <p:cNvPr id="5" name="Platshållare för text 4"/>
          <p:cNvSpPr>
            <a:spLocks noGrp="1"/>
          </p:cNvSpPr>
          <p:nvPr>
            <p:ph type="body" idx="1"/>
          </p:nvPr>
        </p:nvSpPr>
        <p:spPr>
          <a:xfrm>
            <a:off x="1655676" y="1039733"/>
            <a:ext cx="5915025" cy="432483"/>
          </a:xfrm>
        </p:spPr>
        <p:txBody>
          <a:bodyPr>
            <a:noAutofit/>
          </a:bodyPr>
          <a:lstStyle/>
          <a:p>
            <a:r>
              <a:rPr lang="sv-SE" sz="2800" b="1" dirty="0" err="1">
                <a:solidFill>
                  <a:srgbClr val="002060"/>
                </a:solidFill>
              </a:rPr>
              <a:t>Linear</a:t>
            </a:r>
            <a:r>
              <a:rPr lang="sv-SE" sz="2800" b="1" dirty="0">
                <a:solidFill>
                  <a:srgbClr val="002060"/>
                </a:solidFill>
              </a:rPr>
              <a:t> </a:t>
            </a:r>
            <a:r>
              <a:rPr lang="sv-SE" sz="2800" b="1" dirty="0" err="1">
                <a:solidFill>
                  <a:srgbClr val="002060"/>
                </a:solidFill>
              </a:rPr>
              <a:t>correlation</a:t>
            </a:r>
            <a:r>
              <a:rPr lang="sv-SE" sz="2800" b="1" dirty="0">
                <a:solidFill>
                  <a:srgbClr val="002060"/>
                </a:solidFill>
              </a:rPr>
              <a:t> and regression</a:t>
            </a: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82</a:t>
            </a:fld>
            <a:endParaRPr lang="sv-SE"/>
          </a:p>
        </p:txBody>
      </p:sp>
      <p:grpSp>
        <p:nvGrpSpPr>
          <p:cNvPr id="37" name="Grupp 36"/>
          <p:cNvGrpSpPr/>
          <p:nvPr/>
        </p:nvGrpSpPr>
        <p:grpSpPr>
          <a:xfrm>
            <a:off x="1586828" y="1680099"/>
            <a:ext cx="4497339" cy="2979883"/>
            <a:chOff x="1241950" y="548680"/>
            <a:chExt cx="5130250" cy="3444772"/>
          </a:xfrm>
        </p:grpSpPr>
        <p:grpSp>
          <p:nvGrpSpPr>
            <p:cNvPr id="22" name="Grupp 21"/>
            <p:cNvGrpSpPr/>
            <p:nvPr/>
          </p:nvGrpSpPr>
          <p:grpSpPr>
            <a:xfrm>
              <a:off x="1906216" y="548680"/>
              <a:ext cx="4465984" cy="2952329"/>
              <a:chOff x="1978224" y="692696"/>
              <a:chExt cx="4465984" cy="2952329"/>
            </a:xfrm>
          </p:grpSpPr>
          <p:grpSp>
            <p:nvGrpSpPr>
              <p:cNvPr id="8" name="Grupp 7"/>
              <p:cNvGrpSpPr/>
              <p:nvPr/>
            </p:nvGrpSpPr>
            <p:grpSpPr>
              <a:xfrm>
                <a:off x="2123728" y="1124744"/>
                <a:ext cx="3744416" cy="2376264"/>
                <a:chOff x="2123728" y="1124744"/>
                <a:chExt cx="3744416" cy="2376264"/>
              </a:xfrm>
            </p:grpSpPr>
            <p:cxnSp>
              <p:nvCxnSpPr>
                <p:cNvPr id="6" name="Rak 5"/>
                <p:cNvCxnSpPr/>
                <p:nvPr/>
              </p:nvCxnSpPr>
              <p:spPr bwMode="auto">
                <a:xfrm flipV="1">
                  <a:off x="2123728" y="1268760"/>
                  <a:ext cx="3744416" cy="2088232"/>
                </a:xfrm>
                <a:prstGeom prst="line">
                  <a:avLst/>
                </a:prstGeom>
                <a:solidFill>
                  <a:schemeClr val="accent1"/>
                </a:solidFill>
                <a:ln w="19050"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Ellips 6"/>
                <p:cNvSpPr/>
                <p:nvPr/>
              </p:nvSpPr>
              <p:spPr bwMode="auto">
                <a:xfrm>
                  <a:off x="2699792" y="2492896"/>
                  <a:ext cx="72000" cy="72000"/>
                </a:xfrm>
                <a:prstGeom prst="ellipse">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10" name="Ellips 9"/>
                <p:cNvSpPr/>
                <p:nvPr/>
              </p:nvSpPr>
              <p:spPr bwMode="auto">
                <a:xfrm>
                  <a:off x="3563896" y="2645296"/>
                  <a:ext cx="72000" cy="72000"/>
                </a:xfrm>
                <a:prstGeom prst="ellipse">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11" name="Ellips 10"/>
                <p:cNvSpPr/>
                <p:nvPr/>
              </p:nvSpPr>
              <p:spPr bwMode="auto">
                <a:xfrm>
                  <a:off x="2852192" y="2996960"/>
                  <a:ext cx="72000" cy="72000"/>
                </a:xfrm>
                <a:prstGeom prst="ellipse">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12" name="Ellips 11"/>
                <p:cNvSpPr/>
                <p:nvPr/>
              </p:nvSpPr>
              <p:spPr bwMode="auto">
                <a:xfrm>
                  <a:off x="5220080" y="1916832"/>
                  <a:ext cx="72000" cy="72000"/>
                </a:xfrm>
                <a:prstGeom prst="ellipse">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13" name="Ellips 12"/>
                <p:cNvSpPr/>
                <p:nvPr/>
              </p:nvSpPr>
              <p:spPr bwMode="auto">
                <a:xfrm>
                  <a:off x="5724136" y="1124744"/>
                  <a:ext cx="72000" cy="72000"/>
                </a:xfrm>
                <a:prstGeom prst="ellipse">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14" name="Ellips 13"/>
                <p:cNvSpPr/>
                <p:nvPr/>
              </p:nvSpPr>
              <p:spPr bwMode="auto">
                <a:xfrm>
                  <a:off x="2195736" y="3429008"/>
                  <a:ext cx="72000" cy="72000"/>
                </a:xfrm>
                <a:prstGeom prst="ellipse">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15" name="Ellips 14"/>
                <p:cNvSpPr/>
                <p:nvPr/>
              </p:nvSpPr>
              <p:spPr bwMode="auto">
                <a:xfrm>
                  <a:off x="2483768" y="2852944"/>
                  <a:ext cx="72000" cy="72000"/>
                </a:xfrm>
                <a:prstGeom prst="ellipse">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16" name="Ellips 15"/>
                <p:cNvSpPr/>
                <p:nvPr/>
              </p:nvSpPr>
              <p:spPr bwMode="auto">
                <a:xfrm>
                  <a:off x="4139960" y="1988840"/>
                  <a:ext cx="72000" cy="72000"/>
                </a:xfrm>
                <a:prstGeom prst="ellipse">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grpSp>
          <p:cxnSp>
            <p:nvCxnSpPr>
              <p:cNvPr id="18" name="Rak 17"/>
              <p:cNvCxnSpPr/>
              <p:nvPr/>
            </p:nvCxnSpPr>
            <p:spPr bwMode="auto">
              <a:xfrm>
                <a:off x="1979712" y="692696"/>
                <a:ext cx="0" cy="2952329"/>
              </a:xfrm>
              <a:prstGeom prst="line">
                <a:avLst/>
              </a:prstGeom>
              <a:solidFill>
                <a:schemeClr val="accent1"/>
              </a:solidFill>
              <a:ln w="28575" cap="flat" cmpd="sng" algn="ctr">
                <a:solidFill>
                  <a:schemeClr val="accent2">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Rak 19"/>
              <p:cNvCxnSpPr/>
              <p:nvPr/>
            </p:nvCxnSpPr>
            <p:spPr bwMode="auto">
              <a:xfrm flipH="1" flipV="1">
                <a:off x="1978224" y="3645024"/>
                <a:ext cx="4465984" cy="1"/>
              </a:xfrm>
              <a:prstGeom prst="line">
                <a:avLst/>
              </a:prstGeom>
              <a:solidFill>
                <a:schemeClr val="accent1"/>
              </a:solidFill>
              <a:ln w="28575" cap="flat" cmpd="sng" algn="ctr">
                <a:solidFill>
                  <a:schemeClr val="accent2">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3" name="Grupp 22"/>
            <p:cNvGrpSpPr/>
            <p:nvPr/>
          </p:nvGrpSpPr>
          <p:grpSpPr>
            <a:xfrm>
              <a:off x="2333457" y="577869"/>
              <a:ext cx="3744416" cy="2376264"/>
              <a:chOff x="2333457" y="577869"/>
              <a:chExt cx="3744416" cy="2376264"/>
            </a:xfrm>
          </p:grpSpPr>
          <p:grpSp>
            <p:nvGrpSpPr>
              <p:cNvPr id="24" name="Grupp 23"/>
              <p:cNvGrpSpPr/>
              <p:nvPr/>
            </p:nvGrpSpPr>
            <p:grpSpPr>
              <a:xfrm rot="20841084" flipV="1">
                <a:off x="2333457" y="577869"/>
                <a:ext cx="3744416" cy="2376264"/>
                <a:chOff x="2051720" y="980728"/>
                <a:chExt cx="3744416" cy="2376264"/>
              </a:xfrm>
            </p:grpSpPr>
            <p:cxnSp>
              <p:nvCxnSpPr>
                <p:cNvPr id="25" name="Rak 24"/>
                <p:cNvCxnSpPr/>
                <p:nvPr/>
              </p:nvCxnSpPr>
              <p:spPr bwMode="auto">
                <a:xfrm flipV="1">
                  <a:off x="2051720" y="1124744"/>
                  <a:ext cx="3744416" cy="2088232"/>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26" name="Ellips 25"/>
                <p:cNvSpPr/>
                <p:nvPr/>
              </p:nvSpPr>
              <p:spPr bwMode="auto">
                <a:xfrm>
                  <a:off x="2627784" y="2348880"/>
                  <a:ext cx="72000" cy="72000"/>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27" name="Ellips 26"/>
                <p:cNvSpPr/>
                <p:nvPr/>
              </p:nvSpPr>
              <p:spPr bwMode="auto">
                <a:xfrm>
                  <a:off x="3491888" y="2501280"/>
                  <a:ext cx="72000" cy="72000"/>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28" name="Ellips 27"/>
                <p:cNvSpPr/>
                <p:nvPr/>
              </p:nvSpPr>
              <p:spPr bwMode="auto">
                <a:xfrm>
                  <a:off x="2780184" y="2852944"/>
                  <a:ext cx="72000" cy="72000"/>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29" name="Ellips 28"/>
                <p:cNvSpPr/>
                <p:nvPr/>
              </p:nvSpPr>
              <p:spPr bwMode="auto">
                <a:xfrm>
                  <a:off x="5148072" y="1772816"/>
                  <a:ext cx="72000" cy="72000"/>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30" name="Ellips 29"/>
                <p:cNvSpPr/>
                <p:nvPr/>
              </p:nvSpPr>
              <p:spPr bwMode="auto">
                <a:xfrm>
                  <a:off x="5652128" y="980728"/>
                  <a:ext cx="72000" cy="72000"/>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31" name="Ellips 30"/>
                <p:cNvSpPr/>
                <p:nvPr/>
              </p:nvSpPr>
              <p:spPr bwMode="auto">
                <a:xfrm>
                  <a:off x="2123728" y="3284992"/>
                  <a:ext cx="72000" cy="72000"/>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32" name="Ellips 31"/>
                <p:cNvSpPr/>
                <p:nvPr/>
              </p:nvSpPr>
              <p:spPr bwMode="auto">
                <a:xfrm>
                  <a:off x="2411760" y="2708928"/>
                  <a:ext cx="72000" cy="72000"/>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33" name="Ellips 32"/>
                <p:cNvSpPr/>
                <p:nvPr/>
              </p:nvSpPr>
              <p:spPr bwMode="auto">
                <a:xfrm>
                  <a:off x="4067952" y="1844824"/>
                  <a:ext cx="72000" cy="72000"/>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grpSp>
          <p:sp>
            <p:nvSpPr>
              <p:cNvPr id="34" name="Ellips 33"/>
              <p:cNvSpPr/>
              <p:nvPr/>
            </p:nvSpPr>
            <p:spPr bwMode="auto">
              <a:xfrm rot="20841084" flipV="1">
                <a:off x="3268854" y="1635810"/>
                <a:ext cx="72000" cy="72000"/>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sp>
            <p:nvSpPr>
              <p:cNvPr id="35" name="Ellips 34"/>
              <p:cNvSpPr/>
              <p:nvPr/>
            </p:nvSpPr>
            <p:spPr bwMode="auto">
              <a:xfrm rot="20841084" flipV="1">
                <a:off x="5141062" y="2125854"/>
                <a:ext cx="72000" cy="72000"/>
              </a:xfrm>
              <a:prstGeom prst="ellipse">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580" tIns="34290" rIns="68580" bIns="34290" numCol="1" rtlCol="0" anchor="t" anchorCtr="0" compatLnSpc="1">
                <a:prstTxWarp prst="textNoShape">
                  <a:avLst/>
                </a:prstTxWarp>
              </a:bodyPr>
              <a:lstStyle/>
              <a:p>
                <a:pPr defTabSz="685800" eaLnBrk="0" hangingPunct="0"/>
                <a:endParaRPr lang="sv-SE">
                  <a:solidFill>
                    <a:schemeClr val="tx1"/>
                  </a:solidFill>
                  <a:latin typeface="Arial" panose="020B0604020202020204" pitchFamily="34" charset="0"/>
                  <a:ea typeface="ヒラギノ角ゴ Pro W3"/>
                  <a:cs typeface="ヒラギノ角ゴ Pro W3"/>
                </a:endParaRPr>
              </a:p>
            </p:txBody>
          </p:sp>
        </p:grpSp>
        <p:sp>
          <p:nvSpPr>
            <p:cNvPr id="36" name="textruta 35"/>
            <p:cNvSpPr txBox="1"/>
            <p:nvPr/>
          </p:nvSpPr>
          <p:spPr>
            <a:xfrm rot="16200000">
              <a:off x="494932" y="1727745"/>
              <a:ext cx="1986480" cy="492443"/>
            </a:xfrm>
            <a:prstGeom prst="rect">
              <a:avLst/>
            </a:prstGeom>
            <a:noFill/>
          </p:spPr>
          <p:txBody>
            <a:bodyPr wrap="square" rtlCol="0">
              <a:spAutoFit/>
            </a:bodyPr>
            <a:lstStyle/>
            <a:p>
              <a:pPr algn="ctr"/>
              <a:r>
                <a:rPr lang="en-US" dirty="0">
                  <a:solidFill>
                    <a:schemeClr val="accent2">
                      <a:lumMod val="50000"/>
                    </a:schemeClr>
                  </a:solidFill>
                </a:rPr>
                <a:t>Y: Outcome</a:t>
              </a:r>
            </a:p>
          </p:txBody>
        </p:sp>
        <p:sp>
          <p:nvSpPr>
            <p:cNvPr id="38" name="textruta 37"/>
            <p:cNvSpPr txBox="1"/>
            <p:nvPr/>
          </p:nvSpPr>
          <p:spPr>
            <a:xfrm>
              <a:off x="3347862" y="3501009"/>
              <a:ext cx="2304265" cy="492443"/>
            </a:xfrm>
            <a:prstGeom prst="rect">
              <a:avLst/>
            </a:prstGeom>
            <a:noFill/>
          </p:spPr>
          <p:txBody>
            <a:bodyPr wrap="square" rtlCol="0">
              <a:spAutoFit/>
            </a:bodyPr>
            <a:lstStyle/>
            <a:p>
              <a:pPr algn="ctr"/>
              <a:r>
                <a:rPr lang="en-US" dirty="0">
                  <a:solidFill>
                    <a:schemeClr val="accent2">
                      <a:lumMod val="50000"/>
                    </a:schemeClr>
                  </a:solidFill>
                </a:rPr>
                <a:t>X: Predictor</a:t>
              </a:r>
            </a:p>
          </p:txBody>
        </p:sp>
      </p:grpSp>
    </p:spTree>
    <p:extLst>
      <p:ext uri="{BB962C8B-B14F-4D97-AF65-F5344CB8AC3E}">
        <p14:creationId xmlns:p14="http://schemas.microsoft.com/office/powerpoint/2010/main" val="7720102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899592" y="789553"/>
            <a:ext cx="7992888" cy="3556490"/>
          </a:xfrm>
        </p:spPr>
        <p:txBody>
          <a:bodyPr>
            <a:noAutofit/>
          </a:bodyPr>
          <a:lstStyle/>
          <a:p>
            <a:pPr>
              <a:spcBef>
                <a:spcPts val="900"/>
              </a:spcBef>
              <a:spcAft>
                <a:spcPts val="450"/>
              </a:spcAft>
            </a:pPr>
            <a:r>
              <a:rPr lang="en-US" sz="2800" dirty="0">
                <a:latin typeface="+mn-lt"/>
              </a:rPr>
              <a:t>Often denoted </a:t>
            </a:r>
            <a:r>
              <a:rPr lang="en-US" sz="2800" b="1" i="1" dirty="0">
                <a:latin typeface="+mn-lt"/>
              </a:rPr>
              <a:t>r</a:t>
            </a:r>
            <a:r>
              <a:rPr lang="en-US" sz="2800" i="1" dirty="0">
                <a:latin typeface="+mn-lt"/>
              </a:rPr>
              <a:t> </a:t>
            </a:r>
            <a:r>
              <a:rPr lang="en-US" sz="2800" dirty="0">
                <a:latin typeface="+mn-lt"/>
              </a:rPr>
              <a:t>or </a:t>
            </a:r>
            <a:r>
              <a:rPr lang="en-US" sz="2800" b="1" i="1" dirty="0">
                <a:latin typeface="+mn-lt"/>
              </a:rPr>
              <a:t>ρ</a:t>
            </a:r>
            <a:r>
              <a:rPr lang="en-US" sz="2800" i="1" dirty="0">
                <a:latin typeface="+mn-lt"/>
              </a:rPr>
              <a:t> (rho)</a:t>
            </a:r>
          </a:p>
          <a:p>
            <a:pPr>
              <a:spcBef>
                <a:spcPts val="900"/>
              </a:spcBef>
              <a:spcAft>
                <a:spcPts val="900"/>
              </a:spcAft>
            </a:pPr>
            <a:r>
              <a:rPr lang="en-US" sz="2800" dirty="0">
                <a:latin typeface="+mn-lt"/>
              </a:rPr>
              <a:t>Measures the linear relationship between two </a:t>
            </a:r>
            <a:r>
              <a:rPr lang="en-US" sz="2800" b="1" dirty="0">
                <a:latin typeface="+mn-lt"/>
              </a:rPr>
              <a:t>quantitative</a:t>
            </a:r>
            <a:r>
              <a:rPr lang="en-US" sz="2800" dirty="0">
                <a:latin typeface="+mn-lt"/>
              </a:rPr>
              <a:t> variables </a:t>
            </a:r>
          </a:p>
          <a:p>
            <a:pPr>
              <a:spcBef>
                <a:spcPts val="900"/>
              </a:spcBef>
              <a:spcAft>
                <a:spcPts val="900"/>
              </a:spcAft>
            </a:pPr>
            <a:r>
              <a:rPr lang="en-US" sz="2800" dirty="0">
                <a:latin typeface="+mn-lt"/>
              </a:rPr>
              <a:t>Has a value between -1 and 1</a:t>
            </a:r>
          </a:p>
          <a:p>
            <a:pPr>
              <a:spcBef>
                <a:spcPts val="900"/>
              </a:spcBef>
              <a:spcAft>
                <a:spcPts val="900"/>
              </a:spcAft>
            </a:pPr>
            <a:r>
              <a:rPr lang="en-US" sz="2800" dirty="0">
                <a:latin typeface="+mn-lt"/>
              </a:rPr>
              <a:t> 1  means a perfect </a:t>
            </a:r>
            <a:r>
              <a:rPr lang="en-US" sz="2800" u="sng" dirty="0">
                <a:latin typeface="+mn-lt"/>
              </a:rPr>
              <a:t>increasing</a:t>
            </a:r>
            <a:r>
              <a:rPr lang="en-US" sz="2800" dirty="0">
                <a:latin typeface="+mn-lt"/>
              </a:rPr>
              <a:t> linear relationship </a:t>
            </a:r>
          </a:p>
          <a:p>
            <a:pPr>
              <a:spcBef>
                <a:spcPts val="900"/>
              </a:spcBef>
              <a:spcAft>
                <a:spcPts val="900"/>
              </a:spcAft>
            </a:pPr>
            <a:r>
              <a:rPr lang="en-US" sz="2800" dirty="0">
                <a:latin typeface="+mn-lt"/>
              </a:rPr>
              <a:t>-1  means a perfect </a:t>
            </a:r>
            <a:r>
              <a:rPr lang="en-US" sz="2800" u="sng" dirty="0">
                <a:latin typeface="+mn-lt"/>
              </a:rPr>
              <a:t>decreasing</a:t>
            </a:r>
            <a:r>
              <a:rPr lang="en-US" sz="2800" dirty="0">
                <a:latin typeface="+mn-lt"/>
              </a:rPr>
              <a:t> linear relationship</a:t>
            </a: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83</a:t>
            </a:fld>
            <a:endParaRPr lang="sv-SE">
              <a:solidFill>
                <a:srgbClr val="000000">
                  <a:tint val="75000"/>
                </a:srgbClr>
              </a:solidFill>
            </a:endParaRPr>
          </a:p>
        </p:txBody>
      </p:sp>
      <p:sp>
        <p:nvSpPr>
          <p:cNvPr id="4" name="Rubrik 1"/>
          <p:cNvSpPr txBox="1">
            <a:spLocks/>
          </p:cNvSpPr>
          <p:nvPr/>
        </p:nvSpPr>
        <p:spPr>
          <a:xfrm>
            <a:off x="1259632" y="195486"/>
            <a:ext cx="7128792" cy="594066"/>
          </a:xfrm>
          <a:prstGeom prst="rect">
            <a:avLst/>
          </a:prstGeom>
          <a:noFill/>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b="1" cap="small" dirty="0">
                <a:solidFill>
                  <a:sysClr val="windowText" lastClr="000000"/>
                </a:solidFill>
              </a:rPr>
              <a:t>Pearson's correlation coefficient</a:t>
            </a:r>
            <a:endParaRPr lang="en-US" sz="3600" b="1" dirty="0">
              <a:solidFill>
                <a:sysClr val="windowText" lastClr="000000"/>
              </a:solidFill>
            </a:endParaRPr>
          </a:p>
        </p:txBody>
      </p:sp>
    </p:spTree>
    <p:extLst>
      <p:ext uri="{BB962C8B-B14F-4D97-AF65-F5344CB8AC3E}">
        <p14:creationId xmlns:p14="http://schemas.microsoft.com/office/powerpoint/2010/main" val="23164365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tshållare för bildnummer 3"/>
          <p:cNvSpPr>
            <a:spLocks noGrp="1"/>
          </p:cNvSpPr>
          <p:nvPr>
            <p:ph type="sldNum" sz="quarter" idx="4294967295"/>
          </p:nvPr>
        </p:nvSpPr>
        <p:spPr>
          <a:xfrm>
            <a:off x="6400800" y="4767263"/>
            <a:ext cx="1600200" cy="273844"/>
          </a:xfrm>
        </p:spPr>
        <p:txBody>
          <a:bodyPr/>
          <a:lstStyle/>
          <a:p>
            <a:fld id="{49D34020-361E-4A13-8C95-66E98A929282}" type="slidenum">
              <a:rPr lang="sv-SE" smtClean="0"/>
              <a:pPr/>
              <a:t>84</a:t>
            </a:fld>
            <a:endParaRPr lang="sv-SE"/>
          </a:p>
        </p:txBody>
      </p:sp>
      <p:pic>
        <p:nvPicPr>
          <p:cNvPr id="5" name="Bildobjekt 4"/>
          <p:cNvPicPr>
            <a:picLocks noChangeAspect="1"/>
          </p:cNvPicPr>
          <p:nvPr/>
        </p:nvPicPr>
        <p:blipFill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Lst>
          </a:blip>
          <a:srcRect l="1" r="1024"/>
          <a:stretch/>
        </p:blipFill>
        <p:spPr>
          <a:xfrm>
            <a:off x="1216553" y="1303129"/>
            <a:ext cx="6588351" cy="3045361"/>
          </a:xfrm>
          <a:prstGeom prst="rect">
            <a:avLst/>
          </a:prstGeom>
        </p:spPr>
      </p:pic>
      <p:sp>
        <p:nvSpPr>
          <p:cNvPr id="6" name="Rektangel 5"/>
          <p:cNvSpPr/>
          <p:nvPr/>
        </p:nvSpPr>
        <p:spPr>
          <a:xfrm>
            <a:off x="2357755" y="462902"/>
            <a:ext cx="4538871" cy="484748"/>
          </a:xfrm>
          <a:prstGeom prst="rect">
            <a:avLst/>
          </a:prstGeom>
        </p:spPr>
        <p:txBody>
          <a:bodyPr wrap="none">
            <a:spAutoFit/>
          </a:bodyPr>
          <a:lstStyle/>
          <a:p>
            <a:r>
              <a:rPr lang="en-US" sz="2550" b="1" dirty="0">
                <a:latin typeface="Calibri" panose="020F0502020204030204" pitchFamily="34" charset="0"/>
              </a:rPr>
              <a:t>Pearson’s correlation coefficient</a:t>
            </a:r>
            <a:endParaRPr lang="sv-SE" sz="2550" b="1" dirty="0"/>
          </a:p>
        </p:txBody>
      </p:sp>
      <p:sp>
        <p:nvSpPr>
          <p:cNvPr id="7" name="Rektangel 6"/>
          <p:cNvSpPr/>
          <p:nvPr/>
        </p:nvSpPr>
        <p:spPr>
          <a:xfrm>
            <a:off x="5436096" y="4442648"/>
            <a:ext cx="1542410" cy="253916"/>
          </a:xfrm>
          <a:prstGeom prst="rect">
            <a:avLst/>
          </a:prstGeom>
        </p:spPr>
        <p:txBody>
          <a:bodyPr wrap="none">
            <a:spAutoFit/>
          </a:bodyPr>
          <a:lstStyle/>
          <a:p>
            <a:r>
              <a:rPr lang="en-US" sz="1050" dirty="0"/>
              <a:t>Reference:  Wikipedia </a:t>
            </a:r>
            <a:endParaRPr lang="sv-SE" sz="1050" dirty="0"/>
          </a:p>
        </p:txBody>
      </p:sp>
    </p:spTree>
    <p:extLst>
      <p:ext uri="{BB962C8B-B14F-4D97-AF65-F5344CB8AC3E}">
        <p14:creationId xmlns:p14="http://schemas.microsoft.com/office/powerpoint/2010/main" val="137781171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1147983" y="199284"/>
            <a:ext cx="7200800" cy="859168"/>
          </a:xfrm>
        </p:spPr>
        <p:txBody>
          <a:bodyPr>
            <a:noAutofit/>
          </a:bodyPr>
          <a:lstStyle/>
          <a:p>
            <a:r>
              <a:rPr lang="en-US" sz="3200" dirty="0">
                <a:latin typeface="Calibri" panose="020F0502020204030204" pitchFamily="34" charset="0"/>
              </a:rPr>
              <a:t>(Linear) </a:t>
            </a:r>
            <a:r>
              <a:rPr lang="en-US" sz="3200" u="sng" dirty="0">
                <a:latin typeface="Calibri" panose="020F0502020204030204" pitchFamily="34" charset="0"/>
              </a:rPr>
              <a:t>Correlation</a:t>
            </a:r>
            <a:r>
              <a:rPr lang="en-US" sz="3200" dirty="0">
                <a:latin typeface="Calibri" panose="020F0502020204030204" pitchFamily="34" charset="0"/>
              </a:rPr>
              <a:t> </a:t>
            </a:r>
            <a:br>
              <a:rPr lang="en-US" sz="3200" b="0" dirty="0">
                <a:latin typeface="Calibri" panose="020F0502020204030204" pitchFamily="34" charset="0"/>
              </a:rPr>
            </a:br>
            <a:r>
              <a:rPr lang="en-US" sz="3200" b="0" dirty="0">
                <a:latin typeface="Calibri" panose="020F0502020204030204" pitchFamily="34" charset="0"/>
              </a:rPr>
              <a:t>(measured by Pearson’s correlation)</a:t>
            </a:r>
            <a:endParaRPr lang="sv-SE" sz="3200" b="0" dirty="0">
              <a:latin typeface="Calibri" panose="020F0502020204030204" pitchFamily="34" charset="0"/>
            </a:endParaRPr>
          </a:p>
        </p:txBody>
      </p:sp>
      <p:sp>
        <p:nvSpPr>
          <p:cNvPr id="2" name="Platshållare för bildnummer 1"/>
          <p:cNvSpPr>
            <a:spLocks noGrp="1"/>
          </p:cNvSpPr>
          <p:nvPr>
            <p:ph type="sldNum" sz="quarter" idx="12"/>
          </p:nvPr>
        </p:nvSpPr>
        <p:spPr>
          <a:prstGeom prst="rect">
            <a:avLst/>
          </a:prstGeom>
        </p:spPr>
        <p:txBody>
          <a:bodyPr/>
          <a:lstStyle/>
          <a:p>
            <a:pPr>
              <a:defRPr/>
            </a:pPr>
            <a:fld id="{6EA40670-0085-46BE-8A1D-C037329D2922}" type="slidenum">
              <a:rPr lang="sv-SE" sz="900"/>
              <a:pPr>
                <a:defRPr/>
              </a:pPr>
              <a:t>85</a:t>
            </a:fld>
            <a:endParaRPr lang="sv-SE" sz="900"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419622"/>
            <a:ext cx="8496000" cy="2618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ktangel 2"/>
          <p:cNvSpPr/>
          <p:nvPr/>
        </p:nvSpPr>
        <p:spPr>
          <a:xfrm>
            <a:off x="5850142" y="3075806"/>
            <a:ext cx="594066" cy="162000"/>
          </a:xfrm>
          <a:prstGeom prst="rect">
            <a:avLst/>
          </a:prstGeom>
          <a:solidFill>
            <a:srgbClr val="C0000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Rektangel 3"/>
          <p:cNvSpPr/>
          <p:nvPr/>
        </p:nvSpPr>
        <p:spPr>
          <a:xfrm>
            <a:off x="323528" y="3084789"/>
            <a:ext cx="496782" cy="162000"/>
          </a:xfrm>
          <a:prstGeom prst="rect">
            <a:avLst/>
          </a:prstGeom>
          <a:solidFill>
            <a:srgbClr val="C00000">
              <a:alpha val="1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p:cNvSpPr/>
          <p:nvPr/>
        </p:nvSpPr>
        <p:spPr>
          <a:xfrm>
            <a:off x="6462210" y="2103938"/>
            <a:ext cx="1494166" cy="164465"/>
          </a:xfrm>
          <a:prstGeom prst="rect">
            <a:avLst/>
          </a:prstGeom>
          <a:solidFill>
            <a:srgbClr val="C0000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ktangel 7"/>
          <p:cNvSpPr/>
          <p:nvPr/>
        </p:nvSpPr>
        <p:spPr>
          <a:xfrm>
            <a:off x="7380312" y="3081498"/>
            <a:ext cx="585008" cy="162000"/>
          </a:xfrm>
          <a:prstGeom prst="rect">
            <a:avLst/>
          </a:prstGeom>
          <a:solidFill>
            <a:srgbClr val="C0000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1747594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ktangel 4"/>
          <p:cNvSpPr/>
          <p:nvPr/>
        </p:nvSpPr>
        <p:spPr>
          <a:xfrm>
            <a:off x="1143000" y="114477"/>
            <a:ext cx="6858000" cy="4767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Platshållare för innehåll 2"/>
          <p:cNvSpPr>
            <a:spLocks noGrp="1"/>
          </p:cNvSpPr>
          <p:nvPr>
            <p:ph idx="1"/>
          </p:nvPr>
        </p:nvSpPr>
        <p:spPr>
          <a:xfrm>
            <a:off x="683568" y="4261175"/>
            <a:ext cx="8024480" cy="488817"/>
          </a:xfrm>
        </p:spPr>
        <p:txBody>
          <a:bodyPr>
            <a:noAutofit/>
          </a:bodyPr>
          <a:lstStyle/>
          <a:p>
            <a:pPr marL="0" indent="0">
              <a:buNone/>
            </a:pPr>
            <a:r>
              <a:rPr lang="en-US" sz="2400" dirty="0"/>
              <a:t>A step up from correlation analysis is </a:t>
            </a:r>
            <a:r>
              <a:rPr lang="en-US" sz="2400" b="1" i="1" dirty="0"/>
              <a:t>linear regression analysis</a:t>
            </a:r>
            <a:r>
              <a:rPr lang="en-US" sz="2400" dirty="0"/>
              <a:t>.</a:t>
            </a:r>
          </a:p>
        </p:txBody>
      </p:sp>
      <p:sp>
        <p:nvSpPr>
          <p:cNvPr id="2" name="Platshållare för bildnummer 1"/>
          <p:cNvSpPr>
            <a:spLocks noGrp="1"/>
          </p:cNvSpPr>
          <p:nvPr>
            <p:ph type="sldNum" sz="quarter" idx="12"/>
          </p:nvPr>
        </p:nvSpPr>
        <p:spPr>
          <a:prstGeom prst="rect">
            <a:avLst/>
          </a:prstGeom>
        </p:spPr>
        <p:txBody>
          <a:bodyPr/>
          <a:lstStyle/>
          <a:p>
            <a:pPr>
              <a:defRPr/>
            </a:pPr>
            <a:fld id="{6EA40670-0085-46BE-8A1D-C037329D2922}" type="slidenum">
              <a:rPr lang="sv-SE" sz="900"/>
              <a:pPr>
                <a:defRPr/>
              </a:pPr>
              <a:t>86</a:t>
            </a:fld>
            <a:endParaRPr lang="sv-SE" sz="900" dirty="0"/>
          </a:p>
        </p:txBody>
      </p:sp>
      <p:sp>
        <p:nvSpPr>
          <p:cNvPr id="7" name="TextBox 6"/>
          <p:cNvSpPr txBox="1"/>
          <p:nvPr/>
        </p:nvSpPr>
        <p:spPr>
          <a:xfrm>
            <a:off x="1439652" y="114477"/>
            <a:ext cx="6318702" cy="461665"/>
          </a:xfrm>
          <a:prstGeom prst="rect">
            <a:avLst/>
          </a:prstGeom>
          <a:noFill/>
        </p:spPr>
        <p:txBody>
          <a:bodyPr wrap="square" rtlCol="0">
            <a:spAutoFit/>
          </a:bodyPr>
          <a:lstStyle/>
          <a:p>
            <a:pPr>
              <a:spcAft>
                <a:spcPts val="450"/>
              </a:spcAft>
            </a:pPr>
            <a:r>
              <a:rPr lang="en-US" sz="2400" b="1" dirty="0">
                <a:latin typeface="+mj-lt"/>
              </a:rPr>
              <a:t>Pearson (linear) correlation = -0.56</a:t>
            </a:r>
          </a:p>
        </p:txBody>
      </p:sp>
      <p:pic>
        <p:nvPicPr>
          <p:cNvPr id="3" name="Picture 2"/>
          <p:cNvPicPr>
            <a:picLocks noChangeAspect="1"/>
          </p:cNvPicPr>
          <p:nvPr/>
        </p:nvPicPr>
        <p:blipFill>
          <a:blip r:embed="rId3"/>
          <a:stretch>
            <a:fillRect/>
          </a:stretch>
        </p:blipFill>
        <p:spPr>
          <a:xfrm>
            <a:off x="2195736" y="572267"/>
            <a:ext cx="4493419" cy="3600450"/>
          </a:xfrm>
          <a:prstGeom prst="rect">
            <a:avLst/>
          </a:prstGeom>
        </p:spPr>
      </p:pic>
    </p:spTree>
    <p:extLst>
      <p:ext uri="{BB962C8B-B14F-4D97-AF65-F5344CB8AC3E}">
        <p14:creationId xmlns:p14="http://schemas.microsoft.com/office/powerpoint/2010/main" val="2218071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brik 1"/>
          <p:cNvSpPr>
            <a:spLocks noGrp="1"/>
          </p:cNvSpPr>
          <p:nvPr>
            <p:ph type="title"/>
          </p:nvPr>
        </p:nvSpPr>
        <p:spPr>
          <a:xfrm>
            <a:off x="2978822" y="79950"/>
            <a:ext cx="3776777" cy="475336"/>
          </a:xfrm>
          <a:noFill/>
        </p:spPr>
        <p:txBody>
          <a:bodyPr>
            <a:noAutofit/>
          </a:bodyPr>
          <a:lstStyle/>
          <a:p>
            <a:r>
              <a:rPr lang="en-US" sz="4000" b="0" dirty="0">
                <a:ln w="0"/>
                <a:solidFill>
                  <a:schemeClr val="tx1"/>
                </a:solidFill>
                <a:effectLst>
                  <a:outerShdw blurRad="38100" dist="19050" dir="2700000" algn="tl" rotWithShape="0">
                    <a:schemeClr val="dk1">
                      <a:alpha val="40000"/>
                    </a:schemeClr>
                  </a:outerShdw>
                </a:effectLst>
                <a:latin typeface="+mn-lt"/>
              </a:rPr>
              <a:t>Linear Regression</a:t>
            </a:r>
          </a:p>
        </p:txBody>
      </p:sp>
      <p:sp>
        <p:nvSpPr>
          <p:cNvPr id="4" name="Content Placeholder 2"/>
          <p:cNvSpPr>
            <a:spLocks noGrp="1"/>
          </p:cNvSpPr>
          <p:nvPr>
            <p:ph idx="1"/>
          </p:nvPr>
        </p:nvSpPr>
        <p:spPr>
          <a:xfrm>
            <a:off x="827584" y="735546"/>
            <a:ext cx="7952472" cy="3996444"/>
          </a:xfrm>
        </p:spPr>
        <p:txBody>
          <a:bodyPr vert="horz" lIns="0" tIns="0" rIns="0" bIns="0" rtlCol="0">
            <a:noAutofit/>
          </a:bodyPr>
          <a:lstStyle/>
          <a:p>
            <a:pPr>
              <a:spcBef>
                <a:spcPct val="0"/>
              </a:spcBef>
              <a:spcAft>
                <a:spcPts val="1200"/>
              </a:spcAft>
            </a:pPr>
            <a:r>
              <a:rPr lang="en-US" sz="2000" b="1" dirty="0">
                <a:latin typeface="+mn-lt"/>
                <a:ea typeface="Verdana" panose="020B0604030504040204" pitchFamily="34" charset="0"/>
              </a:rPr>
              <a:t>The idea</a:t>
            </a:r>
            <a:r>
              <a:rPr lang="en-US" sz="2000" dirty="0">
                <a:latin typeface="+mn-lt"/>
                <a:ea typeface="Verdana" panose="020B0604030504040204" pitchFamily="34" charset="0"/>
              </a:rPr>
              <a:t>: assume a mathematical </a:t>
            </a:r>
            <a:r>
              <a:rPr lang="en-US" sz="2000" b="1" dirty="0">
                <a:latin typeface="+mn-lt"/>
                <a:ea typeface="Verdana" panose="020B0604030504040204" pitchFamily="34" charset="0"/>
              </a:rPr>
              <a:t>model</a:t>
            </a:r>
            <a:r>
              <a:rPr lang="en-US" sz="2000" dirty="0">
                <a:latin typeface="+mn-lt"/>
                <a:ea typeface="Verdana" panose="020B0604030504040204" pitchFamily="34" charset="0"/>
              </a:rPr>
              <a:t> that reflects the reality. Based on this, we want to </a:t>
            </a:r>
            <a:r>
              <a:rPr lang="en-US" sz="2000" b="1" dirty="0">
                <a:latin typeface="+mn-lt"/>
                <a:ea typeface="Verdana" panose="020B0604030504040204" pitchFamily="34" charset="0"/>
              </a:rPr>
              <a:t>predict</a:t>
            </a:r>
            <a:r>
              <a:rPr lang="en-US" sz="2000" dirty="0">
                <a:latin typeface="+mn-lt"/>
                <a:ea typeface="Verdana" panose="020B0604030504040204" pitchFamily="34" charset="0"/>
              </a:rPr>
              <a:t> an outcome variable </a:t>
            </a:r>
            <a:r>
              <a:rPr lang="en-US" sz="2000" b="1" dirty="0">
                <a:latin typeface="+mn-lt"/>
                <a:ea typeface="Verdana" panose="020B0604030504040204" pitchFamily="34" charset="0"/>
              </a:rPr>
              <a:t>Y</a:t>
            </a:r>
            <a:r>
              <a:rPr lang="en-US" sz="2000" dirty="0">
                <a:latin typeface="+mn-lt"/>
                <a:ea typeface="Verdana" panose="020B0604030504040204" pitchFamily="34" charset="0"/>
              </a:rPr>
              <a:t> from one (or several) predictor variable </a:t>
            </a:r>
            <a:r>
              <a:rPr lang="en-US" sz="2000" b="1" dirty="0">
                <a:latin typeface="+mn-lt"/>
                <a:ea typeface="Verdana" panose="020B0604030504040204" pitchFamily="34" charset="0"/>
              </a:rPr>
              <a:t>X</a:t>
            </a:r>
            <a:r>
              <a:rPr lang="en-US" sz="2000" dirty="0">
                <a:latin typeface="+mn-lt"/>
                <a:ea typeface="Verdana" panose="020B0604030504040204" pitchFamily="34" charset="0"/>
              </a:rPr>
              <a:t> that are known. </a:t>
            </a:r>
          </a:p>
          <a:p>
            <a:pPr eaLnBrk="1" hangingPunct="1">
              <a:spcBef>
                <a:spcPct val="0"/>
              </a:spcBef>
            </a:pPr>
            <a:r>
              <a:rPr lang="en-US" sz="2000" dirty="0">
                <a:latin typeface="+mn-lt"/>
                <a:ea typeface="Verdana" panose="020B0604030504040204" pitchFamily="34" charset="0"/>
              </a:rPr>
              <a:t>Several types of questions can be answered by using regression:</a:t>
            </a:r>
          </a:p>
          <a:p>
            <a:pPr lvl="1">
              <a:spcBef>
                <a:spcPct val="0"/>
              </a:spcBef>
              <a:spcAft>
                <a:spcPts val="450"/>
              </a:spcAft>
            </a:pPr>
            <a:r>
              <a:rPr lang="en-US" sz="2000" dirty="0">
                <a:latin typeface="+mn-lt"/>
                <a:ea typeface="Verdana" panose="020B0604030504040204" pitchFamily="34" charset="0"/>
              </a:rPr>
              <a:t>Has the incidence of autism increased over the past 2 decades?</a:t>
            </a:r>
          </a:p>
          <a:p>
            <a:pPr lvl="1">
              <a:spcBef>
                <a:spcPct val="0"/>
              </a:spcBef>
              <a:spcAft>
                <a:spcPts val="450"/>
              </a:spcAft>
            </a:pPr>
            <a:r>
              <a:rPr lang="en-US" sz="2000" dirty="0">
                <a:latin typeface="+mn-lt"/>
                <a:ea typeface="Verdana" panose="020B0604030504040204" pitchFamily="34" charset="0"/>
              </a:rPr>
              <a:t>Does a new drug treat allergy, or on the contrary, results in more adverse events?</a:t>
            </a:r>
          </a:p>
          <a:p>
            <a:pPr lvl="1">
              <a:spcBef>
                <a:spcPct val="0"/>
              </a:spcBef>
              <a:spcAft>
                <a:spcPts val="450"/>
              </a:spcAft>
            </a:pPr>
            <a:r>
              <a:rPr lang="en-US" sz="2000" dirty="0">
                <a:latin typeface="+mn-lt"/>
                <a:ea typeface="Verdana" panose="020B0604030504040204" pitchFamily="34" charset="0"/>
              </a:rPr>
              <a:t>What is the risk of car accidents during a certain period?</a:t>
            </a:r>
          </a:p>
          <a:p>
            <a:pPr lvl="1">
              <a:spcBef>
                <a:spcPct val="0"/>
              </a:spcBef>
              <a:spcAft>
                <a:spcPts val="450"/>
              </a:spcAft>
            </a:pPr>
            <a:r>
              <a:rPr lang="en-US" sz="2000" dirty="0">
                <a:latin typeface="+mn-lt"/>
                <a:ea typeface="Verdana" panose="020B0604030504040204" pitchFamily="34" charset="0"/>
              </a:rPr>
              <a:t>…</a:t>
            </a:r>
          </a:p>
          <a:p>
            <a:pPr eaLnBrk="1" hangingPunct="1">
              <a:spcBef>
                <a:spcPct val="0"/>
              </a:spcBef>
            </a:pPr>
            <a:endParaRPr lang="en-US" sz="2000" dirty="0">
              <a:latin typeface="+mn-lt"/>
              <a:ea typeface="Verdana" panose="020B0604030504040204" pitchFamily="34" charset="0"/>
            </a:endParaRP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87</a:t>
            </a:fld>
            <a:endParaRPr lang="sv-SE">
              <a:solidFill>
                <a:srgbClr val="000000">
                  <a:tint val="75000"/>
                </a:srgbClr>
              </a:solidFill>
            </a:endParaRPr>
          </a:p>
        </p:txBody>
      </p:sp>
    </p:spTree>
    <p:extLst>
      <p:ext uri="{BB962C8B-B14F-4D97-AF65-F5344CB8AC3E}">
        <p14:creationId xmlns:p14="http://schemas.microsoft.com/office/powerpoint/2010/main" val="27714336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ktangel 4"/>
          <p:cNvSpPr/>
          <p:nvPr/>
        </p:nvSpPr>
        <p:spPr>
          <a:xfrm>
            <a:off x="1143000" y="0"/>
            <a:ext cx="6858000" cy="4767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410" name="Rubrik 1"/>
          <p:cNvSpPr>
            <a:spLocks noGrp="1"/>
          </p:cNvSpPr>
          <p:nvPr>
            <p:ph type="title"/>
          </p:nvPr>
        </p:nvSpPr>
        <p:spPr>
          <a:xfrm>
            <a:off x="1485900" y="205978"/>
            <a:ext cx="6172200" cy="421556"/>
          </a:xfrm>
        </p:spPr>
        <p:txBody>
          <a:bodyPr>
            <a:normAutofit/>
          </a:bodyPr>
          <a:lstStyle/>
          <a:p>
            <a:r>
              <a:rPr lang="en-US" sz="2250" b="0" dirty="0">
                <a:latin typeface="Calibri" panose="020F0502020204030204" pitchFamily="34" charset="0"/>
              </a:rPr>
              <a:t>Linear regression – the ‘best’ fitted straight line</a:t>
            </a:r>
            <a:endParaRPr lang="sv-SE" sz="2250" b="0" dirty="0">
              <a:latin typeface="Calibri" panose="020F0502020204030204" pitchFamily="34" charset="0"/>
            </a:endParaRPr>
          </a:p>
        </p:txBody>
      </p:sp>
      <p:sp>
        <p:nvSpPr>
          <p:cNvPr id="2" name="Platshållare för bildnummer 1"/>
          <p:cNvSpPr>
            <a:spLocks noGrp="1"/>
          </p:cNvSpPr>
          <p:nvPr>
            <p:ph type="sldNum" sz="quarter" idx="12"/>
          </p:nvPr>
        </p:nvSpPr>
        <p:spPr>
          <a:prstGeom prst="rect">
            <a:avLst/>
          </a:prstGeom>
        </p:spPr>
        <p:txBody>
          <a:bodyPr/>
          <a:lstStyle/>
          <a:p>
            <a:pPr>
              <a:defRPr/>
            </a:pPr>
            <a:fld id="{6EA40670-0085-46BE-8A1D-C037329D2922}" type="slidenum">
              <a:rPr lang="sv-SE" sz="900"/>
              <a:pPr>
                <a:defRPr/>
              </a:pPr>
              <a:t>88</a:t>
            </a:fld>
            <a:endParaRPr lang="sv-SE" sz="900" dirty="0"/>
          </a:p>
        </p:txBody>
      </p:sp>
      <p:pic>
        <p:nvPicPr>
          <p:cNvPr id="3" name="Picture 2"/>
          <p:cNvPicPr>
            <a:picLocks noChangeAspect="1"/>
          </p:cNvPicPr>
          <p:nvPr/>
        </p:nvPicPr>
        <p:blipFill>
          <a:blip r:embed="rId3"/>
          <a:stretch>
            <a:fillRect/>
          </a:stretch>
        </p:blipFill>
        <p:spPr>
          <a:xfrm>
            <a:off x="2325291" y="771525"/>
            <a:ext cx="4493419" cy="3600450"/>
          </a:xfrm>
          <a:prstGeom prst="rect">
            <a:avLst/>
          </a:prstGeom>
        </p:spPr>
      </p:pic>
      <p:pic>
        <p:nvPicPr>
          <p:cNvPr id="4" name="Picture 3"/>
          <p:cNvPicPr>
            <a:picLocks noChangeAspect="1"/>
          </p:cNvPicPr>
          <p:nvPr/>
        </p:nvPicPr>
        <p:blipFill>
          <a:blip r:embed="rId4"/>
          <a:stretch>
            <a:fillRect/>
          </a:stretch>
        </p:blipFill>
        <p:spPr>
          <a:xfrm>
            <a:off x="2145588" y="627534"/>
            <a:ext cx="5162716" cy="4136739"/>
          </a:xfrm>
          <a:prstGeom prst="rect">
            <a:avLst/>
          </a:prstGeom>
        </p:spPr>
      </p:pic>
    </p:spTree>
    <p:extLst>
      <p:ext uri="{BB962C8B-B14F-4D97-AF65-F5344CB8AC3E}">
        <p14:creationId xmlns:p14="http://schemas.microsoft.com/office/powerpoint/2010/main" val="388307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899592" y="295317"/>
            <a:ext cx="7992888" cy="594122"/>
          </a:xfrm>
        </p:spPr>
        <p:txBody>
          <a:bodyPr/>
          <a:lstStyle/>
          <a:p>
            <a:r>
              <a:rPr lang="en-US" sz="3200" b="1" dirty="0"/>
              <a:t>Do not confuse regression and correlation!</a:t>
            </a:r>
          </a:p>
        </p:txBody>
      </p:sp>
      <mc:AlternateContent xmlns:mc="http://schemas.openxmlformats.org/markup-compatibility/2006" xmlns:a14="http://schemas.microsoft.com/office/drawing/2010/main">
        <mc:Choice Requires="a14">
          <p:sp>
            <p:nvSpPr>
              <p:cNvPr id="3" name="Platshållare för innehåll 2"/>
              <p:cNvSpPr>
                <a:spLocks noGrp="1"/>
              </p:cNvSpPr>
              <p:nvPr>
                <p:ph idx="1"/>
              </p:nvPr>
            </p:nvSpPr>
            <p:spPr/>
            <p:txBody>
              <a:bodyPr>
                <a:noAutofit/>
              </a:bodyPr>
              <a:lstStyle/>
              <a:p>
                <a:pPr>
                  <a:spcAft>
                    <a:spcPts val="900"/>
                  </a:spcAft>
                </a:pPr>
                <a:r>
                  <a:rPr lang="en-US" dirty="0">
                    <a:latin typeface="+mn-lt"/>
                    <a:ea typeface="Verdana" panose="020B0604030504040204" pitchFamily="34" charset="0"/>
                  </a:rPr>
                  <a:t>They are related but not the same thing.</a:t>
                </a:r>
              </a:p>
              <a:p>
                <a:pPr>
                  <a:spcAft>
                    <a:spcPts val="900"/>
                  </a:spcAft>
                </a:pPr>
                <a:r>
                  <a:rPr lang="en-US" dirty="0">
                    <a:latin typeface="+mn-lt"/>
                    <a:ea typeface="Verdana" panose="020B0604030504040204" pitchFamily="34" charset="0"/>
                  </a:rPr>
                  <a:t>Correlation does </a:t>
                </a:r>
                <a:r>
                  <a:rPr lang="en-US" b="1" dirty="0">
                    <a:latin typeface="+mn-lt"/>
                    <a:ea typeface="Verdana" panose="020B0604030504040204" pitchFamily="34" charset="0"/>
                  </a:rPr>
                  <a:t>not</a:t>
                </a:r>
                <a:r>
                  <a:rPr lang="en-US" dirty="0">
                    <a:latin typeface="+mn-lt"/>
                    <a:ea typeface="Verdana" panose="020B0604030504040204" pitchFamily="34" charset="0"/>
                  </a:rPr>
                  <a:t> have a </a:t>
                </a:r>
                <a:r>
                  <a:rPr lang="en-US" b="1" dirty="0">
                    <a:latin typeface="+mn-lt"/>
                    <a:ea typeface="Verdana" panose="020B0604030504040204" pitchFamily="34" charset="0"/>
                  </a:rPr>
                  <a:t>direction</a:t>
                </a:r>
                <a:r>
                  <a:rPr lang="en-US" dirty="0">
                    <a:latin typeface="+mn-lt"/>
                    <a:ea typeface="Verdana" panose="020B0604030504040204" pitchFamily="34" charset="0"/>
                  </a:rPr>
                  <a:t> from one variable to the other. The variables are correlated to each other.  </a:t>
                </a:r>
              </a:p>
              <a:p>
                <a:pPr>
                  <a:spcAft>
                    <a:spcPts val="900"/>
                  </a:spcAft>
                </a:pPr>
                <a:r>
                  <a:rPr lang="en-US" dirty="0">
                    <a:latin typeface="+mn-lt"/>
                    <a:ea typeface="Verdana" panose="020B0604030504040204" pitchFamily="34" charset="0"/>
                  </a:rPr>
                  <a:t>Linear regression has a direction: The </a:t>
                </a:r>
                <a:r>
                  <a:rPr lang="en-US" b="1" dirty="0">
                    <a:latin typeface="+mn-lt"/>
                    <a:ea typeface="Verdana" panose="020B0604030504040204" pitchFamily="34" charset="0"/>
                  </a:rPr>
                  <a:t>outcome</a:t>
                </a:r>
                <a:r>
                  <a:rPr lang="en-US" dirty="0">
                    <a:latin typeface="+mn-lt"/>
                    <a:ea typeface="Verdana" panose="020B0604030504040204" pitchFamily="34" charset="0"/>
                  </a:rPr>
                  <a:t> (Y) is dependent of the </a:t>
                </a:r>
                <a:r>
                  <a:rPr lang="en-US" b="1" dirty="0">
                    <a:latin typeface="+mn-lt"/>
                    <a:ea typeface="Verdana" panose="020B0604030504040204" pitchFamily="34" charset="0"/>
                  </a:rPr>
                  <a:t>predictor</a:t>
                </a:r>
                <a:r>
                  <a:rPr lang="en-US" dirty="0">
                    <a:latin typeface="+mn-lt"/>
                    <a:ea typeface="Verdana" panose="020B0604030504040204" pitchFamily="34" charset="0"/>
                  </a:rPr>
                  <a:t> (X).</a:t>
                </a:r>
              </a:p>
              <a:p>
                <a:pPr>
                  <a:spcAft>
                    <a:spcPts val="900"/>
                  </a:spcAft>
                </a:pPr>
                <a:r>
                  <a:rPr lang="en-US" dirty="0">
                    <a:latin typeface="+mn-lt"/>
                    <a:ea typeface="Verdana" panose="020B0604030504040204" pitchFamily="34" charset="0"/>
                  </a:rPr>
                  <a:t>Linear regression is a mathematical model:</a:t>
                </a:r>
              </a:p>
              <a:p>
                <a:pPr marL="0" indent="0">
                  <a:spcAft>
                    <a:spcPts val="900"/>
                  </a:spcAft>
                  <a:buNone/>
                </a:pPr>
                <a14:m>
                  <m:oMathPara xmlns:m="http://schemas.openxmlformats.org/officeDocument/2006/math">
                    <m:oMathParaPr>
                      <m:jc m:val="centerGroup"/>
                    </m:oMathParaPr>
                    <m:oMath xmlns:m="http://schemas.openxmlformats.org/officeDocument/2006/math">
                      <m:r>
                        <m:rPr>
                          <m:nor/>
                        </m:rPr>
                        <a:rPr lang="en-US" dirty="0">
                          <a:latin typeface="+mn-lt"/>
                          <a:ea typeface="Verdana" panose="020B0604030504040204" pitchFamily="34" charset="0"/>
                        </a:rPr>
                        <m:t>E</m:t>
                      </m:r>
                      <m:r>
                        <m:rPr>
                          <m:nor/>
                        </m:rPr>
                        <a:rPr lang="en-US" dirty="0">
                          <a:latin typeface="+mn-lt"/>
                          <a:ea typeface="Verdana" panose="020B0604030504040204" pitchFamily="34" charset="0"/>
                        </a:rPr>
                        <m:t>[</m:t>
                      </m:r>
                      <m:r>
                        <m:rPr>
                          <m:nor/>
                        </m:rPr>
                        <a:rPr lang="en-US" dirty="0">
                          <a:latin typeface="+mn-lt"/>
                          <a:ea typeface="Verdana" panose="020B0604030504040204" pitchFamily="34" charset="0"/>
                        </a:rPr>
                        <m:t>Y</m:t>
                      </m:r>
                      <m:r>
                        <m:rPr>
                          <m:nor/>
                        </m:rPr>
                        <a:rPr lang="en-US" dirty="0">
                          <a:latin typeface="+mn-lt"/>
                          <a:ea typeface="Verdana" panose="020B0604030504040204" pitchFamily="34" charset="0"/>
                        </a:rPr>
                        <m:t>] = </m:t>
                      </m:r>
                      <m:r>
                        <m:rPr>
                          <m:nor/>
                        </m:rPr>
                        <a:rPr lang="el-GR" dirty="0">
                          <a:latin typeface="+mn-lt"/>
                          <a:ea typeface="Verdana" panose="020B0604030504040204" pitchFamily="34" charset="0"/>
                        </a:rPr>
                        <m:t>α</m:t>
                      </m:r>
                      <m:r>
                        <m:rPr>
                          <m:nor/>
                        </m:rPr>
                        <a:rPr lang="sv-SE" dirty="0">
                          <a:latin typeface="+mn-lt"/>
                          <a:ea typeface="Verdana" panose="020B0604030504040204" pitchFamily="34" charset="0"/>
                        </a:rPr>
                        <m:t> +</m:t>
                      </m:r>
                      <m:r>
                        <m:rPr>
                          <m:nor/>
                        </m:rPr>
                        <a:rPr lang="en-US" dirty="0">
                          <a:latin typeface="+mn-lt"/>
                          <a:ea typeface="Verdana" panose="020B0604030504040204" pitchFamily="34" charset="0"/>
                        </a:rPr>
                        <m:t> </m:t>
                      </m:r>
                      <m:r>
                        <m:rPr>
                          <m:nor/>
                        </m:rPr>
                        <a:rPr lang="el-GR" dirty="0">
                          <a:latin typeface="+mn-lt"/>
                          <a:ea typeface="Verdana" panose="020B0604030504040204" pitchFamily="34" charset="0"/>
                        </a:rPr>
                        <m:t>β</m:t>
                      </m:r>
                      <m:r>
                        <m:rPr>
                          <m:nor/>
                        </m:rPr>
                        <a:rPr lang="sv-SE" dirty="0">
                          <a:latin typeface="+mn-lt"/>
                          <a:ea typeface="Verdana" panose="020B0604030504040204" pitchFamily="34" charset="0"/>
                        </a:rPr>
                        <m:t>∗</m:t>
                      </m:r>
                      <m:r>
                        <m:rPr>
                          <m:nor/>
                        </m:rPr>
                        <a:rPr lang="sv-SE" dirty="0">
                          <a:latin typeface="+mn-lt"/>
                          <a:ea typeface="Verdana" panose="020B0604030504040204" pitchFamily="34" charset="0"/>
                        </a:rPr>
                        <m:t>X</m:t>
                      </m:r>
                      <m:r>
                        <m:rPr>
                          <m:nor/>
                        </m:rPr>
                        <a:rPr lang="en-US" dirty="0">
                          <a:latin typeface="+mn-lt"/>
                          <a:ea typeface="Verdana" panose="020B0604030504040204" pitchFamily="34" charset="0"/>
                        </a:rPr>
                        <m:t>   </m:t>
                      </m:r>
                    </m:oMath>
                  </m:oMathPara>
                </a14:m>
                <a:endParaRPr lang="en-US" dirty="0">
                  <a:latin typeface="+mn-lt"/>
                  <a:ea typeface="Verdana" panose="020B0604030504040204" pitchFamily="34" charset="0"/>
                </a:endParaRPr>
              </a:p>
              <a:p>
                <a:pPr marL="0" indent="0">
                  <a:buNone/>
                </a:pPr>
                <a:endParaRPr lang="en-US" dirty="0">
                  <a:latin typeface="+mn-lt"/>
                  <a:ea typeface="Verdana" panose="020B0604030504040204" pitchFamily="34" charset="0"/>
                </a:endParaRPr>
              </a:p>
              <a:p>
                <a:endParaRPr lang="en-US" dirty="0">
                  <a:latin typeface="+mn-lt"/>
                  <a:ea typeface="Verdana" panose="020B0604030504040204" pitchFamily="34" charset="0"/>
                </a:endParaRPr>
              </a:p>
            </p:txBody>
          </p:sp>
        </mc:Choice>
        <mc:Fallback xmlns="">
          <p:sp>
            <p:nvSpPr>
              <p:cNvPr id="3" name="Platshållare för innehåll 2"/>
              <p:cNvSpPr>
                <a:spLocks noGrp="1" noRot="1" noChangeAspect="1" noMove="1" noResize="1" noEditPoints="1" noAdjustHandles="1" noChangeArrowheads="1" noChangeShapeType="1" noTextEdit="1"/>
              </p:cNvSpPr>
              <p:nvPr>
                <p:ph idx="1"/>
              </p:nvPr>
            </p:nvSpPr>
            <p:spPr>
              <a:blipFill>
                <a:blip r:embed="rId3"/>
                <a:stretch>
                  <a:fillRect l="-1634" t="-2340"/>
                </a:stretch>
              </a:blipFill>
            </p:spPr>
            <p:txBody>
              <a:bodyPr/>
              <a:lstStyle/>
              <a:p>
                <a:r>
                  <a:rPr lang="en-US">
                    <a:noFill/>
                  </a:rPr>
                  <a:t> </a:t>
                </a:r>
              </a:p>
            </p:txBody>
          </p:sp>
        </mc:Fallback>
      </mc:AlternateContent>
      <p:sp>
        <p:nvSpPr>
          <p:cNvPr id="4" name="Platshållare för bildnummer 3"/>
          <p:cNvSpPr>
            <a:spLocks noGrp="1"/>
          </p:cNvSpPr>
          <p:nvPr>
            <p:ph type="sldNum" sz="quarter" idx="12"/>
          </p:nvPr>
        </p:nvSpPr>
        <p:spPr/>
        <p:txBody>
          <a:bodyPr/>
          <a:lstStyle/>
          <a:p>
            <a:fld id="{49D34020-361E-4A13-8C95-66E98A929282}" type="slidenum">
              <a:rPr lang="sv-SE" smtClean="0"/>
              <a:pPr/>
              <a:t>89</a:t>
            </a:fld>
            <a:endParaRPr lang="sv-SE"/>
          </a:p>
        </p:txBody>
      </p:sp>
    </p:spTree>
    <p:extLst>
      <p:ext uri="{BB962C8B-B14F-4D97-AF65-F5344CB8AC3E}">
        <p14:creationId xmlns:p14="http://schemas.microsoft.com/office/powerpoint/2010/main" val="36797048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971600" y="221634"/>
            <a:ext cx="6172200" cy="421556"/>
          </a:xfrm>
        </p:spPr>
        <p:txBody>
          <a:bodyPr>
            <a:noAutofit/>
          </a:bodyPr>
          <a:lstStyle/>
          <a:p>
            <a:r>
              <a:rPr lang="en-US" sz="3200" dirty="0">
                <a:latin typeface="Calibri" panose="020F0502020204030204" pitchFamily="34" charset="0"/>
              </a:rPr>
              <a:t>Linear regression output SPSS</a:t>
            </a:r>
            <a:endParaRPr lang="sv-SE" sz="3200" dirty="0">
              <a:latin typeface="Calibri" panose="020F0502020204030204" pitchFamily="34" charset="0"/>
            </a:endParaRPr>
          </a:p>
        </p:txBody>
      </p:sp>
      <p:sp>
        <p:nvSpPr>
          <p:cNvPr id="2" name="Platshållare för bildnummer 1"/>
          <p:cNvSpPr>
            <a:spLocks noGrp="1"/>
          </p:cNvSpPr>
          <p:nvPr>
            <p:ph type="sldNum" sz="quarter" idx="12"/>
          </p:nvPr>
        </p:nvSpPr>
        <p:spPr>
          <a:prstGeom prst="rect">
            <a:avLst/>
          </a:prstGeom>
        </p:spPr>
        <p:txBody>
          <a:bodyPr/>
          <a:lstStyle/>
          <a:p>
            <a:pPr>
              <a:defRPr/>
            </a:pPr>
            <a:fld id="{6EA40670-0085-46BE-8A1D-C037329D2922}" type="slidenum">
              <a:rPr lang="sv-SE" sz="900"/>
              <a:pPr>
                <a:defRPr/>
              </a:pPr>
              <a:t>90</a:t>
            </a:fld>
            <a:endParaRPr lang="sv-SE" sz="900" dirty="0"/>
          </a:p>
        </p:txBody>
      </p:sp>
      <p:sp>
        <p:nvSpPr>
          <p:cNvPr id="7" name="TextBox 6"/>
          <p:cNvSpPr txBox="1"/>
          <p:nvPr/>
        </p:nvSpPr>
        <p:spPr>
          <a:xfrm>
            <a:off x="987854" y="2517745"/>
            <a:ext cx="6968522" cy="2105705"/>
          </a:xfrm>
          <a:prstGeom prst="rect">
            <a:avLst/>
          </a:prstGeom>
          <a:noFill/>
        </p:spPr>
        <p:txBody>
          <a:bodyPr wrap="square" rtlCol="0">
            <a:spAutoFit/>
          </a:bodyPr>
          <a:lstStyle/>
          <a:p>
            <a:pPr marL="214313" indent="-214313">
              <a:spcAft>
                <a:spcPts val="450"/>
              </a:spcAft>
              <a:buFont typeface="Arial" panose="020B0604020202020204" pitchFamily="34" charset="0"/>
              <a:buChar char="•"/>
            </a:pPr>
            <a:r>
              <a:rPr lang="en-US" sz="2000" dirty="0">
                <a:latin typeface="Calibri" panose="020F0502020204030204" pitchFamily="34" charset="0"/>
              </a:rPr>
              <a:t>E[Y] = </a:t>
            </a:r>
            <a:r>
              <a:rPr lang="el-GR" sz="2000" dirty="0">
                <a:latin typeface="Calibri" panose="020F0502020204030204" pitchFamily="34" charset="0"/>
              </a:rPr>
              <a:t>α</a:t>
            </a:r>
            <a:r>
              <a:rPr lang="sv-SE" sz="2000" dirty="0">
                <a:latin typeface="Calibri" panose="020F0502020204030204" pitchFamily="34" charset="0"/>
              </a:rPr>
              <a:t> +</a:t>
            </a:r>
            <a:r>
              <a:rPr lang="en-US" sz="2000" dirty="0">
                <a:latin typeface="Calibri" panose="020F0502020204030204" pitchFamily="34" charset="0"/>
              </a:rPr>
              <a:t> </a:t>
            </a:r>
            <a:r>
              <a:rPr lang="el-GR" sz="2000" dirty="0">
                <a:latin typeface="Calibri" panose="020F0502020204030204" pitchFamily="34" charset="0"/>
              </a:rPr>
              <a:t>β</a:t>
            </a:r>
            <a:r>
              <a:rPr lang="sv-SE" sz="2000" dirty="0">
                <a:latin typeface="Calibri" panose="020F0502020204030204" pitchFamily="34" charset="0"/>
              </a:rPr>
              <a:t>*X</a:t>
            </a:r>
            <a:r>
              <a:rPr lang="en-US" sz="2000" dirty="0">
                <a:latin typeface="Calibri" panose="020F0502020204030204" pitchFamily="34" charset="0"/>
              </a:rPr>
              <a:t>   -&gt;  Heel-rise = 1.062 – 0.009*Age</a:t>
            </a:r>
          </a:p>
          <a:p>
            <a:pPr marL="214313" indent="-214313">
              <a:spcAft>
                <a:spcPts val="450"/>
              </a:spcAft>
              <a:buFont typeface="Arial" panose="020B0604020202020204" pitchFamily="34" charset="0"/>
              <a:buChar char="•"/>
            </a:pPr>
            <a:endParaRPr lang="en-US" dirty="0">
              <a:latin typeface="Calibri" panose="020F0502020204030204" pitchFamily="34" charset="0"/>
            </a:endParaRPr>
          </a:p>
          <a:p>
            <a:pPr marL="214313" indent="-214313">
              <a:spcAft>
                <a:spcPts val="450"/>
              </a:spcAft>
              <a:buFont typeface="Arial" panose="020B0604020202020204" pitchFamily="34" charset="0"/>
              <a:buChar char="•"/>
            </a:pPr>
            <a:endParaRPr lang="en-US" dirty="0">
              <a:latin typeface="Calibri" panose="020F0502020204030204" pitchFamily="34" charset="0"/>
            </a:endParaRPr>
          </a:p>
          <a:p>
            <a:pPr marL="214313" indent="-214313">
              <a:spcAft>
                <a:spcPts val="450"/>
              </a:spcAft>
              <a:buFont typeface="Arial" panose="020B0604020202020204" pitchFamily="34" charset="0"/>
              <a:buChar char="•"/>
            </a:pPr>
            <a:r>
              <a:rPr lang="en-US" dirty="0">
                <a:latin typeface="Calibri" panose="020F0502020204030204" pitchFamily="34" charset="0"/>
              </a:rPr>
              <a:t>General model fit?</a:t>
            </a:r>
          </a:p>
          <a:p>
            <a:pPr marL="214313" indent="-214313">
              <a:spcAft>
                <a:spcPts val="450"/>
              </a:spcAft>
              <a:buFont typeface="Arial" panose="020B0604020202020204" pitchFamily="34" charset="0"/>
              <a:buChar char="•"/>
            </a:pPr>
            <a:r>
              <a:rPr lang="en-US" dirty="0">
                <a:latin typeface="Calibri" panose="020F0502020204030204" pitchFamily="34" charset="0"/>
              </a:rPr>
              <a:t>Significances?</a:t>
            </a:r>
          </a:p>
          <a:p>
            <a:pPr marL="214313" indent="-214313">
              <a:spcAft>
                <a:spcPts val="450"/>
              </a:spcAft>
              <a:buFont typeface="Arial" panose="020B0604020202020204" pitchFamily="34" charset="0"/>
              <a:buChar char="•"/>
            </a:pPr>
            <a:r>
              <a:rPr lang="en-US" dirty="0">
                <a:latin typeface="Calibri" panose="020F0502020204030204" pitchFamily="34" charset="0"/>
              </a:rPr>
              <a:t>Confidence intervals?</a:t>
            </a:r>
          </a:p>
        </p:txBody>
      </p:sp>
      <p:pic>
        <p:nvPicPr>
          <p:cNvPr id="3" name="Picture 2"/>
          <p:cNvPicPr>
            <a:picLocks noChangeAspect="1"/>
          </p:cNvPicPr>
          <p:nvPr/>
        </p:nvPicPr>
        <p:blipFill>
          <a:blip r:embed="rId3"/>
          <a:stretch>
            <a:fillRect/>
          </a:stretch>
        </p:blipFill>
        <p:spPr>
          <a:xfrm>
            <a:off x="580975" y="622849"/>
            <a:ext cx="7933401" cy="1665035"/>
          </a:xfrm>
          <a:prstGeom prst="rect">
            <a:avLst/>
          </a:prstGeom>
        </p:spPr>
      </p:pic>
      <p:pic>
        <p:nvPicPr>
          <p:cNvPr id="4" name="Picture 3"/>
          <p:cNvPicPr>
            <a:picLocks noChangeAspect="1"/>
          </p:cNvPicPr>
          <p:nvPr/>
        </p:nvPicPr>
        <p:blipFill>
          <a:blip r:embed="rId4"/>
          <a:stretch>
            <a:fillRect/>
          </a:stretch>
        </p:blipFill>
        <p:spPr>
          <a:xfrm>
            <a:off x="3896925" y="3176499"/>
            <a:ext cx="3906778" cy="1106256"/>
          </a:xfrm>
          <a:prstGeom prst="rect">
            <a:avLst/>
          </a:prstGeom>
        </p:spPr>
      </p:pic>
      <p:sp>
        <p:nvSpPr>
          <p:cNvPr id="8" name="Rektangel med rundade hörn 7"/>
          <p:cNvSpPr/>
          <p:nvPr/>
        </p:nvSpPr>
        <p:spPr>
          <a:xfrm>
            <a:off x="3203848" y="2473075"/>
            <a:ext cx="3240360" cy="43204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76521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fade">
                                      <p:cBhvr>
                                        <p:cTn id="10" dur="500"/>
                                        <p:tgtEl>
                                          <p:spTgt spid="7">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fade">
                                      <p:cBhvr>
                                        <p:cTn id="13" dur="500"/>
                                        <p:tgtEl>
                                          <p:spTgt spid="7">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899592" y="289393"/>
            <a:ext cx="6172200" cy="421556"/>
          </a:xfrm>
        </p:spPr>
        <p:txBody>
          <a:bodyPr>
            <a:noAutofit/>
          </a:bodyPr>
          <a:lstStyle/>
          <a:p>
            <a:r>
              <a:rPr lang="en-US" sz="3200" dirty="0">
                <a:latin typeface="Calibri" panose="020F0502020204030204" pitchFamily="34" charset="0"/>
              </a:rPr>
              <a:t>Linear regression</a:t>
            </a:r>
            <a:endParaRPr lang="sv-SE" sz="3200" dirty="0">
              <a:latin typeface="Calibri" panose="020F0502020204030204" pitchFamily="34" charset="0"/>
            </a:endParaRPr>
          </a:p>
        </p:txBody>
      </p:sp>
      <p:sp>
        <p:nvSpPr>
          <p:cNvPr id="2" name="Platshållare för bildnummer 1"/>
          <p:cNvSpPr>
            <a:spLocks noGrp="1"/>
          </p:cNvSpPr>
          <p:nvPr>
            <p:ph type="sldNum" sz="quarter" idx="12"/>
          </p:nvPr>
        </p:nvSpPr>
        <p:spPr>
          <a:prstGeom prst="rect">
            <a:avLst/>
          </a:prstGeom>
        </p:spPr>
        <p:txBody>
          <a:bodyPr/>
          <a:lstStyle/>
          <a:p>
            <a:pPr>
              <a:defRPr/>
            </a:pPr>
            <a:fld id="{6EA40670-0085-46BE-8A1D-C037329D2922}" type="slidenum">
              <a:rPr lang="sv-SE" sz="900"/>
              <a:pPr>
                <a:defRPr/>
              </a:pPr>
              <a:t>91</a:t>
            </a:fld>
            <a:endParaRPr lang="sv-SE" sz="900" dirty="0"/>
          </a:p>
        </p:txBody>
      </p:sp>
      <p:pic>
        <p:nvPicPr>
          <p:cNvPr id="3" name="Picture 2"/>
          <p:cNvPicPr>
            <a:picLocks noChangeAspect="1"/>
          </p:cNvPicPr>
          <p:nvPr/>
        </p:nvPicPr>
        <p:blipFill>
          <a:blip r:embed="rId3"/>
          <a:stretch>
            <a:fillRect/>
          </a:stretch>
        </p:blipFill>
        <p:spPr>
          <a:xfrm>
            <a:off x="1717365" y="710949"/>
            <a:ext cx="4536653" cy="3635092"/>
          </a:xfrm>
          <a:prstGeom prst="rect">
            <a:avLst/>
          </a:prstGeom>
        </p:spPr>
      </p:pic>
      <p:sp>
        <p:nvSpPr>
          <p:cNvPr id="7" name="TextBox 6"/>
          <p:cNvSpPr txBox="1"/>
          <p:nvPr/>
        </p:nvSpPr>
        <p:spPr>
          <a:xfrm>
            <a:off x="1717365" y="4410768"/>
            <a:ext cx="4015764" cy="346249"/>
          </a:xfrm>
          <a:prstGeom prst="rect">
            <a:avLst/>
          </a:prstGeom>
          <a:noFill/>
        </p:spPr>
        <p:txBody>
          <a:bodyPr wrap="square" rtlCol="0">
            <a:spAutoFit/>
          </a:bodyPr>
          <a:lstStyle/>
          <a:p>
            <a:pPr>
              <a:spcAft>
                <a:spcPts val="450"/>
              </a:spcAft>
            </a:pPr>
            <a:r>
              <a:rPr lang="en-US" sz="1650" dirty="0">
                <a:latin typeface="Calibri" panose="020F0502020204030204" pitchFamily="34" charset="0"/>
              </a:rPr>
              <a:t>Including 95% confidence bands</a:t>
            </a:r>
          </a:p>
        </p:txBody>
      </p:sp>
    </p:spTree>
    <p:extLst>
      <p:ext uri="{BB962C8B-B14F-4D97-AF65-F5344CB8AC3E}">
        <p14:creationId xmlns:p14="http://schemas.microsoft.com/office/powerpoint/2010/main" val="16059343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899592" y="735546"/>
            <a:ext cx="7880464" cy="3888432"/>
          </a:xfrm>
        </p:spPr>
        <p:txBody>
          <a:bodyPr>
            <a:noAutofit/>
          </a:bodyPr>
          <a:lstStyle/>
          <a:p>
            <a:pPr marL="0" indent="0">
              <a:lnSpc>
                <a:spcPct val="150000"/>
              </a:lnSpc>
              <a:spcBef>
                <a:spcPts val="450"/>
              </a:spcBef>
              <a:spcAft>
                <a:spcPts val="900"/>
              </a:spcAft>
              <a:buNone/>
            </a:pPr>
            <a:r>
              <a:rPr lang="en-US" dirty="0">
                <a:latin typeface="+mn-lt"/>
                <a:ea typeface="Verdana" panose="020B0604030504040204" pitchFamily="34" charset="0"/>
              </a:rPr>
              <a:t>The linear regression produces </a:t>
            </a:r>
            <a:r>
              <a:rPr lang="en-US" b="1" dirty="0">
                <a:solidFill>
                  <a:srgbClr val="002060"/>
                </a:solidFill>
                <a:latin typeface="+mn-lt"/>
                <a:ea typeface="Verdana" panose="020B0604030504040204" pitchFamily="34" charset="0"/>
              </a:rPr>
              <a:t>valid</a:t>
            </a:r>
            <a:r>
              <a:rPr lang="en-US" dirty="0">
                <a:latin typeface="+mn-lt"/>
                <a:ea typeface="Verdana" panose="020B0604030504040204" pitchFamily="34" charset="0"/>
              </a:rPr>
              <a:t> results only if some assumptions about the data are true:</a:t>
            </a:r>
          </a:p>
          <a:p>
            <a:pPr>
              <a:spcBef>
                <a:spcPts val="450"/>
              </a:spcBef>
              <a:spcAft>
                <a:spcPts val="900"/>
              </a:spcAft>
            </a:pPr>
            <a:r>
              <a:rPr lang="en-US" dirty="0">
                <a:latin typeface="+mn-lt"/>
                <a:ea typeface="Verdana" panose="020B0604030504040204" pitchFamily="34" charset="0"/>
              </a:rPr>
              <a:t>The outcome variable is </a:t>
            </a:r>
            <a:r>
              <a:rPr lang="en-US" b="1" dirty="0">
                <a:solidFill>
                  <a:srgbClr val="002060"/>
                </a:solidFill>
                <a:latin typeface="+mn-lt"/>
                <a:ea typeface="Verdana" panose="020B0604030504040204" pitchFamily="34" charset="0"/>
              </a:rPr>
              <a:t>continuous</a:t>
            </a:r>
            <a:r>
              <a:rPr lang="en-US" dirty="0">
                <a:latin typeface="+mn-lt"/>
                <a:ea typeface="Verdana" panose="020B0604030504040204" pitchFamily="34" charset="0"/>
              </a:rPr>
              <a:t> </a:t>
            </a:r>
          </a:p>
          <a:p>
            <a:pPr>
              <a:spcBef>
                <a:spcPts val="450"/>
              </a:spcBef>
              <a:spcAft>
                <a:spcPts val="900"/>
              </a:spcAft>
            </a:pPr>
            <a:r>
              <a:rPr lang="en-US" b="1" dirty="0">
                <a:solidFill>
                  <a:srgbClr val="002060"/>
                </a:solidFill>
                <a:latin typeface="+mn-lt"/>
                <a:ea typeface="Verdana" panose="020B0604030504040204" pitchFamily="34" charset="0"/>
              </a:rPr>
              <a:t>Linear relationship </a:t>
            </a:r>
            <a:r>
              <a:rPr lang="en-US" dirty="0">
                <a:latin typeface="+mn-lt"/>
                <a:ea typeface="Verdana" panose="020B0604030504040204" pitchFamily="34" charset="0"/>
              </a:rPr>
              <a:t>between </a:t>
            </a:r>
            <a:r>
              <a:rPr lang="en-US" i="1" dirty="0">
                <a:latin typeface="+mn-lt"/>
                <a:ea typeface="Verdana" panose="020B0604030504040204" pitchFamily="34" charset="0"/>
              </a:rPr>
              <a:t>X</a:t>
            </a:r>
            <a:r>
              <a:rPr lang="en-US" dirty="0">
                <a:latin typeface="+mn-lt"/>
                <a:ea typeface="Verdana" panose="020B0604030504040204" pitchFamily="34" charset="0"/>
              </a:rPr>
              <a:t> and </a:t>
            </a:r>
            <a:r>
              <a:rPr lang="en-US" i="1" dirty="0">
                <a:latin typeface="+mn-lt"/>
                <a:ea typeface="Verdana" panose="020B0604030504040204" pitchFamily="34" charset="0"/>
              </a:rPr>
              <a:t>Y</a:t>
            </a:r>
            <a:r>
              <a:rPr lang="en-US" dirty="0">
                <a:latin typeface="+mn-lt"/>
                <a:ea typeface="Verdana" panose="020B0604030504040204" pitchFamily="34" charset="0"/>
              </a:rPr>
              <a:t>  </a:t>
            </a:r>
          </a:p>
          <a:p>
            <a:pPr>
              <a:lnSpc>
                <a:spcPct val="150000"/>
              </a:lnSpc>
              <a:spcBef>
                <a:spcPts val="450"/>
              </a:spcBef>
              <a:spcAft>
                <a:spcPts val="900"/>
              </a:spcAft>
            </a:pPr>
            <a:r>
              <a:rPr lang="en-US" dirty="0">
                <a:latin typeface="+mn-lt"/>
                <a:ea typeface="Verdana" panose="020B0604030504040204" pitchFamily="34" charset="0"/>
              </a:rPr>
              <a:t>The </a:t>
            </a:r>
            <a:r>
              <a:rPr lang="en-US" b="1" dirty="0">
                <a:solidFill>
                  <a:srgbClr val="002060"/>
                </a:solidFill>
                <a:latin typeface="+mn-lt"/>
                <a:ea typeface="Verdana" panose="020B0604030504040204" pitchFamily="34" charset="0"/>
              </a:rPr>
              <a:t>residuals</a:t>
            </a:r>
            <a:r>
              <a:rPr lang="en-US" dirty="0">
                <a:latin typeface="+mn-lt"/>
                <a:ea typeface="Verdana" panose="020B0604030504040204" pitchFamily="34" charset="0"/>
              </a:rPr>
              <a:t> are independent (same way as saying that for each value of X, the Y’s are independent)</a:t>
            </a:r>
          </a:p>
          <a:p>
            <a:pPr>
              <a:lnSpc>
                <a:spcPct val="150000"/>
              </a:lnSpc>
              <a:spcBef>
                <a:spcPts val="450"/>
              </a:spcBef>
              <a:spcAft>
                <a:spcPts val="900"/>
              </a:spcAft>
            </a:pPr>
            <a:r>
              <a:rPr lang="en-US" dirty="0">
                <a:latin typeface="+mn-lt"/>
                <a:ea typeface="Verdana" panose="020B0604030504040204" pitchFamily="34" charset="0"/>
              </a:rPr>
              <a:t>The </a:t>
            </a:r>
            <a:r>
              <a:rPr lang="en-US" b="1" dirty="0">
                <a:solidFill>
                  <a:srgbClr val="002060"/>
                </a:solidFill>
                <a:latin typeface="+mn-lt"/>
                <a:ea typeface="Verdana" panose="020B0604030504040204" pitchFamily="34" charset="0"/>
              </a:rPr>
              <a:t>residuals</a:t>
            </a:r>
            <a:r>
              <a:rPr lang="en-US" dirty="0">
                <a:latin typeface="+mn-lt"/>
                <a:ea typeface="Verdana" panose="020B0604030504040204" pitchFamily="34" charset="0"/>
              </a:rPr>
              <a:t> are normally distributed with mean </a:t>
            </a:r>
            <a:r>
              <a:rPr lang="en-US" i="1" dirty="0">
                <a:latin typeface="+mn-lt"/>
                <a:ea typeface="Verdana" panose="020B0604030504040204" pitchFamily="34" charset="0"/>
              </a:rPr>
              <a:t>0</a:t>
            </a:r>
            <a:r>
              <a:rPr lang="en-US" dirty="0">
                <a:latin typeface="+mn-lt"/>
                <a:ea typeface="Verdana" panose="020B0604030504040204" pitchFamily="34" charset="0"/>
              </a:rPr>
              <a:t> and constant deviation, for </a:t>
            </a:r>
            <a:r>
              <a:rPr lang="en-US" u="sng" dirty="0">
                <a:latin typeface="+mn-lt"/>
                <a:ea typeface="Verdana" panose="020B0604030504040204" pitchFamily="34" charset="0"/>
              </a:rPr>
              <a:t>all</a:t>
            </a:r>
            <a:r>
              <a:rPr lang="en-US" dirty="0">
                <a:latin typeface="+mn-lt"/>
                <a:ea typeface="Verdana" panose="020B0604030504040204" pitchFamily="34" charset="0"/>
              </a:rPr>
              <a:t> values of </a:t>
            </a:r>
            <a:r>
              <a:rPr lang="en-US" i="1" dirty="0">
                <a:latin typeface="+mn-lt"/>
                <a:ea typeface="Verdana" panose="020B0604030504040204" pitchFamily="34" charset="0"/>
              </a:rPr>
              <a:t>X</a:t>
            </a:r>
            <a:endParaRPr lang="en-US" dirty="0">
              <a:latin typeface="+mn-lt"/>
              <a:ea typeface="Verdana" panose="020B0604030504040204" pitchFamily="34" charset="0"/>
            </a:endParaRPr>
          </a:p>
          <a:p>
            <a:pPr>
              <a:spcBef>
                <a:spcPts val="450"/>
              </a:spcBef>
              <a:spcAft>
                <a:spcPts val="900"/>
              </a:spcAft>
              <a:buFont typeface="Wingdings" pitchFamily="2" charset="2"/>
              <a:buChar char="§"/>
            </a:pPr>
            <a:endParaRPr lang="en-US" dirty="0">
              <a:latin typeface="+mn-lt"/>
              <a:ea typeface="Verdana" panose="020B0604030504040204" pitchFamily="34" charset="0"/>
            </a:endParaRPr>
          </a:p>
        </p:txBody>
      </p:sp>
      <p:sp>
        <p:nvSpPr>
          <p:cNvPr id="5" name="Rubrik 1"/>
          <p:cNvSpPr txBox="1">
            <a:spLocks/>
          </p:cNvSpPr>
          <p:nvPr/>
        </p:nvSpPr>
        <p:spPr>
          <a:xfrm>
            <a:off x="1691680" y="141480"/>
            <a:ext cx="4797533" cy="378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eaLnBrk="1" hangingPunct="1">
              <a:lnSpc>
                <a:spcPct val="90000"/>
              </a:lnSpc>
              <a:defRPr sz="3000" b="1" i="0">
                <a:latin typeface="Calibri" panose="020F0502020204030204" pitchFamily="34" charset="0"/>
                <a:ea typeface="ＭＳ Ｐゴシック" pitchFamily="-65" charset="-128"/>
                <a:cs typeface="Trebuchet MS" panose="020B0603020202020204" pitchFamily="34" charset="0"/>
              </a:defRPr>
            </a:lvl1pPr>
            <a:lvl2pPr eaLnBrk="1" hangingPunct="1">
              <a:lnSpc>
                <a:spcPct val="90000"/>
              </a:lnSpc>
              <a:defRPr sz="3000" b="1">
                <a:latin typeface="Arial" charset="0"/>
                <a:ea typeface="ＭＳ Ｐゴシック" pitchFamily="-65" charset="-128"/>
                <a:cs typeface="ＭＳ Ｐゴシック" charset="0"/>
              </a:defRPr>
            </a:lvl2pPr>
            <a:lvl3pPr eaLnBrk="1" hangingPunct="1">
              <a:lnSpc>
                <a:spcPct val="90000"/>
              </a:lnSpc>
              <a:defRPr sz="3000" b="1">
                <a:latin typeface="Arial" charset="0"/>
                <a:ea typeface="ＭＳ Ｐゴシック" pitchFamily="-65" charset="-128"/>
                <a:cs typeface="ＭＳ Ｐゴシック" charset="0"/>
              </a:defRPr>
            </a:lvl3pPr>
            <a:lvl4pPr eaLnBrk="1" hangingPunct="1">
              <a:lnSpc>
                <a:spcPct val="90000"/>
              </a:lnSpc>
              <a:defRPr sz="3000" b="1">
                <a:latin typeface="Arial" charset="0"/>
                <a:ea typeface="ＭＳ Ｐゴシック" pitchFamily="-65" charset="-128"/>
                <a:cs typeface="ＭＳ Ｐゴシック" charset="0"/>
              </a:defRPr>
            </a:lvl4pPr>
            <a:lvl5pPr eaLnBrk="1" hangingPunct="1">
              <a:lnSpc>
                <a:spcPct val="90000"/>
              </a:lnSpc>
              <a:defRPr sz="3000" b="1">
                <a:latin typeface="Arial" charset="0"/>
                <a:ea typeface="ＭＳ Ｐゴシック" pitchFamily="-65" charset="-128"/>
                <a:cs typeface="ＭＳ Ｐゴシック" charset="0"/>
              </a:defRPr>
            </a:lvl5pPr>
            <a:lvl6pPr marL="457200" defTabSz="457200" fontAlgn="base">
              <a:spcBef>
                <a:spcPct val="0"/>
              </a:spcBef>
              <a:spcAft>
                <a:spcPct val="0"/>
              </a:spcAft>
              <a:defRPr sz="2000">
                <a:solidFill>
                  <a:srgbClr val="464646"/>
                </a:solidFill>
                <a:latin typeface="Arial Bold" pitchFamily="-65" charset="0"/>
                <a:ea typeface="ＭＳ Ｐゴシック" pitchFamily="-65" charset="-128"/>
              </a:defRPr>
            </a:lvl6pPr>
            <a:lvl7pPr marL="914400" defTabSz="457200" fontAlgn="base">
              <a:spcBef>
                <a:spcPct val="0"/>
              </a:spcBef>
              <a:spcAft>
                <a:spcPct val="0"/>
              </a:spcAft>
              <a:defRPr sz="2000">
                <a:solidFill>
                  <a:srgbClr val="464646"/>
                </a:solidFill>
                <a:latin typeface="Arial Bold" pitchFamily="-65" charset="0"/>
                <a:ea typeface="ＭＳ Ｐゴシック" pitchFamily="-65" charset="-128"/>
              </a:defRPr>
            </a:lvl7pPr>
            <a:lvl8pPr marL="1371600" defTabSz="457200" fontAlgn="base">
              <a:spcBef>
                <a:spcPct val="0"/>
              </a:spcBef>
              <a:spcAft>
                <a:spcPct val="0"/>
              </a:spcAft>
              <a:defRPr sz="2000">
                <a:solidFill>
                  <a:srgbClr val="464646"/>
                </a:solidFill>
                <a:latin typeface="Arial Bold" pitchFamily="-65" charset="0"/>
                <a:ea typeface="ＭＳ Ｐゴシック" pitchFamily="-65" charset="-128"/>
              </a:defRPr>
            </a:lvl8pPr>
            <a:lvl9pPr marL="1828800" defTabSz="457200" fontAlgn="base">
              <a:spcBef>
                <a:spcPct val="0"/>
              </a:spcBef>
              <a:spcAft>
                <a:spcPct val="0"/>
              </a:spcAft>
              <a:defRPr sz="2000">
                <a:solidFill>
                  <a:srgbClr val="464646"/>
                </a:solidFill>
                <a:latin typeface="Arial Bold" pitchFamily="-65" charset="0"/>
                <a:ea typeface="ＭＳ Ｐゴシック" pitchFamily="-65" charset="-128"/>
              </a:defRPr>
            </a:lvl9pPr>
          </a:lstStyle>
          <a:p>
            <a:r>
              <a:rPr lang="en-US" sz="2800" dirty="0"/>
              <a:t>Linear Regression : Assumptions</a:t>
            </a:r>
          </a:p>
        </p:txBody>
      </p:sp>
      <p:sp>
        <p:nvSpPr>
          <p:cNvPr id="8" name="Platshållare för innehåll 2"/>
          <p:cNvSpPr txBox="1">
            <a:spLocks/>
          </p:cNvSpPr>
          <p:nvPr/>
        </p:nvSpPr>
        <p:spPr>
          <a:xfrm>
            <a:off x="1485900" y="3003798"/>
            <a:ext cx="6172200" cy="1674186"/>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450"/>
              </a:spcBef>
              <a:spcAft>
                <a:spcPts val="900"/>
              </a:spcAft>
            </a:pPr>
            <a:endParaRPr lang="en-US" sz="2400" dirty="0">
              <a:solidFill>
                <a:srgbClr val="000000"/>
              </a:solidFill>
            </a:endParaRPr>
          </a:p>
        </p:txBody>
      </p:sp>
      <p:sp>
        <p:nvSpPr>
          <p:cNvPr id="9" name="Platshållare för innehåll 2"/>
          <p:cNvSpPr txBox="1">
            <a:spLocks/>
          </p:cNvSpPr>
          <p:nvPr/>
        </p:nvSpPr>
        <p:spPr>
          <a:xfrm>
            <a:off x="1485900" y="3165816"/>
            <a:ext cx="6172200" cy="145816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450"/>
              </a:spcBef>
              <a:spcAft>
                <a:spcPts val="900"/>
              </a:spcAft>
              <a:buNone/>
            </a:pPr>
            <a:endParaRPr lang="en-US" sz="2400" dirty="0">
              <a:solidFill>
                <a:srgbClr val="000000"/>
              </a:solidFill>
            </a:endParaRP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92</a:t>
            </a:fld>
            <a:endParaRPr lang="sv-SE">
              <a:solidFill>
                <a:srgbClr val="000000">
                  <a:tint val="75000"/>
                </a:srgbClr>
              </a:solidFill>
            </a:endParaRPr>
          </a:p>
        </p:txBody>
      </p:sp>
    </p:spTree>
    <p:extLst>
      <p:ext uri="{BB962C8B-B14F-4D97-AF65-F5344CB8AC3E}">
        <p14:creationId xmlns:p14="http://schemas.microsoft.com/office/powerpoint/2010/main" val="37139753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691680" y="219950"/>
            <a:ext cx="6082096" cy="594122"/>
          </a:xfrm>
        </p:spPr>
        <p:txBody>
          <a:bodyPr/>
          <a:lstStyle/>
          <a:p>
            <a:r>
              <a:rPr lang="sv-SE" sz="2800" dirty="0"/>
              <a:t>”</a:t>
            </a:r>
            <a:r>
              <a:rPr lang="sv-SE" sz="2800" dirty="0" err="1">
                <a:solidFill>
                  <a:srgbClr val="002060"/>
                </a:solidFill>
              </a:rPr>
              <a:t>Adjusting</a:t>
            </a:r>
            <a:r>
              <a:rPr lang="sv-SE" sz="2800" dirty="0"/>
              <a:t> for </a:t>
            </a:r>
            <a:r>
              <a:rPr lang="sv-SE" sz="2800" dirty="0" err="1"/>
              <a:t>other</a:t>
            </a:r>
            <a:r>
              <a:rPr lang="sv-SE" sz="2800" dirty="0"/>
              <a:t> </a:t>
            </a:r>
            <a:r>
              <a:rPr lang="sv-SE" sz="2800" dirty="0" err="1"/>
              <a:t>variables</a:t>
            </a:r>
            <a:r>
              <a:rPr lang="sv-SE" sz="2800" dirty="0"/>
              <a:t>”</a:t>
            </a:r>
          </a:p>
        </p:txBody>
      </p:sp>
      <p:sp>
        <p:nvSpPr>
          <p:cNvPr id="3" name="Platshållare för bildnummer 2"/>
          <p:cNvSpPr>
            <a:spLocks noGrp="1"/>
          </p:cNvSpPr>
          <p:nvPr>
            <p:ph type="sldNum" sz="quarter" idx="12"/>
          </p:nvPr>
        </p:nvSpPr>
        <p:spPr/>
        <p:txBody>
          <a:bodyPr/>
          <a:lstStyle/>
          <a:p>
            <a:fld id="{49D34020-361E-4A13-8C95-66E98A929282}" type="slidenum">
              <a:rPr lang="sv-SE" smtClean="0"/>
              <a:pPr/>
              <a:t>93</a:t>
            </a:fld>
            <a:endParaRPr lang="sv-SE"/>
          </a:p>
        </p:txBody>
      </p:sp>
      <p:sp>
        <p:nvSpPr>
          <p:cNvPr id="8" name="TextBox 7"/>
          <p:cNvSpPr txBox="1"/>
          <p:nvPr/>
        </p:nvSpPr>
        <p:spPr>
          <a:xfrm>
            <a:off x="395536" y="627534"/>
            <a:ext cx="8280920" cy="3798476"/>
          </a:xfrm>
          <a:prstGeom prst="rect">
            <a:avLst/>
          </a:prstGeom>
          <a:noFill/>
        </p:spPr>
        <p:txBody>
          <a:bodyPr wrap="square" rtlCol="0">
            <a:spAutoFit/>
          </a:bodyPr>
          <a:lstStyle/>
          <a:p>
            <a:pPr>
              <a:spcAft>
                <a:spcPts val="450"/>
              </a:spcAft>
            </a:pPr>
            <a:r>
              <a:rPr lang="en-US" sz="2000" dirty="0">
                <a:latin typeface="+mn-lt"/>
                <a:ea typeface="Verdana" panose="020B0604030504040204" pitchFamily="34" charset="0"/>
              </a:rPr>
              <a:t>Multivariable/</a:t>
            </a:r>
            <a:r>
              <a:rPr lang="en-US" sz="2000" b="1" dirty="0">
                <a:latin typeface="+mn-lt"/>
                <a:ea typeface="Verdana" panose="020B0604030504040204" pitchFamily="34" charset="0"/>
              </a:rPr>
              <a:t>Multiple</a:t>
            </a:r>
            <a:r>
              <a:rPr lang="en-US" sz="2000" dirty="0">
                <a:latin typeface="+mn-lt"/>
                <a:ea typeface="Verdana" panose="020B0604030504040204" pitchFamily="34" charset="0"/>
              </a:rPr>
              <a:t> linear regression: linear regression with </a:t>
            </a:r>
            <a:r>
              <a:rPr lang="en-US" sz="2000" b="1" dirty="0">
                <a:latin typeface="+mn-lt"/>
                <a:ea typeface="Verdana" panose="020B0604030504040204" pitchFamily="34" charset="0"/>
              </a:rPr>
              <a:t>multiple predictors</a:t>
            </a:r>
            <a:r>
              <a:rPr lang="en-US" sz="2000" dirty="0">
                <a:latin typeface="+mn-lt"/>
                <a:ea typeface="Verdana" panose="020B0604030504040204" pitchFamily="34" charset="0"/>
              </a:rPr>
              <a:t>/risk factors.</a:t>
            </a:r>
          </a:p>
          <a:p>
            <a:pPr>
              <a:spcBef>
                <a:spcPts val="450"/>
              </a:spcBef>
              <a:spcAft>
                <a:spcPts val="450"/>
              </a:spcAft>
            </a:pPr>
            <a:r>
              <a:rPr lang="en-US" sz="2000" dirty="0">
                <a:latin typeface="+mn-lt"/>
                <a:ea typeface="Verdana" panose="020B0604030504040204" pitchFamily="34" charset="0"/>
              </a:rPr>
              <a:t>(Not to be confused with </a:t>
            </a:r>
            <a:r>
              <a:rPr lang="en-US" sz="2000" b="1" dirty="0">
                <a:latin typeface="+mn-lt"/>
                <a:ea typeface="Verdana" panose="020B0604030504040204" pitchFamily="34" charset="0"/>
              </a:rPr>
              <a:t>multivariate</a:t>
            </a:r>
            <a:r>
              <a:rPr lang="en-US" sz="2000" dirty="0">
                <a:latin typeface="+mn-lt"/>
                <a:ea typeface="Verdana" panose="020B0604030504040204" pitchFamily="34" charset="0"/>
              </a:rPr>
              <a:t> analysis which have </a:t>
            </a:r>
            <a:r>
              <a:rPr lang="en-US" sz="2000" b="1" dirty="0">
                <a:latin typeface="+mn-lt"/>
                <a:ea typeface="Verdana" panose="020B0604030504040204" pitchFamily="34" charset="0"/>
              </a:rPr>
              <a:t>multiple outcome</a:t>
            </a:r>
            <a:r>
              <a:rPr lang="en-US" sz="2000" dirty="0">
                <a:latin typeface="+mn-lt"/>
                <a:ea typeface="Verdana" panose="020B0604030504040204" pitchFamily="34" charset="0"/>
              </a:rPr>
              <a:t>)</a:t>
            </a:r>
          </a:p>
          <a:p>
            <a:pPr>
              <a:spcBef>
                <a:spcPts val="900"/>
              </a:spcBef>
              <a:spcAft>
                <a:spcPts val="450"/>
              </a:spcAft>
            </a:pPr>
            <a:r>
              <a:rPr lang="en-US" sz="2000" dirty="0">
                <a:latin typeface="+mn-lt"/>
                <a:ea typeface="Verdana" panose="020B0604030504040204" pitchFamily="34" charset="0"/>
              </a:rPr>
              <a:t>Modell building is complicated</a:t>
            </a:r>
          </a:p>
          <a:p>
            <a:pPr marL="600075" lvl="1" indent="-257175">
              <a:spcAft>
                <a:spcPts val="450"/>
              </a:spcAft>
              <a:buFont typeface="Arial" panose="020B0604020202020204" pitchFamily="34" charset="0"/>
              <a:buChar char="•"/>
            </a:pPr>
            <a:r>
              <a:rPr lang="en-US" sz="2000" dirty="0">
                <a:latin typeface="+mn-lt"/>
                <a:ea typeface="Verdana" panose="020B0604030504040204" pitchFamily="34" charset="0"/>
              </a:rPr>
              <a:t>Select probable explanatory variables using medical knowledge</a:t>
            </a:r>
          </a:p>
          <a:p>
            <a:pPr marL="600075" lvl="1" indent="-257175">
              <a:spcAft>
                <a:spcPts val="450"/>
              </a:spcAft>
              <a:buFont typeface="Arial" panose="020B0604020202020204" pitchFamily="34" charset="0"/>
              <a:buChar char="•"/>
            </a:pPr>
            <a:r>
              <a:rPr lang="en-US" sz="2000" dirty="0">
                <a:latin typeface="+mn-lt"/>
                <a:ea typeface="Verdana" panose="020B0604030504040204" pitchFamily="34" charset="0"/>
              </a:rPr>
              <a:t>Always plot and investigate linearity - </a:t>
            </a:r>
            <a:r>
              <a:rPr lang="en-US" sz="2000" dirty="0">
                <a:latin typeface="+mn-lt"/>
              </a:rPr>
              <a:t>graphics across averages can be misleading </a:t>
            </a:r>
            <a:endParaRPr lang="en-US" sz="2000" dirty="0">
              <a:latin typeface="+mn-lt"/>
              <a:ea typeface="Verdana" panose="020B0604030504040204" pitchFamily="34" charset="0"/>
            </a:endParaRPr>
          </a:p>
          <a:p>
            <a:pPr marL="600075" lvl="1" indent="-257175">
              <a:spcAft>
                <a:spcPts val="450"/>
              </a:spcAft>
              <a:buFont typeface="Arial" panose="020B0604020202020204" pitchFamily="34" charset="0"/>
              <a:buChar char="•"/>
            </a:pPr>
            <a:r>
              <a:rPr lang="en-US" sz="2000" dirty="0">
                <a:latin typeface="+mn-lt"/>
                <a:ea typeface="Verdana" panose="020B0604030504040204" pitchFamily="34" charset="0"/>
              </a:rPr>
              <a:t>Avoid correlated predictors (collinearity) </a:t>
            </a:r>
          </a:p>
          <a:p>
            <a:pPr marL="600075" lvl="1" indent="-257175">
              <a:spcAft>
                <a:spcPts val="450"/>
              </a:spcAft>
              <a:buFont typeface="Arial" panose="020B0604020202020204" pitchFamily="34" charset="0"/>
              <a:buChar char="•"/>
            </a:pPr>
            <a:r>
              <a:rPr lang="en-US" sz="2000" dirty="0">
                <a:latin typeface="+mn-lt"/>
                <a:ea typeface="Verdana" panose="020B0604030504040204" pitchFamily="34" charset="0"/>
              </a:rPr>
              <a:t>Build small models</a:t>
            </a:r>
          </a:p>
          <a:p>
            <a:pPr marL="600075" lvl="1" indent="-257175">
              <a:spcAft>
                <a:spcPts val="450"/>
              </a:spcAft>
              <a:buFont typeface="Arial" panose="020B0604020202020204" pitchFamily="34" charset="0"/>
              <a:buChar char="•"/>
            </a:pPr>
            <a:r>
              <a:rPr lang="en-US" sz="2000" dirty="0">
                <a:latin typeface="+mn-lt"/>
                <a:ea typeface="Verdana" panose="020B0604030504040204" pitchFamily="34" charset="0"/>
              </a:rPr>
              <a:t>More in the exercises</a:t>
            </a:r>
          </a:p>
        </p:txBody>
      </p:sp>
    </p:spTree>
    <p:extLst>
      <p:ext uri="{BB962C8B-B14F-4D97-AF65-F5344CB8AC3E}">
        <p14:creationId xmlns:p14="http://schemas.microsoft.com/office/powerpoint/2010/main" val="25544883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9328" r="25380" b="7902"/>
          <a:stretch/>
        </p:blipFill>
        <p:spPr>
          <a:xfrm>
            <a:off x="467544" y="395790"/>
            <a:ext cx="4536504" cy="4316381"/>
          </a:xfrm>
          <a:prstGeom prst="rect">
            <a:avLst/>
          </a:prstGeom>
        </p:spPr>
      </p:pic>
      <p:sp>
        <p:nvSpPr>
          <p:cNvPr id="4" name="Platshållare för bildnummer 3"/>
          <p:cNvSpPr>
            <a:spLocks noGrp="1"/>
          </p:cNvSpPr>
          <p:nvPr>
            <p:ph type="sldNum" sz="quarter" idx="4294967295"/>
          </p:nvPr>
        </p:nvSpPr>
        <p:spPr>
          <a:xfrm>
            <a:off x="6400800" y="4767263"/>
            <a:ext cx="1600200" cy="273844"/>
          </a:xfrm>
        </p:spPr>
        <p:txBody>
          <a:bodyPr/>
          <a:lstStyle/>
          <a:p>
            <a:fld id="{49D34020-361E-4A13-8C95-66E98A929282}" type="slidenum">
              <a:rPr lang="sv-SE" smtClean="0"/>
              <a:pPr/>
              <a:t>94</a:t>
            </a:fld>
            <a:endParaRPr lang="sv-SE"/>
          </a:p>
        </p:txBody>
      </p:sp>
      <p:sp>
        <p:nvSpPr>
          <p:cNvPr id="6" name="Rektangel 5"/>
          <p:cNvSpPr/>
          <p:nvPr/>
        </p:nvSpPr>
        <p:spPr>
          <a:xfrm>
            <a:off x="251520" y="0"/>
            <a:ext cx="3505575" cy="523220"/>
          </a:xfrm>
          <a:prstGeom prst="rect">
            <a:avLst/>
          </a:prstGeom>
        </p:spPr>
        <p:txBody>
          <a:bodyPr wrap="none">
            <a:spAutoFit/>
          </a:bodyPr>
          <a:lstStyle/>
          <a:p>
            <a:r>
              <a:rPr lang="en-US" sz="2800" b="1" dirty="0"/>
              <a:t>Simpson’s Paradox</a:t>
            </a:r>
          </a:p>
        </p:txBody>
      </p:sp>
      <p:sp>
        <p:nvSpPr>
          <p:cNvPr id="7" name="Rektangel 6"/>
          <p:cNvSpPr/>
          <p:nvPr/>
        </p:nvSpPr>
        <p:spPr>
          <a:xfrm>
            <a:off x="2041135" y="4814498"/>
            <a:ext cx="6979279" cy="253916"/>
          </a:xfrm>
          <a:prstGeom prst="rect">
            <a:avLst/>
          </a:prstGeom>
        </p:spPr>
        <p:txBody>
          <a:bodyPr wrap="square">
            <a:spAutoFit/>
          </a:bodyPr>
          <a:lstStyle/>
          <a:p>
            <a:r>
              <a:rPr lang="en-US" sz="1050" dirty="0"/>
              <a:t>Reference: https://trends.ufm.edu/en/article/tax-burdens-per-capita-income-simpsons-paradox/ </a:t>
            </a:r>
            <a:endParaRPr lang="sv-SE" sz="1050" dirty="0"/>
          </a:p>
        </p:txBody>
      </p:sp>
      <p:cxnSp>
        <p:nvCxnSpPr>
          <p:cNvPr id="8" name="Straight Connector 7"/>
          <p:cNvCxnSpPr/>
          <p:nvPr/>
        </p:nvCxnSpPr>
        <p:spPr>
          <a:xfrm>
            <a:off x="1143325" y="881836"/>
            <a:ext cx="3526467" cy="3168352"/>
          </a:xfrm>
          <a:prstGeom prst="line">
            <a:avLst/>
          </a:prstGeom>
        </p:spPr>
        <p:style>
          <a:lnRef idx="3">
            <a:schemeClr val="accent2"/>
          </a:lnRef>
          <a:fillRef idx="0">
            <a:schemeClr val="accent2"/>
          </a:fillRef>
          <a:effectRef idx="2">
            <a:schemeClr val="accent2"/>
          </a:effectRef>
          <a:fontRef idx="minor">
            <a:schemeClr val="tx1"/>
          </a:fontRef>
        </p:style>
      </p:cxnSp>
      <p:sp>
        <p:nvSpPr>
          <p:cNvPr id="9" name="TextBox 8"/>
          <p:cNvSpPr txBox="1"/>
          <p:nvPr/>
        </p:nvSpPr>
        <p:spPr>
          <a:xfrm>
            <a:off x="5345573" y="1059582"/>
            <a:ext cx="3674841" cy="369332"/>
          </a:xfrm>
          <a:prstGeom prst="rect">
            <a:avLst/>
          </a:prstGeom>
          <a:noFill/>
        </p:spPr>
        <p:txBody>
          <a:bodyPr wrap="square" rtlCol="0">
            <a:spAutoFit/>
          </a:bodyPr>
          <a:lstStyle/>
          <a:p>
            <a:r>
              <a:rPr lang="sv-SE" dirty="0"/>
              <a:t>Regression </a:t>
            </a:r>
            <a:r>
              <a:rPr lang="sv-SE" dirty="0" err="1"/>
              <a:t>line</a:t>
            </a:r>
            <a:r>
              <a:rPr lang="sv-SE" dirty="0"/>
              <a:t> for </a:t>
            </a:r>
            <a:r>
              <a:rPr lang="sv-SE" dirty="0" err="1"/>
              <a:t>whole</a:t>
            </a:r>
            <a:r>
              <a:rPr lang="sv-SE" dirty="0"/>
              <a:t> data</a:t>
            </a:r>
            <a:endParaRPr lang="en-US" dirty="0"/>
          </a:p>
        </p:txBody>
      </p:sp>
      <p:cxnSp>
        <p:nvCxnSpPr>
          <p:cNvPr id="13" name="Straight Arrow Connector 12"/>
          <p:cNvCxnSpPr>
            <a:stCxn id="9" idx="1"/>
          </p:cNvCxnSpPr>
          <p:nvPr/>
        </p:nvCxnSpPr>
        <p:spPr>
          <a:xfrm flipH="1">
            <a:off x="2771800" y="1244248"/>
            <a:ext cx="2573773" cy="9674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467697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971600" y="267494"/>
            <a:ext cx="6172200" cy="421556"/>
          </a:xfrm>
        </p:spPr>
        <p:txBody>
          <a:bodyPr>
            <a:noAutofit/>
          </a:bodyPr>
          <a:lstStyle/>
          <a:p>
            <a:r>
              <a:rPr lang="en-US" sz="3200" dirty="0">
                <a:latin typeface="Calibri" panose="020F0502020204030204" pitchFamily="34" charset="0"/>
              </a:rPr>
              <a:t>Multiple Linear regression</a:t>
            </a:r>
            <a:endParaRPr lang="sv-SE" sz="3200" dirty="0">
              <a:latin typeface="Calibri" panose="020F0502020204030204" pitchFamily="34" charset="0"/>
            </a:endParaRPr>
          </a:p>
        </p:txBody>
      </p:sp>
      <p:sp>
        <p:nvSpPr>
          <p:cNvPr id="2" name="Platshållare för bildnummer 1"/>
          <p:cNvSpPr>
            <a:spLocks noGrp="1"/>
          </p:cNvSpPr>
          <p:nvPr>
            <p:ph type="sldNum" sz="quarter" idx="12"/>
          </p:nvPr>
        </p:nvSpPr>
        <p:spPr>
          <a:prstGeom prst="rect">
            <a:avLst/>
          </a:prstGeom>
        </p:spPr>
        <p:txBody>
          <a:bodyPr/>
          <a:lstStyle/>
          <a:p>
            <a:pPr>
              <a:defRPr/>
            </a:pPr>
            <a:fld id="{6EA40670-0085-46BE-8A1D-C037329D2922}" type="slidenum">
              <a:rPr lang="sv-SE" sz="900"/>
              <a:pPr>
                <a:defRPr/>
              </a:pPr>
              <a:t>95</a:t>
            </a:fld>
            <a:endParaRPr lang="sv-SE" sz="900"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317" y="834152"/>
            <a:ext cx="7980357" cy="26129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ktangel 5"/>
          <p:cNvSpPr/>
          <p:nvPr/>
        </p:nvSpPr>
        <p:spPr>
          <a:xfrm>
            <a:off x="1691680" y="1335589"/>
            <a:ext cx="3384376" cy="19562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7" name="textruta 6"/>
              <p:cNvSpPr txBox="1"/>
              <p:nvPr/>
            </p:nvSpPr>
            <p:spPr>
              <a:xfrm>
                <a:off x="171453" y="3602345"/>
                <a:ext cx="8094203" cy="268792"/>
              </a:xfrm>
              <a:prstGeom prst="rect">
                <a:avLst/>
              </a:prstGeom>
              <a:noFill/>
            </p:spPr>
            <p:txBody>
              <a:bodyPr wrap="none" lIns="0" tIns="0" rIns="0" bIns="0" rtlCol="0">
                <a:spAutoFit/>
              </a:bodyPr>
              <a:lstStyle/>
              <a:p>
                <a:r>
                  <a:rPr lang="sv-SE" sz="1600" dirty="0"/>
                  <a:t>6m: </a:t>
                </a:r>
                <a14:m>
                  <m:oMath xmlns:m="http://schemas.openxmlformats.org/officeDocument/2006/math">
                    <m:r>
                      <a:rPr lang="sv-SE" sz="1600" b="0" i="1" smtClean="0">
                        <a:latin typeface="Cambria Math" panose="02040503050406030204" pitchFamily="18" charset="0"/>
                      </a:rPr>
                      <m:t>𝐸</m:t>
                    </m:r>
                    <m:d>
                      <m:dPr>
                        <m:begChr m:val="["/>
                        <m:endChr m:val="]"/>
                        <m:ctrlPr>
                          <a:rPr lang="sv-SE" sz="1600" b="0" i="1" smtClean="0">
                            <a:latin typeface="Cambria Math" panose="02040503050406030204" pitchFamily="18" charset="0"/>
                          </a:rPr>
                        </m:ctrlPr>
                      </m:dPr>
                      <m:e>
                        <m:r>
                          <a:rPr lang="sv-SE" sz="1600" b="0" i="1" smtClean="0">
                            <a:latin typeface="Cambria Math" panose="02040503050406030204" pitchFamily="18" charset="0"/>
                          </a:rPr>
                          <m:t>𝐿𝑆𝐼</m:t>
                        </m:r>
                      </m:e>
                    </m:d>
                    <m:r>
                      <m:rPr>
                        <m:nor/>
                      </m:rPr>
                      <a:rPr lang="sv-SE" sz="1600" b="0" i="0" smtClean="0">
                        <a:latin typeface="Cambria Math" panose="02040503050406030204" pitchFamily="18" charset="0"/>
                      </a:rPr>
                      <m:t>=</m:t>
                    </m:r>
                    <m:r>
                      <a:rPr lang="sv-SE" sz="1600" b="0" i="1" smtClean="0">
                        <a:latin typeface="Cambria Math" panose="02040503050406030204" pitchFamily="18" charset="0"/>
                      </a:rPr>
                      <m:t>82.69</m:t>
                    </m:r>
                    <m:r>
                      <m:rPr>
                        <m:nor/>
                      </m:rPr>
                      <a:rPr lang="sv-SE" sz="1600" i="0" smtClean="0">
                        <a:solidFill>
                          <a:schemeClr val="accent3"/>
                        </a:solidFill>
                        <a:latin typeface="Cambria Math" panose="02040503050406030204" pitchFamily="18" charset="0"/>
                      </a:rPr>
                      <m:t>−</m:t>
                    </m:r>
                    <m:r>
                      <a:rPr lang="sv-SE" sz="1600" i="1">
                        <a:solidFill>
                          <a:schemeClr val="accent3"/>
                        </a:solidFill>
                        <a:latin typeface="Cambria Math" panose="02040503050406030204" pitchFamily="18" charset="0"/>
                      </a:rPr>
                      <m:t>2.80</m:t>
                    </m:r>
                    <m:r>
                      <m:rPr>
                        <m:nor/>
                      </m:rPr>
                      <a:rPr lang="sv-SE" sz="1600" b="0" i="0" smtClean="0">
                        <a:solidFill>
                          <a:schemeClr val="accent3"/>
                        </a:solidFill>
                        <a:latin typeface="Cambria Math" panose="02040503050406030204" pitchFamily="18" charset="0"/>
                      </a:rPr>
                      <m:t>⋅</m:t>
                    </m:r>
                    <m:r>
                      <m:rPr>
                        <m:nor/>
                      </m:rPr>
                      <a:rPr lang="sv-SE" sz="1600" b="0" i="1" smtClean="0">
                        <a:latin typeface="Arial Narrow" panose="020B0606020202030204" pitchFamily="34" charset="0"/>
                      </a:rPr>
                      <m:t>Treatmen</m:t>
                    </m:r>
                    <m:sSub>
                      <m:sSubPr>
                        <m:ctrlPr>
                          <a:rPr lang="sv-SE" sz="1600" b="0" i="1" smtClean="0">
                            <a:latin typeface="Cambria Math" panose="02040503050406030204" pitchFamily="18" charset="0"/>
                          </a:rPr>
                        </m:ctrlPr>
                      </m:sSubPr>
                      <m:e>
                        <m:r>
                          <m:rPr>
                            <m:nor/>
                          </m:rPr>
                          <a:rPr lang="sv-SE" sz="1600" b="0" i="1" smtClean="0">
                            <a:latin typeface="Arial Narrow" panose="020B0606020202030204" pitchFamily="34" charset="0"/>
                          </a:rPr>
                          <m:t>t</m:t>
                        </m:r>
                      </m:e>
                      <m:sub>
                        <m:r>
                          <a:rPr lang="sv-SE" sz="1600" i="1">
                            <a:latin typeface="Cambria Math" panose="02040503050406030204" pitchFamily="18" charset="0"/>
                          </a:rPr>
                          <m:t>𝑛𝑜𝑛𝑠𝑢𝑟𝑔𝑖𝑐𝑎𝑙</m:t>
                        </m:r>
                      </m:sub>
                    </m:sSub>
                    <m:r>
                      <m:rPr>
                        <m:nor/>
                      </m:rPr>
                      <a:rPr lang="sv-SE" sz="1600" b="0" i="0" smtClean="0">
                        <a:solidFill>
                          <a:schemeClr val="accent3"/>
                        </a:solidFill>
                        <a:latin typeface="Cambria Math" panose="02040503050406030204" pitchFamily="18" charset="0"/>
                      </a:rPr>
                      <m:t>−</m:t>
                    </m:r>
                    <m:r>
                      <a:rPr lang="sv-SE" sz="1600" b="0" i="0" smtClean="0">
                        <a:solidFill>
                          <a:schemeClr val="accent3"/>
                        </a:solidFill>
                        <a:latin typeface="Cambria Math" panose="02040503050406030204" pitchFamily="18" charset="0"/>
                      </a:rPr>
                      <m:t>0.87</m:t>
                    </m:r>
                    <m:r>
                      <m:rPr>
                        <m:nor/>
                      </m:rPr>
                      <a:rPr lang="sv-SE" sz="1600" b="0" i="0" smtClean="0">
                        <a:solidFill>
                          <a:schemeClr val="accent3"/>
                        </a:solidFill>
                        <a:latin typeface="Cambria Math" panose="02040503050406030204" pitchFamily="18" charset="0"/>
                      </a:rPr>
                      <m:t>⋅</m:t>
                    </m:r>
                    <m:r>
                      <m:rPr>
                        <m:nor/>
                      </m:rPr>
                      <a:rPr lang="sv-SE" sz="1600" b="0" i="1" smtClean="0">
                        <a:latin typeface="Arial Narrow" panose="020B0606020202030204" pitchFamily="34" charset="0"/>
                      </a:rPr>
                      <m:t>Age</m:t>
                    </m:r>
                    <m:r>
                      <m:rPr>
                        <m:nor/>
                      </m:rPr>
                      <a:rPr lang="sv-SE" sz="1600" b="0" i="0" smtClean="0">
                        <a:latin typeface="Cambria Math" panose="02040503050406030204" pitchFamily="18" charset="0"/>
                      </a:rPr>
                      <m:t>+</m:t>
                    </m:r>
                    <m:r>
                      <a:rPr lang="sv-SE" sz="1600" b="0" i="1" smtClean="0">
                        <a:solidFill>
                          <a:schemeClr val="tx2"/>
                        </a:solidFill>
                        <a:latin typeface="Cambria Math" panose="02040503050406030204" pitchFamily="18" charset="0"/>
                      </a:rPr>
                      <m:t>0.23</m:t>
                    </m:r>
                    <m:r>
                      <m:rPr>
                        <m:nor/>
                      </m:rPr>
                      <a:rPr lang="sv-SE" sz="1600" b="0" i="0" smtClean="0">
                        <a:solidFill>
                          <a:schemeClr val="tx2"/>
                        </a:solidFill>
                        <a:latin typeface="Cambria Math" panose="02040503050406030204" pitchFamily="18" charset="0"/>
                      </a:rPr>
                      <m:t>⋅</m:t>
                    </m:r>
                    <m:r>
                      <a:rPr lang="sv-SE" sz="1600" b="0" i="1" smtClean="0">
                        <a:latin typeface="Cambria Math" panose="02040503050406030204" pitchFamily="18" charset="0"/>
                      </a:rPr>
                      <m:t>𝐵𝑀𝐼</m:t>
                    </m:r>
                    <m:r>
                      <m:rPr>
                        <m:nor/>
                      </m:rPr>
                      <a:rPr lang="sv-SE" sz="1600" b="0" i="0" smtClean="0">
                        <a:latin typeface="Cambria Math" panose="02040503050406030204" pitchFamily="18" charset="0"/>
                      </a:rPr>
                      <m:t>+</m:t>
                    </m:r>
                    <m:r>
                      <a:rPr lang="sv-SE" sz="1600" b="0" i="1" smtClean="0">
                        <a:solidFill>
                          <a:schemeClr val="tx2"/>
                        </a:solidFill>
                        <a:latin typeface="Cambria Math" panose="02040503050406030204" pitchFamily="18" charset="0"/>
                      </a:rPr>
                      <m:t>2.68</m:t>
                    </m:r>
                    <m:r>
                      <m:rPr>
                        <m:nor/>
                      </m:rPr>
                      <a:rPr lang="sv-SE" sz="1600" b="0" i="0" smtClean="0">
                        <a:latin typeface="Cambria Math" panose="02040503050406030204" pitchFamily="18" charset="0"/>
                      </a:rPr>
                      <m:t>⋅</m:t>
                    </m:r>
                    <m:r>
                      <m:rPr>
                        <m:nor/>
                      </m:rPr>
                      <a:rPr lang="sv-SE" sz="1600" b="0" i="1" smtClean="0">
                        <a:latin typeface="Arial Narrow" panose="020B0606020202030204" pitchFamily="34" charset="0"/>
                      </a:rPr>
                      <m:t>PAS</m:t>
                    </m:r>
                    <m:r>
                      <a:rPr lang="sv-SE" sz="1600" b="0" i="1" smtClean="0">
                        <a:latin typeface="Cambria Math" panose="02040503050406030204" pitchFamily="18" charset="0"/>
                      </a:rPr>
                      <m:t>+</m:t>
                    </m:r>
                    <m:r>
                      <a:rPr lang="sv-SE" sz="1600" b="0" i="1" smtClean="0">
                        <a:solidFill>
                          <a:schemeClr val="tx2"/>
                        </a:solidFill>
                        <a:latin typeface="Cambria Math" panose="02040503050406030204" pitchFamily="18" charset="0"/>
                      </a:rPr>
                      <m:t>0.19</m:t>
                    </m:r>
                    <m:r>
                      <m:rPr>
                        <m:nor/>
                      </m:rPr>
                      <a:rPr lang="sv-SE" sz="1600" b="0" i="0" smtClean="0">
                        <a:solidFill>
                          <a:schemeClr val="tx2"/>
                        </a:solidFill>
                        <a:latin typeface="Cambria Math" panose="02040503050406030204" pitchFamily="18" charset="0"/>
                      </a:rPr>
                      <m:t>⋅</m:t>
                    </m:r>
                    <m:r>
                      <m:rPr>
                        <m:nor/>
                      </m:rPr>
                      <a:rPr lang="sv-SE" sz="1600" b="0" i="1" smtClean="0">
                        <a:latin typeface="Arial Narrow" panose="020B0606020202030204" pitchFamily="34" charset="0"/>
                      </a:rPr>
                      <m:t>ATR</m:t>
                    </m:r>
                    <m:sSub>
                      <m:sSubPr>
                        <m:ctrlPr>
                          <a:rPr lang="sv-SE" sz="1600" b="0" i="1" smtClean="0">
                            <a:latin typeface="Cambria Math" panose="02040503050406030204" pitchFamily="18" charset="0"/>
                          </a:rPr>
                        </m:ctrlPr>
                      </m:sSubPr>
                      <m:e>
                        <m:r>
                          <m:rPr>
                            <m:nor/>
                          </m:rPr>
                          <a:rPr lang="sv-SE" sz="1600" b="0" i="1" smtClean="0">
                            <a:latin typeface="Arial Narrow" panose="020B0606020202030204" pitchFamily="34" charset="0"/>
                          </a:rPr>
                          <m:t>S</m:t>
                        </m:r>
                      </m:e>
                      <m:sub>
                        <m:r>
                          <m:rPr>
                            <m:nor/>
                          </m:rPr>
                          <a:rPr lang="sv-SE" sz="1600" b="0" i="1" smtClean="0">
                            <a:latin typeface="Arial Narrow" panose="020B0606020202030204" pitchFamily="34" charset="0"/>
                          </a:rPr>
                          <m:t>3</m:t>
                        </m:r>
                        <m:r>
                          <m:rPr>
                            <m:nor/>
                          </m:rPr>
                          <a:rPr lang="sv-SE" sz="1600" b="0" i="1" smtClean="0">
                            <a:latin typeface="Arial Narrow" panose="020B0606020202030204" pitchFamily="34" charset="0"/>
                          </a:rPr>
                          <m:t>m</m:t>
                        </m:r>
                      </m:sub>
                    </m:sSub>
                  </m:oMath>
                </a14:m>
                <a:endParaRPr lang="sv-SE" sz="1600" i="1" dirty="0">
                  <a:latin typeface="Arial Narrow" panose="020B0606020202030204" pitchFamily="34" charset="0"/>
                </a:endParaRPr>
              </a:p>
            </p:txBody>
          </p:sp>
        </mc:Choice>
        <mc:Fallback xmlns="">
          <p:sp>
            <p:nvSpPr>
              <p:cNvPr id="7" name="textruta 6"/>
              <p:cNvSpPr txBox="1">
                <a:spLocks noRot="1" noChangeAspect="1" noMove="1" noResize="1" noEditPoints="1" noAdjustHandles="1" noChangeArrowheads="1" noChangeShapeType="1" noTextEdit="1"/>
              </p:cNvSpPr>
              <p:nvPr/>
            </p:nvSpPr>
            <p:spPr>
              <a:xfrm>
                <a:off x="171453" y="3602345"/>
                <a:ext cx="8094203" cy="268792"/>
              </a:xfrm>
              <a:prstGeom prst="rect">
                <a:avLst/>
              </a:prstGeom>
              <a:blipFill>
                <a:blip r:embed="rId4"/>
                <a:stretch>
                  <a:fillRect l="-1506" t="-25000" b="-36364"/>
                </a:stretch>
              </a:blipFill>
            </p:spPr>
            <p:txBody>
              <a:bodyPr/>
              <a:lstStyle/>
              <a:p>
                <a:r>
                  <a:rPr lang="sv-SE">
                    <a:noFill/>
                  </a:rPr>
                  <a:t> </a:t>
                </a:r>
              </a:p>
            </p:txBody>
          </p:sp>
        </mc:Fallback>
      </mc:AlternateContent>
      <p:sp>
        <p:nvSpPr>
          <p:cNvPr id="8" name="textruta 7"/>
          <p:cNvSpPr txBox="1"/>
          <p:nvPr/>
        </p:nvSpPr>
        <p:spPr>
          <a:xfrm>
            <a:off x="539552" y="4110695"/>
            <a:ext cx="7114517" cy="369332"/>
          </a:xfrm>
          <a:prstGeom prst="rect">
            <a:avLst/>
          </a:prstGeom>
          <a:noFill/>
        </p:spPr>
        <p:txBody>
          <a:bodyPr wrap="square" rtlCol="0">
            <a:spAutoFit/>
          </a:bodyPr>
          <a:lstStyle/>
          <a:p>
            <a:r>
              <a:rPr lang="sv-SE" dirty="0"/>
              <a:t>R</a:t>
            </a:r>
            <a:r>
              <a:rPr lang="sv-SE" baseline="30000" dirty="0"/>
              <a:t>2</a:t>
            </a:r>
            <a:r>
              <a:rPr lang="sv-SE" dirty="0"/>
              <a:t>=0.409  </a:t>
            </a:r>
            <a:r>
              <a:rPr lang="sv-SE" dirty="0">
                <a:latin typeface="Cambria Math" panose="02040503050406030204" pitchFamily="18" charset="0"/>
                <a:ea typeface="Cambria Math" panose="02040503050406030204" pitchFamily="18" charset="0"/>
              </a:rPr>
              <a:t>→ </a:t>
            </a:r>
            <a:r>
              <a:rPr lang="en-US" dirty="0"/>
              <a:t>The model explains about 40.9% of the variation in LSI</a:t>
            </a:r>
            <a:endParaRPr lang="en-US" baseline="30000" dirty="0"/>
          </a:p>
        </p:txBody>
      </p:sp>
    </p:spTree>
    <p:extLst>
      <p:ext uri="{BB962C8B-B14F-4D97-AF65-F5344CB8AC3E}">
        <p14:creationId xmlns:p14="http://schemas.microsoft.com/office/powerpoint/2010/main" val="286562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nummer 1"/>
          <p:cNvSpPr>
            <a:spLocks noGrp="1"/>
          </p:cNvSpPr>
          <p:nvPr>
            <p:ph type="sldNum" sz="quarter" idx="12"/>
          </p:nvPr>
        </p:nvSpPr>
        <p:spPr>
          <a:prstGeom prst="rect">
            <a:avLst/>
          </a:prstGeom>
        </p:spPr>
        <p:txBody>
          <a:bodyPr/>
          <a:lstStyle/>
          <a:p>
            <a:pPr>
              <a:defRPr/>
            </a:pPr>
            <a:fld id="{6EA40670-0085-46BE-8A1D-C037329D2922}" type="slidenum">
              <a:rPr lang="sv-SE" sz="900"/>
              <a:pPr>
                <a:defRPr/>
              </a:pPr>
              <a:t>96</a:t>
            </a:fld>
            <a:endParaRPr lang="sv-SE" sz="900"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684" y="771550"/>
            <a:ext cx="8279917"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ktangel 2"/>
          <p:cNvSpPr/>
          <p:nvPr/>
        </p:nvSpPr>
        <p:spPr>
          <a:xfrm>
            <a:off x="347192" y="1934683"/>
            <a:ext cx="1368152" cy="315281"/>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 name="Rektangel 4"/>
          <p:cNvSpPr/>
          <p:nvPr/>
        </p:nvSpPr>
        <p:spPr>
          <a:xfrm>
            <a:off x="7524328" y="1979895"/>
            <a:ext cx="843398" cy="369325"/>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Rektangel 5"/>
          <p:cNvSpPr/>
          <p:nvPr/>
        </p:nvSpPr>
        <p:spPr>
          <a:xfrm>
            <a:off x="346022" y="2249964"/>
            <a:ext cx="2785818" cy="355540"/>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ktangel 7"/>
          <p:cNvSpPr/>
          <p:nvPr/>
        </p:nvSpPr>
        <p:spPr>
          <a:xfrm>
            <a:off x="323528" y="3003798"/>
            <a:ext cx="7416824" cy="329692"/>
          </a:xfrm>
          <a:prstGeom prst="rect">
            <a:avLst/>
          </a:prstGeom>
          <a:solidFill>
            <a:schemeClr val="accent6">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p:cNvSpPr/>
          <p:nvPr/>
        </p:nvSpPr>
        <p:spPr>
          <a:xfrm>
            <a:off x="6755600" y="2577832"/>
            <a:ext cx="1612126" cy="425965"/>
          </a:xfrm>
          <a:prstGeom prst="rect">
            <a:avLst/>
          </a:prstGeom>
          <a:solidFill>
            <a:schemeClr val="accent6">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4692898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971600" y="251417"/>
            <a:ext cx="7416824" cy="785718"/>
          </a:xfrm>
        </p:spPr>
        <p:txBody>
          <a:bodyPr>
            <a:normAutofit/>
          </a:bodyPr>
          <a:lstStyle/>
          <a:p>
            <a:r>
              <a:rPr lang="en-US" sz="2800" b="0" dirty="0"/>
              <a:t>What if the relations isn’t linear? Rank correlation</a:t>
            </a:r>
            <a:endParaRPr lang="sv-SE" sz="2800" b="0" dirty="0"/>
          </a:p>
        </p:txBody>
      </p:sp>
      <p:sp>
        <p:nvSpPr>
          <p:cNvPr id="2" name="Platshållare för bildnummer 1"/>
          <p:cNvSpPr>
            <a:spLocks noGrp="1"/>
          </p:cNvSpPr>
          <p:nvPr>
            <p:ph type="sldNum" sz="quarter" idx="12"/>
          </p:nvPr>
        </p:nvSpPr>
        <p:spPr>
          <a:prstGeom prst="rect">
            <a:avLst/>
          </a:prstGeom>
        </p:spPr>
        <p:txBody>
          <a:bodyPr/>
          <a:lstStyle/>
          <a:p>
            <a:pPr>
              <a:defRPr/>
            </a:pPr>
            <a:fld id="{6EA40670-0085-46BE-8A1D-C037329D2922}" type="slidenum">
              <a:rPr lang="sv-SE" sz="900"/>
              <a:pPr>
                <a:defRPr/>
              </a:pPr>
              <a:t>97</a:t>
            </a:fld>
            <a:endParaRPr lang="sv-SE" sz="900" dirty="0"/>
          </a:p>
        </p:txBody>
      </p:sp>
      <p:pic>
        <p:nvPicPr>
          <p:cNvPr id="5" name="Picture 4"/>
          <p:cNvPicPr>
            <a:picLocks noChangeAspect="1"/>
          </p:cNvPicPr>
          <p:nvPr/>
        </p:nvPicPr>
        <p:blipFill rotWithShape="1">
          <a:blip r:embed="rId3"/>
          <a:srcRect l="6945" b="7550"/>
          <a:stretch/>
        </p:blipFill>
        <p:spPr>
          <a:xfrm>
            <a:off x="711552" y="1615363"/>
            <a:ext cx="3860448" cy="3073146"/>
          </a:xfrm>
          <a:prstGeom prst="rect">
            <a:avLst/>
          </a:prstGeom>
        </p:spPr>
      </p:pic>
      <p:sp>
        <p:nvSpPr>
          <p:cNvPr id="6" name="TextBox 5"/>
          <p:cNvSpPr txBox="1"/>
          <p:nvPr/>
        </p:nvSpPr>
        <p:spPr>
          <a:xfrm>
            <a:off x="827584" y="946554"/>
            <a:ext cx="3543073" cy="646331"/>
          </a:xfrm>
          <a:prstGeom prst="rect">
            <a:avLst/>
          </a:prstGeom>
          <a:noFill/>
        </p:spPr>
        <p:txBody>
          <a:bodyPr wrap="square" rtlCol="0">
            <a:spAutoFit/>
          </a:bodyPr>
          <a:lstStyle/>
          <a:p>
            <a:r>
              <a:rPr lang="sv-SE" b="1" dirty="0" err="1">
                <a:latin typeface="Verdana" panose="020B0604030504040204" pitchFamily="34" charset="0"/>
                <a:ea typeface="Verdana" panose="020B0604030504040204" pitchFamily="34" charset="0"/>
              </a:rPr>
              <a:t>Pearson’s</a:t>
            </a:r>
            <a:r>
              <a:rPr lang="sv-SE" b="1" dirty="0">
                <a:latin typeface="Verdana" panose="020B0604030504040204" pitchFamily="34" charset="0"/>
                <a:ea typeface="Verdana" panose="020B0604030504040204" pitchFamily="34" charset="0"/>
              </a:rPr>
              <a:t>     r=0.248</a:t>
            </a:r>
          </a:p>
          <a:p>
            <a:r>
              <a:rPr lang="sv-SE" b="1" dirty="0" err="1">
                <a:latin typeface="Verdana" panose="020B0604030504040204" pitchFamily="34" charset="0"/>
                <a:ea typeface="Verdana" panose="020B0604030504040204" pitchFamily="34" charset="0"/>
              </a:rPr>
              <a:t>Spearman´s</a:t>
            </a:r>
            <a:r>
              <a:rPr lang="sv-SE" b="1" dirty="0">
                <a:latin typeface="Verdana" panose="020B0604030504040204" pitchFamily="34" charset="0"/>
                <a:ea typeface="Verdana" panose="020B0604030504040204" pitchFamily="34" charset="0"/>
              </a:rPr>
              <a:t> r=0.493</a:t>
            </a:r>
          </a:p>
        </p:txBody>
      </p:sp>
      <p:pic>
        <p:nvPicPr>
          <p:cNvPr id="3" name="Bildobjekt 2"/>
          <p:cNvPicPr>
            <a:picLocks noChangeAspect="1"/>
          </p:cNvPicPr>
          <p:nvPr/>
        </p:nvPicPr>
        <p:blipFill>
          <a:blip r:embed="rId4"/>
          <a:stretch>
            <a:fillRect/>
          </a:stretch>
        </p:blipFill>
        <p:spPr>
          <a:xfrm>
            <a:off x="5031051" y="1269329"/>
            <a:ext cx="3213357" cy="3041977"/>
          </a:xfrm>
          <a:prstGeom prst="rect">
            <a:avLst/>
          </a:prstGeom>
        </p:spPr>
      </p:pic>
      <p:sp>
        <p:nvSpPr>
          <p:cNvPr id="4" name="textruta 3"/>
          <p:cNvSpPr txBox="1"/>
          <p:nvPr/>
        </p:nvSpPr>
        <p:spPr>
          <a:xfrm>
            <a:off x="4959399" y="757774"/>
            <a:ext cx="3389700" cy="369332"/>
          </a:xfrm>
          <a:prstGeom prst="rect">
            <a:avLst/>
          </a:prstGeom>
          <a:noFill/>
        </p:spPr>
        <p:txBody>
          <a:bodyPr wrap="square" rtlCol="0">
            <a:spAutoFit/>
          </a:bodyPr>
          <a:lstStyle/>
          <a:p>
            <a:r>
              <a:rPr lang="en-US" b="1" dirty="0">
                <a:solidFill>
                  <a:schemeClr val="tx2"/>
                </a:solidFill>
              </a:rPr>
              <a:t>Example rank correlation</a:t>
            </a:r>
          </a:p>
        </p:txBody>
      </p:sp>
      <p:sp>
        <p:nvSpPr>
          <p:cNvPr id="7" name="Rektangel 6"/>
          <p:cNvSpPr/>
          <p:nvPr/>
        </p:nvSpPr>
        <p:spPr>
          <a:xfrm>
            <a:off x="4950042" y="771550"/>
            <a:ext cx="3582398" cy="3717413"/>
          </a:xfrm>
          <a:prstGeom prst="rect">
            <a:avLst/>
          </a:prstGeom>
          <a:noFill/>
          <a:ln>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811790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899592" y="249492"/>
            <a:ext cx="6993777" cy="378042"/>
          </a:xfrm>
        </p:spPr>
        <p:txBody>
          <a:bodyPr/>
          <a:lstStyle/>
          <a:p>
            <a:r>
              <a:rPr lang="en-US" sz="2800" dirty="0">
                <a:cs typeface="Times New Roman" panose="02020603050405020304" pitchFamily="18" charset="0"/>
              </a:rPr>
              <a:t>Qualitative (Categorical) outcome variables</a:t>
            </a:r>
            <a:endParaRPr lang="en-GB" sz="2800" dirty="0">
              <a:cs typeface="Times New Roman" panose="02020603050405020304" pitchFamily="18" charset="0"/>
            </a:endParaRPr>
          </a:p>
        </p:txBody>
      </p:sp>
      <p:sp>
        <p:nvSpPr>
          <p:cNvPr id="3" name="Platshållare för innehåll 2"/>
          <p:cNvSpPr>
            <a:spLocks noGrp="1"/>
          </p:cNvSpPr>
          <p:nvPr>
            <p:ph sz="quarter" idx="12"/>
          </p:nvPr>
        </p:nvSpPr>
        <p:spPr>
          <a:xfrm>
            <a:off x="1439652" y="843558"/>
            <a:ext cx="6516724" cy="3384376"/>
          </a:xfrm>
        </p:spPr>
        <p:txBody>
          <a:bodyPr>
            <a:noAutofit/>
          </a:bodyPr>
          <a:lstStyle/>
          <a:p>
            <a:pPr>
              <a:lnSpc>
                <a:spcPct val="150000"/>
              </a:lnSpc>
            </a:pPr>
            <a:r>
              <a:rPr lang="en-US" sz="2000" dirty="0">
                <a:solidFill>
                  <a:srgbClr val="000000"/>
                </a:solidFill>
                <a:latin typeface="+mn-lt"/>
                <a:ea typeface="Verdana" panose="020B0604030504040204" pitchFamily="34" charset="0"/>
              </a:rPr>
              <a:t>Outcome variables which are on </a:t>
            </a:r>
          </a:p>
          <a:p>
            <a:pPr lvl="1">
              <a:lnSpc>
                <a:spcPct val="150000"/>
              </a:lnSpc>
            </a:pPr>
            <a:r>
              <a:rPr lang="en-US" sz="2000" b="1" dirty="0">
                <a:solidFill>
                  <a:srgbClr val="002060"/>
                </a:solidFill>
                <a:latin typeface="+mn-lt"/>
                <a:ea typeface="Verdana" panose="020B0604030504040204" pitchFamily="34" charset="0"/>
              </a:rPr>
              <a:t>Nominal scale</a:t>
            </a:r>
            <a:r>
              <a:rPr lang="en-US" sz="2000" b="1" dirty="0">
                <a:latin typeface="+mn-lt"/>
                <a:ea typeface="Verdana" panose="020B0604030504040204" pitchFamily="34" charset="0"/>
              </a:rPr>
              <a:t> </a:t>
            </a:r>
            <a:r>
              <a:rPr lang="en-US" sz="2000" dirty="0">
                <a:latin typeface="+mn-lt"/>
                <a:ea typeface="Verdana" panose="020B0604030504040204" pitchFamily="34" charset="0"/>
              </a:rPr>
              <a:t>(gender, eye color, ) no ordering</a:t>
            </a:r>
          </a:p>
          <a:p>
            <a:pPr lvl="1">
              <a:lnSpc>
                <a:spcPct val="150000"/>
              </a:lnSpc>
            </a:pPr>
            <a:r>
              <a:rPr lang="en-US" sz="2000" b="1" dirty="0">
                <a:solidFill>
                  <a:srgbClr val="002060"/>
                </a:solidFill>
                <a:latin typeface="+mn-lt"/>
                <a:ea typeface="Verdana" panose="020B0604030504040204" pitchFamily="34" charset="0"/>
              </a:rPr>
              <a:t>Ordinal scale</a:t>
            </a:r>
            <a:r>
              <a:rPr lang="en-US" sz="2000" b="1" dirty="0">
                <a:latin typeface="+mn-lt"/>
                <a:ea typeface="Verdana" panose="020B0604030504040204" pitchFamily="34" charset="0"/>
              </a:rPr>
              <a:t> </a:t>
            </a:r>
            <a:r>
              <a:rPr lang="en-US" sz="2000" dirty="0">
                <a:latin typeface="+mn-lt"/>
                <a:ea typeface="Verdana" panose="020B0604030504040204" pitchFamily="34" charset="0"/>
              </a:rPr>
              <a:t>(Good-Better-Best, Age categories)   have a natural order</a:t>
            </a:r>
          </a:p>
          <a:p>
            <a:pPr marL="162000" lvl="1" indent="0">
              <a:lnSpc>
                <a:spcPct val="150000"/>
              </a:lnSpc>
              <a:buNone/>
            </a:pPr>
            <a:r>
              <a:rPr lang="en-US" sz="2000" b="1" dirty="0">
                <a:latin typeface="+mn-lt"/>
                <a:ea typeface="Verdana" panose="020B0604030504040204" pitchFamily="34" charset="0"/>
              </a:rPr>
              <a:t> “distance between steps are not defined”</a:t>
            </a:r>
          </a:p>
          <a:p>
            <a:pPr marL="257175" indent="-257175">
              <a:lnSpc>
                <a:spcPct val="150000"/>
              </a:lnSpc>
              <a:spcBef>
                <a:spcPct val="0"/>
              </a:spcBef>
              <a:buSzPct val="100000"/>
              <a:buFont typeface="Arial" pitchFamily="34" charset="0"/>
              <a:buChar char="•"/>
            </a:pPr>
            <a:r>
              <a:rPr lang="en-US" sz="2000" dirty="0">
                <a:solidFill>
                  <a:srgbClr val="000000"/>
                </a:solidFill>
                <a:latin typeface="+mn-lt"/>
                <a:ea typeface="Verdana" panose="020B0604030504040204" pitchFamily="34" charset="0"/>
              </a:rPr>
              <a:t>They can only take </a:t>
            </a:r>
            <a:r>
              <a:rPr lang="en-US" sz="2000" b="1" dirty="0">
                <a:solidFill>
                  <a:srgbClr val="000000"/>
                </a:solidFill>
                <a:latin typeface="+mn-lt"/>
                <a:ea typeface="Verdana" panose="020B0604030504040204" pitchFamily="34" charset="0"/>
              </a:rPr>
              <a:t>few</a:t>
            </a:r>
            <a:r>
              <a:rPr lang="en-US" sz="2000" dirty="0">
                <a:solidFill>
                  <a:srgbClr val="000000"/>
                </a:solidFill>
                <a:latin typeface="+mn-lt"/>
                <a:ea typeface="Verdana" panose="020B0604030504040204" pitchFamily="34" charset="0"/>
              </a:rPr>
              <a:t> possible values</a:t>
            </a:r>
          </a:p>
        </p:txBody>
      </p:sp>
      <p:sp>
        <p:nvSpPr>
          <p:cNvPr id="5" name="Slide Number Placeholder 4">
            <a:extLst>
              <a:ext uri="{FF2B5EF4-FFF2-40B4-BE49-F238E27FC236}">
                <a16:creationId xmlns:a16="http://schemas.microsoft.com/office/drawing/2014/main" id="{021865E5-86C4-48AF-A3BD-74F208686B0C}"/>
              </a:ext>
            </a:extLst>
          </p:cNvPr>
          <p:cNvSpPr>
            <a:spLocks noGrp="1"/>
          </p:cNvSpPr>
          <p:nvPr>
            <p:ph type="sldNum" sz="quarter" idx="4294967295"/>
          </p:nvPr>
        </p:nvSpPr>
        <p:spPr/>
        <p:txBody>
          <a:bodyPr/>
          <a:lstStyle/>
          <a:p>
            <a:pPr>
              <a:defRPr/>
            </a:pPr>
            <a:fld id="{9426A61E-93B8-384D-8975-0A89DB09A550}" type="slidenum">
              <a:rPr lang="sv-SE" smtClean="0"/>
              <a:pPr>
                <a:defRPr/>
              </a:pPr>
              <a:t>98</a:t>
            </a:fld>
            <a:endParaRPr lang="sv-SE"/>
          </a:p>
        </p:txBody>
      </p:sp>
    </p:spTree>
    <p:extLst>
      <p:ext uri="{BB962C8B-B14F-4D97-AF65-F5344CB8AC3E}">
        <p14:creationId xmlns:p14="http://schemas.microsoft.com/office/powerpoint/2010/main" val="395583042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p:cNvSpPr>
            <a:spLocks noGrp="1"/>
          </p:cNvSpPr>
          <p:nvPr>
            <p:ph sz="quarter" idx="12"/>
          </p:nvPr>
        </p:nvSpPr>
        <p:spPr>
          <a:xfrm>
            <a:off x="683568" y="723037"/>
            <a:ext cx="7020420" cy="3780420"/>
          </a:xfrm>
        </p:spPr>
        <p:txBody>
          <a:bodyPr>
            <a:noAutofit/>
          </a:bodyPr>
          <a:lstStyle/>
          <a:p>
            <a:pPr marL="0" indent="0">
              <a:buNone/>
            </a:pPr>
            <a:r>
              <a:rPr lang="en-GB" b="1" dirty="0">
                <a:latin typeface="+mn-lt"/>
                <a:cs typeface="Times New Roman" panose="02020603050405020304" pitchFamily="18" charset="0"/>
              </a:rPr>
              <a:t>Q. </a:t>
            </a:r>
            <a:r>
              <a:rPr lang="en-GB" dirty="0">
                <a:latin typeface="+mn-lt"/>
                <a:cs typeface="Times New Roman" panose="02020603050405020304" pitchFamily="18" charset="0"/>
              </a:rPr>
              <a:t>When there is a lot to do. I work more intensively in order to finish what needs to be done. </a:t>
            </a:r>
          </a:p>
          <a:p>
            <a:pPr marL="0" indent="0">
              <a:buNone/>
            </a:pPr>
            <a:r>
              <a:rPr lang="en-GB" b="1" dirty="0">
                <a:latin typeface="+mn-lt"/>
                <a:cs typeface="Times New Roman" panose="02020603050405020304" pitchFamily="18" charset="0"/>
              </a:rPr>
              <a:t>Q.</a:t>
            </a:r>
            <a:r>
              <a:rPr lang="en-GB" dirty="0">
                <a:latin typeface="+mn-lt"/>
                <a:cs typeface="Times New Roman" panose="02020603050405020304" pitchFamily="18" charset="0"/>
              </a:rPr>
              <a:t> I skip breaks or lunch to finish what needs doing. </a:t>
            </a:r>
          </a:p>
          <a:p>
            <a:pPr marL="0" indent="0">
              <a:buNone/>
            </a:pPr>
            <a:r>
              <a:rPr lang="en-GB" b="1" dirty="0">
                <a:latin typeface="+mn-lt"/>
                <a:cs typeface="Times New Roman" panose="02020603050405020304" pitchFamily="18" charset="0"/>
              </a:rPr>
              <a:t>Q.</a:t>
            </a:r>
            <a:r>
              <a:rPr lang="en-GB" dirty="0">
                <a:latin typeface="+mn-lt"/>
                <a:cs typeface="Times New Roman" panose="02020603050405020304" pitchFamily="18" charset="0"/>
              </a:rPr>
              <a:t> I lower the quality of my work in order to finish what needs to be done. </a:t>
            </a:r>
          </a:p>
          <a:p>
            <a:pPr marL="342900" indent="-342900">
              <a:lnSpc>
                <a:spcPct val="100000"/>
              </a:lnSpc>
              <a:buAutoNum type="arabicPeriod"/>
            </a:pPr>
            <a:r>
              <a:rPr lang="en-GB" b="1" dirty="0">
                <a:latin typeface="+mn-lt"/>
                <a:cs typeface="Times New Roman" panose="02020603050405020304" pitchFamily="18" charset="0"/>
              </a:rPr>
              <a:t>Very often/always</a:t>
            </a:r>
          </a:p>
          <a:p>
            <a:pPr marL="342900" indent="-342900">
              <a:lnSpc>
                <a:spcPct val="100000"/>
              </a:lnSpc>
              <a:buAutoNum type="arabicPeriod"/>
            </a:pPr>
            <a:r>
              <a:rPr lang="en-GB" b="1" dirty="0">
                <a:latin typeface="+mn-lt"/>
                <a:cs typeface="Times New Roman" panose="02020603050405020304" pitchFamily="18" charset="0"/>
              </a:rPr>
              <a:t>Rather often</a:t>
            </a:r>
          </a:p>
          <a:p>
            <a:pPr marL="342900" indent="-342900">
              <a:lnSpc>
                <a:spcPct val="100000"/>
              </a:lnSpc>
              <a:buFont typeface="+mj-lt"/>
              <a:buAutoNum type="arabicPeriod"/>
            </a:pPr>
            <a:r>
              <a:rPr lang="en-GB" b="1" dirty="0">
                <a:latin typeface="+mn-lt"/>
                <a:cs typeface="Times New Roman" panose="02020603050405020304" pitchFamily="18" charset="0"/>
              </a:rPr>
              <a:t>Sometimes</a:t>
            </a:r>
          </a:p>
          <a:p>
            <a:pPr marL="342900" indent="-342900">
              <a:lnSpc>
                <a:spcPct val="100000"/>
              </a:lnSpc>
              <a:buFont typeface="+mj-lt"/>
              <a:buAutoNum type="arabicPeriod"/>
            </a:pPr>
            <a:r>
              <a:rPr lang="en-GB" b="1" dirty="0">
                <a:latin typeface="+mn-lt"/>
                <a:cs typeface="Times New Roman" panose="02020603050405020304" pitchFamily="18" charset="0"/>
              </a:rPr>
              <a:t>Rather seldom</a:t>
            </a:r>
          </a:p>
          <a:p>
            <a:pPr marL="342900" indent="-342900">
              <a:lnSpc>
                <a:spcPct val="100000"/>
              </a:lnSpc>
              <a:buFont typeface="+mj-lt"/>
              <a:buAutoNum type="arabicPeriod"/>
            </a:pPr>
            <a:r>
              <a:rPr lang="en-GB" b="1" dirty="0">
                <a:latin typeface="+mn-lt"/>
                <a:cs typeface="Times New Roman" panose="02020603050405020304" pitchFamily="18" charset="0"/>
              </a:rPr>
              <a:t>Very seldom/never</a:t>
            </a:r>
          </a:p>
          <a:p>
            <a:pPr marL="162000" lvl="1" indent="0">
              <a:buNone/>
            </a:pPr>
            <a:endParaRPr lang="en-US" sz="1800" b="1" dirty="0">
              <a:solidFill>
                <a:srgbClr val="002060"/>
              </a:solidFill>
              <a:latin typeface="+mn-lt"/>
              <a:cs typeface="Times New Roman" panose="02020603050405020304" pitchFamily="18" charset="0"/>
            </a:endParaRPr>
          </a:p>
          <a:p>
            <a:pPr marL="162000" lvl="1" indent="0">
              <a:buNone/>
            </a:pPr>
            <a:r>
              <a:rPr lang="en-US" sz="1800" b="1" dirty="0">
                <a:solidFill>
                  <a:srgbClr val="002060"/>
                </a:solidFill>
                <a:latin typeface="+mn-lt"/>
                <a:cs typeface="Times New Roman" panose="02020603050405020304" pitchFamily="18" charset="0"/>
              </a:rPr>
              <a:t>Are</a:t>
            </a:r>
            <a:r>
              <a:rPr lang="sv-SE" sz="1800" b="1" dirty="0">
                <a:solidFill>
                  <a:srgbClr val="002060"/>
                </a:solidFill>
                <a:latin typeface="+mn-lt"/>
                <a:cs typeface="Times New Roman" panose="02020603050405020304" pitchFamily="18" charset="0"/>
              </a:rPr>
              <a:t> the </a:t>
            </a:r>
            <a:r>
              <a:rPr lang="en-US" sz="1800" b="1" dirty="0">
                <a:solidFill>
                  <a:srgbClr val="002060"/>
                </a:solidFill>
                <a:latin typeface="+mn-lt"/>
                <a:cs typeface="Times New Roman" panose="02020603050405020304" pitchFamily="18" charset="0"/>
              </a:rPr>
              <a:t>distance</a:t>
            </a:r>
            <a:r>
              <a:rPr lang="sv-SE" sz="1800" b="1" dirty="0">
                <a:solidFill>
                  <a:srgbClr val="002060"/>
                </a:solidFill>
                <a:latin typeface="+mn-lt"/>
                <a:cs typeface="Times New Roman" panose="02020603050405020304" pitchFamily="18" charset="0"/>
              </a:rPr>
              <a:t> /steps </a:t>
            </a:r>
            <a:r>
              <a:rPr lang="en-US" sz="1800" b="1" dirty="0">
                <a:solidFill>
                  <a:srgbClr val="002060"/>
                </a:solidFill>
                <a:latin typeface="+mn-lt"/>
                <a:cs typeface="Times New Roman" panose="02020603050405020304" pitchFamily="18" charset="0"/>
              </a:rPr>
              <a:t>between</a:t>
            </a:r>
            <a:r>
              <a:rPr lang="sv-SE" sz="1800" b="1" dirty="0">
                <a:solidFill>
                  <a:srgbClr val="002060"/>
                </a:solidFill>
                <a:latin typeface="+mn-lt"/>
                <a:cs typeface="Times New Roman" panose="02020603050405020304" pitchFamily="18" charset="0"/>
              </a:rPr>
              <a:t> different </a:t>
            </a:r>
            <a:r>
              <a:rPr lang="en-US" sz="1800" b="1" dirty="0">
                <a:solidFill>
                  <a:srgbClr val="002060"/>
                </a:solidFill>
                <a:latin typeface="+mn-lt"/>
                <a:cs typeface="Times New Roman" panose="02020603050405020304" pitchFamily="18" charset="0"/>
              </a:rPr>
              <a:t>answer</a:t>
            </a:r>
            <a:r>
              <a:rPr lang="sv-SE" sz="1800" b="1" dirty="0">
                <a:solidFill>
                  <a:srgbClr val="002060"/>
                </a:solidFill>
                <a:latin typeface="+mn-lt"/>
                <a:cs typeface="Times New Roman" panose="02020603050405020304" pitchFamily="18" charset="0"/>
              </a:rPr>
              <a:t> alternatives </a:t>
            </a:r>
            <a:r>
              <a:rPr lang="en-US" sz="1800" b="1" dirty="0">
                <a:solidFill>
                  <a:srgbClr val="002060"/>
                </a:solidFill>
                <a:latin typeface="+mn-lt"/>
                <a:cs typeface="Times New Roman" panose="02020603050405020304" pitchFamily="18" charset="0"/>
              </a:rPr>
              <a:t>equal</a:t>
            </a:r>
            <a:r>
              <a:rPr lang="sv-SE" sz="1800" b="1" dirty="0">
                <a:solidFill>
                  <a:srgbClr val="002060"/>
                </a:solidFill>
                <a:latin typeface="+mn-lt"/>
                <a:cs typeface="Times New Roman" panose="02020603050405020304" pitchFamily="18" charset="0"/>
              </a:rPr>
              <a:t>?</a:t>
            </a:r>
            <a:endParaRPr lang="en-GB" sz="1800" b="1" dirty="0">
              <a:solidFill>
                <a:srgbClr val="002060"/>
              </a:solidFill>
              <a:latin typeface="+mn-lt"/>
              <a:cs typeface="Times New Roman" panose="02020603050405020304" pitchFamily="18" charset="0"/>
            </a:endParaRPr>
          </a:p>
        </p:txBody>
      </p:sp>
      <p:sp>
        <p:nvSpPr>
          <p:cNvPr id="4" name="textruta 3"/>
          <p:cNvSpPr txBox="1"/>
          <p:nvPr/>
        </p:nvSpPr>
        <p:spPr>
          <a:xfrm>
            <a:off x="3113658" y="2211710"/>
            <a:ext cx="2160240" cy="1738938"/>
          </a:xfrm>
          <a:prstGeom prst="rect">
            <a:avLst/>
          </a:prstGeom>
          <a:noFill/>
        </p:spPr>
        <p:txBody>
          <a:bodyPr wrap="square" rtlCol="0">
            <a:spAutoFit/>
          </a:bodyPr>
          <a:lstStyle/>
          <a:p>
            <a:pPr marL="342900" indent="-342900" eaLnBrk="0" hangingPunct="0">
              <a:spcBef>
                <a:spcPts val="600"/>
              </a:spcBef>
              <a:buFont typeface="+mj-lt"/>
              <a:buAutoNum type="alphaLcPeriod"/>
            </a:pPr>
            <a:r>
              <a:rPr lang="en-GB" sz="1500" b="1" dirty="0">
                <a:solidFill>
                  <a:srgbClr val="262626"/>
                </a:solidFill>
                <a:latin typeface="Times New Roman" panose="02020603050405020304" pitchFamily="18" charset="0"/>
                <a:ea typeface="Verdana" panose="020B0604030504040204" pitchFamily="34" charset="0"/>
                <a:cs typeface="Times New Roman" panose="02020603050405020304" pitchFamily="18" charset="0"/>
              </a:rPr>
              <a:t>Very often/always</a:t>
            </a:r>
          </a:p>
          <a:p>
            <a:pPr marL="342900" indent="-342900" eaLnBrk="0" hangingPunct="0">
              <a:spcBef>
                <a:spcPts val="600"/>
              </a:spcBef>
              <a:buFont typeface="+mj-lt"/>
              <a:buAutoNum type="alphaLcPeriod"/>
            </a:pPr>
            <a:r>
              <a:rPr lang="en-GB" sz="1500" b="1" dirty="0">
                <a:solidFill>
                  <a:srgbClr val="262626"/>
                </a:solidFill>
                <a:latin typeface="Times New Roman" panose="02020603050405020304" pitchFamily="18" charset="0"/>
                <a:ea typeface="Verdana" panose="020B0604030504040204" pitchFamily="34" charset="0"/>
                <a:cs typeface="Times New Roman" panose="02020603050405020304" pitchFamily="18" charset="0"/>
              </a:rPr>
              <a:t>Rather often</a:t>
            </a:r>
          </a:p>
          <a:p>
            <a:pPr marL="342900" indent="-342900" eaLnBrk="0" hangingPunct="0">
              <a:spcBef>
                <a:spcPts val="600"/>
              </a:spcBef>
              <a:buFont typeface="+mj-lt"/>
              <a:buAutoNum type="alphaLcPeriod"/>
            </a:pPr>
            <a:r>
              <a:rPr lang="en-GB" sz="1500" b="1" dirty="0">
                <a:solidFill>
                  <a:srgbClr val="262626"/>
                </a:solidFill>
                <a:latin typeface="Times New Roman" panose="02020603050405020304" pitchFamily="18" charset="0"/>
                <a:ea typeface="Verdana" panose="020B0604030504040204" pitchFamily="34" charset="0"/>
                <a:cs typeface="Times New Roman" panose="02020603050405020304" pitchFamily="18" charset="0"/>
              </a:rPr>
              <a:t>Sometimes</a:t>
            </a:r>
          </a:p>
          <a:p>
            <a:pPr marL="342900" indent="-342900" eaLnBrk="0" hangingPunct="0">
              <a:spcBef>
                <a:spcPts val="600"/>
              </a:spcBef>
              <a:buFont typeface="+mj-lt"/>
              <a:buAutoNum type="alphaLcPeriod"/>
            </a:pPr>
            <a:r>
              <a:rPr lang="en-GB" sz="1500" b="1" dirty="0">
                <a:solidFill>
                  <a:srgbClr val="262626"/>
                </a:solidFill>
                <a:latin typeface="Times New Roman" panose="02020603050405020304" pitchFamily="18" charset="0"/>
                <a:ea typeface="Verdana" panose="020B0604030504040204" pitchFamily="34" charset="0"/>
                <a:cs typeface="Times New Roman" panose="02020603050405020304" pitchFamily="18" charset="0"/>
              </a:rPr>
              <a:t>Rather seldom</a:t>
            </a:r>
          </a:p>
          <a:p>
            <a:pPr marL="342900" indent="-342900" eaLnBrk="0" hangingPunct="0">
              <a:spcBef>
                <a:spcPts val="600"/>
              </a:spcBef>
              <a:buFont typeface="+mj-lt"/>
              <a:buAutoNum type="alphaLcPeriod"/>
            </a:pPr>
            <a:r>
              <a:rPr lang="en-GB" sz="1500" b="1" dirty="0">
                <a:solidFill>
                  <a:srgbClr val="262626"/>
                </a:solidFill>
                <a:latin typeface="Times New Roman" panose="02020603050405020304" pitchFamily="18" charset="0"/>
                <a:ea typeface="Verdana" panose="020B0604030504040204" pitchFamily="34" charset="0"/>
                <a:cs typeface="Times New Roman" panose="02020603050405020304" pitchFamily="18" charset="0"/>
              </a:rPr>
              <a:t>Very seldom/never</a:t>
            </a:r>
          </a:p>
          <a:p>
            <a:endParaRPr lang="en-US" sz="12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5" name="textruta 4"/>
          <p:cNvSpPr txBox="1"/>
          <p:nvPr/>
        </p:nvSpPr>
        <p:spPr>
          <a:xfrm>
            <a:off x="5488926" y="2099447"/>
            <a:ext cx="2213886" cy="1738938"/>
          </a:xfrm>
          <a:prstGeom prst="rect">
            <a:avLst/>
          </a:prstGeom>
          <a:noFill/>
        </p:spPr>
        <p:txBody>
          <a:bodyPr wrap="square" rtlCol="0">
            <a:spAutoFit/>
          </a:bodyPr>
          <a:lstStyle/>
          <a:p>
            <a:pPr marL="342900" indent="-342900" eaLnBrk="0" hangingPunct="0">
              <a:spcBef>
                <a:spcPts val="600"/>
              </a:spcBef>
              <a:buFont typeface="Wingdings" panose="05000000000000000000" pitchFamily="2" charset="2"/>
              <a:buChar char="v"/>
            </a:pPr>
            <a:r>
              <a:rPr lang="en-GB" sz="1500" b="1" dirty="0">
                <a:solidFill>
                  <a:srgbClr val="262626"/>
                </a:solidFill>
                <a:latin typeface="Times New Roman" panose="02020603050405020304" pitchFamily="18" charset="0"/>
                <a:ea typeface="Verdana" panose="020B0604030504040204" pitchFamily="34" charset="0"/>
                <a:cs typeface="Times New Roman" panose="02020603050405020304" pitchFamily="18" charset="0"/>
              </a:rPr>
              <a:t>Very often/always</a:t>
            </a:r>
          </a:p>
          <a:p>
            <a:pPr marL="342900" indent="-342900" eaLnBrk="0" hangingPunct="0">
              <a:spcBef>
                <a:spcPts val="600"/>
              </a:spcBef>
              <a:buFont typeface="Wingdings" panose="05000000000000000000" pitchFamily="2" charset="2"/>
              <a:buChar char="v"/>
            </a:pPr>
            <a:r>
              <a:rPr lang="en-GB" sz="1500" b="1" dirty="0">
                <a:solidFill>
                  <a:srgbClr val="262626"/>
                </a:solidFill>
                <a:latin typeface="Times New Roman" panose="02020603050405020304" pitchFamily="18" charset="0"/>
                <a:ea typeface="Verdana" panose="020B0604030504040204" pitchFamily="34" charset="0"/>
                <a:cs typeface="Times New Roman" panose="02020603050405020304" pitchFamily="18" charset="0"/>
              </a:rPr>
              <a:t>Rather often</a:t>
            </a:r>
          </a:p>
          <a:p>
            <a:pPr marL="342900" indent="-342900" eaLnBrk="0" hangingPunct="0">
              <a:spcBef>
                <a:spcPts val="600"/>
              </a:spcBef>
              <a:buFont typeface="Wingdings" panose="05000000000000000000" pitchFamily="2" charset="2"/>
              <a:buChar char="v"/>
            </a:pPr>
            <a:r>
              <a:rPr lang="en-GB" sz="1500" b="1" dirty="0">
                <a:solidFill>
                  <a:srgbClr val="262626"/>
                </a:solidFill>
                <a:latin typeface="Times New Roman" panose="02020603050405020304" pitchFamily="18" charset="0"/>
                <a:ea typeface="Verdana" panose="020B0604030504040204" pitchFamily="34" charset="0"/>
                <a:cs typeface="Times New Roman" panose="02020603050405020304" pitchFamily="18" charset="0"/>
              </a:rPr>
              <a:t>Sometimes</a:t>
            </a:r>
          </a:p>
          <a:p>
            <a:pPr marL="342900" indent="-342900" eaLnBrk="0" hangingPunct="0">
              <a:spcBef>
                <a:spcPts val="600"/>
              </a:spcBef>
              <a:buFont typeface="Wingdings" panose="05000000000000000000" pitchFamily="2" charset="2"/>
              <a:buChar char="v"/>
            </a:pPr>
            <a:r>
              <a:rPr lang="en-GB" sz="1500" b="1" dirty="0">
                <a:solidFill>
                  <a:srgbClr val="262626"/>
                </a:solidFill>
                <a:latin typeface="Times New Roman" panose="02020603050405020304" pitchFamily="18" charset="0"/>
                <a:ea typeface="Verdana" panose="020B0604030504040204" pitchFamily="34" charset="0"/>
                <a:cs typeface="Times New Roman" panose="02020603050405020304" pitchFamily="18" charset="0"/>
              </a:rPr>
              <a:t>Rather seldom</a:t>
            </a:r>
          </a:p>
          <a:p>
            <a:pPr marL="342900" indent="-342900" eaLnBrk="0" hangingPunct="0">
              <a:spcBef>
                <a:spcPts val="600"/>
              </a:spcBef>
              <a:buFont typeface="Wingdings" panose="05000000000000000000" pitchFamily="2" charset="2"/>
              <a:buChar char="v"/>
            </a:pPr>
            <a:r>
              <a:rPr lang="en-GB" sz="1500" b="1" dirty="0">
                <a:solidFill>
                  <a:srgbClr val="262626"/>
                </a:solidFill>
                <a:latin typeface="Times New Roman" panose="02020603050405020304" pitchFamily="18" charset="0"/>
                <a:ea typeface="Verdana" panose="020B0604030504040204" pitchFamily="34" charset="0"/>
                <a:cs typeface="Times New Roman" panose="02020603050405020304" pitchFamily="18" charset="0"/>
              </a:rPr>
              <a:t>Very seldom/never</a:t>
            </a:r>
          </a:p>
          <a:p>
            <a:pPr marL="214313" indent="-214313">
              <a:buFont typeface="Wingdings" panose="05000000000000000000" pitchFamily="2" charset="2"/>
              <a:buChar char="v"/>
            </a:pPr>
            <a:endParaRPr lang="en-US" sz="12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Rubrik 1"/>
          <p:cNvSpPr>
            <a:spLocks noGrp="1"/>
          </p:cNvSpPr>
          <p:nvPr>
            <p:ph type="title"/>
          </p:nvPr>
        </p:nvSpPr>
        <p:spPr>
          <a:xfrm>
            <a:off x="827584" y="123478"/>
            <a:ext cx="7344816" cy="504056"/>
          </a:xfrm>
        </p:spPr>
        <p:txBody>
          <a:bodyPr/>
          <a:lstStyle/>
          <a:p>
            <a:r>
              <a:rPr lang="en-US" sz="3200" dirty="0">
                <a:cs typeface="Times New Roman" panose="02020603050405020304" pitchFamily="18" charset="0"/>
              </a:rPr>
              <a:t>Qualitative (Categorical)</a:t>
            </a:r>
            <a:r>
              <a:rPr lang="en-US" sz="3200" i="1" dirty="0">
                <a:cs typeface="Times New Roman" panose="02020603050405020304" pitchFamily="18" charset="0"/>
              </a:rPr>
              <a:t> </a:t>
            </a:r>
            <a:r>
              <a:rPr lang="en-US" sz="3200" dirty="0">
                <a:solidFill>
                  <a:srgbClr val="002060"/>
                </a:solidFill>
                <a:cs typeface="Times New Roman" panose="02020603050405020304" pitchFamily="18" charset="0"/>
              </a:rPr>
              <a:t>outcome</a:t>
            </a:r>
            <a:r>
              <a:rPr lang="en-US" sz="3200" dirty="0">
                <a:cs typeface="Times New Roman" panose="02020603050405020304" pitchFamily="18" charset="0"/>
              </a:rPr>
              <a:t> variables</a:t>
            </a:r>
            <a:endParaRPr lang="en-GB" sz="3200" dirty="0">
              <a:cs typeface="Times New Roman" panose="02020603050405020304" pitchFamily="18" charset="0"/>
            </a:endParaRPr>
          </a:p>
        </p:txBody>
      </p:sp>
      <p:sp>
        <p:nvSpPr>
          <p:cNvPr id="6" name="Slide Number Placeholder 5"/>
          <p:cNvSpPr>
            <a:spLocks noGrp="1"/>
          </p:cNvSpPr>
          <p:nvPr>
            <p:ph type="sldNum" sz="quarter" idx="10"/>
          </p:nvPr>
        </p:nvSpPr>
        <p:spPr/>
        <p:txBody>
          <a:bodyPr/>
          <a:lstStyle/>
          <a:p>
            <a:pPr>
              <a:defRPr/>
            </a:pPr>
            <a:fld id="{9426A61E-93B8-384D-8975-0A89DB09A550}" type="slidenum">
              <a:rPr lang="sv-SE" smtClean="0"/>
              <a:pPr>
                <a:defRPr/>
              </a:pPr>
              <a:t>99</a:t>
            </a:fld>
            <a:endParaRPr lang="sv-SE" dirty="0"/>
          </a:p>
        </p:txBody>
      </p:sp>
    </p:spTree>
    <p:extLst>
      <p:ext uri="{BB962C8B-B14F-4D97-AF65-F5344CB8AC3E}">
        <p14:creationId xmlns:p14="http://schemas.microsoft.com/office/powerpoint/2010/main" val="196706705"/>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nummer 1"/>
          <p:cNvSpPr>
            <a:spLocks noGrp="1"/>
          </p:cNvSpPr>
          <p:nvPr>
            <p:ph type="sldNum" sz="quarter" idx="12"/>
          </p:nvPr>
        </p:nvSpPr>
        <p:spPr/>
        <p:txBody>
          <a:bodyPr/>
          <a:lstStyle/>
          <a:p>
            <a:pPr>
              <a:defRPr/>
            </a:pPr>
            <a:fld id="{A4261E0D-31A1-4E7D-B429-45B983D058AA}" type="slidenum">
              <a:rPr lang="sv-SE" smtClean="0">
                <a:solidFill>
                  <a:srgbClr val="000000">
                    <a:tint val="75000"/>
                  </a:srgbClr>
                </a:solidFill>
              </a:rPr>
              <a:pPr>
                <a:defRPr/>
              </a:pPr>
              <a:t>100</a:t>
            </a:fld>
            <a:endParaRPr lang="sv-SE">
              <a:solidFill>
                <a:srgbClr val="000000">
                  <a:tint val="75000"/>
                </a:srgbClr>
              </a:solidFill>
            </a:endParaRPr>
          </a:p>
        </p:txBody>
      </p:sp>
      <p:sp>
        <p:nvSpPr>
          <p:cNvPr id="7" name="textruta 6"/>
          <p:cNvSpPr txBox="1">
            <a:spLocks noChangeArrowheads="1"/>
          </p:cNvSpPr>
          <p:nvPr/>
        </p:nvSpPr>
        <p:spPr bwMode="auto">
          <a:xfrm>
            <a:off x="251520" y="614032"/>
            <a:ext cx="852853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dirty="0">
                <a:solidFill>
                  <a:srgbClr val="000000"/>
                </a:solidFill>
                <a:latin typeface="+mn-lt"/>
                <a:ea typeface="Verdana" panose="020B0604030504040204" pitchFamily="34" charset="0"/>
              </a:rPr>
              <a:t>Two possible values, </a:t>
            </a:r>
            <a:r>
              <a:rPr lang="en-US" sz="2400" b="1" dirty="0">
                <a:solidFill>
                  <a:srgbClr val="549C9A"/>
                </a:solidFill>
                <a:latin typeface="+mn-lt"/>
                <a:ea typeface="Verdana" panose="020B0604030504040204" pitchFamily="34" charset="0"/>
              </a:rPr>
              <a:t>success</a:t>
            </a:r>
            <a:r>
              <a:rPr lang="en-US" sz="2400" dirty="0">
                <a:solidFill>
                  <a:srgbClr val="000000"/>
                </a:solidFill>
                <a:latin typeface="+mn-lt"/>
                <a:ea typeface="Verdana" panose="020B0604030504040204" pitchFamily="34" charset="0"/>
              </a:rPr>
              <a:t> and </a:t>
            </a:r>
            <a:r>
              <a:rPr lang="en-US" sz="2400" b="1" dirty="0">
                <a:solidFill>
                  <a:schemeClr val="accent2">
                    <a:lumMod val="75000"/>
                  </a:schemeClr>
                </a:solidFill>
                <a:latin typeface="+mn-lt"/>
                <a:ea typeface="Verdana" panose="020B0604030504040204" pitchFamily="34" charset="0"/>
              </a:rPr>
              <a:t>failure</a:t>
            </a:r>
            <a:r>
              <a:rPr lang="en-US" sz="2400" dirty="0">
                <a:solidFill>
                  <a:srgbClr val="000000"/>
                </a:solidFill>
                <a:latin typeface="+mn-lt"/>
                <a:ea typeface="Verdana" panose="020B0604030504040204" pitchFamily="34" charset="0"/>
              </a:rPr>
              <a:t> (0/1). </a:t>
            </a:r>
            <a:r>
              <a:rPr lang="en-US" sz="2400" dirty="0">
                <a:latin typeface="+mn-lt"/>
                <a:ea typeface="Verdana" panose="020B0604030504040204" pitchFamily="34" charset="0"/>
                <a:cs typeface="Times New Roman" panose="02020603050405020304" pitchFamily="18" charset="0"/>
              </a:rPr>
              <a:t>Some of common ways to compare binary data from </a:t>
            </a:r>
            <a:r>
              <a:rPr lang="en-US" sz="2400" b="1" i="1" dirty="0">
                <a:latin typeface="+mn-lt"/>
                <a:ea typeface="Verdana" panose="020B0604030504040204" pitchFamily="34" charset="0"/>
                <a:cs typeface="Times New Roman" panose="02020603050405020304" pitchFamily="18" charset="0"/>
              </a:rPr>
              <a:t>independent</a:t>
            </a:r>
            <a:r>
              <a:rPr lang="en-US" sz="2400" dirty="0">
                <a:latin typeface="+mn-lt"/>
                <a:ea typeface="Verdana" panose="020B0604030504040204" pitchFamily="34" charset="0"/>
                <a:cs typeface="Times New Roman" panose="02020603050405020304" pitchFamily="18" charset="0"/>
              </a:rPr>
              <a:t> groups:</a:t>
            </a:r>
          </a:p>
        </p:txBody>
      </p:sp>
      <mc:AlternateContent xmlns:mc="http://schemas.openxmlformats.org/markup-compatibility/2006" xmlns:a14="http://schemas.microsoft.com/office/drawing/2010/main">
        <mc:Choice Requires="a14">
          <p:sp>
            <p:nvSpPr>
              <p:cNvPr id="8" name="textruta 7"/>
              <p:cNvSpPr txBox="1">
                <a:spLocks noChangeArrowheads="1"/>
              </p:cNvSpPr>
              <p:nvPr/>
            </p:nvSpPr>
            <p:spPr bwMode="auto">
              <a:xfrm>
                <a:off x="971600" y="1369582"/>
                <a:ext cx="7416824" cy="360739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85763" indent="-385763" eaLnBrk="1" hangingPunct="1">
                  <a:lnSpc>
                    <a:spcPct val="150000"/>
                  </a:lnSpc>
                  <a:spcBef>
                    <a:spcPts val="0"/>
                  </a:spcBef>
                  <a:spcAft>
                    <a:spcPts val="450"/>
                  </a:spcAft>
                  <a:buFont typeface="+mj-lt"/>
                  <a:buAutoNum type="arabicPeriod"/>
                </a:pPr>
                <a:r>
                  <a:rPr lang="en-US" sz="2000" b="1" dirty="0">
                    <a:latin typeface="+mn-lt"/>
                    <a:ea typeface="Verdana" panose="020B0604030504040204" pitchFamily="34" charset="0"/>
                    <a:cs typeface="Times New Roman" panose="02020603050405020304" pitchFamily="18" charset="0"/>
                  </a:rPr>
                  <a:t>Chi2-test</a:t>
                </a:r>
                <a:r>
                  <a:rPr lang="en-US" sz="2000" dirty="0">
                    <a:latin typeface="+mn-lt"/>
                    <a:ea typeface="Verdana" panose="020B0604030504040204" pitchFamily="34" charset="0"/>
                    <a:cs typeface="Times New Roman" panose="02020603050405020304" pitchFamily="18" charset="0"/>
                  </a:rPr>
                  <a:t>  (</a:t>
                </a:r>
                <a14:m>
                  <m:oMath xmlns:m="http://schemas.openxmlformats.org/officeDocument/2006/math">
                    <m:sSup>
                      <m:sSupPr>
                        <m:ctrlPr>
                          <a:rPr lang="sv-SE" sz="2000" i="1">
                            <a:latin typeface="Cambria Math" panose="02040503050406030204" pitchFamily="18" charset="0"/>
                            <a:cs typeface="Times New Roman" panose="02020603050405020304" pitchFamily="18" charset="0"/>
                          </a:rPr>
                        </m:ctrlPr>
                      </m:sSupPr>
                      <m:e>
                        <m:r>
                          <m:rPr>
                            <m:sty m:val="p"/>
                          </m:rPr>
                          <a:rPr lang="sv-SE" sz="2000" i="1">
                            <a:latin typeface="Cambria Math" panose="02040503050406030204" pitchFamily="18" charset="0"/>
                            <a:cs typeface="Times New Roman" panose="02020603050405020304" pitchFamily="18" charset="0"/>
                          </a:rPr>
                          <m:t>χ</m:t>
                        </m:r>
                      </m:e>
                      <m:sup>
                        <m:r>
                          <a:rPr lang="sv-SE" sz="2000">
                            <a:latin typeface="Cambria Math" panose="02040503050406030204" pitchFamily="18" charset="0"/>
                            <a:cs typeface="Times New Roman" panose="02020603050405020304" pitchFamily="18" charset="0"/>
                          </a:rPr>
                          <m:t>2</m:t>
                        </m:r>
                      </m:sup>
                    </m:sSup>
                  </m:oMath>
                </a14:m>
                <a:r>
                  <a:rPr lang="en-US" sz="2000" dirty="0">
                    <a:latin typeface="+mn-lt"/>
                    <a:ea typeface="Verdana" panose="020B0604030504040204" pitchFamily="34" charset="0"/>
                    <a:cs typeface="Times New Roman" panose="02020603050405020304" pitchFamily="18" charset="0"/>
                  </a:rPr>
                  <a:t>-test)</a:t>
                </a:r>
              </a:p>
              <a:p>
                <a:pPr marL="385763" indent="-385763" eaLnBrk="1" hangingPunct="1">
                  <a:lnSpc>
                    <a:spcPct val="150000"/>
                  </a:lnSpc>
                  <a:spcBef>
                    <a:spcPts val="0"/>
                  </a:spcBef>
                  <a:spcAft>
                    <a:spcPts val="450"/>
                  </a:spcAft>
                  <a:buFont typeface="+mj-lt"/>
                  <a:buAutoNum type="arabicPeriod"/>
                </a:pPr>
                <a:r>
                  <a:rPr lang="en-US" sz="2000" dirty="0">
                    <a:latin typeface="+mn-lt"/>
                    <a:ea typeface="Verdana" panose="020B0604030504040204" pitchFamily="34" charset="0"/>
                    <a:cs typeface="Times New Roman" panose="02020603050405020304" pitchFamily="18" charset="0"/>
                  </a:rPr>
                  <a:t>The </a:t>
                </a:r>
                <a:r>
                  <a:rPr lang="en-US" sz="2000" b="1" dirty="0">
                    <a:solidFill>
                      <a:srgbClr val="002060"/>
                    </a:solidFill>
                    <a:latin typeface="+mn-lt"/>
                    <a:ea typeface="Verdana" panose="020B0604030504040204" pitchFamily="34" charset="0"/>
                    <a:cs typeface="Times New Roman" panose="02020603050405020304" pitchFamily="18" charset="0"/>
                  </a:rPr>
                  <a:t>difference</a:t>
                </a:r>
                <a:r>
                  <a:rPr lang="en-US" sz="2000" dirty="0">
                    <a:latin typeface="+mn-lt"/>
                    <a:ea typeface="Verdana" panose="020B0604030504040204" pitchFamily="34" charset="0"/>
                    <a:cs typeface="Times New Roman" panose="02020603050405020304" pitchFamily="18" charset="0"/>
                  </a:rPr>
                  <a:t> between </a:t>
                </a:r>
                <a:r>
                  <a:rPr lang="en-US" sz="2000" i="1" dirty="0">
                    <a:latin typeface="+mn-lt"/>
                    <a:ea typeface="Verdana" panose="020B0604030504040204" pitchFamily="34" charset="0"/>
                    <a:cs typeface="Times New Roman" panose="02020603050405020304" pitchFamily="18" charset="0"/>
                  </a:rPr>
                  <a:t>independent</a:t>
                </a:r>
                <a:r>
                  <a:rPr lang="en-US" sz="2000" dirty="0">
                    <a:latin typeface="+mn-lt"/>
                    <a:ea typeface="Verdana" panose="020B0604030504040204" pitchFamily="34" charset="0"/>
                    <a:cs typeface="Times New Roman" panose="02020603050405020304" pitchFamily="18" charset="0"/>
                  </a:rPr>
                  <a:t> proportions</a:t>
                </a:r>
                <a:endParaRPr lang="en-GB" sz="2000" dirty="0">
                  <a:latin typeface="+mn-lt"/>
                  <a:ea typeface="Verdana" panose="020B0604030504040204" pitchFamily="34" charset="0"/>
                  <a:cs typeface="Times New Roman" panose="02020603050405020304" pitchFamily="18" charset="0"/>
                </a:endParaRPr>
              </a:p>
              <a:p>
                <a:pPr marL="385763" indent="-385763" eaLnBrk="1" hangingPunct="1">
                  <a:lnSpc>
                    <a:spcPct val="150000"/>
                  </a:lnSpc>
                  <a:spcBef>
                    <a:spcPts val="0"/>
                  </a:spcBef>
                  <a:spcAft>
                    <a:spcPts val="450"/>
                  </a:spcAft>
                  <a:buFont typeface="+mj-lt"/>
                  <a:buAutoNum type="arabicPeriod"/>
                </a:pPr>
                <a:r>
                  <a:rPr lang="en-US" sz="2000" dirty="0">
                    <a:latin typeface="+mn-lt"/>
                    <a:ea typeface="Verdana" panose="020B0604030504040204" pitchFamily="34" charset="0"/>
                    <a:cs typeface="Times New Roman" panose="02020603050405020304" pitchFamily="18" charset="0"/>
                  </a:rPr>
                  <a:t>The </a:t>
                </a:r>
                <a:r>
                  <a:rPr lang="en-US" sz="2000" b="1" dirty="0">
                    <a:solidFill>
                      <a:srgbClr val="002060"/>
                    </a:solidFill>
                    <a:latin typeface="+mn-lt"/>
                    <a:ea typeface="Verdana" panose="020B0604030504040204" pitchFamily="34" charset="0"/>
                    <a:cs typeface="Times New Roman" panose="02020603050405020304" pitchFamily="18" charset="0"/>
                  </a:rPr>
                  <a:t>ratio</a:t>
                </a:r>
                <a:r>
                  <a:rPr lang="en-US" sz="2000" dirty="0">
                    <a:latin typeface="+mn-lt"/>
                    <a:ea typeface="Verdana" panose="020B0604030504040204" pitchFamily="34" charset="0"/>
                    <a:cs typeface="Times New Roman" panose="02020603050405020304" pitchFamily="18" charset="0"/>
                  </a:rPr>
                  <a:t> between </a:t>
                </a:r>
                <a:r>
                  <a:rPr lang="en-US" sz="2000" i="1" dirty="0">
                    <a:latin typeface="+mn-lt"/>
                    <a:ea typeface="Verdana" panose="020B0604030504040204" pitchFamily="34" charset="0"/>
                    <a:cs typeface="Times New Roman" panose="02020603050405020304" pitchFamily="18" charset="0"/>
                  </a:rPr>
                  <a:t>independent</a:t>
                </a:r>
                <a:r>
                  <a:rPr lang="en-US" sz="2000" dirty="0">
                    <a:latin typeface="+mn-lt"/>
                    <a:ea typeface="Verdana" panose="020B0604030504040204" pitchFamily="34" charset="0"/>
                    <a:cs typeface="Times New Roman" panose="02020603050405020304" pitchFamily="18" charset="0"/>
                  </a:rPr>
                  <a:t> proportions</a:t>
                </a:r>
              </a:p>
              <a:p>
                <a:pPr marL="942975" lvl="1" indent="-385763" eaLnBrk="1" hangingPunct="1">
                  <a:lnSpc>
                    <a:spcPct val="150000"/>
                  </a:lnSpc>
                  <a:spcBef>
                    <a:spcPts val="0"/>
                  </a:spcBef>
                  <a:spcAft>
                    <a:spcPts val="450"/>
                  </a:spcAft>
                  <a:buFont typeface="+mj-lt"/>
                  <a:buAutoNum type="alphaLcPeriod"/>
                </a:pPr>
                <a:r>
                  <a:rPr lang="en-GB" sz="2000" b="1" dirty="0">
                    <a:latin typeface="+mn-lt"/>
                    <a:ea typeface="Verdana" panose="020B0604030504040204" pitchFamily="34" charset="0"/>
                    <a:cs typeface="Times New Roman" panose="02020603050405020304" pitchFamily="18" charset="0"/>
                  </a:rPr>
                  <a:t>Cross-sectional</a:t>
                </a:r>
                <a:r>
                  <a:rPr lang="en-GB" sz="2000" dirty="0">
                    <a:latin typeface="+mn-lt"/>
                    <a:ea typeface="Verdana" panose="020B0604030504040204" pitchFamily="34" charset="0"/>
                    <a:cs typeface="Times New Roman" panose="02020603050405020304" pitchFamily="18" charset="0"/>
                  </a:rPr>
                  <a:t> studies - Prevalence ratio (PR)</a:t>
                </a:r>
              </a:p>
              <a:p>
                <a:pPr marL="942975" lvl="1" indent="-385763" eaLnBrk="1" hangingPunct="1">
                  <a:lnSpc>
                    <a:spcPct val="150000"/>
                  </a:lnSpc>
                  <a:spcBef>
                    <a:spcPts val="0"/>
                  </a:spcBef>
                  <a:spcAft>
                    <a:spcPts val="450"/>
                  </a:spcAft>
                  <a:buFont typeface="+mj-lt"/>
                  <a:buAutoNum type="alphaLcPeriod"/>
                </a:pPr>
                <a:r>
                  <a:rPr lang="en-GB" sz="2000" b="1" dirty="0">
                    <a:latin typeface="+mn-lt"/>
                    <a:ea typeface="Verdana" panose="020B0604030504040204" pitchFamily="34" charset="0"/>
                    <a:cs typeface="Times New Roman" panose="02020603050405020304" pitchFamily="18" charset="0"/>
                  </a:rPr>
                  <a:t>Cohort/Follow-up</a:t>
                </a:r>
                <a:r>
                  <a:rPr lang="en-GB" sz="2000" dirty="0">
                    <a:latin typeface="+mn-lt"/>
                    <a:ea typeface="Verdana" panose="020B0604030504040204" pitchFamily="34" charset="0"/>
                    <a:cs typeface="Times New Roman" panose="02020603050405020304" pitchFamily="18" charset="0"/>
                  </a:rPr>
                  <a:t> studies - Relative risks (RR)</a:t>
                </a:r>
              </a:p>
              <a:p>
                <a:pPr marL="385763" indent="-385763" eaLnBrk="1" hangingPunct="1">
                  <a:lnSpc>
                    <a:spcPct val="150000"/>
                  </a:lnSpc>
                  <a:spcBef>
                    <a:spcPts val="0"/>
                  </a:spcBef>
                  <a:spcAft>
                    <a:spcPts val="450"/>
                  </a:spcAft>
                  <a:buFont typeface="+mj-lt"/>
                  <a:buAutoNum type="arabicPeriod"/>
                </a:pPr>
                <a:r>
                  <a:rPr lang="en-US" sz="2000" dirty="0">
                    <a:latin typeface="+mn-lt"/>
                    <a:ea typeface="Verdana" panose="020B0604030504040204" pitchFamily="34" charset="0"/>
                    <a:cs typeface="Times New Roman" panose="02020603050405020304" pitchFamily="18" charset="0"/>
                  </a:rPr>
                  <a:t>The ratio between independent odds in </a:t>
                </a:r>
                <a:r>
                  <a:rPr lang="en-GB" sz="2000" b="1" dirty="0">
                    <a:latin typeface="+mn-lt"/>
                    <a:ea typeface="Verdana" panose="020B0604030504040204" pitchFamily="34" charset="0"/>
                    <a:cs typeface="Times New Roman" panose="02020603050405020304" pitchFamily="18" charset="0"/>
                  </a:rPr>
                  <a:t>Case control</a:t>
                </a:r>
                <a:r>
                  <a:rPr lang="en-GB" sz="2000" dirty="0">
                    <a:latin typeface="+mn-lt"/>
                    <a:ea typeface="Verdana" panose="020B0604030504040204" pitchFamily="34" charset="0"/>
                    <a:cs typeface="Times New Roman" panose="02020603050405020304" pitchFamily="18" charset="0"/>
                  </a:rPr>
                  <a:t> studies - Odds ratio (OR)</a:t>
                </a:r>
                <a:endParaRPr lang="en-US" sz="2000" dirty="0">
                  <a:latin typeface="+mn-lt"/>
                  <a:ea typeface="Verdana" panose="020B0604030504040204" pitchFamily="34" charset="0"/>
                  <a:cs typeface="Times New Roman" panose="02020603050405020304" pitchFamily="18" charset="0"/>
                </a:endParaRPr>
              </a:p>
            </p:txBody>
          </p:sp>
        </mc:Choice>
        <mc:Fallback xmlns="">
          <p:sp>
            <p:nvSpPr>
              <p:cNvPr id="8" name="textruta 7"/>
              <p:cNvSpPr txBox="1">
                <a:spLocks noRot="1" noChangeAspect="1" noMove="1" noResize="1" noEditPoints="1" noAdjustHandles="1" noChangeArrowheads="1" noChangeShapeType="1" noTextEdit="1"/>
              </p:cNvSpPr>
              <p:nvPr/>
            </p:nvSpPr>
            <p:spPr bwMode="auto">
              <a:xfrm>
                <a:off x="971600" y="1369582"/>
                <a:ext cx="7416824" cy="3607398"/>
              </a:xfrm>
              <a:prstGeom prst="rect">
                <a:avLst/>
              </a:prstGeom>
              <a:blipFill>
                <a:blip r:embed="rId3"/>
                <a:stretch>
                  <a:fillRect l="-904" b="-22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9" name="Rubrik 1"/>
          <p:cNvSpPr txBox="1">
            <a:spLocks/>
          </p:cNvSpPr>
          <p:nvPr/>
        </p:nvSpPr>
        <p:spPr bwMode="auto">
          <a:xfrm>
            <a:off x="1979713" y="195486"/>
            <a:ext cx="5595250" cy="378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lgn="l" defTabSz="457200" rtl="0" eaLnBrk="1" fontAlgn="base" hangingPunct="1">
              <a:lnSpc>
                <a:spcPct val="90000"/>
              </a:lnSpc>
              <a:spcBef>
                <a:spcPct val="0"/>
              </a:spcBef>
              <a:spcAft>
                <a:spcPct val="0"/>
              </a:spcAft>
              <a:defRPr sz="3300" b="1" i="0" kern="1200">
                <a:solidFill>
                  <a:schemeClr val="tx1"/>
                </a:solidFill>
                <a:latin typeface="Arial Narrow"/>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en-US" sz="3600" dirty="0">
                <a:solidFill>
                  <a:srgbClr val="002060"/>
                </a:solidFill>
                <a:latin typeface="+mj-lt"/>
                <a:cs typeface="Times New Roman" panose="02020603050405020304" pitchFamily="18" charset="0"/>
              </a:rPr>
              <a:t>Binary</a:t>
            </a:r>
            <a:r>
              <a:rPr lang="en-US" sz="3600" i="1" dirty="0">
                <a:latin typeface="+mj-lt"/>
                <a:cs typeface="Times New Roman" panose="02020603050405020304" pitchFamily="18" charset="0"/>
              </a:rPr>
              <a:t> </a:t>
            </a:r>
            <a:r>
              <a:rPr lang="en-US" sz="3600" dirty="0">
                <a:latin typeface="+mj-lt"/>
                <a:cs typeface="Times New Roman" panose="02020603050405020304" pitchFamily="18" charset="0"/>
              </a:rPr>
              <a:t>outcome variables</a:t>
            </a:r>
            <a:endParaRPr lang="en-GB" sz="3600" dirty="0">
              <a:latin typeface="+mj-lt"/>
              <a:cs typeface="Times New Roman" panose="02020603050405020304" pitchFamily="18" charset="0"/>
            </a:endParaRPr>
          </a:p>
        </p:txBody>
      </p:sp>
    </p:spTree>
    <p:extLst>
      <p:ext uri="{BB962C8B-B14F-4D97-AF65-F5344CB8AC3E}">
        <p14:creationId xmlns:p14="http://schemas.microsoft.com/office/powerpoint/2010/main" val="20132502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Platshållare för innehåll 3"/>
          <p:cNvGraphicFramePr>
            <a:graphicFrameLocks noGrp="1"/>
          </p:cNvGraphicFramePr>
          <p:nvPr>
            <p:ph idx="1"/>
            <p:extLst>
              <p:ext uri="{D42A27DB-BD31-4B8C-83A1-F6EECF244321}">
                <p14:modId xmlns:p14="http://schemas.microsoft.com/office/powerpoint/2010/main" val="2420331103"/>
              </p:ext>
            </p:extLst>
          </p:nvPr>
        </p:nvGraphicFramePr>
        <p:xfrm>
          <a:off x="971600" y="689440"/>
          <a:ext cx="6760258" cy="2386365"/>
        </p:xfrm>
        <a:graphic>
          <a:graphicData uri="http://schemas.openxmlformats.org/drawingml/2006/table">
            <a:tbl>
              <a:tblPr firstRow="1" bandRow="1">
                <a:tableStyleId>{5C22544A-7EE6-4342-B048-85BDC9FD1C3A}</a:tableStyleId>
              </a:tblPr>
              <a:tblGrid>
                <a:gridCol w="1071626">
                  <a:extLst>
                    <a:ext uri="{9D8B030D-6E8A-4147-A177-3AD203B41FA5}">
                      <a16:colId xmlns:a16="http://schemas.microsoft.com/office/drawing/2014/main" val="20000"/>
                    </a:ext>
                  </a:extLst>
                </a:gridCol>
                <a:gridCol w="2384758">
                  <a:extLst>
                    <a:ext uri="{9D8B030D-6E8A-4147-A177-3AD203B41FA5}">
                      <a16:colId xmlns:a16="http://schemas.microsoft.com/office/drawing/2014/main" val="20001"/>
                    </a:ext>
                  </a:extLst>
                </a:gridCol>
                <a:gridCol w="2160240">
                  <a:extLst>
                    <a:ext uri="{9D8B030D-6E8A-4147-A177-3AD203B41FA5}">
                      <a16:colId xmlns:a16="http://schemas.microsoft.com/office/drawing/2014/main" val="20002"/>
                    </a:ext>
                  </a:extLst>
                </a:gridCol>
                <a:gridCol w="1143634">
                  <a:extLst>
                    <a:ext uri="{9D8B030D-6E8A-4147-A177-3AD203B41FA5}">
                      <a16:colId xmlns:a16="http://schemas.microsoft.com/office/drawing/2014/main" val="20003"/>
                    </a:ext>
                  </a:extLst>
                </a:gridCol>
              </a:tblGrid>
              <a:tr h="451170">
                <a:tc>
                  <a:txBody>
                    <a:bodyPr/>
                    <a:lstStyle/>
                    <a:p>
                      <a:pPr marL="0" algn="l" defTabSz="457200" rtl="0" eaLnBrk="1" latinLnBrk="0" hangingPunct="1"/>
                      <a:endParaRPr lang="en-US" sz="2400" b="1" kern="1200" noProof="0" dirty="0">
                        <a:solidFill>
                          <a:schemeClr val="lt1"/>
                        </a:solidFill>
                        <a:latin typeface="+mn-lt"/>
                        <a:ea typeface="+mn-ea"/>
                        <a:cs typeface="+mn-cs"/>
                      </a:endParaRPr>
                    </a:p>
                  </a:txBody>
                  <a:tcPr marL="68580" marR="68580" marT="34275" marB="34275">
                    <a:solidFill>
                      <a:schemeClr val="accent1">
                        <a:lumMod val="75000"/>
                      </a:schemeClr>
                    </a:solidFill>
                  </a:tcPr>
                </a:tc>
                <a:tc gridSpan="3">
                  <a:txBody>
                    <a:bodyPr/>
                    <a:lstStyle/>
                    <a:p>
                      <a:pPr algn="ctr"/>
                      <a:r>
                        <a:rPr lang="sv-SE" sz="2400" b="1" noProof="0" dirty="0"/>
                        <a:t>Sex</a:t>
                      </a:r>
                      <a:endParaRPr lang="en-US" sz="2400" b="1" noProof="0" dirty="0"/>
                    </a:p>
                  </a:txBody>
                  <a:tcPr marL="68580" marR="68580" marT="34275" marB="34275"/>
                </a:tc>
                <a:tc hMerge="1">
                  <a:txBody>
                    <a:bodyPr/>
                    <a:lstStyle/>
                    <a:p>
                      <a:endParaRPr lang="en-US" sz="1800" b="1" noProof="0" dirty="0"/>
                    </a:p>
                  </a:txBody>
                  <a:tcPr marL="68580" marR="68580" marT="34275" marB="34275"/>
                </a:tc>
                <a:tc hMerge="1">
                  <a:txBody>
                    <a:bodyPr/>
                    <a:lstStyle/>
                    <a:p>
                      <a:pPr algn="ctr"/>
                      <a:endParaRPr lang="en-US" sz="1800" b="1" noProof="0" dirty="0"/>
                    </a:p>
                  </a:txBody>
                  <a:tcPr marL="68580" marR="68580" marT="34275" marB="34275"/>
                </a:tc>
                <a:extLst>
                  <a:ext uri="{0D108BD9-81ED-4DB2-BD59-A6C34878D82A}">
                    <a16:rowId xmlns:a16="http://schemas.microsoft.com/office/drawing/2014/main" val="1342113022"/>
                  </a:ext>
                </a:extLst>
              </a:tr>
              <a:tr h="38216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sv-SE" sz="1800" b="1" kern="1200" noProof="0" dirty="0">
                          <a:solidFill>
                            <a:schemeClr val="lt1"/>
                          </a:solidFill>
                          <a:latin typeface="+mn-lt"/>
                          <a:ea typeface="+mn-ea"/>
                          <a:cs typeface="+mn-cs"/>
                        </a:rPr>
                        <a:t>Semester</a:t>
                      </a:r>
                      <a:endParaRPr lang="en-US" sz="1800" b="1" kern="1200" noProof="0" dirty="0">
                        <a:solidFill>
                          <a:schemeClr val="lt1"/>
                        </a:solidFill>
                        <a:latin typeface="+mn-lt"/>
                        <a:ea typeface="+mn-ea"/>
                        <a:cs typeface="+mn-cs"/>
                      </a:endParaRPr>
                    </a:p>
                  </a:txBody>
                  <a:tcPr marL="68580" marR="68580" marT="34275" marB="34275">
                    <a:solidFill>
                      <a:schemeClr val="accent1">
                        <a:lumMod val="75000"/>
                      </a:schemeClr>
                    </a:solidFill>
                  </a:tcPr>
                </a:tc>
                <a:tc>
                  <a:txBody>
                    <a:bodyPr/>
                    <a:lstStyle/>
                    <a:p>
                      <a:r>
                        <a:rPr lang="en-US" sz="1800" b="1" noProof="0" dirty="0"/>
                        <a:t>Females </a:t>
                      </a:r>
                    </a:p>
                  </a:txBody>
                  <a:tcPr marL="68580" marR="68580" marT="34275" marB="34275"/>
                </a:tc>
                <a:tc>
                  <a:txBody>
                    <a:bodyPr/>
                    <a:lstStyle/>
                    <a:p>
                      <a:r>
                        <a:rPr lang="en-US" sz="1800" b="1" noProof="0" dirty="0"/>
                        <a:t>Males</a:t>
                      </a:r>
                    </a:p>
                  </a:txBody>
                  <a:tcPr marL="68580" marR="68580" marT="34275" marB="34275"/>
                </a:tc>
                <a:tc>
                  <a:txBody>
                    <a:bodyPr/>
                    <a:lstStyle/>
                    <a:p>
                      <a:pPr algn="ctr"/>
                      <a:r>
                        <a:rPr lang="en-US" sz="1800" b="1" noProof="0" dirty="0"/>
                        <a:t>Total</a:t>
                      </a:r>
                    </a:p>
                  </a:txBody>
                  <a:tcPr marL="68580" marR="68580" marT="34275" marB="34275"/>
                </a:tc>
                <a:extLst>
                  <a:ext uri="{0D108BD9-81ED-4DB2-BD59-A6C34878D82A}">
                    <a16:rowId xmlns:a16="http://schemas.microsoft.com/office/drawing/2014/main" val="10000"/>
                  </a:ext>
                </a:extLst>
              </a:tr>
              <a:tr h="598427">
                <a:tc>
                  <a:txBody>
                    <a:bodyPr/>
                    <a:lstStyle/>
                    <a:p>
                      <a:pPr marL="0" algn="l" defTabSz="457200" rtl="0" eaLnBrk="1" latinLnBrk="0" hangingPunct="1"/>
                      <a:r>
                        <a:rPr lang="en-US" sz="1800" b="1" kern="1200" noProof="0" dirty="0">
                          <a:solidFill>
                            <a:schemeClr val="lt1"/>
                          </a:solidFill>
                          <a:latin typeface="+mn-lt"/>
                          <a:ea typeface="+mn-ea"/>
                          <a:cs typeface="+mn-cs"/>
                        </a:rPr>
                        <a:t> </a:t>
                      </a:r>
                    </a:p>
                  </a:txBody>
                  <a:tcPr marL="68580" marR="68580" marT="34275" marB="34275">
                    <a:solidFill>
                      <a:schemeClr val="accent1">
                        <a:lumMod val="75000"/>
                      </a:schemeClr>
                    </a:solidFill>
                  </a:tcPr>
                </a:tc>
                <a:tc>
                  <a:txBody>
                    <a:bodyPr/>
                    <a:lstStyle/>
                    <a:p>
                      <a:pPr algn="l"/>
                      <a:endParaRPr lang="en-US" sz="1500" b="1" baseline="0" noProof="0" dirty="0"/>
                    </a:p>
                  </a:txBody>
                  <a:tcPr marL="68580" marR="68580" marT="34275" marB="34275"/>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500" b="1" noProof="0" dirty="0"/>
                    </a:p>
                  </a:txBody>
                  <a:tcPr marL="68580" marR="68580" marT="34275" marB="34275"/>
                </a:tc>
                <a:tc>
                  <a:txBody>
                    <a:bodyPr/>
                    <a:lstStyle/>
                    <a:p>
                      <a:pPr algn="ctr"/>
                      <a:endParaRPr lang="en-US" sz="1500" b="1" noProof="0" dirty="0"/>
                    </a:p>
                  </a:txBody>
                  <a:tcPr marL="68580" marR="68580" marT="34275" marB="34275"/>
                </a:tc>
                <a:extLst>
                  <a:ext uri="{0D108BD9-81ED-4DB2-BD59-A6C34878D82A}">
                    <a16:rowId xmlns:a16="http://schemas.microsoft.com/office/drawing/2014/main" val="10001"/>
                  </a:ext>
                </a:extLst>
              </a:tr>
              <a:tr h="598427">
                <a:tc>
                  <a:txBody>
                    <a:bodyPr/>
                    <a:lstStyle/>
                    <a:p>
                      <a:pPr marL="0" algn="l" defTabSz="457200" rtl="0" eaLnBrk="1" latinLnBrk="0" hangingPunct="1"/>
                      <a:r>
                        <a:rPr lang="en-US" sz="1800" b="1" kern="1200" noProof="0" dirty="0">
                          <a:solidFill>
                            <a:schemeClr val="lt1"/>
                          </a:solidFill>
                          <a:latin typeface="+mn-lt"/>
                          <a:ea typeface="+mn-ea"/>
                          <a:cs typeface="+mn-cs"/>
                        </a:rPr>
                        <a:t> </a:t>
                      </a:r>
                    </a:p>
                  </a:txBody>
                  <a:tcPr marL="68580" marR="68580" marT="34275" marB="34275">
                    <a:solidFill>
                      <a:schemeClr val="accent1">
                        <a:lumMod val="7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500" b="1" noProof="0" dirty="0"/>
                    </a:p>
                  </a:txBody>
                  <a:tcPr marL="68580" marR="68580" marT="34275" marB="34275"/>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500" b="1" noProof="0" dirty="0"/>
                    </a:p>
                  </a:txBody>
                  <a:tcPr marL="68580" marR="68580" marT="34275" marB="34275"/>
                </a:tc>
                <a:tc>
                  <a:txBody>
                    <a:bodyPr/>
                    <a:lstStyle/>
                    <a:p>
                      <a:pPr algn="ctr"/>
                      <a:r>
                        <a:rPr lang="en-US" sz="1500" b="1" noProof="0" dirty="0"/>
                        <a:t> </a:t>
                      </a:r>
                    </a:p>
                  </a:txBody>
                  <a:tcPr marL="68580" marR="68580" marT="34275" marB="34275"/>
                </a:tc>
                <a:extLst>
                  <a:ext uri="{0D108BD9-81ED-4DB2-BD59-A6C34878D82A}">
                    <a16:rowId xmlns:a16="http://schemas.microsoft.com/office/drawing/2014/main" val="10002"/>
                  </a:ext>
                </a:extLst>
              </a:tr>
              <a:tr h="356180">
                <a:tc>
                  <a:txBody>
                    <a:bodyPr/>
                    <a:lstStyle/>
                    <a:p>
                      <a:pPr marL="0" algn="l" defTabSz="457200" rtl="0" eaLnBrk="1" latinLnBrk="0" hangingPunct="1"/>
                      <a:r>
                        <a:rPr lang="en-US" sz="1800" b="1" kern="1200" noProof="0" dirty="0">
                          <a:solidFill>
                            <a:schemeClr val="lt1"/>
                          </a:solidFill>
                          <a:latin typeface="+mn-lt"/>
                          <a:ea typeface="+mn-ea"/>
                          <a:cs typeface="+mn-cs"/>
                        </a:rPr>
                        <a:t>Annually</a:t>
                      </a:r>
                    </a:p>
                  </a:txBody>
                  <a:tcPr marL="68580" marR="68580" marT="34275" marB="34275">
                    <a:solidFill>
                      <a:schemeClr val="accent1">
                        <a:lumMod val="75000"/>
                      </a:schemeClr>
                    </a:solidFill>
                  </a:tcPr>
                </a:tc>
                <a:tc>
                  <a:txBody>
                    <a:bodyPr/>
                    <a:lstStyle/>
                    <a:p>
                      <a:pPr algn="r"/>
                      <a:r>
                        <a:rPr lang="en-US" sz="1500" b="1" noProof="0" dirty="0"/>
                        <a:t>    </a:t>
                      </a:r>
                    </a:p>
                  </a:txBody>
                  <a:tcPr marL="68580" marR="68580" marT="34275" marB="34275"/>
                </a:tc>
                <a:tc>
                  <a:txBody>
                    <a:bodyPr/>
                    <a:lstStyle/>
                    <a:p>
                      <a:pPr algn="ctr"/>
                      <a:endParaRPr lang="en-US" sz="1500" b="1" noProof="0" dirty="0"/>
                    </a:p>
                  </a:txBody>
                  <a:tcPr marL="68580" marR="68580" marT="34275" marB="34275"/>
                </a:tc>
                <a:tc>
                  <a:txBody>
                    <a:bodyPr/>
                    <a:lstStyle/>
                    <a:p>
                      <a:pPr algn="ctr"/>
                      <a:r>
                        <a:rPr lang="en-US" sz="1500" b="1" noProof="0" dirty="0"/>
                        <a:t>1000</a:t>
                      </a:r>
                    </a:p>
                  </a:txBody>
                  <a:tcPr marL="68580" marR="68580" marT="34275" marB="34275"/>
                </a:tc>
                <a:extLst>
                  <a:ext uri="{0D108BD9-81ED-4DB2-BD59-A6C34878D82A}">
                    <a16:rowId xmlns:a16="http://schemas.microsoft.com/office/drawing/2014/main" val="10003"/>
                  </a:ext>
                </a:extLst>
              </a:tr>
            </a:tbl>
          </a:graphicData>
        </a:graphic>
      </p:graphicFrame>
      <p:sp>
        <p:nvSpPr>
          <p:cNvPr id="3" name="Platshållare för bildnummer 2"/>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101</a:t>
            </a:fld>
            <a:endParaRPr lang="sv-SE">
              <a:solidFill>
                <a:srgbClr val="000000">
                  <a:tint val="75000"/>
                </a:srgbClr>
              </a:solidFill>
            </a:endParaRPr>
          </a:p>
        </p:txBody>
      </p:sp>
      <p:sp>
        <p:nvSpPr>
          <p:cNvPr id="15" name="Rubrik 1"/>
          <p:cNvSpPr txBox="1">
            <a:spLocks/>
          </p:cNvSpPr>
          <p:nvPr/>
        </p:nvSpPr>
        <p:spPr>
          <a:xfrm>
            <a:off x="1403648" y="105314"/>
            <a:ext cx="5976664" cy="403354"/>
          </a:xfrm>
          <a:prstGeom prst="rect">
            <a:avLst/>
          </a:prstGeom>
          <a:noFill/>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sv-SE" sz="2100" b="1" dirty="0">
                <a:latin typeface="Trebuchet MS" panose="020B0603020202020204" pitchFamily="34" charset="0"/>
              </a:rPr>
              <a:t>Relationship </a:t>
            </a:r>
            <a:r>
              <a:rPr lang="sv-SE" sz="2100" b="1" dirty="0" err="1">
                <a:latin typeface="Trebuchet MS" panose="020B0603020202020204" pitchFamily="34" charset="0"/>
              </a:rPr>
              <a:t>between</a:t>
            </a:r>
            <a:r>
              <a:rPr lang="sv-SE" sz="2100" b="1" dirty="0">
                <a:latin typeface="Trebuchet MS" panose="020B0603020202020204" pitchFamily="34" charset="0"/>
              </a:rPr>
              <a:t> </a:t>
            </a:r>
            <a:r>
              <a:rPr lang="sv-SE" sz="2100" b="1" dirty="0" err="1">
                <a:latin typeface="Trebuchet MS" panose="020B0603020202020204" pitchFamily="34" charset="0"/>
              </a:rPr>
              <a:t>Categorical</a:t>
            </a:r>
            <a:r>
              <a:rPr lang="sv-SE" sz="2100" b="1" dirty="0">
                <a:latin typeface="Trebuchet MS" panose="020B0603020202020204" pitchFamily="34" charset="0"/>
              </a:rPr>
              <a:t> </a:t>
            </a:r>
            <a:r>
              <a:rPr lang="sv-SE" sz="2100" b="1" dirty="0" err="1">
                <a:latin typeface="Trebuchet MS" panose="020B0603020202020204" pitchFamily="34" charset="0"/>
              </a:rPr>
              <a:t>variables</a:t>
            </a:r>
            <a:endParaRPr lang="en-US" sz="2100" b="1" dirty="0">
              <a:latin typeface="Trebuchet MS" panose="020B0603020202020204" pitchFamily="34" charset="0"/>
            </a:endParaRPr>
          </a:p>
        </p:txBody>
      </p:sp>
      <p:sp>
        <p:nvSpPr>
          <p:cNvPr id="6" name="TextBox 5">
            <a:extLst>
              <a:ext uri="{FF2B5EF4-FFF2-40B4-BE49-F238E27FC236}">
                <a16:creationId xmlns:a16="http://schemas.microsoft.com/office/drawing/2014/main" id="{40F34B45-5722-4DAA-8560-B26B112DE77A}"/>
              </a:ext>
            </a:extLst>
          </p:cNvPr>
          <p:cNvSpPr txBox="1"/>
          <p:nvPr/>
        </p:nvSpPr>
        <p:spPr>
          <a:xfrm>
            <a:off x="2051720" y="1544068"/>
            <a:ext cx="230425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50 % = 300</a:t>
            </a:r>
            <a:r>
              <a:rPr lang="en-US" sz="1600" dirty="0">
                <a:solidFill>
                  <a:srgbClr val="00B050"/>
                </a:solidFill>
                <a:latin typeface="+mn-lt"/>
              </a:rPr>
              <a:t>        </a:t>
            </a:r>
            <a:endParaRPr lang="en-US" sz="1600" noProof="0" dirty="0">
              <a:latin typeface="+mn-lt"/>
            </a:endParaRPr>
          </a:p>
        </p:txBody>
      </p:sp>
      <p:sp>
        <p:nvSpPr>
          <p:cNvPr id="9" name="TextBox 8">
            <a:extLst>
              <a:ext uri="{FF2B5EF4-FFF2-40B4-BE49-F238E27FC236}">
                <a16:creationId xmlns:a16="http://schemas.microsoft.com/office/drawing/2014/main" id="{3D8EA334-3FE6-4E00-BA9A-78DE2D7E5D64}"/>
              </a:ext>
            </a:extLst>
          </p:cNvPr>
          <p:cNvSpPr txBox="1"/>
          <p:nvPr/>
        </p:nvSpPr>
        <p:spPr>
          <a:xfrm>
            <a:off x="4444308" y="1564787"/>
            <a:ext cx="1944216" cy="338554"/>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50 % = </a:t>
            </a:r>
            <a:r>
              <a:rPr lang="en-US" sz="1600" dirty="0">
                <a:latin typeface="+mn-lt"/>
              </a:rPr>
              <a:t>300</a:t>
            </a:r>
            <a:endParaRPr lang="en-US" sz="1600" noProof="0" dirty="0">
              <a:latin typeface="+mn-lt"/>
            </a:endParaRPr>
          </a:p>
        </p:txBody>
      </p:sp>
      <p:sp>
        <p:nvSpPr>
          <p:cNvPr id="11" name="TextBox 10">
            <a:extLst>
              <a:ext uri="{FF2B5EF4-FFF2-40B4-BE49-F238E27FC236}">
                <a16:creationId xmlns:a16="http://schemas.microsoft.com/office/drawing/2014/main" id="{642FD1B4-34ED-4C04-A5CC-7661C6F79913}"/>
              </a:ext>
            </a:extLst>
          </p:cNvPr>
          <p:cNvSpPr txBox="1"/>
          <p:nvPr/>
        </p:nvSpPr>
        <p:spPr>
          <a:xfrm>
            <a:off x="4444308" y="2139702"/>
            <a:ext cx="2016224"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50 % = 200</a:t>
            </a:r>
          </a:p>
        </p:txBody>
      </p:sp>
      <p:sp>
        <p:nvSpPr>
          <p:cNvPr id="12" name="TextBox 11">
            <a:extLst>
              <a:ext uri="{FF2B5EF4-FFF2-40B4-BE49-F238E27FC236}">
                <a16:creationId xmlns:a16="http://schemas.microsoft.com/office/drawing/2014/main" id="{F500A4EE-CED4-4F04-BF33-5D85A94A1933}"/>
              </a:ext>
            </a:extLst>
          </p:cNvPr>
          <p:cNvSpPr txBox="1"/>
          <p:nvPr/>
        </p:nvSpPr>
        <p:spPr>
          <a:xfrm>
            <a:off x="2646084" y="2759479"/>
            <a:ext cx="1836204" cy="3385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50 % females (500)</a:t>
            </a:r>
          </a:p>
        </p:txBody>
      </p:sp>
      <p:sp>
        <p:nvSpPr>
          <p:cNvPr id="13" name="TextBox 12">
            <a:extLst>
              <a:ext uri="{FF2B5EF4-FFF2-40B4-BE49-F238E27FC236}">
                <a16:creationId xmlns:a16="http://schemas.microsoft.com/office/drawing/2014/main" id="{719D2DA4-073D-4711-9C7A-732267269383}"/>
              </a:ext>
            </a:extLst>
          </p:cNvPr>
          <p:cNvSpPr txBox="1"/>
          <p:nvPr/>
        </p:nvSpPr>
        <p:spPr>
          <a:xfrm>
            <a:off x="4898336" y="2714617"/>
            <a:ext cx="1728192" cy="3385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50 % males (500)</a:t>
            </a:r>
          </a:p>
        </p:txBody>
      </p:sp>
      <p:sp>
        <p:nvSpPr>
          <p:cNvPr id="16" name="TextBox 15">
            <a:extLst>
              <a:ext uri="{FF2B5EF4-FFF2-40B4-BE49-F238E27FC236}">
                <a16:creationId xmlns:a16="http://schemas.microsoft.com/office/drawing/2014/main" id="{AAFC2F00-D20A-4E03-98FB-9D03BB0A63B9}"/>
              </a:ext>
            </a:extLst>
          </p:cNvPr>
          <p:cNvSpPr txBox="1"/>
          <p:nvPr/>
        </p:nvSpPr>
        <p:spPr>
          <a:xfrm>
            <a:off x="2051720" y="2139702"/>
            <a:ext cx="230425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50 % = </a:t>
            </a:r>
            <a:r>
              <a:rPr lang="en-US" sz="1600" dirty="0">
                <a:latin typeface="+mn-lt"/>
              </a:rPr>
              <a:t>200</a:t>
            </a:r>
            <a:r>
              <a:rPr lang="en-US" sz="1600" dirty="0">
                <a:solidFill>
                  <a:srgbClr val="00B050"/>
                </a:solidFill>
                <a:latin typeface="+mn-lt"/>
              </a:rPr>
              <a:t>        </a:t>
            </a:r>
            <a:endParaRPr lang="en-US" sz="1600" noProof="0" dirty="0">
              <a:latin typeface="+mn-lt"/>
            </a:endParaRPr>
          </a:p>
        </p:txBody>
      </p:sp>
      <p:sp>
        <p:nvSpPr>
          <p:cNvPr id="19" name="textruta 4">
            <a:extLst>
              <a:ext uri="{FF2B5EF4-FFF2-40B4-BE49-F238E27FC236}">
                <a16:creationId xmlns:a16="http://schemas.microsoft.com/office/drawing/2014/main" id="{DBA023E2-B1EF-4168-81AD-B8714B7310B0}"/>
              </a:ext>
            </a:extLst>
          </p:cNvPr>
          <p:cNvSpPr txBox="1">
            <a:spLocks noChangeArrowheads="1"/>
          </p:cNvSpPr>
          <p:nvPr/>
        </p:nvSpPr>
        <p:spPr bwMode="auto">
          <a:xfrm>
            <a:off x="251520" y="3291830"/>
            <a:ext cx="7200800" cy="1318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20000"/>
              </a:lnSpc>
              <a:spcBef>
                <a:spcPts val="450"/>
              </a:spcBef>
              <a:spcAft>
                <a:spcPts val="900"/>
              </a:spcAft>
            </a:pPr>
            <a:r>
              <a:rPr lang="en-US" sz="1600" b="1" dirty="0">
                <a:solidFill>
                  <a:srgbClr val="000000"/>
                </a:solidFill>
                <a:latin typeface="+mn-lt"/>
                <a:ea typeface="Verdana" panose="020B0604030504040204" pitchFamily="34" charset="0"/>
              </a:rPr>
              <a:t>H</a:t>
            </a:r>
            <a:r>
              <a:rPr lang="en-US" sz="1600" b="1" baseline="-25000" dirty="0">
                <a:solidFill>
                  <a:srgbClr val="000000"/>
                </a:solidFill>
                <a:latin typeface="+mn-lt"/>
                <a:ea typeface="Verdana" panose="020B0604030504040204" pitchFamily="34" charset="0"/>
              </a:rPr>
              <a:t>0</a:t>
            </a:r>
            <a:r>
              <a:rPr lang="en-US" sz="1600" dirty="0">
                <a:solidFill>
                  <a:srgbClr val="000000"/>
                </a:solidFill>
                <a:latin typeface="+mn-lt"/>
                <a:ea typeface="Verdana" panose="020B0604030504040204" pitchFamily="34" charset="0"/>
              </a:rPr>
              <a:t>: No relationship between </a:t>
            </a:r>
            <a:r>
              <a:rPr lang="en-US" sz="1600" b="1" dirty="0">
                <a:solidFill>
                  <a:srgbClr val="000000"/>
                </a:solidFill>
                <a:latin typeface="+mn-lt"/>
                <a:ea typeface="Verdana" panose="020B0604030504040204" pitchFamily="34" charset="0"/>
              </a:rPr>
              <a:t>Study semester </a:t>
            </a:r>
            <a:r>
              <a:rPr lang="en-US" sz="1600" dirty="0">
                <a:solidFill>
                  <a:srgbClr val="000000"/>
                </a:solidFill>
                <a:latin typeface="+mn-lt"/>
                <a:ea typeface="Verdana" panose="020B0604030504040204" pitchFamily="34" charset="0"/>
              </a:rPr>
              <a:t>and </a:t>
            </a:r>
            <a:r>
              <a:rPr lang="en-US" sz="1600" b="1" dirty="0">
                <a:solidFill>
                  <a:srgbClr val="000000"/>
                </a:solidFill>
                <a:latin typeface="+mn-lt"/>
                <a:ea typeface="Verdana" panose="020B0604030504040204" pitchFamily="34" charset="0"/>
              </a:rPr>
              <a:t>Sex of students </a:t>
            </a:r>
            <a:r>
              <a:rPr lang="en-US" sz="1600" dirty="0">
                <a:solidFill>
                  <a:srgbClr val="000000"/>
                </a:solidFill>
                <a:latin typeface="+mn-lt"/>
                <a:ea typeface="Verdana" panose="020B0604030504040204" pitchFamily="34" charset="0"/>
              </a:rPr>
              <a:t>admitted</a:t>
            </a:r>
          </a:p>
          <a:p>
            <a:pPr eaLnBrk="1" hangingPunct="1">
              <a:lnSpc>
                <a:spcPct val="120000"/>
              </a:lnSpc>
              <a:spcBef>
                <a:spcPts val="450"/>
              </a:spcBef>
              <a:spcAft>
                <a:spcPts val="900"/>
              </a:spcAft>
            </a:pPr>
            <a:r>
              <a:rPr lang="en-US" sz="1600" b="1" dirty="0">
                <a:solidFill>
                  <a:srgbClr val="000000"/>
                </a:solidFill>
                <a:latin typeface="+mn-lt"/>
                <a:ea typeface="Verdana" panose="020B0604030504040204" pitchFamily="34" charset="0"/>
              </a:rPr>
              <a:t>H</a:t>
            </a:r>
            <a:r>
              <a:rPr lang="en-US" sz="1600" b="1" baseline="-25000" dirty="0">
                <a:solidFill>
                  <a:srgbClr val="000000"/>
                </a:solidFill>
                <a:latin typeface="+mn-lt"/>
                <a:ea typeface="Verdana" panose="020B0604030504040204" pitchFamily="34" charset="0"/>
              </a:rPr>
              <a:t>1</a:t>
            </a:r>
            <a:r>
              <a:rPr lang="en-US" sz="1600" dirty="0">
                <a:solidFill>
                  <a:srgbClr val="000000"/>
                </a:solidFill>
                <a:latin typeface="+mn-lt"/>
                <a:ea typeface="Verdana" panose="020B0604030504040204" pitchFamily="34" charset="0"/>
              </a:rPr>
              <a:t>:  There is a relationship between </a:t>
            </a:r>
            <a:r>
              <a:rPr lang="en-US" sz="1600" b="1" dirty="0">
                <a:solidFill>
                  <a:srgbClr val="000000"/>
                </a:solidFill>
                <a:latin typeface="+mn-lt"/>
                <a:ea typeface="Verdana" panose="020B0604030504040204" pitchFamily="34" charset="0"/>
              </a:rPr>
              <a:t>Study semester </a:t>
            </a:r>
            <a:r>
              <a:rPr lang="en-US" sz="1600" dirty="0">
                <a:solidFill>
                  <a:srgbClr val="000000"/>
                </a:solidFill>
                <a:latin typeface="+mn-lt"/>
                <a:ea typeface="Verdana" panose="020B0604030504040204" pitchFamily="34" charset="0"/>
              </a:rPr>
              <a:t>and </a:t>
            </a:r>
            <a:r>
              <a:rPr lang="en-US" sz="1600" b="1" dirty="0">
                <a:solidFill>
                  <a:srgbClr val="000000"/>
                </a:solidFill>
                <a:latin typeface="+mn-lt"/>
                <a:ea typeface="Verdana" panose="020B0604030504040204" pitchFamily="34" charset="0"/>
              </a:rPr>
              <a:t>Sex of students </a:t>
            </a:r>
            <a:r>
              <a:rPr lang="en-US" sz="1600" dirty="0">
                <a:solidFill>
                  <a:srgbClr val="000000"/>
                </a:solidFill>
                <a:latin typeface="+mn-lt"/>
                <a:ea typeface="Verdana" panose="020B0604030504040204" pitchFamily="34" charset="0"/>
              </a:rPr>
              <a:t>admitted</a:t>
            </a:r>
          </a:p>
          <a:p>
            <a:pPr eaLnBrk="1" hangingPunct="1">
              <a:lnSpc>
                <a:spcPct val="120000"/>
              </a:lnSpc>
              <a:spcBef>
                <a:spcPts val="450"/>
              </a:spcBef>
              <a:spcAft>
                <a:spcPts val="900"/>
              </a:spcAft>
            </a:pPr>
            <a:r>
              <a:rPr lang="en-US" sz="1600" b="1" dirty="0">
                <a:solidFill>
                  <a:srgbClr val="000000"/>
                </a:solidFill>
                <a:latin typeface="+mn-lt"/>
                <a:ea typeface="Verdana" panose="020B0604030504040204" pitchFamily="34" charset="0"/>
              </a:rPr>
              <a:t>(Fisher’s exact test </a:t>
            </a:r>
            <a:r>
              <a:rPr lang="en-US" sz="1600" dirty="0">
                <a:solidFill>
                  <a:srgbClr val="000000"/>
                </a:solidFill>
                <a:latin typeface="+mn-lt"/>
                <a:ea typeface="Verdana" panose="020B0604030504040204" pitchFamily="34" charset="0"/>
              </a:rPr>
              <a:t>or </a:t>
            </a:r>
            <a:r>
              <a:rPr lang="en-US" sz="1600" b="1" dirty="0">
                <a:solidFill>
                  <a:srgbClr val="000000"/>
                </a:solidFill>
                <a:latin typeface="+mn-lt"/>
                <a:ea typeface="Verdana" panose="020B0604030504040204" pitchFamily="34" charset="0"/>
              </a:rPr>
              <a:t>Pearson’s Chi-square test of association</a:t>
            </a:r>
            <a:r>
              <a:rPr lang="en-US" sz="1600" dirty="0">
                <a:solidFill>
                  <a:srgbClr val="000000"/>
                </a:solidFill>
                <a:latin typeface="+mn-lt"/>
                <a:ea typeface="Verdana" panose="020B0604030504040204" pitchFamily="34" charset="0"/>
              </a:rPr>
              <a:t>)</a:t>
            </a:r>
          </a:p>
        </p:txBody>
      </p:sp>
      <p:sp>
        <p:nvSpPr>
          <p:cNvPr id="7" name="TextBox 6">
            <a:extLst>
              <a:ext uri="{FF2B5EF4-FFF2-40B4-BE49-F238E27FC236}">
                <a16:creationId xmlns:a16="http://schemas.microsoft.com/office/drawing/2014/main" id="{A37CA287-627B-4441-86AE-AB450D11569E}"/>
              </a:ext>
            </a:extLst>
          </p:cNvPr>
          <p:cNvSpPr txBox="1"/>
          <p:nvPr/>
        </p:nvSpPr>
        <p:spPr>
          <a:xfrm>
            <a:off x="971600" y="1563638"/>
            <a:ext cx="792088" cy="369332"/>
          </a:xfrm>
          <a:prstGeom prst="rect">
            <a:avLst/>
          </a:prstGeom>
          <a:noFill/>
        </p:spPr>
        <p:txBody>
          <a:bodyPr wrap="square" rtlCol="0">
            <a:spAutoFit/>
          </a:bodyPr>
          <a:lstStyle/>
          <a:p>
            <a:r>
              <a:rPr lang="en-US" sz="1800" b="1" kern="1200" noProof="0" dirty="0">
                <a:solidFill>
                  <a:schemeClr val="lt1"/>
                </a:solidFill>
                <a:latin typeface="+mn-lt"/>
                <a:ea typeface="+mn-ea"/>
                <a:cs typeface="+mn-cs"/>
              </a:rPr>
              <a:t>Spring</a:t>
            </a:r>
            <a:endParaRPr lang="en-US" dirty="0"/>
          </a:p>
        </p:txBody>
      </p:sp>
      <p:sp>
        <p:nvSpPr>
          <p:cNvPr id="20" name="TextBox 19">
            <a:extLst>
              <a:ext uri="{FF2B5EF4-FFF2-40B4-BE49-F238E27FC236}">
                <a16:creationId xmlns:a16="http://schemas.microsoft.com/office/drawing/2014/main" id="{CA55DFA6-15BA-4966-97EA-A7E441F7454F}"/>
              </a:ext>
            </a:extLst>
          </p:cNvPr>
          <p:cNvSpPr txBox="1"/>
          <p:nvPr/>
        </p:nvSpPr>
        <p:spPr>
          <a:xfrm>
            <a:off x="971600" y="2130410"/>
            <a:ext cx="991788" cy="369332"/>
          </a:xfrm>
          <a:prstGeom prst="rect">
            <a:avLst/>
          </a:prstGeom>
          <a:noFill/>
        </p:spPr>
        <p:txBody>
          <a:bodyPr wrap="square" rtlCol="0">
            <a:spAutoFit/>
          </a:bodyPr>
          <a:lstStyle/>
          <a:p>
            <a:r>
              <a:rPr lang="en-US" sz="1800" b="1" kern="1200" noProof="0" dirty="0">
                <a:solidFill>
                  <a:schemeClr val="lt1"/>
                </a:solidFill>
                <a:latin typeface="+mn-lt"/>
                <a:ea typeface="+mn-ea"/>
                <a:cs typeface="+mn-cs"/>
              </a:rPr>
              <a:t>Autumn</a:t>
            </a:r>
            <a:endParaRPr lang="en-US" dirty="0"/>
          </a:p>
        </p:txBody>
      </p:sp>
      <p:sp>
        <p:nvSpPr>
          <p:cNvPr id="21" name="TextBox 20">
            <a:extLst>
              <a:ext uri="{FF2B5EF4-FFF2-40B4-BE49-F238E27FC236}">
                <a16:creationId xmlns:a16="http://schemas.microsoft.com/office/drawing/2014/main" id="{1AA0C998-D18E-44DD-A0D6-D5EBD7ABEB6B}"/>
              </a:ext>
            </a:extLst>
          </p:cNvPr>
          <p:cNvSpPr txBox="1"/>
          <p:nvPr/>
        </p:nvSpPr>
        <p:spPr>
          <a:xfrm>
            <a:off x="6876256" y="1568104"/>
            <a:ext cx="792088" cy="369332"/>
          </a:xfrm>
          <a:prstGeom prst="rect">
            <a:avLst/>
          </a:prstGeom>
          <a:noFill/>
        </p:spPr>
        <p:txBody>
          <a:bodyPr wrap="square" rtlCol="0">
            <a:spAutoFit/>
          </a:bodyPr>
          <a:lstStyle/>
          <a:p>
            <a:r>
              <a:rPr lang="en-US" sz="1800" b="1" kern="1200" noProof="0" dirty="0">
                <a:latin typeface="+mn-lt"/>
                <a:ea typeface="+mn-ea"/>
                <a:cs typeface="+mn-cs"/>
              </a:rPr>
              <a:t>600</a:t>
            </a:r>
            <a:endParaRPr lang="en-US" dirty="0"/>
          </a:p>
        </p:txBody>
      </p:sp>
      <p:sp>
        <p:nvSpPr>
          <p:cNvPr id="22" name="TextBox 21">
            <a:extLst>
              <a:ext uri="{FF2B5EF4-FFF2-40B4-BE49-F238E27FC236}">
                <a16:creationId xmlns:a16="http://schemas.microsoft.com/office/drawing/2014/main" id="{17023CCF-96B2-4593-AA30-692D9A792E59}"/>
              </a:ext>
            </a:extLst>
          </p:cNvPr>
          <p:cNvSpPr txBox="1"/>
          <p:nvPr/>
        </p:nvSpPr>
        <p:spPr>
          <a:xfrm>
            <a:off x="6876256" y="2118208"/>
            <a:ext cx="792088" cy="369332"/>
          </a:xfrm>
          <a:prstGeom prst="rect">
            <a:avLst/>
          </a:prstGeom>
          <a:noFill/>
        </p:spPr>
        <p:txBody>
          <a:bodyPr wrap="square" rtlCol="0">
            <a:spAutoFit/>
          </a:bodyPr>
          <a:lstStyle/>
          <a:p>
            <a:r>
              <a:rPr lang="en-US" sz="1800" b="1" kern="1200" noProof="0" dirty="0">
                <a:latin typeface="+mn-lt"/>
                <a:ea typeface="+mn-ea"/>
                <a:cs typeface="+mn-cs"/>
              </a:rPr>
              <a:t>400</a:t>
            </a:r>
            <a:endParaRPr lang="en-US" dirty="0"/>
          </a:p>
        </p:txBody>
      </p:sp>
    </p:spTree>
    <p:extLst>
      <p:ext uri="{BB962C8B-B14F-4D97-AF65-F5344CB8AC3E}">
        <p14:creationId xmlns:p14="http://schemas.microsoft.com/office/powerpoint/2010/main" val="200516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500"/>
                                        <p:tgtEl>
                                          <p:spTgt spid="2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barn(inVertical)">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P spid="12" grpId="0"/>
      <p:bldP spid="13" grpId="0"/>
      <p:bldP spid="16" grpId="0"/>
      <p:bldP spid="19" grpId="0"/>
      <p:bldP spid="7" grpId="0"/>
      <p:bldP spid="20" grpId="0"/>
      <p:bldP spid="21" grpId="0"/>
      <p:bldP spid="2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Platshållare för innehåll 3"/>
          <p:cNvGraphicFramePr>
            <a:graphicFrameLocks noGrp="1"/>
          </p:cNvGraphicFramePr>
          <p:nvPr>
            <p:ph idx="1"/>
            <p:extLst>
              <p:ext uri="{D42A27DB-BD31-4B8C-83A1-F6EECF244321}">
                <p14:modId xmlns:p14="http://schemas.microsoft.com/office/powerpoint/2010/main" val="3208447150"/>
              </p:ext>
            </p:extLst>
          </p:nvPr>
        </p:nvGraphicFramePr>
        <p:xfrm>
          <a:off x="971600" y="689440"/>
          <a:ext cx="6760258" cy="2386365"/>
        </p:xfrm>
        <a:graphic>
          <a:graphicData uri="http://schemas.openxmlformats.org/drawingml/2006/table">
            <a:tbl>
              <a:tblPr firstRow="1" bandRow="1">
                <a:tableStyleId>{5C22544A-7EE6-4342-B048-85BDC9FD1C3A}</a:tableStyleId>
              </a:tblPr>
              <a:tblGrid>
                <a:gridCol w="1071626">
                  <a:extLst>
                    <a:ext uri="{9D8B030D-6E8A-4147-A177-3AD203B41FA5}">
                      <a16:colId xmlns:a16="http://schemas.microsoft.com/office/drawing/2014/main" val="20000"/>
                    </a:ext>
                  </a:extLst>
                </a:gridCol>
                <a:gridCol w="2384758">
                  <a:extLst>
                    <a:ext uri="{9D8B030D-6E8A-4147-A177-3AD203B41FA5}">
                      <a16:colId xmlns:a16="http://schemas.microsoft.com/office/drawing/2014/main" val="20001"/>
                    </a:ext>
                  </a:extLst>
                </a:gridCol>
                <a:gridCol w="2160240">
                  <a:extLst>
                    <a:ext uri="{9D8B030D-6E8A-4147-A177-3AD203B41FA5}">
                      <a16:colId xmlns:a16="http://schemas.microsoft.com/office/drawing/2014/main" val="20002"/>
                    </a:ext>
                  </a:extLst>
                </a:gridCol>
                <a:gridCol w="1143634">
                  <a:extLst>
                    <a:ext uri="{9D8B030D-6E8A-4147-A177-3AD203B41FA5}">
                      <a16:colId xmlns:a16="http://schemas.microsoft.com/office/drawing/2014/main" val="20003"/>
                    </a:ext>
                  </a:extLst>
                </a:gridCol>
              </a:tblGrid>
              <a:tr h="451170">
                <a:tc>
                  <a:txBody>
                    <a:bodyPr/>
                    <a:lstStyle/>
                    <a:p>
                      <a:pPr marL="0" algn="l" defTabSz="457200" rtl="0" eaLnBrk="1" latinLnBrk="0" hangingPunct="1"/>
                      <a:endParaRPr lang="en-US" sz="2400" b="1" kern="1200" noProof="0" dirty="0">
                        <a:solidFill>
                          <a:schemeClr val="lt1"/>
                        </a:solidFill>
                        <a:latin typeface="+mn-lt"/>
                        <a:ea typeface="+mn-ea"/>
                        <a:cs typeface="+mn-cs"/>
                      </a:endParaRPr>
                    </a:p>
                  </a:txBody>
                  <a:tcPr marL="68580" marR="68580" marT="34275" marB="34275">
                    <a:solidFill>
                      <a:schemeClr val="accent1">
                        <a:lumMod val="75000"/>
                      </a:schemeClr>
                    </a:solidFill>
                  </a:tcPr>
                </a:tc>
                <a:tc gridSpan="3">
                  <a:txBody>
                    <a:bodyPr/>
                    <a:lstStyle/>
                    <a:p>
                      <a:pPr algn="ctr"/>
                      <a:r>
                        <a:rPr lang="sv-SE" sz="2400" b="1" noProof="0" dirty="0"/>
                        <a:t>Sex</a:t>
                      </a:r>
                      <a:endParaRPr lang="en-US" sz="2400" b="1" noProof="0" dirty="0"/>
                    </a:p>
                  </a:txBody>
                  <a:tcPr marL="68580" marR="68580" marT="34275" marB="34275"/>
                </a:tc>
                <a:tc hMerge="1">
                  <a:txBody>
                    <a:bodyPr/>
                    <a:lstStyle/>
                    <a:p>
                      <a:endParaRPr lang="en-US" sz="1800" b="1" noProof="0" dirty="0"/>
                    </a:p>
                  </a:txBody>
                  <a:tcPr marL="68580" marR="68580" marT="34275" marB="34275"/>
                </a:tc>
                <a:tc hMerge="1">
                  <a:txBody>
                    <a:bodyPr/>
                    <a:lstStyle/>
                    <a:p>
                      <a:pPr algn="ctr"/>
                      <a:endParaRPr lang="en-US" sz="1800" b="1" noProof="0" dirty="0"/>
                    </a:p>
                  </a:txBody>
                  <a:tcPr marL="68580" marR="68580" marT="34275" marB="34275"/>
                </a:tc>
                <a:extLst>
                  <a:ext uri="{0D108BD9-81ED-4DB2-BD59-A6C34878D82A}">
                    <a16:rowId xmlns:a16="http://schemas.microsoft.com/office/drawing/2014/main" val="1342113022"/>
                  </a:ext>
                </a:extLst>
              </a:tr>
              <a:tr h="38216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sv-SE" sz="1800" b="1" kern="1200" noProof="0" dirty="0">
                          <a:solidFill>
                            <a:schemeClr val="lt1"/>
                          </a:solidFill>
                          <a:latin typeface="+mn-lt"/>
                          <a:ea typeface="+mn-ea"/>
                          <a:cs typeface="+mn-cs"/>
                        </a:rPr>
                        <a:t>Semester</a:t>
                      </a:r>
                      <a:endParaRPr lang="en-US" sz="1800" b="1" kern="1200" noProof="0" dirty="0">
                        <a:solidFill>
                          <a:schemeClr val="lt1"/>
                        </a:solidFill>
                        <a:latin typeface="+mn-lt"/>
                        <a:ea typeface="+mn-ea"/>
                        <a:cs typeface="+mn-cs"/>
                      </a:endParaRPr>
                    </a:p>
                  </a:txBody>
                  <a:tcPr marL="68580" marR="68580" marT="34275" marB="34275">
                    <a:solidFill>
                      <a:schemeClr val="accent1">
                        <a:lumMod val="75000"/>
                      </a:schemeClr>
                    </a:solidFill>
                  </a:tcPr>
                </a:tc>
                <a:tc>
                  <a:txBody>
                    <a:bodyPr/>
                    <a:lstStyle/>
                    <a:p>
                      <a:r>
                        <a:rPr lang="en-US" sz="1800" b="1" noProof="0" dirty="0"/>
                        <a:t>Females </a:t>
                      </a:r>
                    </a:p>
                  </a:txBody>
                  <a:tcPr marL="68580" marR="68580" marT="34275" marB="34275"/>
                </a:tc>
                <a:tc>
                  <a:txBody>
                    <a:bodyPr/>
                    <a:lstStyle/>
                    <a:p>
                      <a:r>
                        <a:rPr lang="en-US" sz="1800" b="1" noProof="0" dirty="0"/>
                        <a:t>Males</a:t>
                      </a:r>
                    </a:p>
                  </a:txBody>
                  <a:tcPr marL="68580" marR="68580" marT="34275" marB="34275"/>
                </a:tc>
                <a:tc>
                  <a:txBody>
                    <a:bodyPr/>
                    <a:lstStyle/>
                    <a:p>
                      <a:pPr algn="ctr"/>
                      <a:r>
                        <a:rPr lang="en-US" sz="1800" b="1" noProof="0" dirty="0"/>
                        <a:t>Total</a:t>
                      </a:r>
                    </a:p>
                  </a:txBody>
                  <a:tcPr marL="68580" marR="68580" marT="34275" marB="34275"/>
                </a:tc>
                <a:extLst>
                  <a:ext uri="{0D108BD9-81ED-4DB2-BD59-A6C34878D82A}">
                    <a16:rowId xmlns:a16="http://schemas.microsoft.com/office/drawing/2014/main" val="10000"/>
                  </a:ext>
                </a:extLst>
              </a:tr>
              <a:tr h="598427">
                <a:tc>
                  <a:txBody>
                    <a:bodyPr/>
                    <a:lstStyle/>
                    <a:p>
                      <a:pPr marL="0" algn="l" defTabSz="457200" rtl="0" eaLnBrk="1" latinLnBrk="0" hangingPunct="1"/>
                      <a:r>
                        <a:rPr lang="en-US" sz="1800" b="1" kern="1200" noProof="0" dirty="0">
                          <a:solidFill>
                            <a:schemeClr val="lt1"/>
                          </a:solidFill>
                          <a:latin typeface="+mn-lt"/>
                          <a:ea typeface="+mn-ea"/>
                          <a:cs typeface="+mn-cs"/>
                        </a:rPr>
                        <a:t> </a:t>
                      </a:r>
                    </a:p>
                  </a:txBody>
                  <a:tcPr marL="68580" marR="68580" marT="34275" marB="34275">
                    <a:solidFill>
                      <a:schemeClr val="accent1">
                        <a:lumMod val="75000"/>
                      </a:schemeClr>
                    </a:solidFill>
                  </a:tcPr>
                </a:tc>
                <a:tc>
                  <a:txBody>
                    <a:bodyPr/>
                    <a:lstStyle/>
                    <a:p>
                      <a:pPr algn="l"/>
                      <a:endParaRPr lang="en-US" sz="1500" b="1" baseline="0" noProof="0" dirty="0"/>
                    </a:p>
                  </a:txBody>
                  <a:tcPr marL="68580" marR="68580" marT="34275" marB="34275"/>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500" b="1" noProof="0" dirty="0"/>
                    </a:p>
                  </a:txBody>
                  <a:tcPr marL="68580" marR="68580" marT="34275" marB="34275"/>
                </a:tc>
                <a:tc>
                  <a:txBody>
                    <a:bodyPr/>
                    <a:lstStyle/>
                    <a:p>
                      <a:pPr algn="ctr"/>
                      <a:endParaRPr lang="en-US" sz="1500" b="1" noProof="0" dirty="0"/>
                    </a:p>
                  </a:txBody>
                  <a:tcPr marL="68580" marR="68580" marT="34275" marB="34275"/>
                </a:tc>
                <a:extLst>
                  <a:ext uri="{0D108BD9-81ED-4DB2-BD59-A6C34878D82A}">
                    <a16:rowId xmlns:a16="http://schemas.microsoft.com/office/drawing/2014/main" val="10001"/>
                  </a:ext>
                </a:extLst>
              </a:tr>
              <a:tr h="598427">
                <a:tc>
                  <a:txBody>
                    <a:bodyPr/>
                    <a:lstStyle/>
                    <a:p>
                      <a:pPr marL="0" algn="l" defTabSz="457200" rtl="0" eaLnBrk="1" latinLnBrk="0" hangingPunct="1"/>
                      <a:r>
                        <a:rPr lang="en-US" sz="1800" b="1" kern="1200" noProof="0" dirty="0">
                          <a:solidFill>
                            <a:schemeClr val="lt1"/>
                          </a:solidFill>
                          <a:latin typeface="+mn-lt"/>
                          <a:ea typeface="+mn-ea"/>
                          <a:cs typeface="+mn-cs"/>
                        </a:rPr>
                        <a:t> </a:t>
                      </a:r>
                    </a:p>
                  </a:txBody>
                  <a:tcPr marL="68580" marR="68580" marT="34275" marB="34275">
                    <a:solidFill>
                      <a:schemeClr val="accent1">
                        <a:lumMod val="7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500" b="1" noProof="0" dirty="0"/>
                    </a:p>
                  </a:txBody>
                  <a:tcPr marL="68580" marR="68580" marT="34275" marB="34275"/>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500" b="1" noProof="0" dirty="0"/>
                    </a:p>
                  </a:txBody>
                  <a:tcPr marL="68580" marR="68580" marT="34275" marB="34275"/>
                </a:tc>
                <a:tc>
                  <a:txBody>
                    <a:bodyPr/>
                    <a:lstStyle/>
                    <a:p>
                      <a:pPr algn="ctr"/>
                      <a:r>
                        <a:rPr lang="en-US" sz="1500" b="1" noProof="0" dirty="0"/>
                        <a:t> </a:t>
                      </a:r>
                    </a:p>
                  </a:txBody>
                  <a:tcPr marL="68580" marR="68580" marT="34275" marB="34275"/>
                </a:tc>
                <a:extLst>
                  <a:ext uri="{0D108BD9-81ED-4DB2-BD59-A6C34878D82A}">
                    <a16:rowId xmlns:a16="http://schemas.microsoft.com/office/drawing/2014/main" val="10002"/>
                  </a:ext>
                </a:extLst>
              </a:tr>
              <a:tr h="356180">
                <a:tc>
                  <a:txBody>
                    <a:bodyPr/>
                    <a:lstStyle/>
                    <a:p>
                      <a:pPr marL="0" algn="l" defTabSz="457200" rtl="0" eaLnBrk="1" latinLnBrk="0" hangingPunct="1"/>
                      <a:r>
                        <a:rPr lang="en-US" sz="1800" b="1" kern="1200" noProof="0" dirty="0">
                          <a:solidFill>
                            <a:schemeClr val="lt1"/>
                          </a:solidFill>
                          <a:latin typeface="+mn-lt"/>
                          <a:ea typeface="+mn-ea"/>
                          <a:cs typeface="+mn-cs"/>
                        </a:rPr>
                        <a:t>Annually</a:t>
                      </a:r>
                    </a:p>
                  </a:txBody>
                  <a:tcPr marL="68580" marR="68580" marT="34275" marB="34275">
                    <a:solidFill>
                      <a:schemeClr val="accent1">
                        <a:lumMod val="75000"/>
                      </a:schemeClr>
                    </a:solidFill>
                  </a:tcPr>
                </a:tc>
                <a:tc>
                  <a:txBody>
                    <a:bodyPr/>
                    <a:lstStyle/>
                    <a:p>
                      <a:pPr algn="r"/>
                      <a:r>
                        <a:rPr lang="en-US" sz="1500" b="1" noProof="0" dirty="0"/>
                        <a:t>    </a:t>
                      </a:r>
                    </a:p>
                  </a:txBody>
                  <a:tcPr marL="68580" marR="68580" marT="34275" marB="34275"/>
                </a:tc>
                <a:tc>
                  <a:txBody>
                    <a:bodyPr/>
                    <a:lstStyle/>
                    <a:p>
                      <a:pPr algn="ctr"/>
                      <a:endParaRPr lang="en-US" sz="1500" b="1" noProof="0" dirty="0"/>
                    </a:p>
                  </a:txBody>
                  <a:tcPr marL="68580" marR="68580" marT="34275" marB="34275"/>
                </a:tc>
                <a:tc>
                  <a:txBody>
                    <a:bodyPr/>
                    <a:lstStyle/>
                    <a:p>
                      <a:pPr algn="ctr"/>
                      <a:r>
                        <a:rPr lang="en-US" sz="1800" b="1" noProof="0" dirty="0"/>
                        <a:t>1000</a:t>
                      </a:r>
                      <a:endParaRPr lang="en-US" sz="1500" b="1" noProof="0" dirty="0"/>
                    </a:p>
                  </a:txBody>
                  <a:tcPr marL="68580" marR="68580" marT="34275" marB="34275"/>
                </a:tc>
                <a:extLst>
                  <a:ext uri="{0D108BD9-81ED-4DB2-BD59-A6C34878D82A}">
                    <a16:rowId xmlns:a16="http://schemas.microsoft.com/office/drawing/2014/main" val="10003"/>
                  </a:ext>
                </a:extLst>
              </a:tr>
            </a:tbl>
          </a:graphicData>
        </a:graphic>
      </p:graphicFrame>
      <p:sp>
        <p:nvSpPr>
          <p:cNvPr id="3" name="Platshållare för bildnummer 2"/>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102</a:t>
            </a:fld>
            <a:endParaRPr lang="sv-SE">
              <a:solidFill>
                <a:srgbClr val="000000">
                  <a:tint val="75000"/>
                </a:srgbClr>
              </a:solidFill>
            </a:endParaRPr>
          </a:p>
        </p:txBody>
      </p:sp>
      <p:sp>
        <p:nvSpPr>
          <p:cNvPr id="15" name="Rubrik 1"/>
          <p:cNvSpPr txBox="1">
            <a:spLocks/>
          </p:cNvSpPr>
          <p:nvPr/>
        </p:nvSpPr>
        <p:spPr>
          <a:xfrm>
            <a:off x="1403648" y="105314"/>
            <a:ext cx="5976664" cy="403354"/>
          </a:xfrm>
          <a:prstGeom prst="rect">
            <a:avLst/>
          </a:prstGeom>
          <a:noFill/>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sv-SE" sz="2100" b="1" dirty="0">
                <a:latin typeface="Trebuchet MS" panose="020B0603020202020204" pitchFamily="34" charset="0"/>
              </a:rPr>
              <a:t>Relationship </a:t>
            </a:r>
            <a:r>
              <a:rPr lang="sv-SE" sz="2100" b="1" dirty="0" err="1">
                <a:latin typeface="Trebuchet MS" panose="020B0603020202020204" pitchFamily="34" charset="0"/>
              </a:rPr>
              <a:t>between</a:t>
            </a:r>
            <a:r>
              <a:rPr lang="sv-SE" sz="2100" b="1" dirty="0">
                <a:latin typeface="Trebuchet MS" panose="020B0603020202020204" pitchFamily="34" charset="0"/>
              </a:rPr>
              <a:t> </a:t>
            </a:r>
            <a:r>
              <a:rPr lang="sv-SE" sz="2100" b="1" dirty="0" err="1">
                <a:latin typeface="Trebuchet MS" panose="020B0603020202020204" pitchFamily="34" charset="0"/>
              </a:rPr>
              <a:t>Categorical</a:t>
            </a:r>
            <a:r>
              <a:rPr lang="sv-SE" sz="2100" b="1" dirty="0">
                <a:latin typeface="Trebuchet MS" panose="020B0603020202020204" pitchFamily="34" charset="0"/>
              </a:rPr>
              <a:t> </a:t>
            </a:r>
            <a:r>
              <a:rPr lang="sv-SE" sz="2100" b="1" dirty="0" err="1">
                <a:latin typeface="Trebuchet MS" panose="020B0603020202020204" pitchFamily="34" charset="0"/>
              </a:rPr>
              <a:t>variables</a:t>
            </a:r>
            <a:endParaRPr lang="en-US" sz="2100" b="1" dirty="0">
              <a:latin typeface="Trebuchet MS" panose="020B0603020202020204" pitchFamily="34" charset="0"/>
            </a:endParaRPr>
          </a:p>
        </p:txBody>
      </p:sp>
      <p:sp>
        <p:nvSpPr>
          <p:cNvPr id="6" name="TextBox 5">
            <a:extLst>
              <a:ext uri="{FF2B5EF4-FFF2-40B4-BE49-F238E27FC236}">
                <a16:creationId xmlns:a16="http://schemas.microsoft.com/office/drawing/2014/main" id="{40F34B45-5722-4DAA-8560-B26B112DE77A}"/>
              </a:ext>
            </a:extLst>
          </p:cNvPr>
          <p:cNvSpPr txBox="1"/>
          <p:nvPr/>
        </p:nvSpPr>
        <p:spPr>
          <a:xfrm>
            <a:off x="2051720" y="1544068"/>
            <a:ext cx="230425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60 % = ?</a:t>
            </a:r>
            <a:r>
              <a:rPr lang="en-US" sz="1600" dirty="0">
                <a:solidFill>
                  <a:srgbClr val="00B050"/>
                </a:solidFill>
                <a:latin typeface="+mn-lt"/>
              </a:rPr>
              <a:t>        </a:t>
            </a:r>
            <a:endParaRPr lang="en-US" sz="1600" noProof="0" dirty="0">
              <a:latin typeface="+mn-lt"/>
            </a:endParaRPr>
          </a:p>
        </p:txBody>
      </p:sp>
      <p:sp>
        <p:nvSpPr>
          <p:cNvPr id="9" name="TextBox 8">
            <a:extLst>
              <a:ext uri="{FF2B5EF4-FFF2-40B4-BE49-F238E27FC236}">
                <a16:creationId xmlns:a16="http://schemas.microsoft.com/office/drawing/2014/main" id="{3D8EA334-3FE6-4E00-BA9A-78DE2D7E5D64}"/>
              </a:ext>
            </a:extLst>
          </p:cNvPr>
          <p:cNvSpPr txBox="1"/>
          <p:nvPr/>
        </p:nvSpPr>
        <p:spPr>
          <a:xfrm>
            <a:off x="4444308" y="1564787"/>
            <a:ext cx="1944216" cy="338554"/>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40 % = </a:t>
            </a:r>
            <a:r>
              <a:rPr lang="en-US" sz="1600" dirty="0">
                <a:latin typeface="+mn-lt"/>
              </a:rPr>
              <a:t>?</a:t>
            </a:r>
            <a:endParaRPr lang="en-US" sz="1600" noProof="0" dirty="0">
              <a:latin typeface="+mn-lt"/>
            </a:endParaRPr>
          </a:p>
        </p:txBody>
      </p:sp>
      <p:sp>
        <p:nvSpPr>
          <p:cNvPr id="11" name="TextBox 10">
            <a:extLst>
              <a:ext uri="{FF2B5EF4-FFF2-40B4-BE49-F238E27FC236}">
                <a16:creationId xmlns:a16="http://schemas.microsoft.com/office/drawing/2014/main" id="{642FD1B4-34ED-4C04-A5CC-7661C6F79913}"/>
              </a:ext>
            </a:extLst>
          </p:cNvPr>
          <p:cNvSpPr txBox="1"/>
          <p:nvPr/>
        </p:nvSpPr>
        <p:spPr>
          <a:xfrm>
            <a:off x="4444308" y="2139702"/>
            <a:ext cx="2016224"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40 % = ?</a:t>
            </a:r>
          </a:p>
        </p:txBody>
      </p:sp>
      <p:sp>
        <p:nvSpPr>
          <p:cNvPr id="12" name="TextBox 11">
            <a:extLst>
              <a:ext uri="{FF2B5EF4-FFF2-40B4-BE49-F238E27FC236}">
                <a16:creationId xmlns:a16="http://schemas.microsoft.com/office/drawing/2014/main" id="{F500A4EE-CED4-4F04-BF33-5D85A94A1933}"/>
              </a:ext>
            </a:extLst>
          </p:cNvPr>
          <p:cNvSpPr txBox="1"/>
          <p:nvPr/>
        </p:nvSpPr>
        <p:spPr>
          <a:xfrm>
            <a:off x="2591780" y="2715766"/>
            <a:ext cx="1836204" cy="3385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60 % females (600)</a:t>
            </a:r>
          </a:p>
        </p:txBody>
      </p:sp>
      <p:sp>
        <p:nvSpPr>
          <p:cNvPr id="13" name="TextBox 12">
            <a:extLst>
              <a:ext uri="{FF2B5EF4-FFF2-40B4-BE49-F238E27FC236}">
                <a16:creationId xmlns:a16="http://schemas.microsoft.com/office/drawing/2014/main" id="{719D2DA4-073D-4711-9C7A-732267269383}"/>
              </a:ext>
            </a:extLst>
          </p:cNvPr>
          <p:cNvSpPr txBox="1"/>
          <p:nvPr/>
        </p:nvSpPr>
        <p:spPr>
          <a:xfrm>
            <a:off x="4898336" y="2714617"/>
            <a:ext cx="1728192" cy="3385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40 % males (400)</a:t>
            </a:r>
          </a:p>
        </p:txBody>
      </p:sp>
      <p:sp>
        <p:nvSpPr>
          <p:cNvPr id="16" name="TextBox 15">
            <a:extLst>
              <a:ext uri="{FF2B5EF4-FFF2-40B4-BE49-F238E27FC236}">
                <a16:creationId xmlns:a16="http://schemas.microsoft.com/office/drawing/2014/main" id="{AAFC2F00-D20A-4E03-98FB-9D03BB0A63B9}"/>
              </a:ext>
            </a:extLst>
          </p:cNvPr>
          <p:cNvSpPr txBox="1"/>
          <p:nvPr/>
        </p:nvSpPr>
        <p:spPr>
          <a:xfrm>
            <a:off x="2051720" y="2139702"/>
            <a:ext cx="230425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60 % = </a:t>
            </a:r>
            <a:r>
              <a:rPr lang="en-US" sz="1600" dirty="0">
                <a:latin typeface="+mn-lt"/>
              </a:rPr>
              <a:t>?</a:t>
            </a:r>
            <a:r>
              <a:rPr lang="en-US" sz="1600" dirty="0">
                <a:solidFill>
                  <a:srgbClr val="00B050"/>
                </a:solidFill>
                <a:latin typeface="+mn-lt"/>
              </a:rPr>
              <a:t>        </a:t>
            </a:r>
            <a:endParaRPr lang="en-US" sz="1600" noProof="0" dirty="0">
              <a:latin typeface="+mn-lt"/>
            </a:endParaRPr>
          </a:p>
        </p:txBody>
      </p:sp>
      <p:sp>
        <p:nvSpPr>
          <p:cNvPr id="19" name="textruta 4">
            <a:extLst>
              <a:ext uri="{FF2B5EF4-FFF2-40B4-BE49-F238E27FC236}">
                <a16:creationId xmlns:a16="http://schemas.microsoft.com/office/drawing/2014/main" id="{DBA023E2-B1EF-4168-81AD-B8714B7310B0}"/>
              </a:ext>
            </a:extLst>
          </p:cNvPr>
          <p:cNvSpPr txBox="1">
            <a:spLocks noChangeArrowheads="1"/>
          </p:cNvSpPr>
          <p:nvPr/>
        </p:nvSpPr>
        <p:spPr bwMode="auto">
          <a:xfrm>
            <a:off x="251520" y="3291830"/>
            <a:ext cx="7200800" cy="1318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20000"/>
              </a:lnSpc>
              <a:spcBef>
                <a:spcPts val="450"/>
              </a:spcBef>
              <a:spcAft>
                <a:spcPts val="900"/>
              </a:spcAft>
            </a:pPr>
            <a:r>
              <a:rPr lang="en-US" sz="1600" b="1" dirty="0">
                <a:solidFill>
                  <a:srgbClr val="000000"/>
                </a:solidFill>
                <a:latin typeface="+mn-lt"/>
                <a:ea typeface="Verdana" panose="020B0604030504040204" pitchFamily="34" charset="0"/>
              </a:rPr>
              <a:t>H</a:t>
            </a:r>
            <a:r>
              <a:rPr lang="en-US" sz="1600" b="1" baseline="-25000" dirty="0">
                <a:solidFill>
                  <a:srgbClr val="000000"/>
                </a:solidFill>
                <a:latin typeface="+mn-lt"/>
                <a:ea typeface="Verdana" panose="020B0604030504040204" pitchFamily="34" charset="0"/>
              </a:rPr>
              <a:t>0</a:t>
            </a:r>
            <a:r>
              <a:rPr lang="en-US" sz="1600" dirty="0">
                <a:solidFill>
                  <a:srgbClr val="000000"/>
                </a:solidFill>
                <a:latin typeface="+mn-lt"/>
                <a:ea typeface="Verdana" panose="020B0604030504040204" pitchFamily="34" charset="0"/>
              </a:rPr>
              <a:t>: No relationship between </a:t>
            </a:r>
            <a:r>
              <a:rPr lang="en-US" sz="1600" b="1" dirty="0">
                <a:solidFill>
                  <a:srgbClr val="000000"/>
                </a:solidFill>
                <a:latin typeface="+mn-lt"/>
                <a:ea typeface="Verdana" panose="020B0604030504040204" pitchFamily="34" charset="0"/>
              </a:rPr>
              <a:t>Study semester </a:t>
            </a:r>
            <a:r>
              <a:rPr lang="en-US" sz="1600" dirty="0">
                <a:solidFill>
                  <a:srgbClr val="000000"/>
                </a:solidFill>
                <a:latin typeface="+mn-lt"/>
                <a:ea typeface="Verdana" panose="020B0604030504040204" pitchFamily="34" charset="0"/>
              </a:rPr>
              <a:t>and </a:t>
            </a:r>
            <a:r>
              <a:rPr lang="en-US" sz="1600" b="1" dirty="0">
                <a:solidFill>
                  <a:srgbClr val="000000"/>
                </a:solidFill>
                <a:latin typeface="+mn-lt"/>
                <a:ea typeface="Verdana" panose="020B0604030504040204" pitchFamily="34" charset="0"/>
              </a:rPr>
              <a:t>Sex of students </a:t>
            </a:r>
            <a:r>
              <a:rPr lang="en-US" sz="1600" dirty="0">
                <a:solidFill>
                  <a:srgbClr val="000000"/>
                </a:solidFill>
                <a:latin typeface="+mn-lt"/>
                <a:ea typeface="Verdana" panose="020B0604030504040204" pitchFamily="34" charset="0"/>
              </a:rPr>
              <a:t>admitted</a:t>
            </a:r>
          </a:p>
          <a:p>
            <a:pPr eaLnBrk="1" hangingPunct="1">
              <a:lnSpc>
                <a:spcPct val="120000"/>
              </a:lnSpc>
              <a:spcBef>
                <a:spcPts val="450"/>
              </a:spcBef>
              <a:spcAft>
                <a:spcPts val="900"/>
              </a:spcAft>
            </a:pPr>
            <a:r>
              <a:rPr lang="en-US" sz="1600" b="1" dirty="0">
                <a:solidFill>
                  <a:srgbClr val="000000"/>
                </a:solidFill>
                <a:latin typeface="+mn-lt"/>
                <a:ea typeface="Verdana" panose="020B0604030504040204" pitchFamily="34" charset="0"/>
              </a:rPr>
              <a:t>H</a:t>
            </a:r>
            <a:r>
              <a:rPr lang="en-US" sz="1600" b="1" baseline="-25000" dirty="0">
                <a:solidFill>
                  <a:srgbClr val="000000"/>
                </a:solidFill>
                <a:latin typeface="+mn-lt"/>
                <a:ea typeface="Verdana" panose="020B0604030504040204" pitchFamily="34" charset="0"/>
              </a:rPr>
              <a:t>1</a:t>
            </a:r>
            <a:r>
              <a:rPr lang="en-US" sz="1600" dirty="0">
                <a:solidFill>
                  <a:srgbClr val="000000"/>
                </a:solidFill>
                <a:latin typeface="+mn-lt"/>
                <a:ea typeface="Verdana" panose="020B0604030504040204" pitchFamily="34" charset="0"/>
              </a:rPr>
              <a:t>:  There is a relationship between </a:t>
            </a:r>
            <a:r>
              <a:rPr lang="en-US" sz="1600" b="1" dirty="0">
                <a:solidFill>
                  <a:srgbClr val="000000"/>
                </a:solidFill>
                <a:latin typeface="+mn-lt"/>
                <a:ea typeface="Verdana" panose="020B0604030504040204" pitchFamily="34" charset="0"/>
              </a:rPr>
              <a:t>Study semester </a:t>
            </a:r>
            <a:r>
              <a:rPr lang="en-US" sz="1600" dirty="0">
                <a:solidFill>
                  <a:srgbClr val="000000"/>
                </a:solidFill>
                <a:latin typeface="+mn-lt"/>
                <a:ea typeface="Verdana" panose="020B0604030504040204" pitchFamily="34" charset="0"/>
              </a:rPr>
              <a:t>and </a:t>
            </a:r>
            <a:r>
              <a:rPr lang="en-US" sz="1600" b="1" dirty="0">
                <a:solidFill>
                  <a:srgbClr val="000000"/>
                </a:solidFill>
                <a:latin typeface="+mn-lt"/>
                <a:ea typeface="Verdana" panose="020B0604030504040204" pitchFamily="34" charset="0"/>
              </a:rPr>
              <a:t>Sex of students </a:t>
            </a:r>
            <a:r>
              <a:rPr lang="en-US" sz="1600" dirty="0">
                <a:solidFill>
                  <a:srgbClr val="000000"/>
                </a:solidFill>
                <a:latin typeface="+mn-lt"/>
                <a:ea typeface="Verdana" panose="020B0604030504040204" pitchFamily="34" charset="0"/>
              </a:rPr>
              <a:t>admitted</a:t>
            </a:r>
          </a:p>
          <a:p>
            <a:pPr eaLnBrk="1" hangingPunct="1">
              <a:lnSpc>
                <a:spcPct val="120000"/>
              </a:lnSpc>
              <a:spcBef>
                <a:spcPts val="450"/>
              </a:spcBef>
              <a:spcAft>
                <a:spcPts val="900"/>
              </a:spcAft>
            </a:pPr>
            <a:r>
              <a:rPr lang="en-US" sz="1600" b="1" dirty="0">
                <a:solidFill>
                  <a:srgbClr val="000000"/>
                </a:solidFill>
                <a:latin typeface="+mn-lt"/>
                <a:ea typeface="Verdana" panose="020B0604030504040204" pitchFamily="34" charset="0"/>
              </a:rPr>
              <a:t>(Fisher’s exact test </a:t>
            </a:r>
            <a:r>
              <a:rPr lang="en-US" sz="1600" dirty="0">
                <a:solidFill>
                  <a:srgbClr val="000000"/>
                </a:solidFill>
                <a:latin typeface="+mn-lt"/>
                <a:ea typeface="Verdana" panose="020B0604030504040204" pitchFamily="34" charset="0"/>
              </a:rPr>
              <a:t>or </a:t>
            </a:r>
            <a:r>
              <a:rPr lang="en-US" sz="1600" b="1" dirty="0">
                <a:solidFill>
                  <a:srgbClr val="000000"/>
                </a:solidFill>
                <a:latin typeface="+mn-lt"/>
                <a:ea typeface="Verdana" panose="020B0604030504040204" pitchFamily="34" charset="0"/>
              </a:rPr>
              <a:t>Pearson’s Chi-square test of association</a:t>
            </a:r>
            <a:r>
              <a:rPr lang="en-US" sz="1600" dirty="0">
                <a:solidFill>
                  <a:srgbClr val="000000"/>
                </a:solidFill>
                <a:latin typeface="+mn-lt"/>
                <a:ea typeface="Verdana" panose="020B0604030504040204" pitchFamily="34" charset="0"/>
              </a:rPr>
              <a:t>)</a:t>
            </a:r>
          </a:p>
        </p:txBody>
      </p:sp>
      <p:sp>
        <p:nvSpPr>
          <p:cNvPr id="7" name="TextBox 6">
            <a:extLst>
              <a:ext uri="{FF2B5EF4-FFF2-40B4-BE49-F238E27FC236}">
                <a16:creationId xmlns:a16="http://schemas.microsoft.com/office/drawing/2014/main" id="{A37CA287-627B-4441-86AE-AB450D11569E}"/>
              </a:ext>
            </a:extLst>
          </p:cNvPr>
          <p:cNvSpPr txBox="1"/>
          <p:nvPr/>
        </p:nvSpPr>
        <p:spPr>
          <a:xfrm>
            <a:off x="971600" y="1563638"/>
            <a:ext cx="792088" cy="369332"/>
          </a:xfrm>
          <a:prstGeom prst="rect">
            <a:avLst/>
          </a:prstGeom>
          <a:noFill/>
        </p:spPr>
        <p:txBody>
          <a:bodyPr wrap="square" rtlCol="0">
            <a:spAutoFit/>
          </a:bodyPr>
          <a:lstStyle/>
          <a:p>
            <a:r>
              <a:rPr lang="en-US" sz="1800" b="1" kern="1200" noProof="0" dirty="0">
                <a:solidFill>
                  <a:schemeClr val="lt1"/>
                </a:solidFill>
                <a:latin typeface="+mn-lt"/>
                <a:ea typeface="+mn-ea"/>
                <a:cs typeface="+mn-cs"/>
              </a:rPr>
              <a:t>Spring</a:t>
            </a:r>
            <a:endParaRPr lang="en-US" dirty="0"/>
          </a:p>
        </p:txBody>
      </p:sp>
      <p:sp>
        <p:nvSpPr>
          <p:cNvPr id="20" name="TextBox 19">
            <a:extLst>
              <a:ext uri="{FF2B5EF4-FFF2-40B4-BE49-F238E27FC236}">
                <a16:creationId xmlns:a16="http://schemas.microsoft.com/office/drawing/2014/main" id="{CA55DFA6-15BA-4966-97EA-A7E441F7454F}"/>
              </a:ext>
            </a:extLst>
          </p:cNvPr>
          <p:cNvSpPr txBox="1"/>
          <p:nvPr/>
        </p:nvSpPr>
        <p:spPr>
          <a:xfrm>
            <a:off x="971600" y="2130410"/>
            <a:ext cx="991788" cy="369332"/>
          </a:xfrm>
          <a:prstGeom prst="rect">
            <a:avLst/>
          </a:prstGeom>
          <a:noFill/>
        </p:spPr>
        <p:txBody>
          <a:bodyPr wrap="square" rtlCol="0">
            <a:spAutoFit/>
          </a:bodyPr>
          <a:lstStyle/>
          <a:p>
            <a:r>
              <a:rPr lang="en-US" sz="1800" b="1" kern="1200" noProof="0" dirty="0">
                <a:solidFill>
                  <a:schemeClr val="lt1"/>
                </a:solidFill>
                <a:latin typeface="+mn-lt"/>
                <a:ea typeface="+mn-ea"/>
                <a:cs typeface="+mn-cs"/>
              </a:rPr>
              <a:t>Autumn</a:t>
            </a:r>
            <a:endParaRPr lang="en-US" dirty="0"/>
          </a:p>
        </p:txBody>
      </p:sp>
      <p:sp>
        <p:nvSpPr>
          <p:cNvPr id="21" name="TextBox 20">
            <a:extLst>
              <a:ext uri="{FF2B5EF4-FFF2-40B4-BE49-F238E27FC236}">
                <a16:creationId xmlns:a16="http://schemas.microsoft.com/office/drawing/2014/main" id="{1AA0C998-D18E-44DD-A0D6-D5EBD7ABEB6B}"/>
              </a:ext>
            </a:extLst>
          </p:cNvPr>
          <p:cNvSpPr txBox="1"/>
          <p:nvPr/>
        </p:nvSpPr>
        <p:spPr>
          <a:xfrm>
            <a:off x="6876256" y="1568104"/>
            <a:ext cx="792088" cy="369332"/>
          </a:xfrm>
          <a:prstGeom prst="rect">
            <a:avLst/>
          </a:prstGeom>
          <a:noFill/>
        </p:spPr>
        <p:txBody>
          <a:bodyPr wrap="square" rtlCol="0">
            <a:spAutoFit/>
          </a:bodyPr>
          <a:lstStyle/>
          <a:p>
            <a:r>
              <a:rPr lang="en-US" sz="1800" b="1" kern="1200" noProof="0" dirty="0">
                <a:latin typeface="+mn-lt"/>
                <a:ea typeface="+mn-ea"/>
                <a:cs typeface="+mn-cs"/>
              </a:rPr>
              <a:t>600</a:t>
            </a:r>
            <a:endParaRPr lang="en-US" dirty="0"/>
          </a:p>
        </p:txBody>
      </p:sp>
      <p:sp>
        <p:nvSpPr>
          <p:cNvPr id="22" name="TextBox 21">
            <a:extLst>
              <a:ext uri="{FF2B5EF4-FFF2-40B4-BE49-F238E27FC236}">
                <a16:creationId xmlns:a16="http://schemas.microsoft.com/office/drawing/2014/main" id="{17023CCF-96B2-4593-AA30-692D9A792E59}"/>
              </a:ext>
            </a:extLst>
          </p:cNvPr>
          <p:cNvSpPr txBox="1"/>
          <p:nvPr/>
        </p:nvSpPr>
        <p:spPr>
          <a:xfrm>
            <a:off x="6876256" y="2118208"/>
            <a:ext cx="792088" cy="369332"/>
          </a:xfrm>
          <a:prstGeom prst="rect">
            <a:avLst/>
          </a:prstGeom>
          <a:noFill/>
        </p:spPr>
        <p:txBody>
          <a:bodyPr wrap="square" rtlCol="0">
            <a:spAutoFit/>
          </a:bodyPr>
          <a:lstStyle/>
          <a:p>
            <a:r>
              <a:rPr lang="en-US" sz="1800" b="1" kern="1200" noProof="0" dirty="0">
                <a:latin typeface="+mn-lt"/>
                <a:ea typeface="+mn-ea"/>
                <a:cs typeface="+mn-cs"/>
              </a:rPr>
              <a:t>400</a:t>
            </a:r>
            <a:endParaRPr lang="en-US" dirty="0"/>
          </a:p>
        </p:txBody>
      </p:sp>
    </p:spTree>
    <p:extLst>
      <p:ext uri="{BB962C8B-B14F-4D97-AF65-F5344CB8AC3E}">
        <p14:creationId xmlns:p14="http://schemas.microsoft.com/office/powerpoint/2010/main" val="1475907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barn(inVertical)">
                                      <p:cBhvr>
                                        <p:cTn id="3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P spid="12" grpId="0"/>
      <p:bldP spid="13" grpId="0"/>
      <p:bldP spid="16" grpId="0"/>
      <p:bldP spid="19"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Platshållare för innehåll 2"/>
          <p:cNvSpPr>
            <a:spLocks noGrp="1"/>
          </p:cNvSpPr>
          <p:nvPr>
            <p:ph idx="1"/>
          </p:nvPr>
        </p:nvSpPr>
        <p:spPr>
          <a:xfrm>
            <a:off x="809150" y="1275606"/>
            <a:ext cx="7488832" cy="2790310"/>
          </a:xfrm>
        </p:spPr>
        <p:txBody>
          <a:bodyPr>
            <a:noAutofit/>
          </a:bodyPr>
          <a:lstStyle/>
          <a:p>
            <a:pPr>
              <a:spcBef>
                <a:spcPts val="450"/>
              </a:spcBef>
              <a:spcAft>
                <a:spcPts val="900"/>
              </a:spcAft>
            </a:pPr>
            <a:r>
              <a:rPr lang="en-US" sz="2400" dirty="0">
                <a:latin typeface="+mn-lt"/>
                <a:ea typeface="Verdana" panose="020B0604030504040204" pitchFamily="34" charset="0"/>
              </a:rPr>
              <a:t>A very common test, and can be used for any number of rows and columns </a:t>
            </a:r>
            <a:r>
              <a:rPr lang="en-US" sz="2400" dirty="0">
                <a:solidFill>
                  <a:srgbClr val="002060"/>
                </a:solidFill>
                <a:latin typeface="+mn-lt"/>
                <a:ea typeface="Verdana" panose="020B0604030504040204" pitchFamily="34" charset="0"/>
              </a:rPr>
              <a:t>(at least 10 observations in each cell</a:t>
            </a:r>
            <a:r>
              <a:rPr lang="en-US" sz="2400" dirty="0">
                <a:latin typeface="+mn-lt"/>
                <a:ea typeface="Verdana" panose="020B0604030504040204" pitchFamily="34" charset="0"/>
              </a:rPr>
              <a:t>)</a:t>
            </a:r>
          </a:p>
          <a:p>
            <a:pPr>
              <a:spcBef>
                <a:spcPts val="450"/>
              </a:spcBef>
              <a:spcAft>
                <a:spcPts val="900"/>
              </a:spcAft>
            </a:pPr>
            <a:r>
              <a:rPr lang="en-US" sz="2400" b="1" dirty="0">
                <a:solidFill>
                  <a:srgbClr val="002060"/>
                </a:solidFill>
                <a:latin typeface="+mn-lt"/>
                <a:ea typeface="Verdana" panose="020B0604030504040204" pitchFamily="34" charset="0"/>
              </a:rPr>
              <a:t>Fisher's exact test </a:t>
            </a:r>
            <a:r>
              <a:rPr lang="en-US" sz="2400" dirty="0">
                <a:latin typeface="+mn-lt"/>
                <a:ea typeface="Verdana" panose="020B0604030504040204" pitchFamily="34" charset="0"/>
              </a:rPr>
              <a:t>counts more accurately and can also be used for small samples (5 obs. in each cell).</a:t>
            </a: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103</a:t>
            </a:fld>
            <a:endParaRPr lang="sv-SE">
              <a:solidFill>
                <a:srgbClr val="000000">
                  <a:tint val="75000"/>
                </a:srgbClr>
              </a:solidFill>
            </a:endParaRPr>
          </a:p>
        </p:txBody>
      </p:sp>
      <mc:AlternateContent xmlns:mc="http://schemas.openxmlformats.org/markup-compatibility/2006" xmlns:a14="http://schemas.microsoft.com/office/drawing/2010/main">
        <mc:Choice Requires="a14">
          <p:sp>
            <p:nvSpPr>
              <p:cNvPr id="5" name="Rubrik 1"/>
              <p:cNvSpPr txBox="1">
                <a:spLocks/>
              </p:cNvSpPr>
              <p:nvPr/>
            </p:nvSpPr>
            <p:spPr>
              <a:xfrm>
                <a:off x="2101608" y="339502"/>
                <a:ext cx="4252590" cy="486054"/>
              </a:xfrm>
              <a:prstGeom prst="rect">
                <a:avLst/>
              </a:prstGeom>
              <a:noFill/>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base">
                  <a:spcAft>
                    <a:spcPct val="0"/>
                  </a:spcAft>
                </a:pPr>
                <a:r>
                  <a:rPr lang="en-US" sz="3600" b="1" dirty="0"/>
                  <a:t>Chi2-tests (</a:t>
                </a:r>
                <a14:m>
                  <m:oMath xmlns:m="http://schemas.openxmlformats.org/officeDocument/2006/math">
                    <m:sSup>
                      <m:sSupPr>
                        <m:ctrlPr>
                          <a:rPr lang="sv-SE" sz="3600" b="1" i="1">
                            <a:latin typeface="Cambria Math" panose="02040503050406030204" pitchFamily="18" charset="0"/>
                          </a:rPr>
                        </m:ctrlPr>
                      </m:sSupPr>
                      <m:e>
                        <m:r>
                          <a:rPr lang="sv-SE" sz="3600" b="1" i="1">
                            <a:latin typeface="Cambria Math" panose="02040503050406030204" pitchFamily="18" charset="0"/>
                          </a:rPr>
                          <m:t>𝝌</m:t>
                        </m:r>
                      </m:e>
                      <m:sup>
                        <m:r>
                          <a:rPr lang="sv-SE" sz="3600" b="1" i="1">
                            <a:latin typeface="Cambria Math" panose="02040503050406030204" pitchFamily="18" charset="0"/>
                          </a:rPr>
                          <m:t>𝟐</m:t>
                        </m:r>
                      </m:sup>
                    </m:sSup>
                  </m:oMath>
                </a14:m>
                <a:r>
                  <a:rPr lang="en-US" sz="3600" b="1" dirty="0"/>
                  <a:t>-test) </a:t>
                </a:r>
              </a:p>
            </p:txBody>
          </p:sp>
        </mc:Choice>
        <mc:Fallback xmlns="">
          <p:sp>
            <p:nvSpPr>
              <p:cNvPr id="5" name="Rubrik 1"/>
              <p:cNvSpPr txBox="1">
                <a:spLocks noRot="1" noChangeAspect="1" noMove="1" noResize="1" noEditPoints="1" noAdjustHandles="1" noChangeArrowheads="1" noChangeShapeType="1" noTextEdit="1"/>
              </p:cNvSpPr>
              <p:nvPr/>
            </p:nvSpPr>
            <p:spPr>
              <a:xfrm>
                <a:off x="2101608" y="339502"/>
                <a:ext cx="4252590" cy="486054"/>
              </a:xfrm>
              <a:prstGeom prst="rect">
                <a:avLst/>
              </a:prstGeom>
              <a:blipFill>
                <a:blip r:embed="rId3"/>
                <a:stretch>
                  <a:fillRect t="-32911" r="-1865" b="-67089"/>
                </a:stretch>
              </a:blipFill>
            </p:spPr>
            <p:txBody>
              <a:bodyPr/>
              <a:lstStyle/>
              <a:p>
                <a:r>
                  <a:rPr lang="en-US">
                    <a:noFill/>
                  </a:rPr>
                  <a:t> </a:t>
                </a:r>
              </a:p>
            </p:txBody>
          </p:sp>
        </mc:Fallback>
      </mc:AlternateContent>
    </p:spTree>
    <p:extLst>
      <p:ext uri="{BB962C8B-B14F-4D97-AF65-F5344CB8AC3E}">
        <p14:creationId xmlns:p14="http://schemas.microsoft.com/office/powerpoint/2010/main" val="36919376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bildnummer 2"/>
          <p:cNvSpPr>
            <a:spLocks noGrp="1"/>
          </p:cNvSpPr>
          <p:nvPr>
            <p:ph type="sldNum" sz="quarter" idx="12"/>
          </p:nvPr>
        </p:nvSpPr>
        <p:spPr/>
        <p:txBody>
          <a:bodyPr/>
          <a:lstStyle/>
          <a:p>
            <a:pPr>
              <a:defRPr/>
            </a:pPr>
            <a:fld id="{143F5C80-4ED5-4C7B-9E1A-5093DBFB213F}" type="slidenum">
              <a:rPr lang="sv-SE" sz="1600" smtClean="0">
                <a:solidFill>
                  <a:srgbClr val="000000">
                    <a:tint val="75000"/>
                  </a:srgbClr>
                </a:solidFill>
              </a:rPr>
              <a:pPr>
                <a:defRPr/>
              </a:pPr>
              <a:t>104</a:t>
            </a:fld>
            <a:endParaRPr lang="sv-SE" sz="1600">
              <a:solidFill>
                <a:srgbClr val="000000">
                  <a:tint val="75000"/>
                </a:srgbClr>
              </a:solidFill>
            </a:endParaRPr>
          </a:p>
        </p:txBody>
      </p:sp>
      <p:sp>
        <p:nvSpPr>
          <p:cNvPr id="5" name="Content Placeholder 4"/>
          <p:cNvSpPr>
            <a:spLocks noGrp="1"/>
          </p:cNvSpPr>
          <p:nvPr>
            <p:ph idx="1"/>
          </p:nvPr>
        </p:nvSpPr>
        <p:spPr>
          <a:xfrm>
            <a:off x="672426" y="915566"/>
            <a:ext cx="7831350" cy="2862000"/>
          </a:xfrm>
        </p:spPr>
        <p:txBody>
          <a:bodyPr>
            <a:normAutofit/>
          </a:bodyPr>
          <a:lstStyle/>
          <a:p>
            <a:pPr>
              <a:lnSpc>
                <a:spcPct val="150000"/>
              </a:lnSpc>
            </a:pPr>
            <a:r>
              <a:rPr lang="sv-SE" sz="2000" dirty="0" err="1">
                <a:latin typeface="+mn-lt"/>
              </a:rPr>
              <a:t>Pearson’s</a:t>
            </a:r>
            <a:r>
              <a:rPr lang="sv-SE" sz="2000" dirty="0">
                <a:latin typeface="+mn-lt"/>
              </a:rPr>
              <a:t> Chi-</a:t>
            </a:r>
            <a:r>
              <a:rPr lang="sv-SE" sz="2000" dirty="0" err="1">
                <a:latin typeface="+mn-lt"/>
              </a:rPr>
              <a:t>square</a:t>
            </a:r>
            <a:r>
              <a:rPr lang="sv-SE" sz="2000" dirty="0">
                <a:latin typeface="+mn-lt"/>
              </a:rPr>
              <a:t> test </a:t>
            </a:r>
            <a:r>
              <a:rPr lang="sv-SE" sz="2000" dirty="0" err="1">
                <a:latin typeface="+mn-lt"/>
              </a:rPr>
              <a:t>compares</a:t>
            </a:r>
            <a:r>
              <a:rPr lang="sv-SE" sz="2000" dirty="0">
                <a:latin typeface="+mn-lt"/>
              </a:rPr>
              <a:t> the </a:t>
            </a:r>
            <a:r>
              <a:rPr lang="sv-SE" sz="2000" dirty="0" err="1">
                <a:solidFill>
                  <a:srgbClr val="002060"/>
                </a:solidFill>
                <a:latin typeface="+mn-lt"/>
              </a:rPr>
              <a:t>expected</a:t>
            </a:r>
            <a:r>
              <a:rPr lang="sv-SE" sz="2000" dirty="0">
                <a:solidFill>
                  <a:srgbClr val="002060"/>
                </a:solidFill>
                <a:latin typeface="+mn-lt"/>
              </a:rPr>
              <a:t> </a:t>
            </a:r>
            <a:r>
              <a:rPr lang="sv-SE" sz="2000" dirty="0" err="1">
                <a:solidFill>
                  <a:srgbClr val="002060"/>
                </a:solidFill>
                <a:latin typeface="+mn-lt"/>
              </a:rPr>
              <a:t>frequency</a:t>
            </a:r>
            <a:r>
              <a:rPr lang="sv-SE" sz="2000" dirty="0">
                <a:solidFill>
                  <a:srgbClr val="002060"/>
                </a:solidFill>
                <a:latin typeface="+mn-lt"/>
              </a:rPr>
              <a:t> </a:t>
            </a:r>
            <a:r>
              <a:rPr lang="sv-SE" sz="2000" dirty="0" err="1">
                <a:latin typeface="+mn-lt"/>
              </a:rPr>
              <a:t>against</a:t>
            </a:r>
            <a:r>
              <a:rPr lang="sv-SE" sz="2000" dirty="0">
                <a:latin typeface="+mn-lt"/>
              </a:rPr>
              <a:t> the </a:t>
            </a:r>
            <a:r>
              <a:rPr lang="sv-SE" sz="2000" dirty="0" err="1">
                <a:solidFill>
                  <a:srgbClr val="002060"/>
                </a:solidFill>
                <a:latin typeface="+mn-lt"/>
              </a:rPr>
              <a:t>observed</a:t>
            </a:r>
            <a:r>
              <a:rPr lang="sv-SE" sz="2000" dirty="0">
                <a:solidFill>
                  <a:srgbClr val="002060"/>
                </a:solidFill>
                <a:latin typeface="+mn-lt"/>
              </a:rPr>
              <a:t> </a:t>
            </a:r>
            <a:r>
              <a:rPr lang="sv-SE" sz="2000" dirty="0" err="1">
                <a:solidFill>
                  <a:srgbClr val="002060"/>
                </a:solidFill>
                <a:latin typeface="+mn-lt"/>
              </a:rPr>
              <a:t>frequency</a:t>
            </a:r>
            <a:endParaRPr lang="sv-SE" sz="2000" dirty="0">
              <a:solidFill>
                <a:srgbClr val="002060"/>
              </a:solidFill>
              <a:latin typeface="+mn-lt"/>
            </a:endParaRPr>
          </a:p>
          <a:p>
            <a:pPr lvl="1">
              <a:lnSpc>
                <a:spcPct val="150000"/>
              </a:lnSpc>
            </a:pPr>
            <a:r>
              <a:rPr lang="sv-SE" sz="2000" dirty="0">
                <a:latin typeface="+mn-lt"/>
              </a:rPr>
              <a:t>If </a:t>
            </a:r>
            <a:r>
              <a:rPr lang="sv-SE" sz="2000" dirty="0" err="1">
                <a:latin typeface="+mn-lt"/>
              </a:rPr>
              <a:t>there</a:t>
            </a:r>
            <a:r>
              <a:rPr lang="sv-SE" sz="2000" dirty="0">
                <a:latin typeface="+mn-lt"/>
              </a:rPr>
              <a:t> is a </a:t>
            </a:r>
            <a:r>
              <a:rPr lang="sv-SE" sz="2000" dirty="0">
                <a:solidFill>
                  <a:srgbClr val="002060"/>
                </a:solidFill>
                <a:latin typeface="+mn-lt"/>
              </a:rPr>
              <a:t>LARGE</a:t>
            </a:r>
            <a:r>
              <a:rPr lang="sv-SE" sz="2000" dirty="0">
                <a:latin typeface="+mn-lt"/>
              </a:rPr>
              <a:t> </a:t>
            </a:r>
            <a:r>
              <a:rPr lang="sv-SE" sz="2000" dirty="0" err="1">
                <a:latin typeface="+mn-lt"/>
              </a:rPr>
              <a:t>descrepancy</a:t>
            </a:r>
            <a:r>
              <a:rPr lang="sv-SE" sz="2000" dirty="0">
                <a:latin typeface="+mn-lt"/>
              </a:rPr>
              <a:t> </a:t>
            </a:r>
            <a:r>
              <a:rPr lang="sv-SE" sz="2000" dirty="0" err="1">
                <a:latin typeface="+mn-lt"/>
              </a:rPr>
              <a:t>then</a:t>
            </a:r>
            <a:r>
              <a:rPr lang="sv-SE" sz="2000" dirty="0">
                <a:latin typeface="+mn-lt"/>
              </a:rPr>
              <a:t> </a:t>
            </a:r>
            <a:r>
              <a:rPr lang="sv-SE" sz="2000" dirty="0" err="1">
                <a:latin typeface="+mn-lt"/>
              </a:rPr>
              <a:t>we</a:t>
            </a:r>
            <a:r>
              <a:rPr lang="sv-SE" sz="2000" dirty="0">
                <a:latin typeface="+mn-lt"/>
              </a:rPr>
              <a:t> </a:t>
            </a:r>
            <a:r>
              <a:rPr lang="sv-SE" sz="2000" dirty="0" err="1">
                <a:latin typeface="+mn-lt"/>
              </a:rPr>
              <a:t>will</a:t>
            </a:r>
            <a:r>
              <a:rPr lang="sv-SE" sz="2000" dirty="0">
                <a:latin typeface="+mn-lt"/>
              </a:rPr>
              <a:t> get a small p-</a:t>
            </a:r>
            <a:r>
              <a:rPr lang="sv-SE" sz="2000" dirty="0" err="1">
                <a:latin typeface="+mn-lt"/>
              </a:rPr>
              <a:t>value</a:t>
            </a:r>
            <a:endParaRPr lang="sv-SE" sz="2000" dirty="0">
              <a:latin typeface="+mn-lt"/>
            </a:endParaRPr>
          </a:p>
          <a:p>
            <a:pPr lvl="1">
              <a:lnSpc>
                <a:spcPct val="150000"/>
              </a:lnSpc>
            </a:pPr>
            <a:r>
              <a:rPr lang="sv-SE" sz="2000" dirty="0" err="1">
                <a:latin typeface="+mn-lt"/>
              </a:rPr>
              <a:t>Hence</a:t>
            </a:r>
            <a:r>
              <a:rPr lang="sv-SE" sz="2000" dirty="0">
                <a:latin typeface="+mn-lt"/>
              </a:rPr>
              <a:t>, </a:t>
            </a:r>
            <a:r>
              <a:rPr lang="sv-SE" sz="2000" dirty="0" err="1">
                <a:latin typeface="+mn-lt"/>
              </a:rPr>
              <a:t>we</a:t>
            </a:r>
            <a:r>
              <a:rPr lang="sv-SE" sz="2000" dirty="0">
                <a:latin typeface="+mn-lt"/>
              </a:rPr>
              <a:t> </a:t>
            </a:r>
            <a:r>
              <a:rPr lang="sv-SE" sz="2000" dirty="0" err="1">
                <a:latin typeface="+mn-lt"/>
              </a:rPr>
              <a:t>will</a:t>
            </a:r>
            <a:r>
              <a:rPr lang="sv-SE" sz="2000" dirty="0">
                <a:latin typeface="+mn-lt"/>
              </a:rPr>
              <a:t> </a:t>
            </a:r>
            <a:r>
              <a:rPr lang="sv-SE" sz="2000" dirty="0" err="1">
                <a:latin typeface="+mn-lt"/>
              </a:rPr>
              <a:t>reject</a:t>
            </a:r>
            <a:r>
              <a:rPr lang="sv-SE" sz="2000" dirty="0">
                <a:latin typeface="+mn-lt"/>
              </a:rPr>
              <a:t> the </a:t>
            </a:r>
            <a:r>
              <a:rPr lang="sv-SE" sz="2000" dirty="0" err="1">
                <a:latin typeface="+mn-lt"/>
              </a:rPr>
              <a:t>Null</a:t>
            </a:r>
            <a:r>
              <a:rPr lang="sv-SE" sz="2000" dirty="0">
                <a:latin typeface="+mn-lt"/>
              </a:rPr>
              <a:t> </a:t>
            </a:r>
            <a:r>
              <a:rPr lang="sv-SE" sz="2000" dirty="0" err="1">
                <a:latin typeface="+mn-lt"/>
              </a:rPr>
              <a:t>hypothesis</a:t>
            </a:r>
            <a:r>
              <a:rPr lang="sv-SE" sz="2000" dirty="0">
                <a:latin typeface="+mn-lt"/>
              </a:rPr>
              <a:t> and </a:t>
            </a:r>
            <a:r>
              <a:rPr lang="sv-SE" sz="2000" dirty="0" err="1">
                <a:latin typeface="+mn-lt"/>
              </a:rPr>
              <a:t>conclude</a:t>
            </a:r>
            <a:r>
              <a:rPr lang="sv-SE" sz="2000" dirty="0">
                <a:latin typeface="+mn-lt"/>
              </a:rPr>
              <a:t> </a:t>
            </a:r>
            <a:r>
              <a:rPr lang="sv-SE" sz="2000" dirty="0" err="1">
                <a:latin typeface="+mn-lt"/>
              </a:rPr>
              <a:t>there</a:t>
            </a:r>
            <a:r>
              <a:rPr lang="sv-SE" sz="2000" dirty="0">
                <a:latin typeface="+mn-lt"/>
              </a:rPr>
              <a:t> </a:t>
            </a:r>
            <a:r>
              <a:rPr lang="sv-SE" sz="2000" dirty="0" err="1">
                <a:latin typeface="+mn-lt"/>
              </a:rPr>
              <a:t>exists</a:t>
            </a:r>
            <a:r>
              <a:rPr lang="sv-SE" sz="2000" dirty="0">
                <a:latin typeface="+mn-lt"/>
              </a:rPr>
              <a:t> a relationship</a:t>
            </a:r>
          </a:p>
          <a:p>
            <a:pPr lvl="1">
              <a:lnSpc>
                <a:spcPct val="150000"/>
              </a:lnSpc>
            </a:pPr>
            <a:r>
              <a:rPr lang="sv-SE" sz="2000" dirty="0">
                <a:latin typeface="+mn-lt"/>
              </a:rPr>
              <a:t>Else </a:t>
            </a:r>
            <a:r>
              <a:rPr lang="sv-SE" sz="2000" dirty="0" err="1">
                <a:latin typeface="+mn-lt"/>
              </a:rPr>
              <a:t>we</a:t>
            </a:r>
            <a:r>
              <a:rPr lang="sv-SE" sz="2000" dirty="0">
                <a:latin typeface="+mn-lt"/>
              </a:rPr>
              <a:t> </a:t>
            </a:r>
            <a:r>
              <a:rPr lang="sv-SE" sz="2000" dirty="0" err="1">
                <a:latin typeface="+mn-lt"/>
              </a:rPr>
              <a:t>fail</a:t>
            </a:r>
            <a:r>
              <a:rPr lang="sv-SE" sz="2000" dirty="0">
                <a:latin typeface="+mn-lt"/>
              </a:rPr>
              <a:t> to </a:t>
            </a:r>
            <a:r>
              <a:rPr lang="sv-SE" sz="2000" dirty="0" err="1">
                <a:latin typeface="+mn-lt"/>
              </a:rPr>
              <a:t>reject</a:t>
            </a:r>
            <a:r>
              <a:rPr lang="sv-SE" sz="2000" dirty="0">
                <a:latin typeface="+mn-lt"/>
              </a:rPr>
              <a:t> the </a:t>
            </a:r>
            <a:r>
              <a:rPr lang="sv-SE" sz="2000" dirty="0" err="1">
                <a:latin typeface="+mn-lt"/>
              </a:rPr>
              <a:t>Null</a:t>
            </a:r>
            <a:r>
              <a:rPr lang="sv-SE" sz="2000" dirty="0">
                <a:latin typeface="+mn-lt"/>
              </a:rPr>
              <a:t> </a:t>
            </a:r>
            <a:r>
              <a:rPr lang="sv-SE" sz="2000" dirty="0" err="1">
                <a:latin typeface="+mn-lt"/>
              </a:rPr>
              <a:t>hypothesis</a:t>
            </a:r>
            <a:r>
              <a:rPr lang="sv-SE" sz="2000" dirty="0">
                <a:latin typeface="+mn-lt"/>
              </a:rPr>
              <a:t> of ”No relationship”</a:t>
            </a:r>
            <a:endParaRPr lang="en-US" sz="2000" dirty="0">
              <a:latin typeface="+mn-lt"/>
            </a:endParaRPr>
          </a:p>
        </p:txBody>
      </p:sp>
      <p:sp>
        <p:nvSpPr>
          <p:cNvPr id="6" name="Rubrik 1">
            <a:extLst>
              <a:ext uri="{FF2B5EF4-FFF2-40B4-BE49-F238E27FC236}">
                <a16:creationId xmlns:a16="http://schemas.microsoft.com/office/drawing/2014/main" id="{4F3283A7-9CE6-483E-9783-47D702F8E041}"/>
              </a:ext>
            </a:extLst>
          </p:cNvPr>
          <p:cNvSpPr txBox="1">
            <a:spLocks/>
          </p:cNvSpPr>
          <p:nvPr/>
        </p:nvSpPr>
        <p:spPr>
          <a:xfrm>
            <a:off x="1403648" y="105314"/>
            <a:ext cx="5976664" cy="403354"/>
          </a:xfrm>
          <a:prstGeom prst="rect">
            <a:avLst/>
          </a:prstGeom>
          <a:noFill/>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sv-SE" sz="2100" b="1" dirty="0">
                <a:latin typeface="Trebuchet MS" panose="020B0603020202020204" pitchFamily="34" charset="0"/>
              </a:rPr>
              <a:t>Relationship </a:t>
            </a:r>
            <a:r>
              <a:rPr lang="sv-SE" sz="2100" b="1" dirty="0" err="1">
                <a:latin typeface="Trebuchet MS" panose="020B0603020202020204" pitchFamily="34" charset="0"/>
              </a:rPr>
              <a:t>between</a:t>
            </a:r>
            <a:r>
              <a:rPr lang="sv-SE" sz="2100" b="1" dirty="0">
                <a:latin typeface="Trebuchet MS" panose="020B0603020202020204" pitchFamily="34" charset="0"/>
              </a:rPr>
              <a:t> </a:t>
            </a:r>
            <a:r>
              <a:rPr lang="sv-SE" sz="2100" b="1" dirty="0" err="1">
                <a:latin typeface="Trebuchet MS" panose="020B0603020202020204" pitchFamily="34" charset="0"/>
              </a:rPr>
              <a:t>Categorical</a:t>
            </a:r>
            <a:r>
              <a:rPr lang="sv-SE" sz="2100" b="1" dirty="0">
                <a:latin typeface="Trebuchet MS" panose="020B0603020202020204" pitchFamily="34" charset="0"/>
              </a:rPr>
              <a:t> </a:t>
            </a:r>
            <a:r>
              <a:rPr lang="sv-SE" sz="2100" b="1" dirty="0" err="1">
                <a:latin typeface="Trebuchet MS" panose="020B0603020202020204" pitchFamily="34" charset="0"/>
              </a:rPr>
              <a:t>variables</a:t>
            </a:r>
            <a:endParaRPr lang="en-US" sz="2100" b="1" dirty="0">
              <a:latin typeface="Trebuchet MS" panose="020B0603020202020204" pitchFamily="34" charset="0"/>
            </a:endParaRPr>
          </a:p>
        </p:txBody>
      </p:sp>
    </p:spTree>
    <p:extLst>
      <p:ext uri="{BB962C8B-B14F-4D97-AF65-F5344CB8AC3E}">
        <p14:creationId xmlns:p14="http://schemas.microsoft.com/office/powerpoint/2010/main" val="326208187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Platshållare för innehåll 3"/>
          <p:cNvGraphicFramePr>
            <a:graphicFrameLocks noGrp="1"/>
          </p:cNvGraphicFramePr>
          <p:nvPr>
            <p:ph idx="1"/>
            <p:extLst>
              <p:ext uri="{D42A27DB-BD31-4B8C-83A1-F6EECF244321}">
                <p14:modId xmlns:p14="http://schemas.microsoft.com/office/powerpoint/2010/main" val="228266737"/>
              </p:ext>
            </p:extLst>
          </p:nvPr>
        </p:nvGraphicFramePr>
        <p:xfrm>
          <a:off x="971600" y="689440"/>
          <a:ext cx="6760258" cy="2386365"/>
        </p:xfrm>
        <a:graphic>
          <a:graphicData uri="http://schemas.openxmlformats.org/drawingml/2006/table">
            <a:tbl>
              <a:tblPr firstRow="1" bandRow="1">
                <a:tableStyleId>{5C22544A-7EE6-4342-B048-85BDC9FD1C3A}</a:tableStyleId>
              </a:tblPr>
              <a:tblGrid>
                <a:gridCol w="1071626">
                  <a:extLst>
                    <a:ext uri="{9D8B030D-6E8A-4147-A177-3AD203B41FA5}">
                      <a16:colId xmlns:a16="http://schemas.microsoft.com/office/drawing/2014/main" val="20000"/>
                    </a:ext>
                  </a:extLst>
                </a:gridCol>
                <a:gridCol w="2384758">
                  <a:extLst>
                    <a:ext uri="{9D8B030D-6E8A-4147-A177-3AD203B41FA5}">
                      <a16:colId xmlns:a16="http://schemas.microsoft.com/office/drawing/2014/main" val="20001"/>
                    </a:ext>
                  </a:extLst>
                </a:gridCol>
                <a:gridCol w="2160240">
                  <a:extLst>
                    <a:ext uri="{9D8B030D-6E8A-4147-A177-3AD203B41FA5}">
                      <a16:colId xmlns:a16="http://schemas.microsoft.com/office/drawing/2014/main" val="20002"/>
                    </a:ext>
                  </a:extLst>
                </a:gridCol>
                <a:gridCol w="1143634">
                  <a:extLst>
                    <a:ext uri="{9D8B030D-6E8A-4147-A177-3AD203B41FA5}">
                      <a16:colId xmlns:a16="http://schemas.microsoft.com/office/drawing/2014/main" val="20003"/>
                    </a:ext>
                  </a:extLst>
                </a:gridCol>
              </a:tblGrid>
              <a:tr h="451170">
                <a:tc>
                  <a:txBody>
                    <a:bodyPr/>
                    <a:lstStyle/>
                    <a:p>
                      <a:pPr marL="0" algn="l" defTabSz="457200" rtl="0" eaLnBrk="1" latinLnBrk="0" hangingPunct="1"/>
                      <a:endParaRPr lang="en-US" sz="2400" b="1" kern="1200" noProof="0" dirty="0">
                        <a:solidFill>
                          <a:schemeClr val="lt1"/>
                        </a:solidFill>
                        <a:latin typeface="+mn-lt"/>
                        <a:ea typeface="+mn-ea"/>
                        <a:cs typeface="+mn-cs"/>
                      </a:endParaRPr>
                    </a:p>
                  </a:txBody>
                  <a:tcPr marL="68580" marR="68580" marT="34275" marB="34275">
                    <a:solidFill>
                      <a:schemeClr val="accent1">
                        <a:lumMod val="75000"/>
                      </a:schemeClr>
                    </a:solidFill>
                  </a:tcPr>
                </a:tc>
                <a:tc gridSpan="3">
                  <a:txBody>
                    <a:bodyPr/>
                    <a:lstStyle/>
                    <a:p>
                      <a:pPr algn="ctr"/>
                      <a:r>
                        <a:rPr lang="sv-SE" sz="2400" b="1" noProof="0" dirty="0"/>
                        <a:t>Sex</a:t>
                      </a:r>
                      <a:endParaRPr lang="en-US" sz="2400" b="1" noProof="0" dirty="0"/>
                    </a:p>
                  </a:txBody>
                  <a:tcPr marL="68580" marR="68580" marT="34275" marB="34275"/>
                </a:tc>
                <a:tc hMerge="1">
                  <a:txBody>
                    <a:bodyPr/>
                    <a:lstStyle/>
                    <a:p>
                      <a:endParaRPr lang="en-US" sz="1800" b="1" noProof="0" dirty="0"/>
                    </a:p>
                  </a:txBody>
                  <a:tcPr marL="68580" marR="68580" marT="34275" marB="34275"/>
                </a:tc>
                <a:tc hMerge="1">
                  <a:txBody>
                    <a:bodyPr/>
                    <a:lstStyle/>
                    <a:p>
                      <a:pPr algn="ctr"/>
                      <a:endParaRPr lang="en-US" sz="1800" b="1" noProof="0" dirty="0"/>
                    </a:p>
                  </a:txBody>
                  <a:tcPr marL="68580" marR="68580" marT="34275" marB="34275"/>
                </a:tc>
                <a:extLst>
                  <a:ext uri="{0D108BD9-81ED-4DB2-BD59-A6C34878D82A}">
                    <a16:rowId xmlns:a16="http://schemas.microsoft.com/office/drawing/2014/main" val="1342113022"/>
                  </a:ext>
                </a:extLst>
              </a:tr>
              <a:tr h="38216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sv-SE" sz="1800" b="1" kern="1200" noProof="0" dirty="0">
                          <a:solidFill>
                            <a:schemeClr val="lt1"/>
                          </a:solidFill>
                          <a:latin typeface="+mn-lt"/>
                          <a:ea typeface="+mn-ea"/>
                          <a:cs typeface="+mn-cs"/>
                        </a:rPr>
                        <a:t>Semester</a:t>
                      </a:r>
                      <a:endParaRPr lang="en-US" sz="1800" b="1" kern="1200" noProof="0" dirty="0">
                        <a:solidFill>
                          <a:schemeClr val="lt1"/>
                        </a:solidFill>
                        <a:latin typeface="+mn-lt"/>
                        <a:ea typeface="+mn-ea"/>
                        <a:cs typeface="+mn-cs"/>
                      </a:endParaRPr>
                    </a:p>
                  </a:txBody>
                  <a:tcPr marL="68580" marR="68580" marT="34275" marB="34275">
                    <a:solidFill>
                      <a:schemeClr val="accent1">
                        <a:lumMod val="75000"/>
                      </a:schemeClr>
                    </a:solidFill>
                  </a:tcPr>
                </a:tc>
                <a:tc>
                  <a:txBody>
                    <a:bodyPr/>
                    <a:lstStyle/>
                    <a:p>
                      <a:r>
                        <a:rPr lang="en-US" sz="1800" b="1" noProof="0" dirty="0"/>
                        <a:t>Females </a:t>
                      </a:r>
                    </a:p>
                  </a:txBody>
                  <a:tcPr marL="68580" marR="68580" marT="34275" marB="34275"/>
                </a:tc>
                <a:tc>
                  <a:txBody>
                    <a:bodyPr/>
                    <a:lstStyle/>
                    <a:p>
                      <a:r>
                        <a:rPr lang="en-US" sz="1800" b="1" noProof="0" dirty="0"/>
                        <a:t>Males</a:t>
                      </a:r>
                    </a:p>
                  </a:txBody>
                  <a:tcPr marL="68580" marR="68580" marT="34275" marB="34275"/>
                </a:tc>
                <a:tc>
                  <a:txBody>
                    <a:bodyPr/>
                    <a:lstStyle/>
                    <a:p>
                      <a:pPr algn="ctr"/>
                      <a:r>
                        <a:rPr lang="en-US" sz="1800" b="1" noProof="0" dirty="0"/>
                        <a:t>Total</a:t>
                      </a:r>
                    </a:p>
                  </a:txBody>
                  <a:tcPr marL="68580" marR="68580" marT="34275" marB="34275"/>
                </a:tc>
                <a:extLst>
                  <a:ext uri="{0D108BD9-81ED-4DB2-BD59-A6C34878D82A}">
                    <a16:rowId xmlns:a16="http://schemas.microsoft.com/office/drawing/2014/main" val="10000"/>
                  </a:ext>
                </a:extLst>
              </a:tr>
              <a:tr h="598427">
                <a:tc>
                  <a:txBody>
                    <a:bodyPr/>
                    <a:lstStyle/>
                    <a:p>
                      <a:pPr marL="0" algn="l" defTabSz="457200" rtl="0" eaLnBrk="1" latinLnBrk="0" hangingPunct="1"/>
                      <a:endParaRPr lang="en-US" sz="1800" b="1" kern="1200" noProof="0" dirty="0">
                        <a:solidFill>
                          <a:schemeClr val="lt1"/>
                        </a:solidFill>
                        <a:latin typeface="+mn-lt"/>
                        <a:ea typeface="+mn-ea"/>
                        <a:cs typeface="+mn-cs"/>
                      </a:endParaRPr>
                    </a:p>
                  </a:txBody>
                  <a:tcPr marL="68580" marR="68580" marT="34275" marB="34275">
                    <a:solidFill>
                      <a:schemeClr val="accent1">
                        <a:lumMod val="75000"/>
                      </a:schemeClr>
                    </a:solidFill>
                  </a:tcPr>
                </a:tc>
                <a:tc>
                  <a:txBody>
                    <a:bodyPr/>
                    <a:lstStyle/>
                    <a:p>
                      <a:pPr algn="l"/>
                      <a:endParaRPr lang="en-US" sz="1500" b="1" baseline="0" noProof="0" dirty="0"/>
                    </a:p>
                  </a:txBody>
                  <a:tcPr marL="68580" marR="68580" marT="34275" marB="34275"/>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500" b="1" noProof="0" dirty="0"/>
                    </a:p>
                  </a:txBody>
                  <a:tcPr marL="68580" marR="68580" marT="34275" marB="34275"/>
                </a:tc>
                <a:tc>
                  <a:txBody>
                    <a:bodyPr/>
                    <a:lstStyle/>
                    <a:p>
                      <a:pPr algn="ctr"/>
                      <a:r>
                        <a:rPr lang="en-US" sz="1500" b="1" noProof="0" dirty="0"/>
                        <a:t>600</a:t>
                      </a:r>
                    </a:p>
                  </a:txBody>
                  <a:tcPr marL="68580" marR="68580" marT="34275" marB="34275"/>
                </a:tc>
                <a:extLst>
                  <a:ext uri="{0D108BD9-81ED-4DB2-BD59-A6C34878D82A}">
                    <a16:rowId xmlns:a16="http://schemas.microsoft.com/office/drawing/2014/main" val="10001"/>
                  </a:ext>
                </a:extLst>
              </a:tr>
              <a:tr h="598427">
                <a:tc>
                  <a:txBody>
                    <a:bodyPr/>
                    <a:lstStyle/>
                    <a:p>
                      <a:pPr marL="0" algn="l" defTabSz="457200" rtl="0" eaLnBrk="1" latinLnBrk="0" hangingPunct="1"/>
                      <a:r>
                        <a:rPr lang="en-US" sz="1800" b="1" kern="1200" noProof="0" dirty="0">
                          <a:solidFill>
                            <a:schemeClr val="lt1"/>
                          </a:solidFill>
                          <a:latin typeface="+mn-lt"/>
                          <a:ea typeface="+mn-ea"/>
                          <a:cs typeface="+mn-cs"/>
                        </a:rPr>
                        <a:t> </a:t>
                      </a:r>
                    </a:p>
                  </a:txBody>
                  <a:tcPr marL="68580" marR="68580" marT="34275" marB="34275">
                    <a:solidFill>
                      <a:schemeClr val="accent1">
                        <a:lumMod val="7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500" b="1" noProof="0" dirty="0"/>
                    </a:p>
                  </a:txBody>
                  <a:tcPr marL="68580" marR="68580" marT="34275" marB="34275"/>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500" b="1" noProof="0" dirty="0"/>
                    </a:p>
                  </a:txBody>
                  <a:tcPr marL="68580" marR="68580" marT="34275" marB="34275"/>
                </a:tc>
                <a:tc>
                  <a:txBody>
                    <a:bodyPr/>
                    <a:lstStyle/>
                    <a:p>
                      <a:pPr algn="ctr"/>
                      <a:r>
                        <a:rPr lang="en-US" sz="1500" b="1" noProof="0" dirty="0"/>
                        <a:t>400 </a:t>
                      </a:r>
                    </a:p>
                  </a:txBody>
                  <a:tcPr marL="68580" marR="68580" marT="34275" marB="34275"/>
                </a:tc>
                <a:extLst>
                  <a:ext uri="{0D108BD9-81ED-4DB2-BD59-A6C34878D82A}">
                    <a16:rowId xmlns:a16="http://schemas.microsoft.com/office/drawing/2014/main" val="10002"/>
                  </a:ext>
                </a:extLst>
              </a:tr>
              <a:tr h="356180">
                <a:tc>
                  <a:txBody>
                    <a:bodyPr/>
                    <a:lstStyle/>
                    <a:p>
                      <a:pPr marL="0" algn="l" defTabSz="457200" rtl="0" eaLnBrk="1" latinLnBrk="0" hangingPunct="1"/>
                      <a:r>
                        <a:rPr lang="en-US" sz="1800" b="1" kern="1200" noProof="0" dirty="0">
                          <a:solidFill>
                            <a:schemeClr val="lt1"/>
                          </a:solidFill>
                          <a:latin typeface="+mn-lt"/>
                          <a:ea typeface="+mn-ea"/>
                          <a:cs typeface="+mn-cs"/>
                        </a:rPr>
                        <a:t>Annually</a:t>
                      </a:r>
                    </a:p>
                  </a:txBody>
                  <a:tcPr marL="68580" marR="68580" marT="34275" marB="34275">
                    <a:solidFill>
                      <a:schemeClr val="accent1">
                        <a:lumMod val="75000"/>
                      </a:schemeClr>
                    </a:solidFill>
                  </a:tcPr>
                </a:tc>
                <a:tc>
                  <a:txBody>
                    <a:bodyPr/>
                    <a:lstStyle/>
                    <a:p>
                      <a:pPr algn="r"/>
                      <a:r>
                        <a:rPr lang="en-US" sz="1500" b="1" noProof="0" dirty="0"/>
                        <a:t>    </a:t>
                      </a:r>
                    </a:p>
                  </a:txBody>
                  <a:tcPr marL="68580" marR="68580" marT="34275" marB="34275"/>
                </a:tc>
                <a:tc>
                  <a:txBody>
                    <a:bodyPr/>
                    <a:lstStyle/>
                    <a:p>
                      <a:pPr algn="ctr"/>
                      <a:endParaRPr lang="en-US" sz="1500" b="1" noProof="0" dirty="0"/>
                    </a:p>
                  </a:txBody>
                  <a:tcPr marL="68580" marR="68580" marT="34275" marB="34275"/>
                </a:tc>
                <a:tc>
                  <a:txBody>
                    <a:bodyPr/>
                    <a:lstStyle/>
                    <a:p>
                      <a:pPr algn="ctr"/>
                      <a:r>
                        <a:rPr lang="en-US" sz="1500" b="1" noProof="0" dirty="0"/>
                        <a:t>1000</a:t>
                      </a:r>
                    </a:p>
                  </a:txBody>
                  <a:tcPr marL="68580" marR="68580" marT="34275" marB="34275"/>
                </a:tc>
                <a:extLst>
                  <a:ext uri="{0D108BD9-81ED-4DB2-BD59-A6C34878D82A}">
                    <a16:rowId xmlns:a16="http://schemas.microsoft.com/office/drawing/2014/main" val="10003"/>
                  </a:ext>
                </a:extLst>
              </a:tr>
            </a:tbl>
          </a:graphicData>
        </a:graphic>
      </p:graphicFrame>
      <p:sp>
        <p:nvSpPr>
          <p:cNvPr id="3" name="Platshållare för bildnummer 2"/>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105</a:t>
            </a:fld>
            <a:endParaRPr lang="sv-SE">
              <a:solidFill>
                <a:srgbClr val="000000">
                  <a:tint val="75000"/>
                </a:srgbClr>
              </a:solidFill>
            </a:endParaRPr>
          </a:p>
        </p:txBody>
      </p:sp>
      <p:sp>
        <p:nvSpPr>
          <p:cNvPr id="11294" name="textruta 4"/>
          <p:cNvSpPr txBox="1">
            <a:spLocks noChangeArrowheads="1"/>
          </p:cNvSpPr>
          <p:nvPr/>
        </p:nvSpPr>
        <p:spPr bwMode="auto">
          <a:xfrm>
            <a:off x="195318" y="3147814"/>
            <a:ext cx="8816568" cy="1433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20000"/>
              </a:lnSpc>
              <a:spcBef>
                <a:spcPts val="450"/>
              </a:spcBef>
              <a:spcAft>
                <a:spcPts val="900"/>
              </a:spcAft>
            </a:pPr>
            <a:r>
              <a:rPr lang="en-US" sz="1600" dirty="0">
                <a:solidFill>
                  <a:srgbClr val="000000"/>
                </a:solidFill>
                <a:latin typeface="+mn-lt"/>
                <a:ea typeface="Verdana" panose="020B0604030504040204" pitchFamily="34" charset="0"/>
              </a:rPr>
              <a:t>A “</a:t>
            </a:r>
            <a:r>
              <a:rPr lang="en-US" sz="1600" b="1" dirty="0">
                <a:solidFill>
                  <a:srgbClr val="000000"/>
                </a:solidFill>
                <a:latin typeface="+mn-lt"/>
                <a:ea typeface="Verdana" panose="020B0604030504040204" pitchFamily="34" charset="0"/>
              </a:rPr>
              <a:t>Large enough” </a:t>
            </a:r>
            <a:r>
              <a:rPr lang="en-US" sz="1600" dirty="0">
                <a:solidFill>
                  <a:srgbClr val="000000"/>
                </a:solidFill>
                <a:latin typeface="+mn-lt"/>
                <a:ea typeface="Verdana" panose="020B0604030504040204" pitchFamily="34" charset="0"/>
              </a:rPr>
              <a:t>difference between the </a:t>
            </a:r>
            <a:r>
              <a:rPr lang="en-US" sz="1600" b="1" dirty="0">
                <a:solidFill>
                  <a:srgbClr val="000000"/>
                </a:solidFill>
                <a:latin typeface="+mn-lt"/>
                <a:ea typeface="Verdana" panose="020B0604030504040204" pitchFamily="34" charset="0"/>
              </a:rPr>
              <a:t>Expected</a:t>
            </a:r>
            <a:r>
              <a:rPr lang="en-US" sz="1600" dirty="0">
                <a:solidFill>
                  <a:srgbClr val="000000"/>
                </a:solidFill>
                <a:latin typeface="+mn-lt"/>
                <a:ea typeface="Verdana" panose="020B0604030504040204" pitchFamily="34" charset="0"/>
              </a:rPr>
              <a:t> and </a:t>
            </a:r>
            <a:r>
              <a:rPr lang="en-US" sz="1600" b="1" dirty="0">
                <a:solidFill>
                  <a:srgbClr val="7030A0"/>
                </a:solidFill>
                <a:latin typeface="+mn-lt"/>
                <a:ea typeface="Verdana" panose="020B0604030504040204" pitchFamily="34" charset="0"/>
              </a:rPr>
              <a:t>Observed</a:t>
            </a:r>
            <a:r>
              <a:rPr lang="en-US" sz="1600" dirty="0">
                <a:solidFill>
                  <a:srgbClr val="000000"/>
                </a:solidFill>
                <a:latin typeface="+mn-lt"/>
                <a:ea typeface="Verdana" panose="020B0604030504040204" pitchFamily="34" charset="0"/>
              </a:rPr>
              <a:t> frequencies. </a:t>
            </a:r>
          </a:p>
          <a:p>
            <a:pPr eaLnBrk="1" hangingPunct="1">
              <a:lnSpc>
                <a:spcPct val="120000"/>
              </a:lnSpc>
              <a:spcBef>
                <a:spcPts val="450"/>
              </a:spcBef>
              <a:spcAft>
                <a:spcPts val="900"/>
              </a:spcAft>
            </a:pPr>
            <a:r>
              <a:rPr lang="en-US" sz="1600" dirty="0">
                <a:solidFill>
                  <a:srgbClr val="000000"/>
                </a:solidFill>
                <a:latin typeface="+mn-lt"/>
                <a:ea typeface="Verdana" panose="020B0604030504040204" pitchFamily="34" charset="0"/>
              </a:rPr>
              <a:t>Difference in </a:t>
            </a:r>
            <a:r>
              <a:rPr lang="en-US" sz="1600" dirty="0">
                <a:solidFill>
                  <a:srgbClr val="7030A0"/>
                </a:solidFill>
                <a:latin typeface="+mn-lt"/>
                <a:ea typeface="Verdana" panose="020B0604030504040204" pitchFamily="34" charset="0"/>
              </a:rPr>
              <a:t>proportions (percent)</a:t>
            </a:r>
            <a:r>
              <a:rPr lang="en-US" sz="1600" dirty="0">
                <a:solidFill>
                  <a:srgbClr val="000000"/>
                </a:solidFill>
                <a:latin typeface="+mn-lt"/>
                <a:ea typeface="Verdana" panose="020B0604030504040204" pitchFamily="34" charset="0"/>
              </a:rPr>
              <a:t> =  </a:t>
            </a:r>
            <a:r>
              <a:rPr lang="en-US" sz="1600" dirty="0">
                <a:solidFill>
                  <a:srgbClr val="7030A0"/>
                </a:solidFill>
                <a:latin typeface="+mn-lt"/>
                <a:ea typeface="Verdana" panose="020B0604030504040204" pitchFamily="34" charset="0"/>
              </a:rPr>
              <a:t>17 percentage points</a:t>
            </a:r>
            <a:r>
              <a:rPr lang="en-US" sz="1600" dirty="0">
                <a:solidFill>
                  <a:srgbClr val="000000"/>
                </a:solidFill>
                <a:latin typeface="+mn-lt"/>
                <a:ea typeface="Verdana" panose="020B0604030504040204" pitchFamily="34" charset="0"/>
              </a:rPr>
              <a:t>	with a 95% Confidence interval of (</a:t>
            </a:r>
            <a:r>
              <a:rPr lang="en-US" sz="1600" dirty="0">
                <a:solidFill>
                  <a:srgbClr val="7030A0"/>
                </a:solidFill>
                <a:latin typeface="+mn-lt"/>
                <a:ea typeface="Verdana" panose="020B0604030504040204" pitchFamily="34" charset="0"/>
              </a:rPr>
              <a:t>11 % ── 22 %) percentage points. </a:t>
            </a:r>
            <a:r>
              <a:rPr lang="en-US" sz="1600" dirty="0">
                <a:solidFill>
                  <a:srgbClr val="000000"/>
                </a:solidFill>
                <a:latin typeface="+mn-lt"/>
                <a:ea typeface="Verdana" panose="020B0604030504040204" pitchFamily="34" charset="0"/>
              </a:rPr>
              <a:t>In addition, each of Fisher’s exact test and Chi-square test results in a p-value &lt;0.0000001</a:t>
            </a:r>
          </a:p>
        </p:txBody>
      </p:sp>
      <p:sp>
        <p:nvSpPr>
          <p:cNvPr id="15" name="Rubrik 1"/>
          <p:cNvSpPr txBox="1">
            <a:spLocks/>
          </p:cNvSpPr>
          <p:nvPr/>
        </p:nvSpPr>
        <p:spPr>
          <a:xfrm>
            <a:off x="1403648" y="105314"/>
            <a:ext cx="5976664" cy="403354"/>
          </a:xfrm>
          <a:prstGeom prst="rect">
            <a:avLst/>
          </a:prstGeom>
          <a:noFill/>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sv-SE" sz="2100" b="1" dirty="0">
                <a:latin typeface="Trebuchet MS" panose="020B0603020202020204" pitchFamily="34" charset="0"/>
              </a:rPr>
              <a:t>Relationship </a:t>
            </a:r>
            <a:r>
              <a:rPr lang="sv-SE" sz="2100" b="1" dirty="0" err="1">
                <a:latin typeface="Trebuchet MS" panose="020B0603020202020204" pitchFamily="34" charset="0"/>
              </a:rPr>
              <a:t>between</a:t>
            </a:r>
            <a:r>
              <a:rPr lang="sv-SE" sz="2100" b="1" dirty="0">
                <a:latin typeface="Trebuchet MS" panose="020B0603020202020204" pitchFamily="34" charset="0"/>
              </a:rPr>
              <a:t> </a:t>
            </a:r>
            <a:r>
              <a:rPr lang="sv-SE" sz="2100" b="1" dirty="0" err="1">
                <a:latin typeface="Trebuchet MS" panose="020B0603020202020204" pitchFamily="34" charset="0"/>
              </a:rPr>
              <a:t>Categorical</a:t>
            </a:r>
            <a:r>
              <a:rPr lang="sv-SE" sz="2100" b="1" dirty="0">
                <a:latin typeface="Trebuchet MS" panose="020B0603020202020204" pitchFamily="34" charset="0"/>
              </a:rPr>
              <a:t> </a:t>
            </a:r>
            <a:r>
              <a:rPr lang="sv-SE" sz="2100" b="1" dirty="0" err="1">
                <a:latin typeface="Trebuchet MS" panose="020B0603020202020204" pitchFamily="34" charset="0"/>
              </a:rPr>
              <a:t>variables</a:t>
            </a:r>
            <a:endParaRPr lang="en-US" sz="2100" b="1" dirty="0">
              <a:latin typeface="Trebuchet MS" panose="020B0603020202020204" pitchFamily="34" charset="0"/>
            </a:endParaRPr>
          </a:p>
        </p:txBody>
      </p:sp>
      <p:sp>
        <p:nvSpPr>
          <p:cNvPr id="6" name="TextBox 5">
            <a:extLst>
              <a:ext uri="{FF2B5EF4-FFF2-40B4-BE49-F238E27FC236}">
                <a16:creationId xmlns:a16="http://schemas.microsoft.com/office/drawing/2014/main" id="{40F34B45-5722-4DAA-8560-B26B112DE77A}"/>
              </a:ext>
            </a:extLst>
          </p:cNvPr>
          <p:cNvSpPr txBox="1"/>
          <p:nvPr/>
        </p:nvSpPr>
        <p:spPr>
          <a:xfrm>
            <a:off x="2051720" y="1544068"/>
            <a:ext cx="230425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60 % = 360</a:t>
            </a:r>
            <a:r>
              <a:rPr lang="en-US" sz="1600" dirty="0">
                <a:solidFill>
                  <a:srgbClr val="00B050"/>
                </a:solidFill>
                <a:latin typeface="+mn-lt"/>
              </a:rPr>
              <a:t>        </a:t>
            </a:r>
            <a:endParaRPr lang="en-US" sz="1600" noProof="0" dirty="0">
              <a:latin typeface="+mn-lt"/>
            </a:endParaRPr>
          </a:p>
        </p:txBody>
      </p:sp>
      <p:sp>
        <p:nvSpPr>
          <p:cNvPr id="9" name="TextBox 8">
            <a:extLst>
              <a:ext uri="{FF2B5EF4-FFF2-40B4-BE49-F238E27FC236}">
                <a16:creationId xmlns:a16="http://schemas.microsoft.com/office/drawing/2014/main" id="{3D8EA334-3FE6-4E00-BA9A-78DE2D7E5D64}"/>
              </a:ext>
            </a:extLst>
          </p:cNvPr>
          <p:cNvSpPr txBox="1"/>
          <p:nvPr/>
        </p:nvSpPr>
        <p:spPr>
          <a:xfrm>
            <a:off x="4427985" y="1513116"/>
            <a:ext cx="1944216" cy="338554"/>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40 % = </a:t>
            </a:r>
            <a:r>
              <a:rPr lang="en-US" sz="1600" dirty="0">
                <a:latin typeface="+mn-lt"/>
              </a:rPr>
              <a:t>240</a:t>
            </a:r>
            <a:endParaRPr lang="en-US" sz="1600" noProof="0" dirty="0">
              <a:latin typeface="+mn-lt"/>
            </a:endParaRPr>
          </a:p>
        </p:txBody>
      </p:sp>
      <p:sp>
        <p:nvSpPr>
          <p:cNvPr id="10" name="TextBox 9">
            <a:extLst>
              <a:ext uri="{FF2B5EF4-FFF2-40B4-BE49-F238E27FC236}">
                <a16:creationId xmlns:a16="http://schemas.microsoft.com/office/drawing/2014/main" id="{78BCC085-1555-4A4A-9B28-E41307A4E9A2}"/>
              </a:ext>
            </a:extLst>
          </p:cNvPr>
          <p:cNvSpPr txBox="1"/>
          <p:nvPr/>
        </p:nvSpPr>
        <p:spPr>
          <a:xfrm>
            <a:off x="2123728" y="1801148"/>
            <a:ext cx="2304256" cy="338554"/>
          </a:xfrm>
          <a:prstGeom prst="rect">
            <a:avLst/>
          </a:prstGeom>
          <a:noFill/>
        </p:spPr>
        <p:txBody>
          <a:bodyPr wrap="square" rtlCol="0">
            <a:spAutoFit/>
          </a:bodyPr>
          <a:lstStyle/>
          <a:p>
            <a:pPr algn="r" fontAlgn="auto">
              <a:spcBef>
                <a:spcPts val="0"/>
              </a:spcBef>
              <a:spcAft>
                <a:spcPts val="0"/>
              </a:spcAft>
              <a:defRPr/>
            </a:pPr>
            <a:r>
              <a:rPr lang="en-US" sz="1600" dirty="0">
                <a:solidFill>
                  <a:srgbClr val="7030A0"/>
                </a:solidFill>
                <a:latin typeface="+mn-lt"/>
              </a:rPr>
              <a:t>Observed, 63 % = 380</a:t>
            </a:r>
          </a:p>
        </p:txBody>
      </p:sp>
      <p:sp>
        <p:nvSpPr>
          <p:cNvPr id="11" name="TextBox 10">
            <a:extLst>
              <a:ext uri="{FF2B5EF4-FFF2-40B4-BE49-F238E27FC236}">
                <a16:creationId xmlns:a16="http://schemas.microsoft.com/office/drawing/2014/main" id="{642FD1B4-34ED-4C04-A5CC-7661C6F79913}"/>
              </a:ext>
            </a:extLst>
          </p:cNvPr>
          <p:cNvSpPr txBox="1"/>
          <p:nvPr/>
        </p:nvSpPr>
        <p:spPr>
          <a:xfrm>
            <a:off x="4444308" y="2139702"/>
            <a:ext cx="2016224"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40 % = 160</a:t>
            </a:r>
          </a:p>
        </p:txBody>
      </p:sp>
      <p:sp>
        <p:nvSpPr>
          <p:cNvPr id="12" name="TextBox 11">
            <a:extLst>
              <a:ext uri="{FF2B5EF4-FFF2-40B4-BE49-F238E27FC236}">
                <a16:creationId xmlns:a16="http://schemas.microsoft.com/office/drawing/2014/main" id="{F500A4EE-CED4-4F04-BF33-5D85A94A1933}"/>
              </a:ext>
            </a:extLst>
          </p:cNvPr>
          <p:cNvSpPr txBox="1"/>
          <p:nvPr/>
        </p:nvSpPr>
        <p:spPr>
          <a:xfrm>
            <a:off x="2646084" y="2759479"/>
            <a:ext cx="1836204" cy="3385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60 % females (600)</a:t>
            </a:r>
          </a:p>
        </p:txBody>
      </p:sp>
      <p:sp>
        <p:nvSpPr>
          <p:cNvPr id="13" name="TextBox 12">
            <a:extLst>
              <a:ext uri="{FF2B5EF4-FFF2-40B4-BE49-F238E27FC236}">
                <a16:creationId xmlns:a16="http://schemas.microsoft.com/office/drawing/2014/main" id="{719D2DA4-073D-4711-9C7A-732267269383}"/>
              </a:ext>
            </a:extLst>
          </p:cNvPr>
          <p:cNvSpPr txBox="1"/>
          <p:nvPr/>
        </p:nvSpPr>
        <p:spPr>
          <a:xfrm>
            <a:off x="4898336" y="2714617"/>
            <a:ext cx="1728192" cy="3385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40 % males (400)</a:t>
            </a:r>
          </a:p>
        </p:txBody>
      </p:sp>
      <p:sp>
        <p:nvSpPr>
          <p:cNvPr id="14" name="TextBox 13">
            <a:extLst>
              <a:ext uri="{FF2B5EF4-FFF2-40B4-BE49-F238E27FC236}">
                <a16:creationId xmlns:a16="http://schemas.microsoft.com/office/drawing/2014/main" id="{114E5EF2-95B5-4E61-BF2C-B97A796AF1D0}"/>
              </a:ext>
            </a:extLst>
          </p:cNvPr>
          <p:cNvSpPr txBox="1"/>
          <p:nvPr/>
        </p:nvSpPr>
        <p:spPr>
          <a:xfrm>
            <a:off x="4283968" y="1793758"/>
            <a:ext cx="2304256" cy="338554"/>
          </a:xfrm>
          <a:prstGeom prst="rect">
            <a:avLst/>
          </a:prstGeom>
          <a:noFill/>
        </p:spPr>
        <p:txBody>
          <a:bodyPr wrap="square" rtlCol="0">
            <a:spAutoFit/>
          </a:bodyPr>
          <a:lstStyle/>
          <a:p>
            <a:pPr algn="r" fontAlgn="auto">
              <a:spcBef>
                <a:spcPts val="0"/>
              </a:spcBef>
              <a:spcAft>
                <a:spcPts val="0"/>
              </a:spcAft>
              <a:defRPr/>
            </a:pPr>
            <a:r>
              <a:rPr lang="en-US" sz="1600" dirty="0">
                <a:solidFill>
                  <a:srgbClr val="7030A0"/>
                </a:solidFill>
                <a:latin typeface="+mn-lt"/>
              </a:rPr>
              <a:t>Observed, 37 % = 220</a:t>
            </a:r>
          </a:p>
        </p:txBody>
      </p:sp>
      <p:sp>
        <p:nvSpPr>
          <p:cNvPr id="16" name="TextBox 15">
            <a:extLst>
              <a:ext uri="{FF2B5EF4-FFF2-40B4-BE49-F238E27FC236}">
                <a16:creationId xmlns:a16="http://schemas.microsoft.com/office/drawing/2014/main" id="{AAFC2F00-D20A-4E03-98FB-9D03BB0A63B9}"/>
              </a:ext>
            </a:extLst>
          </p:cNvPr>
          <p:cNvSpPr txBox="1"/>
          <p:nvPr/>
        </p:nvSpPr>
        <p:spPr>
          <a:xfrm>
            <a:off x="2051720" y="2139702"/>
            <a:ext cx="230425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noProof="0" dirty="0">
                <a:latin typeface="+mn-lt"/>
              </a:rPr>
              <a:t>Expected, 60 % = </a:t>
            </a:r>
            <a:r>
              <a:rPr lang="en-US" sz="1600" dirty="0">
                <a:latin typeface="+mn-lt"/>
              </a:rPr>
              <a:t>240</a:t>
            </a:r>
            <a:r>
              <a:rPr lang="en-US" sz="1600" dirty="0">
                <a:solidFill>
                  <a:srgbClr val="00B050"/>
                </a:solidFill>
                <a:latin typeface="+mn-lt"/>
              </a:rPr>
              <a:t>        </a:t>
            </a:r>
            <a:endParaRPr lang="en-US" sz="1600" noProof="0" dirty="0">
              <a:latin typeface="+mn-lt"/>
            </a:endParaRPr>
          </a:p>
        </p:txBody>
      </p:sp>
      <p:sp>
        <p:nvSpPr>
          <p:cNvPr id="17" name="TextBox 16">
            <a:extLst>
              <a:ext uri="{FF2B5EF4-FFF2-40B4-BE49-F238E27FC236}">
                <a16:creationId xmlns:a16="http://schemas.microsoft.com/office/drawing/2014/main" id="{5728CF25-E685-4E8B-BB92-4817BC8A03C1}"/>
              </a:ext>
            </a:extLst>
          </p:cNvPr>
          <p:cNvSpPr txBox="1"/>
          <p:nvPr/>
        </p:nvSpPr>
        <p:spPr>
          <a:xfrm>
            <a:off x="2123728" y="2377212"/>
            <a:ext cx="2304256" cy="338554"/>
          </a:xfrm>
          <a:prstGeom prst="rect">
            <a:avLst/>
          </a:prstGeom>
          <a:noFill/>
        </p:spPr>
        <p:txBody>
          <a:bodyPr wrap="square" rtlCol="0">
            <a:spAutoFit/>
          </a:bodyPr>
          <a:lstStyle/>
          <a:p>
            <a:pPr algn="r" fontAlgn="auto">
              <a:spcBef>
                <a:spcPts val="0"/>
              </a:spcBef>
              <a:spcAft>
                <a:spcPts val="0"/>
              </a:spcAft>
              <a:defRPr/>
            </a:pPr>
            <a:r>
              <a:rPr lang="en-US" sz="1600" dirty="0">
                <a:solidFill>
                  <a:srgbClr val="7030A0"/>
                </a:solidFill>
                <a:latin typeface="+mn-lt"/>
              </a:rPr>
              <a:t>Observed, 80 % = 320</a:t>
            </a:r>
          </a:p>
        </p:txBody>
      </p:sp>
      <p:sp>
        <p:nvSpPr>
          <p:cNvPr id="18" name="TextBox 17">
            <a:extLst>
              <a:ext uri="{FF2B5EF4-FFF2-40B4-BE49-F238E27FC236}">
                <a16:creationId xmlns:a16="http://schemas.microsoft.com/office/drawing/2014/main" id="{6D1CC1C3-4C37-4C32-9096-7D93E31870BC}"/>
              </a:ext>
            </a:extLst>
          </p:cNvPr>
          <p:cNvSpPr txBox="1"/>
          <p:nvPr/>
        </p:nvSpPr>
        <p:spPr>
          <a:xfrm>
            <a:off x="4283968" y="2377212"/>
            <a:ext cx="2304256" cy="338554"/>
          </a:xfrm>
          <a:prstGeom prst="rect">
            <a:avLst/>
          </a:prstGeom>
          <a:noFill/>
        </p:spPr>
        <p:txBody>
          <a:bodyPr wrap="square" rtlCol="0">
            <a:spAutoFit/>
          </a:bodyPr>
          <a:lstStyle/>
          <a:p>
            <a:pPr algn="r" fontAlgn="auto">
              <a:spcBef>
                <a:spcPts val="0"/>
              </a:spcBef>
              <a:spcAft>
                <a:spcPts val="0"/>
              </a:spcAft>
              <a:defRPr/>
            </a:pPr>
            <a:r>
              <a:rPr lang="en-US" sz="1600" dirty="0">
                <a:solidFill>
                  <a:srgbClr val="7030A0"/>
                </a:solidFill>
                <a:latin typeface="+mn-lt"/>
              </a:rPr>
              <a:t>Observed, 20 % = 80</a:t>
            </a:r>
          </a:p>
        </p:txBody>
      </p:sp>
      <p:sp>
        <p:nvSpPr>
          <p:cNvPr id="19" name="TextBox 18">
            <a:extLst>
              <a:ext uri="{FF2B5EF4-FFF2-40B4-BE49-F238E27FC236}">
                <a16:creationId xmlns:a16="http://schemas.microsoft.com/office/drawing/2014/main" id="{623C1F55-DFC3-4A38-82C5-672E808FC45F}"/>
              </a:ext>
            </a:extLst>
          </p:cNvPr>
          <p:cNvSpPr txBox="1"/>
          <p:nvPr/>
        </p:nvSpPr>
        <p:spPr>
          <a:xfrm>
            <a:off x="971600" y="1563638"/>
            <a:ext cx="792088" cy="369332"/>
          </a:xfrm>
          <a:prstGeom prst="rect">
            <a:avLst/>
          </a:prstGeom>
          <a:noFill/>
        </p:spPr>
        <p:txBody>
          <a:bodyPr wrap="square" rtlCol="0">
            <a:spAutoFit/>
          </a:bodyPr>
          <a:lstStyle/>
          <a:p>
            <a:r>
              <a:rPr lang="en-US" sz="1800" b="1" kern="1200" noProof="0" dirty="0">
                <a:solidFill>
                  <a:schemeClr val="lt1"/>
                </a:solidFill>
                <a:latin typeface="+mn-lt"/>
                <a:ea typeface="+mn-ea"/>
                <a:cs typeface="+mn-cs"/>
              </a:rPr>
              <a:t>Spring</a:t>
            </a:r>
            <a:endParaRPr lang="en-US" dirty="0"/>
          </a:p>
        </p:txBody>
      </p:sp>
      <p:sp>
        <p:nvSpPr>
          <p:cNvPr id="22" name="TextBox 21">
            <a:extLst>
              <a:ext uri="{FF2B5EF4-FFF2-40B4-BE49-F238E27FC236}">
                <a16:creationId xmlns:a16="http://schemas.microsoft.com/office/drawing/2014/main" id="{C131C98F-8334-400E-82C5-D8890BA765CB}"/>
              </a:ext>
            </a:extLst>
          </p:cNvPr>
          <p:cNvSpPr txBox="1"/>
          <p:nvPr/>
        </p:nvSpPr>
        <p:spPr>
          <a:xfrm>
            <a:off x="971600" y="2130410"/>
            <a:ext cx="991788" cy="369332"/>
          </a:xfrm>
          <a:prstGeom prst="rect">
            <a:avLst/>
          </a:prstGeom>
          <a:noFill/>
        </p:spPr>
        <p:txBody>
          <a:bodyPr wrap="square" rtlCol="0">
            <a:spAutoFit/>
          </a:bodyPr>
          <a:lstStyle/>
          <a:p>
            <a:r>
              <a:rPr lang="en-US" sz="1800" b="1" kern="1200" noProof="0" dirty="0">
                <a:solidFill>
                  <a:schemeClr val="lt1"/>
                </a:solidFill>
                <a:latin typeface="+mn-lt"/>
                <a:ea typeface="+mn-ea"/>
                <a:cs typeface="+mn-cs"/>
              </a:rPr>
              <a:t>Autumn</a:t>
            </a:r>
            <a:endParaRPr lang="en-US" dirty="0"/>
          </a:p>
        </p:txBody>
      </p:sp>
    </p:spTree>
    <p:extLst>
      <p:ext uri="{BB962C8B-B14F-4D97-AF65-F5344CB8AC3E}">
        <p14:creationId xmlns:p14="http://schemas.microsoft.com/office/powerpoint/2010/main" val="968598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1294"/>
                                        </p:tgtEl>
                                        <p:attrNameLst>
                                          <p:attrName>style.visibility</p:attrName>
                                        </p:attrNameLst>
                                      </p:cBhvr>
                                      <p:to>
                                        <p:strVal val="visible"/>
                                      </p:to>
                                    </p:set>
                                    <p:animEffect transition="in" filter="barn(inVertical)">
                                      <p:cBhvr>
                                        <p:cTn id="27" dur="500"/>
                                        <p:tgtEl>
                                          <p:spTgt spid="11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4" grpId="0"/>
      <p:bldP spid="10" grpId="0"/>
      <p:bldP spid="14" grpId="0"/>
      <p:bldP spid="17" grpId="0"/>
      <p:bldP spid="18"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4" name="textruta 4"/>
          <p:cNvSpPr txBox="1">
            <a:spLocks noChangeArrowheads="1"/>
          </p:cNvSpPr>
          <p:nvPr/>
        </p:nvSpPr>
        <p:spPr bwMode="auto">
          <a:xfrm>
            <a:off x="899592" y="951570"/>
            <a:ext cx="6906018" cy="3122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ts val="450"/>
              </a:spcBef>
              <a:spcAft>
                <a:spcPts val="900"/>
              </a:spcAft>
            </a:pPr>
            <a:r>
              <a:rPr lang="en-US" dirty="0">
                <a:solidFill>
                  <a:srgbClr val="000000"/>
                </a:solidFill>
                <a:latin typeface="+mn-lt"/>
                <a:ea typeface="Verdana" panose="020B0604030504040204" pitchFamily="34" charset="0"/>
              </a:rPr>
              <a:t>Clinical trial regarding the number of antibiotic doses to treat infection</a:t>
            </a:r>
          </a:p>
          <a:p>
            <a:pPr eaLnBrk="1" hangingPunct="1">
              <a:spcBef>
                <a:spcPts val="450"/>
              </a:spcBef>
              <a:spcAft>
                <a:spcPts val="900"/>
              </a:spcAft>
            </a:pPr>
            <a:r>
              <a:rPr lang="en-US" dirty="0">
                <a:solidFill>
                  <a:srgbClr val="000000"/>
                </a:solidFill>
                <a:latin typeface="+mn-lt"/>
                <a:ea typeface="Verdana" panose="020B0604030504040204" pitchFamily="34" charset="0"/>
              </a:rPr>
              <a:t>Two groups of patients:</a:t>
            </a:r>
          </a:p>
          <a:p>
            <a:pPr eaLnBrk="1" hangingPunct="1">
              <a:spcBef>
                <a:spcPts val="450"/>
              </a:spcBef>
              <a:spcAft>
                <a:spcPts val="900"/>
              </a:spcAft>
            </a:pPr>
            <a:r>
              <a:rPr lang="en-US" dirty="0">
                <a:solidFill>
                  <a:srgbClr val="000000"/>
                </a:solidFill>
                <a:latin typeface="+mn-lt"/>
                <a:ea typeface="Verdana" panose="020B0604030504040204" pitchFamily="34" charset="0"/>
              </a:rPr>
              <a:t>	Group 1: given only 1 dose of antibiotics</a:t>
            </a:r>
          </a:p>
          <a:p>
            <a:pPr eaLnBrk="1" hangingPunct="1">
              <a:spcBef>
                <a:spcPts val="450"/>
              </a:spcBef>
              <a:spcAft>
                <a:spcPts val="900"/>
              </a:spcAft>
            </a:pPr>
            <a:r>
              <a:rPr lang="en-US" dirty="0">
                <a:solidFill>
                  <a:srgbClr val="000000"/>
                </a:solidFill>
                <a:latin typeface="+mn-lt"/>
                <a:ea typeface="Verdana" panose="020B0604030504040204" pitchFamily="34" charset="0"/>
              </a:rPr>
              <a:t>	Group 2: multiple doses of antibiotics</a:t>
            </a:r>
          </a:p>
          <a:p>
            <a:pPr eaLnBrk="1" hangingPunct="1">
              <a:lnSpc>
                <a:spcPct val="150000"/>
              </a:lnSpc>
              <a:spcBef>
                <a:spcPts val="450"/>
              </a:spcBef>
              <a:spcAft>
                <a:spcPts val="900"/>
              </a:spcAft>
            </a:pPr>
            <a:r>
              <a:rPr lang="en-US" b="1" dirty="0">
                <a:solidFill>
                  <a:srgbClr val="000000"/>
                </a:solidFill>
                <a:latin typeface="+mn-lt"/>
                <a:ea typeface="Verdana" panose="020B0604030504040204" pitchFamily="34" charset="0"/>
              </a:rPr>
              <a:t>Question</a:t>
            </a:r>
            <a:r>
              <a:rPr lang="en-US" dirty="0">
                <a:solidFill>
                  <a:srgbClr val="000000"/>
                </a:solidFill>
                <a:latin typeface="+mn-lt"/>
                <a:ea typeface="Verdana" panose="020B0604030504040204" pitchFamily="34" charset="0"/>
              </a:rPr>
              <a:t>: What evidence does this study give for a relationship between </a:t>
            </a:r>
            <a:r>
              <a:rPr lang="en-US" b="1" dirty="0">
                <a:solidFill>
                  <a:srgbClr val="000000"/>
                </a:solidFill>
                <a:latin typeface="+mn-lt"/>
                <a:ea typeface="Verdana" panose="020B0604030504040204" pitchFamily="34" charset="0"/>
              </a:rPr>
              <a:t>number of doses of antibiotics </a:t>
            </a:r>
            <a:r>
              <a:rPr lang="en-US" dirty="0">
                <a:solidFill>
                  <a:srgbClr val="000000"/>
                </a:solidFill>
                <a:latin typeface="+mn-lt"/>
                <a:ea typeface="Verdana" panose="020B0604030504040204" pitchFamily="34" charset="0"/>
              </a:rPr>
              <a:t>and </a:t>
            </a:r>
            <a:r>
              <a:rPr lang="en-US" b="1" dirty="0">
                <a:solidFill>
                  <a:srgbClr val="000000"/>
                </a:solidFill>
                <a:latin typeface="+mn-lt"/>
                <a:ea typeface="Verdana" panose="020B0604030504040204" pitchFamily="34" charset="0"/>
              </a:rPr>
              <a:t>status</a:t>
            </a:r>
            <a:r>
              <a:rPr lang="en-US" dirty="0">
                <a:solidFill>
                  <a:srgbClr val="000000"/>
                </a:solidFill>
                <a:latin typeface="+mn-lt"/>
                <a:ea typeface="Verdana" panose="020B0604030504040204" pitchFamily="34" charset="0"/>
              </a:rPr>
              <a:t> of urine culture at </a:t>
            </a:r>
            <a:r>
              <a:rPr lang="en-US" b="1" dirty="0">
                <a:solidFill>
                  <a:srgbClr val="000000"/>
                </a:solidFill>
                <a:latin typeface="+mn-lt"/>
                <a:ea typeface="Verdana" panose="020B0604030504040204" pitchFamily="34" charset="0"/>
              </a:rPr>
              <a:t>follow-up</a:t>
            </a:r>
            <a:r>
              <a:rPr lang="en-US" dirty="0">
                <a:solidFill>
                  <a:srgbClr val="000000"/>
                </a:solidFill>
                <a:latin typeface="+mn-lt"/>
                <a:ea typeface="Verdana" panose="020B0604030504040204" pitchFamily="34" charset="0"/>
              </a:rPr>
              <a:t>?</a:t>
            </a:r>
          </a:p>
        </p:txBody>
      </p:sp>
      <p:sp>
        <p:nvSpPr>
          <p:cNvPr id="2" name="Platshållare för bildnummer 1"/>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106</a:t>
            </a:fld>
            <a:endParaRPr lang="sv-SE">
              <a:solidFill>
                <a:srgbClr val="000000">
                  <a:tint val="75000"/>
                </a:srgbClr>
              </a:solidFill>
            </a:endParaRPr>
          </a:p>
        </p:txBody>
      </p:sp>
      <p:sp>
        <p:nvSpPr>
          <p:cNvPr id="5" name="Rubrik 1"/>
          <p:cNvSpPr txBox="1">
            <a:spLocks/>
          </p:cNvSpPr>
          <p:nvPr/>
        </p:nvSpPr>
        <p:spPr>
          <a:xfrm>
            <a:off x="1324890" y="148888"/>
            <a:ext cx="7207550" cy="532652"/>
          </a:xfrm>
          <a:prstGeom prst="rect">
            <a:avLst/>
          </a:prstGeom>
          <a:noFill/>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b="1" dirty="0"/>
              <a:t>Example: Urinary tract infection</a:t>
            </a:r>
          </a:p>
        </p:txBody>
      </p:sp>
    </p:spTree>
    <p:extLst>
      <p:ext uri="{BB962C8B-B14F-4D97-AF65-F5344CB8AC3E}">
        <p14:creationId xmlns:p14="http://schemas.microsoft.com/office/powerpoint/2010/main" val="199583246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Platshållare för innehåll 3"/>
          <p:cNvGraphicFramePr>
            <a:graphicFrameLocks noGrp="1"/>
          </p:cNvGraphicFramePr>
          <p:nvPr>
            <p:ph idx="1"/>
            <p:extLst>
              <p:ext uri="{D42A27DB-BD31-4B8C-83A1-F6EECF244321}">
                <p14:modId xmlns:p14="http://schemas.microsoft.com/office/powerpoint/2010/main" val="1224004624"/>
              </p:ext>
            </p:extLst>
          </p:nvPr>
        </p:nvGraphicFramePr>
        <p:xfrm>
          <a:off x="971600" y="330900"/>
          <a:ext cx="7207550" cy="2411084"/>
        </p:xfrm>
        <a:graphic>
          <a:graphicData uri="http://schemas.openxmlformats.org/drawingml/2006/table">
            <a:tbl>
              <a:tblPr firstRow="1" bandRow="1">
                <a:tableStyleId>{5C22544A-7EE6-4342-B048-85BDC9FD1C3A}</a:tableStyleId>
              </a:tblPr>
              <a:tblGrid>
                <a:gridCol w="2435022">
                  <a:extLst>
                    <a:ext uri="{9D8B030D-6E8A-4147-A177-3AD203B41FA5}">
                      <a16:colId xmlns:a16="http://schemas.microsoft.com/office/drawing/2014/main" val="20000"/>
                    </a:ext>
                  </a:extLst>
                </a:gridCol>
                <a:gridCol w="1741442">
                  <a:extLst>
                    <a:ext uri="{9D8B030D-6E8A-4147-A177-3AD203B41FA5}">
                      <a16:colId xmlns:a16="http://schemas.microsoft.com/office/drawing/2014/main" val="20001"/>
                    </a:ext>
                  </a:extLst>
                </a:gridCol>
                <a:gridCol w="1638246">
                  <a:extLst>
                    <a:ext uri="{9D8B030D-6E8A-4147-A177-3AD203B41FA5}">
                      <a16:colId xmlns:a16="http://schemas.microsoft.com/office/drawing/2014/main" val="20002"/>
                    </a:ext>
                  </a:extLst>
                </a:gridCol>
                <a:gridCol w="1392840">
                  <a:extLst>
                    <a:ext uri="{9D8B030D-6E8A-4147-A177-3AD203B41FA5}">
                      <a16:colId xmlns:a16="http://schemas.microsoft.com/office/drawing/2014/main" val="20003"/>
                    </a:ext>
                  </a:extLst>
                </a:gridCol>
              </a:tblGrid>
              <a:tr h="617190">
                <a:tc>
                  <a:txBody>
                    <a:bodyPr/>
                    <a:lstStyle/>
                    <a:p>
                      <a:pPr marL="0" algn="l" defTabSz="457200" rtl="0" eaLnBrk="1" latinLnBrk="0" hangingPunct="1"/>
                      <a:endParaRPr lang="en-US" sz="1800" b="1" kern="1200" noProof="0" dirty="0">
                        <a:solidFill>
                          <a:schemeClr val="lt1"/>
                        </a:solidFill>
                        <a:latin typeface="+mn-lt"/>
                        <a:ea typeface="+mn-ea"/>
                        <a:cs typeface="+mn-cs"/>
                      </a:endParaRPr>
                    </a:p>
                  </a:txBody>
                  <a:tcPr marL="68580" marR="68580" marT="34275" marB="34275">
                    <a:solidFill>
                      <a:schemeClr val="accent1">
                        <a:lumMod val="75000"/>
                      </a:schemeClr>
                    </a:solidFill>
                  </a:tcPr>
                </a:tc>
                <a:tc gridSpan="2">
                  <a:txBody>
                    <a:bodyPr/>
                    <a:lstStyle/>
                    <a:p>
                      <a:pPr algn="ctr"/>
                      <a:r>
                        <a:rPr lang="en-US" b="1" dirty="0">
                          <a:solidFill>
                            <a:schemeClr val="bg1"/>
                          </a:solidFill>
                          <a:latin typeface="+mn-lt"/>
                          <a:ea typeface="Verdana" panose="020B0604030504040204" pitchFamily="34" charset="0"/>
                        </a:rPr>
                        <a:t>Status</a:t>
                      </a:r>
                      <a:r>
                        <a:rPr lang="en-US" dirty="0">
                          <a:solidFill>
                            <a:schemeClr val="bg1"/>
                          </a:solidFill>
                          <a:latin typeface="+mn-lt"/>
                          <a:ea typeface="Verdana" panose="020B0604030504040204" pitchFamily="34" charset="0"/>
                        </a:rPr>
                        <a:t> of urine culture at </a:t>
                      </a:r>
                    </a:p>
                    <a:p>
                      <a:pPr algn="ctr"/>
                      <a:r>
                        <a:rPr lang="en-US" b="1" dirty="0">
                          <a:solidFill>
                            <a:schemeClr val="bg1"/>
                          </a:solidFill>
                          <a:latin typeface="+mn-lt"/>
                          <a:ea typeface="Verdana" panose="020B0604030504040204" pitchFamily="34" charset="0"/>
                        </a:rPr>
                        <a:t>follow-up</a:t>
                      </a:r>
                      <a:endParaRPr lang="en-US" sz="1800" b="1" noProof="0" dirty="0">
                        <a:solidFill>
                          <a:schemeClr val="bg1"/>
                        </a:solidFill>
                      </a:endParaRPr>
                    </a:p>
                  </a:txBody>
                  <a:tcPr marL="68580" marR="68580" marT="34275" marB="34275"/>
                </a:tc>
                <a:tc hMerge="1">
                  <a:txBody>
                    <a:bodyPr/>
                    <a:lstStyle/>
                    <a:p>
                      <a:endParaRPr lang="en-US" sz="1800" b="1" noProof="0" dirty="0"/>
                    </a:p>
                  </a:txBody>
                  <a:tcPr marL="68580" marR="68580" marT="34275" marB="34275"/>
                </a:tc>
                <a:tc>
                  <a:txBody>
                    <a:bodyPr/>
                    <a:lstStyle/>
                    <a:p>
                      <a:pPr algn="ctr"/>
                      <a:endParaRPr lang="en-US" sz="1800" b="1" noProof="0" dirty="0"/>
                    </a:p>
                  </a:txBody>
                  <a:tcPr marL="68580" marR="68580" marT="34275" marB="34275"/>
                </a:tc>
                <a:extLst>
                  <a:ext uri="{0D108BD9-81ED-4DB2-BD59-A6C34878D82A}">
                    <a16:rowId xmlns:a16="http://schemas.microsoft.com/office/drawing/2014/main" val="1811747481"/>
                  </a:ext>
                </a:extLst>
              </a:tr>
              <a:tr h="399524">
                <a:tc>
                  <a:txBody>
                    <a:bodyPr/>
                    <a:lstStyle/>
                    <a:p>
                      <a:pPr marL="0" algn="l" defTabSz="457200" rtl="0" eaLnBrk="1" latinLnBrk="0" hangingPunct="1"/>
                      <a:r>
                        <a:rPr lang="en-US" sz="1800" b="1" kern="1200" noProof="0" dirty="0">
                          <a:solidFill>
                            <a:schemeClr val="lt1"/>
                          </a:solidFill>
                          <a:latin typeface="+mn-lt"/>
                          <a:ea typeface="+mn-ea"/>
                          <a:cs typeface="+mn-cs"/>
                        </a:rPr>
                        <a:t>Groups </a:t>
                      </a:r>
                    </a:p>
                  </a:txBody>
                  <a:tcPr marL="68580" marR="68580" marT="34275" marB="34275">
                    <a:solidFill>
                      <a:schemeClr val="accent1">
                        <a:lumMod val="75000"/>
                      </a:schemeClr>
                    </a:solidFill>
                  </a:tcPr>
                </a:tc>
                <a:tc>
                  <a:txBody>
                    <a:bodyPr/>
                    <a:lstStyle/>
                    <a:p>
                      <a:r>
                        <a:rPr lang="en-US" sz="1800" b="1" noProof="0" dirty="0"/>
                        <a:t>Positive n (%)</a:t>
                      </a:r>
                    </a:p>
                  </a:txBody>
                  <a:tcPr marL="68580" marR="68580" marT="34275" marB="34275"/>
                </a:tc>
                <a:tc>
                  <a:txBody>
                    <a:bodyPr/>
                    <a:lstStyle/>
                    <a:p>
                      <a:r>
                        <a:rPr lang="en-US" sz="1800" b="1" noProof="0" dirty="0"/>
                        <a:t>Negative n (%)</a:t>
                      </a:r>
                    </a:p>
                  </a:txBody>
                  <a:tcPr marL="68580" marR="68580" marT="34275" marB="34275"/>
                </a:tc>
                <a:tc>
                  <a:txBody>
                    <a:bodyPr/>
                    <a:lstStyle/>
                    <a:p>
                      <a:pPr algn="ctr"/>
                      <a:r>
                        <a:rPr lang="en-US" sz="1800" b="1" noProof="0" dirty="0"/>
                        <a:t>Total</a:t>
                      </a:r>
                    </a:p>
                  </a:txBody>
                  <a:tcPr marL="68580" marR="68580" marT="34275" marB="34275"/>
                </a:tc>
                <a:extLst>
                  <a:ext uri="{0D108BD9-81ED-4DB2-BD59-A6C34878D82A}">
                    <a16:rowId xmlns:a16="http://schemas.microsoft.com/office/drawing/2014/main" val="10000"/>
                  </a:ext>
                </a:extLst>
              </a:tr>
              <a:tr h="441616">
                <a:tc>
                  <a:txBody>
                    <a:bodyPr/>
                    <a:lstStyle/>
                    <a:p>
                      <a:pPr marL="0" algn="l" defTabSz="457200" rtl="0" eaLnBrk="1" latinLnBrk="0" hangingPunct="1"/>
                      <a:r>
                        <a:rPr lang="en-US" sz="1800" b="1" kern="1200" noProof="0" dirty="0">
                          <a:solidFill>
                            <a:schemeClr val="lt1"/>
                          </a:solidFill>
                          <a:latin typeface="+mn-lt"/>
                          <a:ea typeface="+mn-ea"/>
                          <a:cs typeface="+mn-cs"/>
                        </a:rPr>
                        <a:t>Single dose</a:t>
                      </a:r>
                    </a:p>
                  </a:txBody>
                  <a:tcPr marL="68580" marR="68580" marT="34275" marB="34275">
                    <a:solidFill>
                      <a:schemeClr val="accent1">
                        <a:lumMod val="75000"/>
                      </a:schemeClr>
                    </a:solidFill>
                  </a:tcPr>
                </a:tc>
                <a:tc>
                  <a:txBody>
                    <a:bodyPr/>
                    <a:lstStyle/>
                    <a:p>
                      <a:pPr algn="l"/>
                      <a:r>
                        <a:rPr lang="en-US" sz="1500" b="1" baseline="0" noProof="0" dirty="0">
                          <a:solidFill>
                            <a:schemeClr val="accent3"/>
                          </a:solidFill>
                        </a:rPr>
                        <a:t>E = 7</a:t>
                      </a:r>
                      <a:r>
                        <a:rPr lang="en-US" sz="1500" b="1" baseline="0" noProof="0" dirty="0"/>
                        <a:t>    </a:t>
                      </a:r>
                    </a:p>
                    <a:p>
                      <a:pPr algn="l"/>
                      <a:r>
                        <a:rPr lang="en-US" sz="1500" b="1" baseline="0" noProof="0" dirty="0"/>
                        <a:t>O = 8 (24 %)</a:t>
                      </a:r>
                    </a:p>
                  </a:txBody>
                  <a:tcPr marL="68580" marR="68580" marT="34275" marB="34275"/>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500" b="1" noProof="0" dirty="0">
                          <a:solidFill>
                            <a:schemeClr val="accent3"/>
                          </a:solidFill>
                        </a:rPr>
                        <a:t>E = 26</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500" b="1" noProof="0" dirty="0"/>
                        <a:t>O = 25 (76%)</a:t>
                      </a:r>
                    </a:p>
                  </a:txBody>
                  <a:tcPr marL="68580" marR="68580" marT="34275" marB="34275"/>
                </a:tc>
                <a:tc>
                  <a:txBody>
                    <a:bodyPr/>
                    <a:lstStyle/>
                    <a:p>
                      <a:pPr algn="ctr"/>
                      <a:r>
                        <a:rPr lang="en-US" sz="1500" b="1" noProof="0" dirty="0"/>
                        <a:t>33 (100%)</a:t>
                      </a:r>
                    </a:p>
                  </a:txBody>
                  <a:tcPr marL="68580" marR="68580" marT="34275" marB="34275"/>
                </a:tc>
                <a:extLst>
                  <a:ext uri="{0D108BD9-81ED-4DB2-BD59-A6C34878D82A}">
                    <a16:rowId xmlns:a16="http://schemas.microsoft.com/office/drawing/2014/main" val="10001"/>
                  </a:ext>
                </a:extLst>
              </a:tr>
              <a:tr h="441616">
                <a:tc>
                  <a:txBody>
                    <a:bodyPr/>
                    <a:lstStyle/>
                    <a:p>
                      <a:pPr marL="0" algn="l" defTabSz="457200" rtl="0" eaLnBrk="1" latinLnBrk="0" hangingPunct="1"/>
                      <a:r>
                        <a:rPr lang="en-US" sz="1800" b="1" kern="1200" noProof="0" dirty="0">
                          <a:solidFill>
                            <a:schemeClr val="lt1"/>
                          </a:solidFill>
                          <a:latin typeface="+mn-lt"/>
                          <a:ea typeface="+mn-ea"/>
                          <a:cs typeface="+mn-cs"/>
                        </a:rPr>
                        <a:t>Multiple dose</a:t>
                      </a:r>
                    </a:p>
                  </a:txBody>
                  <a:tcPr marL="68580" marR="68580" marT="34275" marB="34275">
                    <a:solidFill>
                      <a:schemeClr val="accent1">
                        <a:lumMod val="7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500" b="1" noProof="0" dirty="0">
                          <a:solidFill>
                            <a:schemeClr val="accent3"/>
                          </a:solidFill>
                        </a:rPr>
                        <a:t>E = 8</a:t>
                      </a:r>
                      <a:r>
                        <a:rPr lang="en-US" sz="1500" b="1" noProof="0" dirty="0"/>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500" b="1" noProof="0" dirty="0"/>
                        <a:t>O = 5 (12 %)</a:t>
                      </a:r>
                    </a:p>
                  </a:txBody>
                  <a:tcPr marL="68580" marR="68580" marT="34275" marB="34275"/>
                </a:tc>
                <a:tc>
                  <a:txBody>
                    <a:bodyPr/>
                    <a:lstStyle/>
                    <a:p>
                      <a:pPr algn="l"/>
                      <a:r>
                        <a:rPr lang="en-US" sz="1500" b="1" noProof="0" dirty="0">
                          <a:solidFill>
                            <a:schemeClr val="accent3"/>
                          </a:solidFill>
                        </a:rPr>
                        <a:t>E=32</a:t>
                      </a:r>
                    </a:p>
                    <a:p>
                      <a:pPr algn="l"/>
                      <a:r>
                        <a:rPr lang="en-US" sz="1500" b="1" noProof="0" dirty="0"/>
                        <a:t>O = 35 (88%)</a:t>
                      </a:r>
                    </a:p>
                  </a:txBody>
                  <a:tcPr marL="68580" marR="68580" marT="34275" marB="34275"/>
                </a:tc>
                <a:tc>
                  <a:txBody>
                    <a:bodyPr/>
                    <a:lstStyle/>
                    <a:p>
                      <a:pPr algn="ctr"/>
                      <a:r>
                        <a:rPr lang="en-US" sz="1500" b="1" noProof="0" dirty="0"/>
                        <a:t>40 (100%)</a:t>
                      </a:r>
                    </a:p>
                  </a:txBody>
                  <a:tcPr marL="68580" marR="68580" marT="34275" marB="34275"/>
                </a:tc>
                <a:extLst>
                  <a:ext uri="{0D108BD9-81ED-4DB2-BD59-A6C34878D82A}">
                    <a16:rowId xmlns:a16="http://schemas.microsoft.com/office/drawing/2014/main" val="10002"/>
                  </a:ext>
                </a:extLst>
              </a:tr>
              <a:tr h="342870">
                <a:tc>
                  <a:txBody>
                    <a:bodyPr/>
                    <a:lstStyle/>
                    <a:p>
                      <a:pPr marL="0" algn="l" defTabSz="457200" rtl="0" eaLnBrk="1" latinLnBrk="0" hangingPunct="1"/>
                      <a:r>
                        <a:rPr lang="en-US" sz="1800" b="1" kern="1200" noProof="0" dirty="0">
                          <a:solidFill>
                            <a:schemeClr val="lt1"/>
                          </a:solidFill>
                          <a:latin typeface="+mn-lt"/>
                          <a:ea typeface="+mn-ea"/>
                          <a:cs typeface="+mn-cs"/>
                        </a:rPr>
                        <a:t>Total, n(%)</a:t>
                      </a:r>
                    </a:p>
                  </a:txBody>
                  <a:tcPr marL="68580" marR="68580" marT="34275" marB="34275">
                    <a:solidFill>
                      <a:schemeClr val="accent1">
                        <a:lumMod val="75000"/>
                      </a:schemeClr>
                    </a:solidFill>
                  </a:tcPr>
                </a:tc>
                <a:tc>
                  <a:txBody>
                    <a:bodyPr/>
                    <a:lstStyle/>
                    <a:p>
                      <a:pPr algn="r"/>
                      <a:r>
                        <a:rPr lang="en-US" sz="1500" b="1" noProof="0" dirty="0"/>
                        <a:t>    13 (18%) </a:t>
                      </a:r>
                    </a:p>
                  </a:txBody>
                  <a:tcPr marL="68580" marR="68580" marT="34275" marB="34275"/>
                </a:tc>
                <a:tc>
                  <a:txBody>
                    <a:bodyPr/>
                    <a:lstStyle/>
                    <a:p>
                      <a:pPr algn="ctr"/>
                      <a:r>
                        <a:rPr lang="en-US" sz="1500" b="1" noProof="0" dirty="0"/>
                        <a:t>60 (82%)</a:t>
                      </a:r>
                    </a:p>
                  </a:txBody>
                  <a:tcPr marL="68580" marR="68580" marT="34275" marB="34275"/>
                </a:tc>
                <a:tc>
                  <a:txBody>
                    <a:bodyPr/>
                    <a:lstStyle/>
                    <a:p>
                      <a:pPr algn="ctr"/>
                      <a:r>
                        <a:rPr lang="en-US" sz="1500" b="1" noProof="0" dirty="0"/>
                        <a:t>73 (100)</a:t>
                      </a:r>
                    </a:p>
                  </a:txBody>
                  <a:tcPr marL="68580" marR="68580" marT="34275" marB="34275"/>
                </a:tc>
                <a:extLst>
                  <a:ext uri="{0D108BD9-81ED-4DB2-BD59-A6C34878D82A}">
                    <a16:rowId xmlns:a16="http://schemas.microsoft.com/office/drawing/2014/main" val="10003"/>
                  </a:ext>
                </a:extLst>
              </a:tr>
            </a:tbl>
          </a:graphicData>
        </a:graphic>
      </p:graphicFrame>
      <p:sp>
        <p:nvSpPr>
          <p:cNvPr id="3" name="Platshållare för bildnummer 2"/>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107</a:t>
            </a:fld>
            <a:endParaRPr lang="sv-SE">
              <a:solidFill>
                <a:srgbClr val="000000">
                  <a:tint val="75000"/>
                </a:srgbClr>
              </a:solidFill>
            </a:endParaRPr>
          </a:p>
        </p:txBody>
      </p:sp>
      <p:sp>
        <p:nvSpPr>
          <p:cNvPr id="11294" name="textruta 4"/>
          <p:cNvSpPr txBox="1">
            <a:spLocks noChangeArrowheads="1"/>
          </p:cNvSpPr>
          <p:nvPr/>
        </p:nvSpPr>
        <p:spPr bwMode="auto">
          <a:xfrm>
            <a:off x="179512" y="2787774"/>
            <a:ext cx="8816568" cy="1756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20000"/>
              </a:lnSpc>
              <a:spcBef>
                <a:spcPts val="450"/>
              </a:spcBef>
              <a:spcAft>
                <a:spcPts val="900"/>
              </a:spcAft>
            </a:pPr>
            <a:r>
              <a:rPr lang="en-US" b="1" dirty="0">
                <a:solidFill>
                  <a:srgbClr val="000000"/>
                </a:solidFill>
                <a:latin typeface="+mn-lt"/>
                <a:ea typeface="Verdana" panose="020B0604030504040204" pitchFamily="34" charset="0"/>
              </a:rPr>
              <a:t>H</a:t>
            </a:r>
            <a:r>
              <a:rPr lang="en-US" b="1" baseline="-25000" dirty="0">
                <a:solidFill>
                  <a:srgbClr val="000000"/>
                </a:solidFill>
                <a:latin typeface="+mn-lt"/>
                <a:ea typeface="Verdana" panose="020B0604030504040204" pitchFamily="34" charset="0"/>
              </a:rPr>
              <a:t>0</a:t>
            </a:r>
            <a:r>
              <a:rPr lang="en-US" dirty="0">
                <a:solidFill>
                  <a:srgbClr val="000000"/>
                </a:solidFill>
                <a:latin typeface="+mn-lt"/>
                <a:ea typeface="Verdana" panose="020B0604030504040204" pitchFamily="34" charset="0"/>
              </a:rPr>
              <a:t>: No relation between </a:t>
            </a:r>
            <a:r>
              <a:rPr lang="en-US" b="1" dirty="0">
                <a:solidFill>
                  <a:srgbClr val="000000"/>
                </a:solidFill>
                <a:latin typeface="+mn-lt"/>
                <a:ea typeface="Verdana" panose="020B0604030504040204" pitchFamily="34" charset="0"/>
              </a:rPr>
              <a:t>Antibiotic doses </a:t>
            </a:r>
            <a:r>
              <a:rPr lang="en-US" dirty="0">
                <a:solidFill>
                  <a:srgbClr val="000000"/>
                </a:solidFill>
                <a:latin typeface="+mn-lt"/>
                <a:ea typeface="Verdana" panose="020B0604030504040204" pitchFamily="34" charset="0"/>
              </a:rPr>
              <a:t>and </a:t>
            </a:r>
            <a:r>
              <a:rPr lang="en-US" b="1" dirty="0">
                <a:solidFill>
                  <a:srgbClr val="000000"/>
                </a:solidFill>
                <a:latin typeface="+mn-lt"/>
                <a:ea typeface="Verdana" panose="020B0604030504040204" pitchFamily="34" charset="0"/>
              </a:rPr>
              <a:t>Positive culture at follow-up</a:t>
            </a:r>
            <a:endParaRPr lang="en-US" dirty="0">
              <a:solidFill>
                <a:srgbClr val="000000"/>
              </a:solidFill>
              <a:latin typeface="+mn-lt"/>
              <a:ea typeface="Verdana" panose="020B0604030504040204" pitchFamily="34" charset="0"/>
            </a:endParaRPr>
          </a:p>
          <a:p>
            <a:pPr eaLnBrk="1" hangingPunct="1">
              <a:lnSpc>
                <a:spcPct val="120000"/>
              </a:lnSpc>
              <a:spcBef>
                <a:spcPts val="450"/>
              </a:spcBef>
              <a:spcAft>
                <a:spcPts val="900"/>
              </a:spcAft>
            </a:pPr>
            <a:r>
              <a:rPr lang="en-US" b="1" dirty="0">
                <a:solidFill>
                  <a:srgbClr val="000000"/>
                </a:solidFill>
                <a:latin typeface="+mn-lt"/>
                <a:ea typeface="Verdana" panose="020B0604030504040204" pitchFamily="34" charset="0"/>
              </a:rPr>
              <a:t>H</a:t>
            </a:r>
            <a:r>
              <a:rPr lang="en-US" b="1" baseline="-25000" dirty="0">
                <a:solidFill>
                  <a:srgbClr val="000000"/>
                </a:solidFill>
                <a:latin typeface="+mn-lt"/>
                <a:ea typeface="Verdana" panose="020B0604030504040204" pitchFamily="34" charset="0"/>
              </a:rPr>
              <a:t>1</a:t>
            </a:r>
            <a:r>
              <a:rPr lang="en-US" dirty="0">
                <a:solidFill>
                  <a:srgbClr val="000000"/>
                </a:solidFill>
                <a:latin typeface="+mn-lt"/>
                <a:ea typeface="Verdana" panose="020B0604030504040204" pitchFamily="34" charset="0"/>
              </a:rPr>
              <a:t>:  There is a relationship between nr of doses and positive culture at follow-up</a:t>
            </a:r>
          </a:p>
          <a:p>
            <a:pPr eaLnBrk="1" hangingPunct="1">
              <a:lnSpc>
                <a:spcPct val="120000"/>
              </a:lnSpc>
              <a:spcBef>
                <a:spcPts val="450"/>
              </a:spcBef>
              <a:spcAft>
                <a:spcPts val="900"/>
              </a:spcAft>
            </a:pPr>
            <a:r>
              <a:rPr lang="en-US" b="1" dirty="0">
                <a:solidFill>
                  <a:srgbClr val="000000"/>
                </a:solidFill>
                <a:latin typeface="+mn-lt"/>
                <a:ea typeface="Verdana" panose="020B0604030504040204" pitchFamily="34" charset="0"/>
              </a:rPr>
              <a:t>Outcome</a:t>
            </a:r>
            <a:r>
              <a:rPr lang="en-US" dirty="0">
                <a:solidFill>
                  <a:srgbClr val="000000"/>
                </a:solidFill>
                <a:latin typeface="+mn-lt"/>
                <a:ea typeface="Verdana" panose="020B0604030504040204" pitchFamily="34" charset="0"/>
              </a:rPr>
              <a:t> is categorical, more specifically binary and the </a:t>
            </a:r>
            <a:r>
              <a:rPr lang="en-US" b="1" dirty="0">
                <a:solidFill>
                  <a:srgbClr val="000000"/>
                </a:solidFill>
                <a:latin typeface="+mn-lt"/>
                <a:ea typeface="Verdana" panose="020B0604030504040204" pitchFamily="34" charset="0"/>
              </a:rPr>
              <a:t>Predictor</a:t>
            </a:r>
            <a:r>
              <a:rPr lang="en-US" dirty="0">
                <a:solidFill>
                  <a:srgbClr val="000000"/>
                </a:solidFill>
                <a:latin typeface="+mn-lt"/>
                <a:ea typeface="Verdana" panose="020B0604030504040204" pitchFamily="34" charset="0"/>
              </a:rPr>
              <a:t> is also categorical. Hence, we can use </a:t>
            </a:r>
            <a:r>
              <a:rPr lang="en-US" b="1" dirty="0">
                <a:solidFill>
                  <a:srgbClr val="002060"/>
                </a:solidFill>
                <a:latin typeface="+mn-lt"/>
                <a:ea typeface="Verdana" panose="020B0604030504040204" pitchFamily="34" charset="0"/>
              </a:rPr>
              <a:t>Fisher’s exact test </a:t>
            </a:r>
            <a:r>
              <a:rPr lang="en-US" dirty="0">
                <a:solidFill>
                  <a:srgbClr val="000000"/>
                </a:solidFill>
                <a:latin typeface="+mn-lt"/>
                <a:ea typeface="Verdana" panose="020B0604030504040204" pitchFamily="34" charset="0"/>
              </a:rPr>
              <a:t>or </a:t>
            </a:r>
            <a:r>
              <a:rPr lang="en-US" b="1" dirty="0">
                <a:solidFill>
                  <a:srgbClr val="000000"/>
                </a:solidFill>
                <a:latin typeface="+mn-lt"/>
                <a:ea typeface="Verdana" panose="020B0604030504040204" pitchFamily="34" charset="0"/>
              </a:rPr>
              <a:t>Chi-square test of association.</a:t>
            </a:r>
            <a:endParaRPr lang="en-US" dirty="0">
              <a:solidFill>
                <a:srgbClr val="000000"/>
              </a:solidFill>
              <a:latin typeface="+mn-lt"/>
              <a:ea typeface="Verdana" panose="020B0604030504040204" pitchFamily="34" charset="0"/>
            </a:endParaRPr>
          </a:p>
        </p:txBody>
      </p:sp>
      <p:sp>
        <p:nvSpPr>
          <p:cNvPr id="10" name="textruta 4">
            <a:extLst>
              <a:ext uri="{FF2B5EF4-FFF2-40B4-BE49-F238E27FC236}">
                <a16:creationId xmlns:a16="http://schemas.microsoft.com/office/drawing/2014/main" id="{3BC6A6E8-D54B-479E-AAFA-4BBB555B365C}"/>
              </a:ext>
            </a:extLst>
          </p:cNvPr>
          <p:cNvSpPr txBox="1">
            <a:spLocks noChangeArrowheads="1"/>
          </p:cNvSpPr>
          <p:nvPr/>
        </p:nvSpPr>
        <p:spPr bwMode="auto">
          <a:xfrm>
            <a:off x="72008" y="2787774"/>
            <a:ext cx="8964488" cy="2091214"/>
          </a:xfrm>
          <a:prstGeom prst="rect">
            <a:avLst/>
          </a:prstGeom>
          <a:solidFill>
            <a:schemeClr val="bg1"/>
          </a:solidFill>
          <a:ln>
            <a:noFill/>
          </a:ln>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20000"/>
              </a:lnSpc>
              <a:spcBef>
                <a:spcPts val="450"/>
              </a:spcBef>
              <a:spcAft>
                <a:spcPts val="900"/>
              </a:spcAft>
            </a:pPr>
            <a:r>
              <a:rPr lang="en-US" dirty="0">
                <a:solidFill>
                  <a:srgbClr val="000000"/>
                </a:solidFill>
                <a:latin typeface="+mn-lt"/>
                <a:ea typeface="Verdana" panose="020B0604030504040204" pitchFamily="34" charset="0"/>
              </a:rPr>
              <a:t>A “</a:t>
            </a:r>
            <a:r>
              <a:rPr lang="en-US" b="1" dirty="0">
                <a:solidFill>
                  <a:srgbClr val="000000"/>
                </a:solidFill>
                <a:latin typeface="+mn-lt"/>
                <a:ea typeface="Verdana" panose="020B0604030504040204" pitchFamily="34" charset="0"/>
              </a:rPr>
              <a:t>small” </a:t>
            </a:r>
            <a:r>
              <a:rPr lang="en-US" dirty="0">
                <a:solidFill>
                  <a:srgbClr val="000000"/>
                </a:solidFill>
                <a:latin typeface="+mn-lt"/>
                <a:ea typeface="Verdana" panose="020B0604030504040204" pitchFamily="34" charset="0"/>
              </a:rPr>
              <a:t>difference between the </a:t>
            </a:r>
            <a:r>
              <a:rPr lang="en-US" b="1" dirty="0">
                <a:solidFill>
                  <a:srgbClr val="000000"/>
                </a:solidFill>
                <a:latin typeface="+mn-lt"/>
                <a:ea typeface="Verdana" panose="020B0604030504040204" pitchFamily="34" charset="0"/>
              </a:rPr>
              <a:t>Expected</a:t>
            </a:r>
            <a:r>
              <a:rPr lang="en-US" dirty="0">
                <a:solidFill>
                  <a:srgbClr val="000000"/>
                </a:solidFill>
                <a:latin typeface="+mn-lt"/>
                <a:ea typeface="Verdana" panose="020B0604030504040204" pitchFamily="34" charset="0"/>
              </a:rPr>
              <a:t> and </a:t>
            </a:r>
            <a:r>
              <a:rPr lang="en-US" b="1" dirty="0">
                <a:solidFill>
                  <a:srgbClr val="7030A0"/>
                </a:solidFill>
                <a:latin typeface="+mn-lt"/>
                <a:ea typeface="Verdana" panose="020B0604030504040204" pitchFamily="34" charset="0"/>
              </a:rPr>
              <a:t>Observed</a:t>
            </a:r>
            <a:r>
              <a:rPr lang="en-US" dirty="0">
                <a:solidFill>
                  <a:srgbClr val="000000"/>
                </a:solidFill>
                <a:latin typeface="+mn-lt"/>
                <a:ea typeface="Verdana" panose="020B0604030504040204" pitchFamily="34" charset="0"/>
              </a:rPr>
              <a:t> frequencies. </a:t>
            </a:r>
          </a:p>
          <a:p>
            <a:pPr eaLnBrk="1" hangingPunct="1">
              <a:lnSpc>
                <a:spcPct val="120000"/>
              </a:lnSpc>
              <a:spcBef>
                <a:spcPts val="450"/>
              </a:spcBef>
              <a:spcAft>
                <a:spcPts val="900"/>
              </a:spcAft>
            </a:pPr>
            <a:r>
              <a:rPr lang="en-US" dirty="0">
                <a:solidFill>
                  <a:srgbClr val="000000"/>
                </a:solidFill>
                <a:latin typeface="+mn-lt"/>
                <a:ea typeface="Verdana" panose="020B0604030504040204" pitchFamily="34" charset="0"/>
              </a:rPr>
              <a:t>Difference in </a:t>
            </a:r>
            <a:r>
              <a:rPr lang="en-US" dirty="0">
                <a:solidFill>
                  <a:srgbClr val="7030A0"/>
                </a:solidFill>
                <a:latin typeface="+mn-lt"/>
                <a:ea typeface="Verdana" panose="020B0604030504040204" pitchFamily="34" charset="0"/>
              </a:rPr>
              <a:t>proportions (percent)</a:t>
            </a:r>
            <a:r>
              <a:rPr lang="en-US" dirty="0">
                <a:solidFill>
                  <a:srgbClr val="000000"/>
                </a:solidFill>
                <a:latin typeface="+mn-lt"/>
                <a:ea typeface="Verdana" panose="020B0604030504040204" pitchFamily="34" charset="0"/>
              </a:rPr>
              <a:t> =  </a:t>
            </a:r>
            <a:r>
              <a:rPr lang="en-US" dirty="0">
                <a:solidFill>
                  <a:srgbClr val="7030A0"/>
                </a:solidFill>
                <a:latin typeface="+mn-lt"/>
                <a:ea typeface="Verdana" panose="020B0604030504040204" pitchFamily="34" charset="0"/>
              </a:rPr>
              <a:t>12 percentage points</a:t>
            </a:r>
            <a:r>
              <a:rPr lang="en-US" dirty="0">
                <a:solidFill>
                  <a:srgbClr val="000000"/>
                </a:solidFill>
                <a:latin typeface="+mn-lt"/>
                <a:ea typeface="Verdana" panose="020B0604030504040204" pitchFamily="34" charset="0"/>
              </a:rPr>
              <a:t>	 with a 95% confidence interval of (</a:t>
            </a:r>
            <a:r>
              <a:rPr lang="en-US" dirty="0">
                <a:solidFill>
                  <a:srgbClr val="7030A0"/>
                </a:solidFill>
                <a:latin typeface="+mn-lt"/>
                <a:ea typeface="Verdana" panose="020B0604030504040204" pitchFamily="34" charset="0"/>
              </a:rPr>
              <a:t>-6 % ── 30 %) percentage points. </a:t>
            </a:r>
          </a:p>
          <a:p>
            <a:pPr eaLnBrk="1" hangingPunct="1">
              <a:lnSpc>
                <a:spcPct val="120000"/>
              </a:lnSpc>
              <a:spcBef>
                <a:spcPts val="450"/>
              </a:spcBef>
              <a:spcAft>
                <a:spcPts val="900"/>
              </a:spcAft>
            </a:pPr>
            <a:r>
              <a:rPr lang="en-US" dirty="0">
                <a:solidFill>
                  <a:srgbClr val="000000"/>
                </a:solidFill>
                <a:latin typeface="+mn-lt"/>
                <a:ea typeface="Verdana" panose="020B0604030504040204" pitchFamily="34" charset="0"/>
              </a:rPr>
              <a:t>In addition, Fisher’s exact test results in a p-value of 0.32. We fail to reject the Null Hypothesis and conclude “No relationship between nr. of antibiotic doses and status of urine ”</a:t>
            </a:r>
          </a:p>
        </p:txBody>
      </p:sp>
    </p:spTree>
    <p:extLst>
      <p:ext uri="{BB962C8B-B14F-4D97-AF65-F5344CB8AC3E}">
        <p14:creationId xmlns:p14="http://schemas.microsoft.com/office/powerpoint/2010/main" val="506774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bildnummer 2"/>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108</a:t>
            </a:fld>
            <a:endParaRPr lang="sv-SE">
              <a:solidFill>
                <a:srgbClr val="000000">
                  <a:tint val="75000"/>
                </a:srgbClr>
              </a:solidFill>
            </a:endParaRPr>
          </a:p>
        </p:txBody>
      </p:sp>
      <p:sp>
        <p:nvSpPr>
          <p:cNvPr id="10" name="textruta 4">
            <a:extLst>
              <a:ext uri="{FF2B5EF4-FFF2-40B4-BE49-F238E27FC236}">
                <a16:creationId xmlns:a16="http://schemas.microsoft.com/office/drawing/2014/main" id="{3BC6A6E8-D54B-479E-AAFA-4BBB555B365C}"/>
              </a:ext>
            </a:extLst>
          </p:cNvPr>
          <p:cNvSpPr txBox="1">
            <a:spLocks noChangeArrowheads="1"/>
          </p:cNvSpPr>
          <p:nvPr/>
        </p:nvSpPr>
        <p:spPr bwMode="auto">
          <a:xfrm>
            <a:off x="117431" y="717280"/>
            <a:ext cx="8964488" cy="3487108"/>
          </a:xfrm>
          <a:prstGeom prst="rect">
            <a:avLst/>
          </a:prstGeom>
          <a:solidFill>
            <a:schemeClr val="bg1"/>
          </a:solidFill>
          <a:ln>
            <a:noFill/>
          </a:ln>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20000"/>
              </a:lnSpc>
              <a:spcBef>
                <a:spcPts val="450"/>
              </a:spcBef>
              <a:spcAft>
                <a:spcPts val="900"/>
              </a:spcAft>
            </a:pPr>
            <a:r>
              <a:rPr lang="en-US" dirty="0">
                <a:solidFill>
                  <a:srgbClr val="000000"/>
                </a:solidFill>
                <a:latin typeface="+mn-lt"/>
                <a:ea typeface="Verdana" panose="020B0604030504040204" pitchFamily="34" charset="0"/>
              </a:rPr>
              <a:t>Difference in </a:t>
            </a:r>
            <a:r>
              <a:rPr lang="en-US" dirty="0">
                <a:solidFill>
                  <a:srgbClr val="7030A0"/>
                </a:solidFill>
                <a:latin typeface="+mn-lt"/>
                <a:ea typeface="Verdana" panose="020B0604030504040204" pitchFamily="34" charset="0"/>
              </a:rPr>
              <a:t>proportions (percent)</a:t>
            </a:r>
            <a:r>
              <a:rPr lang="en-US" dirty="0">
                <a:solidFill>
                  <a:srgbClr val="000000"/>
                </a:solidFill>
                <a:latin typeface="+mn-lt"/>
                <a:ea typeface="Verdana" panose="020B0604030504040204" pitchFamily="34" charset="0"/>
              </a:rPr>
              <a:t> =  </a:t>
            </a:r>
            <a:r>
              <a:rPr lang="en-US" dirty="0">
                <a:solidFill>
                  <a:srgbClr val="7030A0"/>
                </a:solidFill>
                <a:latin typeface="+mn-lt"/>
                <a:ea typeface="Verdana" panose="020B0604030504040204" pitchFamily="34" charset="0"/>
              </a:rPr>
              <a:t>12 percentage points</a:t>
            </a:r>
            <a:r>
              <a:rPr lang="en-US" dirty="0">
                <a:solidFill>
                  <a:srgbClr val="000000"/>
                </a:solidFill>
                <a:latin typeface="+mn-lt"/>
                <a:ea typeface="Verdana" panose="020B0604030504040204" pitchFamily="34" charset="0"/>
              </a:rPr>
              <a:t>	 with a 95% confidence interval of (</a:t>
            </a:r>
            <a:r>
              <a:rPr lang="en-US" dirty="0">
                <a:solidFill>
                  <a:srgbClr val="7030A0"/>
                </a:solidFill>
                <a:latin typeface="+mn-lt"/>
                <a:ea typeface="Verdana" panose="020B0604030504040204" pitchFamily="34" charset="0"/>
              </a:rPr>
              <a:t>-6 % ── 30 %) percentage points. </a:t>
            </a:r>
            <a:r>
              <a:rPr lang="en-US" dirty="0">
                <a:solidFill>
                  <a:srgbClr val="000000"/>
                </a:solidFill>
                <a:latin typeface="+mn-lt"/>
                <a:ea typeface="Verdana" panose="020B0604030504040204" pitchFamily="34" charset="0"/>
              </a:rPr>
              <a:t>In addition, Fisher’s exact test results in a p-value of 0.32. We fail to reject the Null Hypothesis and conclude “No relationship between nr. of antibiotic doses and status of urine ”</a:t>
            </a:r>
          </a:p>
          <a:p>
            <a:pPr algn="ctr" eaLnBrk="1" hangingPunct="1">
              <a:lnSpc>
                <a:spcPct val="120000"/>
              </a:lnSpc>
              <a:spcBef>
                <a:spcPts val="450"/>
              </a:spcBef>
              <a:spcAft>
                <a:spcPts val="900"/>
              </a:spcAft>
            </a:pPr>
            <a:r>
              <a:rPr lang="en-US" sz="2400" dirty="0">
                <a:solidFill>
                  <a:srgbClr val="000000"/>
                </a:solidFill>
                <a:latin typeface="+mn-lt"/>
                <a:ea typeface="Verdana" panose="020B0604030504040204" pitchFamily="34" charset="0"/>
              </a:rPr>
              <a:t>Did we have enough sample size to detect an association?</a:t>
            </a:r>
          </a:p>
          <a:p>
            <a:pPr eaLnBrk="1" hangingPunct="1">
              <a:lnSpc>
                <a:spcPct val="120000"/>
              </a:lnSpc>
              <a:spcBef>
                <a:spcPts val="450"/>
              </a:spcBef>
              <a:spcAft>
                <a:spcPts val="900"/>
              </a:spcAft>
            </a:pPr>
            <a:r>
              <a:rPr lang="en-US" sz="2000" dirty="0">
                <a:solidFill>
                  <a:srgbClr val="000000"/>
                </a:solidFill>
                <a:latin typeface="+mn-lt"/>
                <a:ea typeface="Verdana" panose="020B0604030504040204" pitchFamily="34" charset="0"/>
              </a:rPr>
              <a:t>Single dose(24%) vs Multiple dose (12 %)</a:t>
            </a:r>
            <a:r>
              <a:rPr lang="en-US" sz="2000" dirty="0">
                <a:solidFill>
                  <a:srgbClr val="000000"/>
                </a:solidFill>
                <a:latin typeface="+mn-lt"/>
                <a:ea typeface="Verdana" panose="020B0604030504040204" pitchFamily="34" charset="0"/>
                <a:sym typeface="Wingdings" panose="05000000000000000000" pitchFamily="2" charset="2"/>
              </a:rPr>
              <a:t> Difference between groups = 12%</a:t>
            </a:r>
          </a:p>
          <a:p>
            <a:pPr eaLnBrk="1" hangingPunct="1">
              <a:lnSpc>
                <a:spcPct val="120000"/>
              </a:lnSpc>
              <a:spcBef>
                <a:spcPts val="450"/>
              </a:spcBef>
              <a:spcAft>
                <a:spcPts val="900"/>
              </a:spcAft>
            </a:pPr>
            <a:r>
              <a:rPr lang="en-US" sz="2000" dirty="0">
                <a:solidFill>
                  <a:srgbClr val="000000"/>
                </a:solidFill>
                <a:latin typeface="+mn-lt"/>
                <a:ea typeface="Verdana" panose="020B0604030504040204" pitchFamily="34" charset="0"/>
                <a:sym typeface="Wingdings" panose="05000000000000000000" pitchFamily="2" charset="2"/>
              </a:rPr>
              <a:t>To detect a difference of 12% (</a:t>
            </a:r>
            <a:r>
              <a:rPr lang="en-US" sz="2000" dirty="0">
                <a:solidFill>
                  <a:srgbClr val="000000"/>
                </a:solidFill>
                <a:highlight>
                  <a:srgbClr val="FFFF00"/>
                </a:highlight>
                <a:latin typeface="+mn-lt"/>
                <a:ea typeface="Verdana" panose="020B0604030504040204" pitchFamily="34" charset="0"/>
                <a:sym typeface="Wingdings" panose="05000000000000000000" pitchFamily="2" charset="2"/>
              </a:rPr>
              <a:t>24%</a:t>
            </a:r>
            <a:r>
              <a:rPr lang="en-US" sz="2000" dirty="0">
                <a:solidFill>
                  <a:srgbClr val="000000"/>
                </a:solidFill>
                <a:latin typeface="+mn-lt"/>
                <a:ea typeface="Verdana" panose="020B0604030504040204" pitchFamily="34" charset="0"/>
                <a:sym typeface="Wingdings" panose="05000000000000000000" pitchFamily="2" charset="2"/>
              </a:rPr>
              <a:t> vs. </a:t>
            </a:r>
            <a:r>
              <a:rPr lang="en-US" sz="2000" dirty="0">
                <a:solidFill>
                  <a:srgbClr val="000000"/>
                </a:solidFill>
                <a:highlight>
                  <a:srgbClr val="FFFF00"/>
                </a:highlight>
                <a:latin typeface="+mn-lt"/>
                <a:ea typeface="Verdana" panose="020B0604030504040204" pitchFamily="34" charset="0"/>
                <a:sym typeface="Wingdings" panose="05000000000000000000" pitchFamily="2" charset="2"/>
              </a:rPr>
              <a:t>12%</a:t>
            </a:r>
            <a:r>
              <a:rPr lang="en-US" sz="2000" dirty="0">
                <a:solidFill>
                  <a:srgbClr val="000000"/>
                </a:solidFill>
                <a:latin typeface="+mn-lt"/>
                <a:ea typeface="Verdana" panose="020B0604030504040204" pitchFamily="34" charset="0"/>
                <a:sym typeface="Wingdings" panose="05000000000000000000" pitchFamily="2" charset="2"/>
              </a:rPr>
              <a:t>) with 5% level of significance and 80% power requires 320 individuals (160/group)</a:t>
            </a:r>
            <a:endParaRPr lang="en-US" sz="2000" dirty="0">
              <a:solidFill>
                <a:srgbClr val="000000"/>
              </a:solidFill>
              <a:latin typeface="+mn-lt"/>
              <a:ea typeface="Verdana" panose="020B0604030504040204" pitchFamily="34" charset="0"/>
            </a:endParaRPr>
          </a:p>
        </p:txBody>
      </p:sp>
      <p:sp>
        <p:nvSpPr>
          <p:cNvPr id="8" name="Rubrik 1">
            <a:extLst>
              <a:ext uri="{FF2B5EF4-FFF2-40B4-BE49-F238E27FC236}">
                <a16:creationId xmlns:a16="http://schemas.microsoft.com/office/drawing/2014/main" id="{F42E5499-F670-4214-B737-8BE98796B07E}"/>
              </a:ext>
            </a:extLst>
          </p:cNvPr>
          <p:cNvSpPr txBox="1">
            <a:spLocks/>
          </p:cNvSpPr>
          <p:nvPr/>
        </p:nvSpPr>
        <p:spPr>
          <a:xfrm>
            <a:off x="1324890" y="148888"/>
            <a:ext cx="7207550" cy="532652"/>
          </a:xfrm>
          <a:prstGeom prst="rect">
            <a:avLst/>
          </a:prstGeom>
          <a:noFill/>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b="1" dirty="0"/>
              <a:t>Example: Urinary tract infection</a:t>
            </a:r>
          </a:p>
        </p:txBody>
      </p:sp>
    </p:spTree>
    <p:extLst>
      <p:ext uri="{BB962C8B-B14F-4D97-AF65-F5344CB8AC3E}">
        <p14:creationId xmlns:p14="http://schemas.microsoft.com/office/powerpoint/2010/main" val="2832147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nummer 1"/>
          <p:cNvSpPr>
            <a:spLocks noGrp="1"/>
          </p:cNvSpPr>
          <p:nvPr>
            <p:ph type="sldNum" sz="quarter" idx="12"/>
          </p:nvPr>
        </p:nvSpPr>
        <p:spPr/>
        <p:txBody>
          <a:bodyPr/>
          <a:lstStyle/>
          <a:p>
            <a:pPr>
              <a:defRPr/>
            </a:pPr>
            <a:fld id="{A4261E0D-31A1-4E7D-B429-45B983D058AA}" type="slidenum">
              <a:rPr lang="sv-SE" smtClean="0">
                <a:solidFill>
                  <a:srgbClr val="000000">
                    <a:tint val="75000"/>
                  </a:srgbClr>
                </a:solidFill>
              </a:rPr>
              <a:pPr>
                <a:defRPr/>
              </a:pPr>
              <a:t>109</a:t>
            </a:fld>
            <a:endParaRPr lang="sv-SE" dirty="0">
              <a:solidFill>
                <a:srgbClr val="000000">
                  <a:tint val="75000"/>
                </a:srgbClr>
              </a:solidFill>
            </a:endParaRPr>
          </a:p>
        </p:txBody>
      </p:sp>
      <p:sp>
        <p:nvSpPr>
          <p:cNvPr id="7" name="textruta 6"/>
          <p:cNvSpPr txBox="1">
            <a:spLocks noChangeArrowheads="1"/>
          </p:cNvSpPr>
          <p:nvPr/>
        </p:nvSpPr>
        <p:spPr bwMode="auto">
          <a:xfrm>
            <a:off x="683568" y="897565"/>
            <a:ext cx="8208912" cy="3023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eaLnBrk="1" hangingPunct="1">
              <a:spcBef>
                <a:spcPts val="900"/>
              </a:spcBef>
              <a:buFont typeface="Wingdings" panose="05000000000000000000" pitchFamily="2" charset="2"/>
              <a:buChar char="Ø"/>
            </a:pPr>
            <a:r>
              <a:rPr lang="en-US" sz="2400" dirty="0">
                <a:latin typeface="+mn-lt"/>
                <a:ea typeface="Verdana" panose="020B0604030504040204" pitchFamily="34" charset="0"/>
                <a:cs typeface="Times New Roman" panose="02020603050405020304" pitchFamily="18" charset="0"/>
              </a:rPr>
              <a:t>Investigate importance (association) of one predictor</a:t>
            </a:r>
          </a:p>
          <a:p>
            <a:pPr marL="342900" indent="-342900" eaLnBrk="1" hangingPunct="1">
              <a:spcBef>
                <a:spcPts val="900"/>
              </a:spcBef>
              <a:buFont typeface="Wingdings" panose="05000000000000000000" pitchFamily="2" charset="2"/>
              <a:buChar char="Ø"/>
            </a:pPr>
            <a:r>
              <a:rPr lang="en-US" sz="2400" dirty="0">
                <a:latin typeface="+mn-lt"/>
                <a:ea typeface="Verdana" panose="020B0604030504040204" pitchFamily="34" charset="0"/>
                <a:cs typeface="Times New Roman" panose="02020603050405020304" pitchFamily="18" charset="0"/>
              </a:rPr>
              <a:t>Evaluate the importance of additional variables that may influence the observed association</a:t>
            </a:r>
          </a:p>
          <a:p>
            <a:pPr marL="342900" indent="-342900" eaLnBrk="1" hangingPunct="1">
              <a:spcBef>
                <a:spcPts val="900"/>
              </a:spcBef>
              <a:buFont typeface="Wingdings" panose="05000000000000000000" pitchFamily="2" charset="2"/>
              <a:buChar char="Ø"/>
            </a:pPr>
            <a:r>
              <a:rPr lang="en-US" sz="2400" dirty="0">
                <a:latin typeface="+mn-lt"/>
                <a:ea typeface="Verdana" panose="020B0604030504040204" pitchFamily="34" charset="0"/>
                <a:cs typeface="Times New Roman" panose="02020603050405020304" pitchFamily="18" charset="0"/>
              </a:rPr>
              <a:t>Binary outcome &amp; One quantitative/qualitative predictor </a:t>
            </a:r>
            <a:r>
              <a:rPr lang="en-US" sz="2400" dirty="0">
                <a:latin typeface="+mn-lt"/>
                <a:ea typeface="Verdana" panose="020B0604030504040204" pitchFamily="34" charset="0"/>
                <a:cs typeface="Times New Roman" panose="02020603050405020304" pitchFamily="18" charset="0"/>
                <a:sym typeface="Wingdings" panose="05000000000000000000" pitchFamily="2" charset="2"/>
              </a:rPr>
              <a:t> </a:t>
            </a:r>
            <a:r>
              <a:rPr lang="en-US" sz="2400" b="1" dirty="0">
                <a:solidFill>
                  <a:srgbClr val="002060"/>
                </a:solidFill>
                <a:latin typeface="+mn-lt"/>
                <a:ea typeface="Verdana" panose="020B0604030504040204" pitchFamily="34" charset="0"/>
                <a:cs typeface="Times New Roman" panose="02020603050405020304" pitchFamily="18" charset="0"/>
                <a:sym typeface="Wingdings" panose="05000000000000000000" pitchFamily="2" charset="2"/>
              </a:rPr>
              <a:t>Simple Logistic Regression</a:t>
            </a:r>
            <a:endParaRPr lang="en-US" sz="2400" b="1" dirty="0">
              <a:solidFill>
                <a:srgbClr val="002060"/>
              </a:solidFill>
              <a:latin typeface="+mn-lt"/>
              <a:ea typeface="Verdana" panose="020B0604030504040204" pitchFamily="34" charset="0"/>
              <a:cs typeface="Times New Roman" panose="02020603050405020304" pitchFamily="18" charset="0"/>
            </a:endParaRPr>
          </a:p>
          <a:p>
            <a:pPr marL="342900" indent="-342900" eaLnBrk="1" hangingPunct="1">
              <a:spcBef>
                <a:spcPts val="900"/>
              </a:spcBef>
              <a:buFont typeface="Wingdings" panose="05000000000000000000" pitchFamily="2" charset="2"/>
              <a:buChar char="Ø"/>
            </a:pPr>
            <a:r>
              <a:rPr lang="en-US" sz="2400" dirty="0">
                <a:latin typeface="+mn-lt"/>
                <a:ea typeface="Verdana" panose="020B0604030504040204" pitchFamily="34" charset="0"/>
                <a:cs typeface="Times New Roman" panose="02020603050405020304" pitchFamily="18" charset="0"/>
              </a:rPr>
              <a:t>Binary outcome &amp; multiple predictors (categorical/continuous) </a:t>
            </a:r>
            <a:r>
              <a:rPr lang="en-US" sz="2400" dirty="0">
                <a:latin typeface="+mn-lt"/>
                <a:ea typeface="Verdana" panose="020B0604030504040204" pitchFamily="34" charset="0"/>
                <a:cs typeface="Times New Roman" panose="02020603050405020304" pitchFamily="18" charset="0"/>
                <a:sym typeface="Wingdings" panose="05000000000000000000" pitchFamily="2" charset="2"/>
              </a:rPr>
              <a:t></a:t>
            </a:r>
            <a:r>
              <a:rPr lang="en-US" sz="2400" b="1" dirty="0">
                <a:latin typeface="+mn-lt"/>
                <a:ea typeface="Verdana" panose="020B0604030504040204" pitchFamily="34" charset="0"/>
                <a:cs typeface="Times New Roman" panose="02020603050405020304" pitchFamily="18" charset="0"/>
                <a:sym typeface="Wingdings" panose="05000000000000000000" pitchFamily="2" charset="2"/>
              </a:rPr>
              <a:t> </a:t>
            </a:r>
            <a:r>
              <a:rPr lang="en-US" sz="2400" b="1" dirty="0">
                <a:solidFill>
                  <a:srgbClr val="002060"/>
                </a:solidFill>
                <a:latin typeface="+mn-lt"/>
                <a:ea typeface="Verdana" panose="020B0604030504040204" pitchFamily="34" charset="0"/>
                <a:cs typeface="Times New Roman" panose="02020603050405020304" pitchFamily="18" charset="0"/>
                <a:sym typeface="Wingdings" panose="05000000000000000000" pitchFamily="2" charset="2"/>
              </a:rPr>
              <a:t>Multiple Logistic Regression</a:t>
            </a:r>
            <a:endParaRPr lang="en-US" sz="2400" dirty="0">
              <a:solidFill>
                <a:srgbClr val="002060"/>
              </a:solidFill>
              <a:latin typeface="+mn-lt"/>
              <a:ea typeface="Verdana" panose="020B0604030504040204" pitchFamily="34" charset="0"/>
              <a:cs typeface="Times New Roman" panose="02020603050405020304" pitchFamily="18" charset="0"/>
            </a:endParaRPr>
          </a:p>
        </p:txBody>
      </p:sp>
      <p:sp>
        <p:nvSpPr>
          <p:cNvPr id="5" name="Rubrik 1"/>
          <p:cNvSpPr txBox="1">
            <a:spLocks/>
          </p:cNvSpPr>
          <p:nvPr/>
        </p:nvSpPr>
        <p:spPr bwMode="auto">
          <a:xfrm>
            <a:off x="971600" y="195486"/>
            <a:ext cx="6624736" cy="56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l" defTabSz="457200" rtl="0" eaLnBrk="1" fontAlgn="base" hangingPunct="1">
              <a:lnSpc>
                <a:spcPct val="90000"/>
              </a:lnSpc>
              <a:spcBef>
                <a:spcPct val="0"/>
              </a:spcBef>
              <a:spcAft>
                <a:spcPct val="0"/>
              </a:spcAft>
              <a:defRPr sz="3300" b="1" i="0" kern="1200">
                <a:solidFill>
                  <a:schemeClr val="tx1"/>
                </a:solidFill>
                <a:latin typeface="Arial Narrow"/>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en-US" sz="2800" dirty="0">
                <a:latin typeface="+mj-lt"/>
                <a:cs typeface="Times New Roman" panose="02020603050405020304" pitchFamily="18" charset="0"/>
              </a:rPr>
              <a:t>Analyzing Binary</a:t>
            </a:r>
            <a:r>
              <a:rPr lang="en-US" sz="2800" i="1" dirty="0">
                <a:latin typeface="+mj-lt"/>
                <a:cs typeface="Times New Roman" panose="02020603050405020304" pitchFamily="18" charset="0"/>
              </a:rPr>
              <a:t> </a:t>
            </a:r>
            <a:r>
              <a:rPr lang="en-US" sz="2800" dirty="0">
                <a:latin typeface="+mj-lt"/>
                <a:cs typeface="Times New Roman" panose="02020603050405020304" pitchFamily="18" charset="0"/>
              </a:rPr>
              <a:t>outcome variables</a:t>
            </a:r>
            <a:endParaRPr lang="en-GB" sz="2800" dirty="0">
              <a:latin typeface="+mj-lt"/>
              <a:cs typeface="Times New Roman" panose="02020603050405020304" pitchFamily="18" charset="0"/>
            </a:endParaRPr>
          </a:p>
        </p:txBody>
      </p:sp>
    </p:spTree>
    <p:extLst>
      <p:ext uri="{BB962C8B-B14F-4D97-AF65-F5344CB8AC3E}">
        <p14:creationId xmlns:p14="http://schemas.microsoft.com/office/powerpoint/2010/main" val="215335988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ktangel 3"/>
          <p:cNvSpPr/>
          <p:nvPr/>
        </p:nvSpPr>
        <p:spPr>
          <a:xfrm>
            <a:off x="611560" y="1196266"/>
            <a:ext cx="8168496" cy="2723823"/>
          </a:xfrm>
          <a:prstGeom prst="rect">
            <a:avLst/>
          </a:prstGeom>
        </p:spPr>
        <p:txBody>
          <a:bodyPr wrap="square">
            <a:spAutoFit/>
          </a:bodyPr>
          <a:lstStyle/>
          <a:p>
            <a:pPr>
              <a:spcAft>
                <a:spcPts val="900"/>
              </a:spcAft>
            </a:pPr>
            <a:r>
              <a:rPr lang="en-US" b="1" dirty="0">
                <a:latin typeface="+mn-lt"/>
                <a:ea typeface="Verdana" panose="020B0604030504040204" pitchFamily="34" charset="0"/>
              </a:rPr>
              <a:t>Question: </a:t>
            </a:r>
            <a:r>
              <a:rPr lang="en-US" dirty="0">
                <a:latin typeface="+mn-lt"/>
                <a:ea typeface="Verdana" panose="020B0604030504040204" pitchFamily="34" charset="0"/>
              </a:rPr>
              <a:t>Does </a:t>
            </a:r>
            <a:r>
              <a:rPr lang="en-US" b="1" dirty="0">
                <a:solidFill>
                  <a:srgbClr val="002060"/>
                </a:solidFill>
                <a:latin typeface="+mn-lt"/>
                <a:ea typeface="Verdana" panose="020B0604030504040204" pitchFamily="34" charset="0"/>
              </a:rPr>
              <a:t>gender</a:t>
            </a:r>
            <a:r>
              <a:rPr lang="en-US" dirty="0">
                <a:latin typeface="+mn-lt"/>
                <a:ea typeface="Verdana" panose="020B0604030504040204" pitchFamily="34" charset="0"/>
              </a:rPr>
              <a:t> effect the association between smoking and diabetes?</a:t>
            </a:r>
          </a:p>
          <a:p>
            <a:pPr>
              <a:spcAft>
                <a:spcPts val="900"/>
              </a:spcAft>
            </a:pPr>
            <a:r>
              <a:rPr lang="en-US" b="1" dirty="0">
                <a:latin typeface="+mn-lt"/>
                <a:ea typeface="Verdana" panose="020B0604030504040204" pitchFamily="34" charset="0"/>
              </a:rPr>
              <a:t>Outcome, Y: </a:t>
            </a:r>
            <a:r>
              <a:rPr lang="en-US" dirty="0">
                <a:latin typeface="+mn-lt"/>
                <a:ea typeface="Verdana" panose="020B0604030504040204" pitchFamily="34" charset="0"/>
              </a:rPr>
              <a:t>  Diabetes diagnose (1= Yes, 2= No) </a:t>
            </a:r>
            <a:endParaRPr lang="sv-SE" dirty="0">
              <a:latin typeface="+mn-lt"/>
              <a:ea typeface="Verdana" panose="020B0604030504040204" pitchFamily="34" charset="0"/>
            </a:endParaRPr>
          </a:p>
          <a:p>
            <a:pPr>
              <a:spcAft>
                <a:spcPts val="900"/>
              </a:spcAft>
            </a:pPr>
            <a:r>
              <a:rPr lang="en-US" b="1" dirty="0">
                <a:latin typeface="+mn-lt"/>
                <a:ea typeface="Verdana" panose="020B0604030504040204" pitchFamily="34" charset="0"/>
              </a:rPr>
              <a:t>Independent variables: 	 </a:t>
            </a:r>
          </a:p>
          <a:p>
            <a:pPr>
              <a:spcAft>
                <a:spcPts val="900"/>
              </a:spcAft>
            </a:pPr>
            <a:r>
              <a:rPr lang="en-US" b="1" dirty="0">
                <a:latin typeface="+mn-lt"/>
                <a:ea typeface="Verdana" panose="020B0604030504040204" pitchFamily="34" charset="0"/>
              </a:rPr>
              <a:t>Smoker:</a:t>
            </a:r>
            <a:r>
              <a:rPr lang="en-US" dirty="0">
                <a:latin typeface="+mn-lt"/>
                <a:ea typeface="Verdana" panose="020B0604030504040204" pitchFamily="34" charset="0"/>
              </a:rPr>
              <a:t> 1= Yes (Current</a:t>
            </a:r>
            <a:r>
              <a:rPr lang="en-US" b="1" dirty="0">
                <a:solidFill>
                  <a:srgbClr val="002060"/>
                </a:solidFill>
                <a:latin typeface="+mn-lt"/>
                <a:ea typeface="Verdana" panose="020B0604030504040204" pitchFamily="34" charset="0"/>
              </a:rPr>
              <a:t>, </a:t>
            </a:r>
            <a:r>
              <a:rPr lang="en-US" b="1" dirty="0">
                <a:solidFill>
                  <a:srgbClr val="07356F"/>
                </a:solidFill>
                <a:latin typeface="+mn-lt"/>
                <a:ea typeface="Verdana" panose="020B0604030504040204" pitchFamily="34" charset="0"/>
              </a:rPr>
              <a:t>2= No (non-smoker)REFERENCE CATEGORY)</a:t>
            </a:r>
          </a:p>
          <a:p>
            <a:pPr>
              <a:spcAft>
                <a:spcPts val="900"/>
              </a:spcAft>
            </a:pPr>
            <a:r>
              <a:rPr lang="en-US" b="1" dirty="0">
                <a:latin typeface="+mn-lt"/>
                <a:ea typeface="Verdana" panose="020B0604030504040204" pitchFamily="34" charset="0"/>
              </a:rPr>
              <a:t>Gender</a:t>
            </a:r>
            <a:r>
              <a:rPr lang="en-US" dirty="0">
                <a:latin typeface="+mn-lt"/>
                <a:ea typeface="Verdana" panose="020B0604030504040204" pitchFamily="34" charset="0"/>
              </a:rPr>
              <a:t> (1=Male, </a:t>
            </a:r>
            <a:r>
              <a:rPr lang="en-US" b="1" dirty="0">
                <a:solidFill>
                  <a:srgbClr val="07356F"/>
                </a:solidFill>
                <a:latin typeface="+mn-lt"/>
                <a:ea typeface="Verdana" panose="020B0604030504040204" pitchFamily="34" charset="0"/>
              </a:rPr>
              <a:t>2= Female </a:t>
            </a:r>
            <a:r>
              <a:rPr lang="en-US" b="1" dirty="0">
                <a:solidFill>
                  <a:srgbClr val="002060"/>
                </a:solidFill>
                <a:latin typeface="+mn-lt"/>
                <a:ea typeface="Verdana" panose="020B0604030504040204" pitchFamily="34" charset="0"/>
              </a:rPr>
              <a:t>REFERENCE CATEGORY</a:t>
            </a:r>
            <a:r>
              <a:rPr lang="en-US" dirty="0">
                <a:latin typeface="+mn-lt"/>
                <a:ea typeface="Verdana" panose="020B0604030504040204" pitchFamily="34" charset="0"/>
              </a:rPr>
              <a:t>)</a:t>
            </a:r>
          </a:p>
          <a:p>
            <a:pPr>
              <a:spcAft>
                <a:spcPts val="900"/>
              </a:spcAft>
            </a:pPr>
            <a:r>
              <a:rPr lang="en-US" b="1" dirty="0">
                <a:latin typeface="+mn-lt"/>
                <a:ea typeface="Verdana" panose="020B0604030504040204" pitchFamily="34" charset="0"/>
              </a:rPr>
              <a:t>Age</a:t>
            </a:r>
            <a:r>
              <a:rPr lang="en-US" dirty="0">
                <a:latin typeface="+mn-lt"/>
                <a:ea typeface="Verdana" panose="020B0604030504040204" pitchFamily="34" charset="0"/>
              </a:rPr>
              <a:t> (years)</a:t>
            </a:r>
          </a:p>
          <a:p>
            <a:pPr>
              <a:spcAft>
                <a:spcPts val="900"/>
              </a:spcAft>
            </a:pPr>
            <a:r>
              <a:rPr lang="en-US" b="1" dirty="0">
                <a:latin typeface="+mn-lt"/>
                <a:ea typeface="Verdana" panose="020B0604030504040204" pitchFamily="34" charset="0"/>
              </a:rPr>
              <a:t>BMI</a:t>
            </a:r>
            <a:r>
              <a:rPr lang="en-US" dirty="0">
                <a:latin typeface="+mn-lt"/>
                <a:ea typeface="Verdana" panose="020B0604030504040204" pitchFamily="34" charset="0"/>
              </a:rPr>
              <a:t> </a:t>
            </a:r>
          </a:p>
        </p:txBody>
      </p:sp>
      <p:sp>
        <p:nvSpPr>
          <p:cNvPr id="7" name="Rubrik 2"/>
          <p:cNvSpPr>
            <a:spLocks noGrp="1"/>
          </p:cNvSpPr>
          <p:nvPr>
            <p:ph type="title"/>
          </p:nvPr>
        </p:nvSpPr>
        <p:spPr>
          <a:xfrm>
            <a:off x="971600" y="519522"/>
            <a:ext cx="7344816" cy="432048"/>
          </a:xfrm>
        </p:spPr>
        <p:txBody>
          <a:bodyPr>
            <a:noAutofit/>
          </a:bodyPr>
          <a:lstStyle/>
          <a:p>
            <a:r>
              <a:rPr lang="en-US" sz="3600" noProof="0" dirty="0"/>
              <a:t>Adding  more </a:t>
            </a:r>
            <a:r>
              <a:rPr lang="en-US" sz="3600" dirty="0"/>
              <a:t>explanatory </a:t>
            </a:r>
            <a:r>
              <a:rPr lang="en-US" sz="3600" noProof="0" dirty="0"/>
              <a:t>variables</a:t>
            </a:r>
          </a:p>
        </p:txBody>
      </p:sp>
      <p:sp>
        <p:nvSpPr>
          <p:cNvPr id="3" name="Slide Number Placeholder 2">
            <a:extLst>
              <a:ext uri="{FF2B5EF4-FFF2-40B4-BE49-F238E27FC236}">
                <a16:creationId xmlns:a16="http://schemas.microsoft.com/office/drawing/2014/main" id="{AFC46166-901F-4C7D-91DC-B3D3970B74B0}"/>
              </a:ext>
            </a:extLst>
          </p:cNvPr>
          <p:cNvSpPr>
            <a:spLocks noGrp="1"/>
          </p:cNvSpPr>
          <p:nvPr>
            <p:ph type="sldNum" sz="quarter" idx="12"/>
          </p:nvPr>
        </p:nvSpPr>
        <p:spPr/>
        <p:txBody>
          <a:bodyPr/>
          <a:lstStyle/>
          <a:p>
            <a:fld id="{227F0B53-9592-4779-891F-997228E46E01}" type="slidenum">
              <a:rPr lang="sv-SE" smtClean="0"/>
              <a:t>110</a:t>
            </a:fld>
            <a:endParaRPr lang="sv-SE"/>
          </a:p>
        </p:txBody>
      </p:sp>
    </p:spTree>
    <p:extLst>
      <p:ext uri="{BB962C8B-B14F-4D97-AF65-F5344CB8AC3E}">
        <p14:creationId xmlns:p14="http://schemas.microsoft.com/office/powerpoint/2010/main" val="15415618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ell 13"/>
          <p:cNvGraphicFramePr>
            <a:graphicFrameLocks noGrp="1"/>
          </p:cNvGraphicFramePr>
          <p:nvPr>
            <p:extLst>
              <p:ext uri="{D42A27DB-BD31-4B8C-83A1-F6EECF244321}">
                <p14:modId xmlns:p14="http://schemas.microsoft.com/office/powerpoint/2010/main" val="1421343167"/>
              </p:ext>
            </p:extLst>
          </p:nvPr>
        </p:nvGraphicFramePr>
        <p:xfrm>
          <a:off x="1187622" y="684241"/>
          <a:ext cx="6813379" cy="1959517"/>
        </p:xfrm>
        <a:graphic>
          <a:graphicData uri="http://schemas.openxmlformats.org/drawingml/2006/table">
            <a:tbl>
              <a:tblPr/>
              <a:tblGrid>
                <a:gridCol w="670552">
                  <a:extLst>
                    <a:ext uri="{9D8B030D-6E8A-4147-A177-3AD203B41FA5}">
                      <a16:colId xmlns:a16="http://schemas.microsoft.com/office/drawing/2014/main" val="3514757792"/>
                    </a:ext>
                  </a:extLst>
                </a:gridCol>
                <a:gridCol w="488187">
                  <a:extLst>
                    <a:ext uri="{9D8B030D-6E8A-4147-A177-3AD203B41FA5}">
                      <a16:colId xmlns:a16="http://schemas.microsoft.com/office/drawing/2014/main" val="4082678236"/>
                    </a:ext>
                  </a:extLst>
                </a:gridCol>
                <a:gridCol w="509844">
                  <a:extLst>
                    <a:ext uri="{9D8B030D-6E8A-4147-A177-3AD203B41FA5}">
                      <a16:colId xmlns:a16="http://schemas.microsoft.com/office/drawing/2014/main" val="3855405580"/>
                    </a:ext>
                  </a:extLst>
                </a:gridCol>
                <a:gridCol w="670552">
                  <a:extLst>
                    <a:ext uri="{9D8B030D-6E8A-4147-A177-3AD203B41FA5}">
                      <a16:colId xmlns:a16="http://schemas.microsoft.com/office/drawing/2014/main" val="4186759454"/>
                    </a:ext>
                  </a:extLst>
                </a:gridCol>
                <a:gridCol w="699574">
                  <a:extLst>
                    <a:ext uri="{9D8B030D-6E8A-4147-A177-3AD203B41FA5}">
                      <a16:colId xmlns:a16="http://schemas.microsoft.com/office/drawing/2014/main" val="4024251047"/>
                    </a:ext>
                  </a:extLst>
                </a:gridCol>
                <a:gridCol w="699574">
                  <a:extLst>
                    <a:ext uri="{9D8B030D-6E8A-4147-A177-3AD203B41FA5}">
                      <a16:colId xmlns:a16="http://schemas.microsoft.com/office/drawing/2014/main" val="2350004122"/>
                    </a:ext>
                  </a:extLst>
                </a:gridCol>
                <a:gridCol w="488187">
                  <a:extLst>
                    <a:ext uri="{9D8B030D-6E8A-4147-A177-3AD203B41FA5}">
                      <a16:colId xmlns:a16="http://schemas.microsoft.com/office/drawing/2014/main" val="2369760877"/>
                    </a:ext>
                  </a:extLst>
                </a:gridCol>
                <a:gridCol w="699574">
                  <a:extLst>
                    <a:ext uri="{9D8B030D-6E8A-4147-A177-3AD203B41FA5}">
                      <a16:colId xmlns:a16="http://schemas.microsoft.com/office/drawing/2014/main" val="2357541394"/>
                    </a:ext>
                  </a:extLst>
                </a:gridCol>
                <a:gridCol w="488187">
                  <a:extLst>
                    <a:ext uri="{9D8B030D-6E8A-4147-A177-3AD203B41FA5}">
                      <a16:colId xmlns:a16="http://schemas.microsoft.com/office/drawing/2014/main" val="2517510071"/>
                    </a:ext>
                  </a:extLst>
                </a:gridCol>
                <a:gridCol w="699574">
                  <a:extLst>
                    <a:ext uri="{9D8B030D-6E8A-4147-A177-3AD203B41FA5}">
                      <a16:colId xmlns:a16="http://schemas.microsoft.com/office/drawing/2014/main" val="3295836807"/>
                    </a:ext>
                  </a:extLst>
                </a:gridCol>
                <a:gridCol w="699574">
                  <a:extLst>
                    <a:ext uri="{9D8B030D-6E8A-4147-A177-3AD203B41FA5}">
                      <a16:colId xmlns:a16="http://schemas.microsoft.com/office/drawing/2014/main" val="2556753658"/>
                    </a:ext>
                  </a:extLst>
                </a:gridCol>
              </a:tblGrid>
              <a:tr h="192272">
                <a:tc gridSpan="11">
                  <a:txBody>
                    <a:bodyPr/>
                    <a:lstStyle/>
                    <a:p>
                      <a:pPr marL="38100" marR="38100" algn="ctr">
                        <a:lnSpc>
                          <a:spcPts val="1600"/>
                        </a:lnSpc>
                        <a:spcAft>
                          <a:spcPts val="0"/>
                        </a:spcAft>
                      </a:pPr>
                      <a:r>
                        <a:rPr lang="sv-SE" sz="6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Parameter Estimates</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a:noFill/>
                    </a:lnL>
                    <a:lnR>
                      <a:noFill/>
                    </a:lnR>
                    <a:lnT>
                      <a:noFill/>
                    </a:lnT>
                    <a:lnB w="28575" cap="flat" cmpd="sng" algn="ctr">
                      <a:solidFill>
                        <a:srgbClr val="000000"/>
                      </a:solidFill>
                      <a:prstDash val="solid"/>
                      <a:round/>
                      <a:headEnd type="none" w="med" len="med"/>
                      <a:tailEnd type="none" w="med" len="med"/>
                    </a:lnB>
                    <a:solidFill>
                      <a:srgbClr val="FFFFFF"/>
                    </a:solidFill>
                  </a:tcPr>
                </a:tc>
                <a:tc hMerge="1">
                  <a:txBody>
                    <a:bodyPr/>
                    <a:lstStyle/>
                    <a:p>
                      <a:endParaRPr lang="sv-SE"/>
                    </a:p>
                  </a:txBody>
                  <a:tcPr/>
                </a:tc>
                <a:tc hMerge="1">
                  <a:txBody>
                    <a:bodyPr/>
                    <a:lstStyle/>
                    <a:p>
                      <a:endParaRPr lang="sv-SE"/>
                    </a:p>
                  </a:txBody>
                  <a:tcPr/>
                </a:tc>
                <a:tc hMerge="1">
                  <a:txBody>
                    <a:bodyPr/>
                    <a:lstStyle/>
                    <a:p>
                      <a:endParaRPr lang="sv-SE"/>
                    </a:p>
                  </a:txBody>
                  <a:tcPr/>
                </a:tc>
                <a:tc hMerge="1">
                  <a:txBody>
                    <a:bodyPr/>
                    <a:lstStyle/>
                    <a:p>
                      <a:endParaRPr lang="sv-SE"/>
                    </a:p>
                  </a:txBody>
                  <a:tcPr/>
                </a:tc>
                <a:tc hMerge="1">
                  <a:txBody>
                    <a:bodyPr/>
                    <a:lstStyle/>
                    <a:p>
                      <a:endParaRPr lang="sv-SE"/>
                    </a:p>
                  </a:txBody>
                  <a:tcPr/>
                </a:tc>
                <a:tc hMerge="1">
                  <a:txBody>
                    <a:bodyPr/>
                    <a:lstStyle/>
                    <a:p>
                      <a:endParaRPr lang="sv-SE"/>
                    </a:p>
                  </a:txBody>
                  <a:tcPr/>
                </a:tc>
                <a:tc hMerge="1">
                  <a:txBody>
                    <a:bodyPr/>
                    <a:lstStyle/>
                    <a:p>
                      <a:endParaRPr lang="sv-SE"/>
                    </a:p>
                  </a:txBody>
                  <a:tcPr/>
                </a:tc>
                <a:tc hMerge="1">
                  <a:txBody>
                    <a:bodyPr/>
                    <a:lstStyle/>
                    <a:p>
                      <a:endParaRPr lang="sv-SE"/>
                    </a:p>
                  </a:txBody>
                  <a:tcPr/>
                </a:tc>
                <a:tc hMerge="1">
                  <a:txBody>
                    <a:bodyPr/>
                    <a:lstStyle/>
                    <a:p>
                      <a:endParaRPr lang="sv-SE"/>
                    </a:p>
                  </a:txBody>
                  <a:tcPr/>
                </a:tc>
                <a:tc hMerge="1">
                  <a:txBody>
                    <a:bodyPr/>
                    <a:lstStyle/>
                    <a:p>
                      <a:endParaRPr lang="sv-SE"/>
                    </a:p>
                  </a:txBody>
                  <a:tcPr/>
                </a:tc>
                <a:extLst>
                  <a:ext uri="{0D108BD9-81ED-4DB2-BD59-A6C34878D82A}">
                    <a16:rowId xmlns:a16="http://schemas.microsoft.com/office/drawing/2014/main" val="174699246"/>
                  </a:ext>
                </a:extLst>
              </a:tr>
              <a:tr h="419476">
                <a:tc rowSpan="2">
                  <a:txBody>
                    <a:bodyPr/>
                    <a:lstStyle/>
                    <a:p>
                      <a:pPr marL="38100" marR="38100">
                        <a:lnSpc>
                          <a:spcPts val="1600"/>
                        </a:lnSpc>
                        <a:spcAft>
                          <a:spcPts val="0"/>
                        </a:spcAft>
                      </a:pPr>
                      <a:r>
                        <a:rPr lang="sv-SE" sz="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Parameter</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rowSpan="2">
                  <a:txBody>
                    <a:bodyPr/>
                    <a:lstStyle/>
                    <a:p>
                      <a:pPr marL="38100" marR="38100" algn="ctr">
                        <a:lnSpc>
                          <a:spcPts val="1600"/>
                        </a:lnSpc>
                        <a:spcAft>
                          <a:spcPts val="0"/>
                        </a:spcAft>
                      </a:pPr>
                      <a:r>
                        <a:rPr lang="sv-SE" sz="6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B</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rowSpan="2">
                  <a:txBody>
                    <a:bodyPr/>
                    <a:lstStyle/>
                    <a:p>
                      <a:pPr marL="38100" marR="38100" algn="ctr">
                        <a:lnSpc>
                          <a:spcPts val="1600"/>
                        </a:lnSpc>
                        <a:spcAft>
                          <a:spcPts val="0"/>
                        </a:spcAft>
                      </a:pPr>
                      <a:r>
                        <a:rPr lang="sv-SE" sz="6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Std. Error</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marL="38100" marR="38100" algn="ctr">
                        <a:lnSpc>
                          <a:spcPts val="1600"/>
                        </a:lnSpc>
                        <a:spcAft>
                          <a:spcPts val="0"/>
                        </a:spcAft>
                      </a:pPr>
                      <a:r>
                        <a:rPr lang="sv-SE" sz="6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95% Wald Confidence Interval</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sv-SE"/>
                    </a:p>
                  </a:txBody>
                  <a:tcPr/>
                </a:tc>
                <a:tc gridSpan="3">
                  <a:txBody>
                    <a:bodyPr/>
                    <a:lstStyle/>
                    <a:p>
                      <a:pPr marL="38100" marR="38100" algn="ctr">
                        <a:lnSpc>
                          <a:spcPts val="1600"/>
                        </a:lnSpc>
                        <a:spcAft>
                          <a:spcPts val="0"/>
                        </a:spcAft>
                      </a:pPr>
                      <a:r>
                        <a:rPr lang="sv-SE" sz="6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Hypothesis Test</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sv-SE"/>
                    </a:p>
                  </a:txBody>
                  <a:tcPr/>
                </a:tc>
                <a:tc hMerge="1">
                  <a:txBody>
                    <a:bodyPr/>
                    <a:lstStyle/>
                    <a:p>
                      <a:endParaRPr lang="sv-SE"/>
                    </a:p>
                  </a:txBody>
                  <a:tcPr/>
                </a:tc>
                <a:tc rowSpan="2">
                  <a:txBody>
                    <a:bodyPr/>
                    <a:lstStyle/>
                    <a:p>
                      <a:pPr marL="38100" marR="38100" algn="ctr">
                        <a:lnSpc>
                          <a:spcPts val="1600"/>
                        </a:lnSpc>
                        <a:spcAft>
                          <a:spcPts val="0"/>
                        </a:spcAft>
                      </a:pPr>
                      <a:r>
                        <a:rPr lang="sv-SE" sz="6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Odds </a:t>
                      </a:r>
                      <a:r>
                        <a:rPr lang="sv-SE" sz="600" b="1"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Ratio</a:t>
                      </a:r>
                      <a:r>
                        <a:rPr lang="sv-SE" sz="6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sv-SE" sz="600" b="1"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Exp</a:t>
                      </a:r>
                      <a:r>
                        <a:rPr lang="sv-SE" sz="6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(B)</a:t>
                      </a:r>
                      <a:endParaRPr lang="sv-SE" sz="8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marL="38100" marR="38100" algn="ctr">
                        <a:lnSpc>
                          <a:spcPts val="1600"/>
                        </a:lnSpc>
                        <a:spcAft>
                          <a:spcPts val="0"/>
                        </a:spcAft>
                      </a:pPr>
                      <a:r>
                        <a:rPr lang="en-US" sz="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95% Wald Confidence Interval for </a:t>
                      </a:r>
                      <a:r>
                        <a:rPr lang="en-US" sz="6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Exp</a:t>
                      </a:r>
                      <a:r>
                        <a:rPr lang="en-US" sz="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(B)</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sv-SE"/>
                    </a:p>
                  </a:txBody>
                  <a:tcPr/>
                </a:tc>
                <a:extLst>
                  <a:ext uri="{0D108BD9-81ED-4DB2-BD59-A6C34878D82A}">
                    <a16:rowId xmlns:a16="http://schemas.microsoft.com/office/drawing/2014/main" val="872195330"/>
                  </a:ext>
                </a:extLst>
              </a:tr>
              <a:tr h="350199">
                <a:tc vMerge="1">
                  <a:txBody>
                    <a:bodyPr/>
                    <a:lstStyle/>
                    <a:p>
                      <a:endParaRPr lang="sv-SE"/>
                    </a:p>
                  </a:txBody>
                  <a:tcPr/>
                </a:tc>
                <a:tc vMerge="1">
                  <a:txBody>
                    <a:bodyPr/>
                    <a:lstStyle/>
                    <a:p>
                      <a:endParaRPr lang="sv-SE"/>
                    </a:p>
                  </a:txBody>
                  <a:tcPr/>
                </a:tc>
                <a:tc vMerge="1">
                  <a:txBody>
                    <a:bodyPr/>
                    <a:lstStyle/>
                    <a:p>
                      <a:endParaRPr lang="sv-SE"/>
                    </a:p>
                  </a:txBody>
                  <a:tcPr/>
                </a:tc>
                <a:tc>
                  <a:txBody>
                    <a:bodyPr/>
                    <a:lstStyle/>
                    <a:p>
                      <a:pPr marL="38100" marR="38100" algn="ctr">
                        <a:lnSpc>
                          <a:spcPts val="1600"/>
                        </a:lnSpc>
                        <a:spcAft>
                          <a:spcPts val="0"/>
                        </a:spcAft>
                      </a:pPr>
                      <a:r>
                        <a:rPr lang="sv-SE" sz="6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Lower</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marL="38100" marR="38100" algn="ctr">
                        <a:lnSpc>
                          <a:spcPts val="1600"/>
                        </a:lnSpc>
                        <a:spcAft>
                          <a:spcPts val="0"/>
                        </a:spcAft>
                      </a:pPr>
                      <a:r>
                        <a:rPr lang="sv-SE" sz="6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Upper</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marL="38100" marR="38100" algn="ctr">
                        <a:lnSpc>
                          <a:spcPts val="1600"/>
                        </a:lnSpc>
                        <a:spcAft>
                          <a:spcPts val="0"/>
                        </a:spcAft>
                      </a:pPr>
                      <a:r>
                        <a:rPr lang="sv-SE" sz="6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Wald Chi-Square</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marL="38100" marR="38100" algn="ctr">
                        <a:lnSpc>
                          <a:spcPts val="1600"/>
                        </a:lnSpc>
                        <a:spcAft>
                          <a:spcPts val="0"/>
                        </a:spcAft>
                      </a:pPr>
                      <a:r>
                        <a:rPr lang="sv-SE" sz="6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df</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marL="38100" marR="38100" algn="ctr">
                        <a:lnSpc>
                          <a:spcPts val="1600"/>
                        </a:lnSpc>
                        <a:spcAft>
                          <a:spcPts val="0"/>
                        </a:spcAft>
                      </a:pPr>
                      <a:r>
                        <a:rPr lang="sv-SE" sz="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Sig.</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vMerge="1">
                  <a:txBody>
                    <a:bodyPr/>
                    <a:lstStyle/>
                    <a:p>
                      <a:endParaRPr lang="sv-SE"/>
                    </a:p>
                  </a:txBody>
                  <a:tcPr/>
                </a:tc>
                <a:tc>
                  <a:txBody>
                    <a:bodyPr/>
                    <a:lstStyle/>
                    <a:p>
                      <a:pPr marL="38100" marR="38100" algn="ctr">
                        <a:lnSpc>
                          <a:spcPts val="1600"/>
                        </a:lnSpc>
                        <a:spcAft>
                          <a:spcPts val="0"/>
                        </a:spcAft>
                      </a:pPr>
                      <a:r>
                        <a:rPr lang="sv-SE" sz="6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Lower</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marL="38100" marR="38100" algn="ctr">
                        <a:lnSpc>
                          <a:spcPts val="1600"/>
                        </a:lnSpc>
                        <a:spcAft>
                          <a:spcPts val="0"/>
                        </a:spcAft>
                      </a:pPr>
                      <a:r>
                        <a:rPr lang="sv-SE" sz="6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Upper</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01176754"/>
                  </a:ext>
                </a:extLst>
              </a:tr>
              <a:tr h="199514">
                <a:tc>
                  <a:txBody>
                    <a:bodyPr/>
                    <a:lstStyle/>
                    <a:p>
                      <a:pPr marL="38100" marR="38100">
                        <a:lnSpc>
                          <a:spcPts val="1600"/>
                        </a:lnSpc>
                        <a:spcAft>
                          <a:spcPts val="0"/>
                        </a:spcAft>
                      </a:pPr>
                      <a:r>
                        <a:rPr lang="sv-SE" sz="6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(Intercept)</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solidFill>
                      <a:srgbClr val="FFFFFF"/>
                    </a:solidFill>
                  </a:tcPr>
                </a:tc>
                <a:tc>
                  <a:txBody>
                    <a:bodyPr/>
                    <a:lstStyle/>
                    <a:p>
                      <a:pPr marL="38100" marR="38100" algn="r">
                        <a:lnSpc>
                          <a:spcPts val="1600"/>
                        </a:lnSpc>
                        <a:spcAft>
                          <a:spcPts val="0"/>
                        </a:spcAft>
                      </a:pPr>
                      <a:r>
                        <a:rPr lang="sv-SE"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-8,213</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,4870</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-9,168</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-7,259</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284,486</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,000</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solidFill>
                      <a:srgbClr val="FFFFFF"/>
                    </a:solidFill>
                  </a:tcPr>
                </a:tc>
                <a:tc>
                  <a:txBody>
                    <a:bodyPr/>
                    <a:lstStyle/>
                    <a:p>
                      <a:pPr marL="38100" marR="38100" algn="r">
                        <a:lnSpc>
                          <a:spcPts val="1600"/>
                        </a:lnSpc>
                        <a:spcAft>
                          <a:spcPts val="0"/>
                        </a:spcAft>
                      </a:pPr>
                      <a:r>
                        <a:rPr lang="sv-SE"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,000</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,000</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,001</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110509984"/>
                  </a:ext>
                </a:extLst>
              </a:tr>
              <a:tr h="199514">
                <a:tc>
                  <a:txBody>
                    <a:bodyPr/>
                    <a:lstStyle/>
                    <a:p>
                      <a:pPr marL="38100" marR="38100">
                        <a:lnSpc>
                          <a:spcPts val="1600"/>
                        </a:lnSpc>
                        <a:spcAft>
                          <a:spcPts val="0"/>
                        </a:spcAft>
                      </a:pPr>
                      <a:r>
                        <a:rPr lang="sv-SE" sz="7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t>
                      </a:r>
                      <a:r>
                        <a:rPr lang="sv-SE" sz="7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Smoker</a:t>
                      </a:r>
                      <a:r>
                        <a:rPr lang="sv-SE" sz="7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t>
                      </a:r>
                      <a:r>
                        <a:rPr lang="sv-SE" sz="7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Yes</a:t>
                      </a:r>
                      <a:r>
                        <a:rPr lang="sv-SE" sz="7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,233</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,1434</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-,048</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,514</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2,635</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,105</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1,262</a:t>
                      </a:r>
                      <a:endParaRPr lang="sv-SE" sz="8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,953</a:t>
                      </a:r>
                      <a:endParaRPr lang="sv-SE" sz="8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1,671</a:t>
                      </a:r>
                      <a:endParaRPr lang="sv-SE" sz="8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686693887"/>
                  </a:ext>
                </a:extLst>
              </a:tr>
              <a:tr h="199514">
                <a:tc>
                  <a:txBody>
                    <a:bodyPr/>
                    <a:lstStyle/>
                    <a:p>
                      <a:pPr marL="38100" marR="38100">
                        <a:lnSpc>
                          <a:spcPts val="1600"/>
                        </a:lnSpc>
                        <a:spcAft>
                          <a:spcPts val="0"/>
                        </a:spcAft>
                      </a:pPr>
                      <a:r>
                        <a:rPr lang="sv-SE" sz="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[Gender=</a:t>
                      </a:r>
                      <a:r>
                        <a:rPr lang="sv-SE" sz="6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Male</a:t>
                      </a:r>
                      <a:r>
                        <a:rPr lang="sv-SE" sz="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,122</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,1268</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-,126</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,371</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,927</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,336</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1,130</a:t>
                      </a:r>
                      <a:endParaRPr lang="sv-SE" sz="8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,881</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1,449</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606835688"/>
                  </a:ext>
                </a:extLst>
              </a:tr>
              <a:tr h="199514">
                <a:tc>
                  <a:txBody>
                    <a:bodyPr/>
                    <a:lstStyle/>
                    <a:p>
                      <a:pPr marL="38100" marR="38100">
                        <a:lnSpc>
                          <a:spcPts val="1600"/>
                        </a:lnSpc>
                        <a:spcAft>
                          <a:spcPts val="0"/>
                        </a:spcAft>
                      </a:pPr>
                      <a:r>
                        <a:rPr lang="sv-SE" sz="6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Age_y</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,054</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,0047</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,044</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,063</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128,754</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,000</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1,055</a:t>
                      </a:r>
                      <a:endParaRPr lang="sv-SE" sz="8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1,045</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1,065</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71748892"/>
                  </a:ext>
                </a:extLst>
              </a:tr>
              <a:tr h="199514">
                <a:tc>
                  <a:txBody>
                    <a:bodyPr/>
                    <a:lstStyle/>
                    <a:p>
                      <a:pPr marL="38100" marR="38100">
                        <a:lnSpc>
                          <a:spcPts val="1600"/>
                        </a:lnSpc>
                        <a:spcAft>
                          <a:spcPts val="0"/>
                        </a:spcAft>
                      </a:pPr>
                      <a:r>
                        <a:rPr lang="sv-SE" sz="6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BMI</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,104</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,0091</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,086</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,122</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131,555</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38100" marR="38100" algn="r">
                        <a:lnSpc>
                          <a:spcPts val="1600"/>
                        </a:lnSpc>
                        <a:spcAft>
                          <a:spcPts val="0"/>
                        </a:spcAft>
                      </a:pPr>
                      <a:r>
                        <a:rPr lang="sv-SE" sz="8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,000</a:t>
                      </a:r>
                      <a:endParaRPr lang="sv-SE"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38100" marR="38100" algn="r">
                        <a:lnSpc>
                          <a:spcPts val="1600"/>
                        </a:lnSpc>
                        <a:spcAft>
                          <a:spcPts val="0"/>
                        </a:spcAft>
                      </a:pPr>
                      <a:r>
                        <a:rPr lang="sv-SE" sz="8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1,110</a:t>
                      </a:r>
                      <a:endParaRPr lang="sv-SE" sz="8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38100" marR="38100" algn="r">
                        <a:lnSpc>
                          <a:spcPts val="1600"/>
                        </a:lnSpc>
                        <a:spcAft>
                          <a:spcPts val="0"/>
                        </a:spcAft>
                      </a:pPr>
                      <a:r>
                        <a:rPr lang="sv-SE"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1,090</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38100" marR="38100" algn="r">
                        <a:lnSpc>
                          <a:spcPts val="1600"/>
                        </a:lnSpc>
                        <a:spcAft>
                          <a:spcPts val="0"/>
                        </a:spcAft>
                      </a:pPr>
                      <a:r>
                        <a:rPr lang="sv-SE" sz="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1,130</a:t>
                      </a:r>
                      <a:endParaRPr lang="sv-SE"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87105801"/>
                  </a:ext>
                </a:extLst>
              </a:tr>
            </a:tbl>
          </a:graphicData>
        </a:graphic>
      </p:graphicFrame>
      <p:sp>
        <p:nvSpPr>
          <p:cNvPr id="4" name="Platshållare för bildnummer 3"/>
          <p:cNvSpPr>
            <a:spLocks noGrp="1"/>
          </p:cNvSpPr>
          <p:nvPr>
            <p:ph type="sldNum" sz="quarter" idx="4294967295"/>
          </p:nvPr>
        </p:nvSpPr>
        <p:spPr>
          <a:xfrm>
            <a:off x="6400800" y="4767263"/>
            <a:ext cx="1600200" cy="273844"/>
          </a:xfrm>
        </p:spPr>
        <p:txBody>
          <a:bodyPr/>
          <a:lstStyle/>
          <a:p>
            <a:fld id="{49D34020-361E-4A13-8C95-66E98A929282}" type="slidenum">
              <a:rPr lang="sv-SE" smtClean="0"/>
              <a:pPr/>
              <a:t>111</a:t>
            </a:fld>
            <a:endParaRPr lang="sv-SE"/>
          </a:p>
        </p:txBody>
      </p:sp>
      <p:sp>
        <p:nvSpPr>
          <p:cNvPr id="9" name="textruta 8"/>
          <p:cNvSpPr txBox="1"/>
          <p:nvPr/>
        </p:nvSpPr>
        <p:spPr>
          <a:xfrm>
            <a:off x="395536" y="4432399"/>
            <a:ext cx="6403742" cy="323165"/>
          </a:xfrm>
          <a:prstGeom prst="rect">
            <a:avLst/>
          </a:prstGeom>
          <a:noFill/>
        </p:spPr>
        <p:txBody>
          <a:bodyPr wrap="square" rtlCol="0">
            <a:spAutoFit/>
          </a:bodyPr>
          <a:lstStyle/>
          <a:p>
            <a:r>
              <a:rPr lang="en-US" sz="1500" dirty="0">
                <a:latin typeface="+mj-lt"/>
              </a:rPr>
              <a:t>By the way… Never write </a:t>
            </a:r>
            <a:r>
              <a:rPr lang="en-US" sz="1500" i="1" dirty="0">
                <a:latin typeface="+mj-lt"/>
              </a:rPr>
              <a:t>p</a:t>
            </a:r>
            <a:r>
              <a:rPr lang="en-US" sz="1500" dirty="0">
                <a:latin typeface="+mj-lt"/>
              </a:rPr>
              <a:t>=0.000 in a report!  It should be </a:t>
            </a:r>
            <a:r>
              <a:rPr lang="en-US" sz="1500" i="1" dirty="0">
                <a:latin typeface="+mj-lt"/>
              </a:rPr>
              <a:t>p</a:t>
            </a:r>
            <a:r>
              <a:rPr lang="en-US" sz="1500" dirty="0">
                <a:latin typeface="+mj-lt"/>
              </a:rPr>
              <a:t>&lt;0.001 (</a:t>
            </a:r>
            <a:r>
              <a:rPr lang="en-US" sz="1500" i="1" dirty="0">
                <a:latin typeface="+mj-lt"/>
              </a:rPr>
              <a:t>p</a:t>
            </a:r>
            <a:r>
              <a:rPr lang="en-US" sz="1500" dirty="0">
                <a:latin typeface="+mj-lt"/>
              </a:rPr>
              <a:t> is never 0)</a:t>
            </a:r>
          </a:p>
        </p:txBody>
      </p:sp>
      <p:sp>
        <p:nvSpPr>
          <p:cNvPr id="10" name="Rektangel 9"/>
          <p:cNvSpPr/>
          <p:nvPr/>
        </p:nvSpPr>
        <p:spPr>
          <a:xfrm>
            <a:off x="1137588" y="1851670"/>
            <a:ext cx="6962804" cy="216024"/>
          </a:xfrm>
          <a:prstGeom prst="rect">
            <a:avLst/>
          </a:prstGeom>
          <a:solidFill>
            <a:srgbClr val="7030A0">
              <a:alpha val="2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Platshållare för innehåll 2"/>
          <p:cNvSpPr txBox="1">
            <a:spLocks/>
          </p:cNvSpPr>
          <p:nvPr/>
        </p:nvSpPr>
        <p:spPr>
          <a:xfrm>
            <a:off x="179512" y="3004877"/>
            <a:ext cx="8640960" cy="1081320"/>
          </a:xfrm>
          <a:prstGeom prst="rect">
            <a:avLst/>
          </a:prstGeom>
        </p:spPr>
        <p:txBody>
          <a:bodyPr>
            <a:no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0" indent="0" fontAlgn="auto">
              <a:lnSpc>
                <a:spcPct val="150000"/>
              </a:lnSpc>
              <a:spcAft>
                <a:spcPts val="0"/>
              </a:spcAft>
              <a:buNone/>
            </a:pPr>
            <a:r>
              <a:rPr lang="en-US" sz="1600" dirty="0"/>
              <a:t>The </a:t>
            </a:r>
            <a:r>
              <a:rPr lang="en-US" sz="1600" b="1" dirty="0"/>
              <a:t>odd ratio </a:t>
            </a:r>
            <a:r>
              <a:rPr lang="en-US" sz="1600" dirty="0"/>
              <a:t>for </a:t>
            </a:r>
            <a:r>
              <a:rPr lang="en-US" sz="1600" b="1" u="sng" dirty="0"/>
              <a:t>Smoker</a:t>
            </a:r>
            <a:r>
              <a:rPr lang="en-US" sz="1600" u="sng" dirty="0"/>
              <a:t> vs </a:t>
            </a:r>
            <a:r>
              <a:rPr lang="en-US" sz="1600" b="1" u="sng" dirty="0">
                <a:solidFill>
                  <a:srgbClr val="07356F"/>
                </a:solidFill>
              </a:rPr>
              <a:t>Non-smoker</a:t>
            </a:r>
            <a:r>
              <a:rPr lang="en-US" sz="1600" u="sng" dirty="0"/>
              <a:t> </a:t>
            </a:r>
            <a:r>
              <a:rPr lang="en-US" sz="1600" dirty="0"/>
              <a:t>to have diabetes is 1.26. That is, a smokers in this sample have a 1.26 times higher </a:t>
            </a:r>
            <a:r>
              <a:rPr lang="en-US" sz="1600" b="1" dirty="0"/>
              <a:t>odds</a:t>
            </a:r>
            <a:r>
              <a:rPr lang="en-US" sz="1600" dirty="0"/>
              <a:t> of having diabetes. However, this is not a significant predictor as the 95% CI includes ONE and p-value is greater than 0.05 (p=0.105). </a:t>
            </a:r>
          </a:p>
        </p:txBody>
      </p:sp>
      <p:sp>
        <p:nvSpPr>
          <p:cNvPr id="15" name="Rectangle 2"/>
          <p:cNvSpPr txBox="1">
            <a:spLocks noChangeArrowheads="1"/>
          </p:cNvSpPr>
          <p:nvPr/>
        </p:nvSpPr>
        <p:spPr>
          <a:xfrm>
            <a:off x="1979712" y="141481"/>
            <a:ext cx="5400600" cy="594122"/>
          </a:xfrm>
          <a:prstGeom prst="rect">
            <a:avLst/>
          </a:prstGeom>
        </p:spPr>
        <p:txBody>
          <a:bodyPr/>
          <a:lstStyle>
            <a:lvl1pPr algn="l" defTabSz="457200" rtl="0" eaLnBrk="1" fontAlgn="base" hangingPunct="1">
              <a:lnSpc>
                <a:spcPct val="90000"/>
              </a:lnSpc>
              <a:spcBef>
                <a:spcPct val="0"/>
              </a:spcBef>
              <a:spcAft>
                <a:spcPct val="0"/>
              </a:spcAft>
              <a:defRPr sz="3300" b="1" i="0" kern="1200">
                <a:solidFill>
                  <a:schemeClr val="tx1"/>
                </a:solidFill>
                <a:latin typeface="Trebuchet MS" panose="020B0603020202020204" pitchFamily="34" charset="0"/>
                <a:ea typeface="ＭＳ Ｐゴシック" pitchFamily="-65" charset="-128"/>
                <a:cs typeface="Trebuchet MS" panose="020B0603020202020204" pitchFamily="34"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pPr algn="ctr"/>
            <a:r>
              <a:rPr lang="en-US" altLang="en-US" dirty="0">
                <a:latin typeface="+mj-lt"/>
              </a:rPr>
              <a:t>Multiple logistic regression</a:t>
            </a:r>
          </a:p>
        </p:txBody>
      </p:sp>
    </p:spTree>
    <p:extLst>
      <p:ext uri="{BB962C8B-B14F-4D97-AF65-F5344CB8AC3E}">
        <p14:creationId xmlns:p14="http://schemas.microsoft.com/office/powerpoint/2010/main" val="151320860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403648" y="195486"/>
            <a:ext cx="6624736" cy="583574"/>
          </a:xfrm>
        </p:spPr>
        <p:txBody>
          <a:bodyPr>
            <a:noAutofit/>
          </a:bodyPr>
          <a:lstStyle/>
          <a:p>
            <a:r>
              <a:rPr lang="en-US" sz="3200" dirty="0"/>
              <a:t>Effect measures for Binary outcome*</a:t>
            </a:r>
          </a:p>
        </p:txBody>
      </p:sp>
      <mc:AlternateContent xmlns:mc="http://schemas.openxmlformats.org/markup-compatibility/2006" xmlns:a14="http://schemas.microsoft.com/office/drawing/2010/main">
        <mc:Choice Requires="a14">
          <p:sp>
            <p:nvSpPr>
              <p:cNvPr id="5" name="Rektangel 4"/>
              <p:cNvSpPr/>
              <p:nvPr/>
            </p:nvSpPr>
            <p:spPr>
              <a:xfrm>
                <a:off x="467544" y="789553"/>
                <a:ext cx="8424936" cy="3807645"/>
              </a:xfrm>
              <a:prstGeom prst="rect">
                <a:avLst/>
              </a:prstGeom>
            </p:spPr>
            <p:txBody>
              <a:bodyPr wrap="square">
                <a:spAutoFit/>
              </a:bodyPr>
              <a:lstStyle/>
              <a:p>
                <a:pPr>
                  <a:buFontTx/>
                  <a:buNone/>
                </a:pPr>
                <a:r>
                  <a:rPr lang="en-US" altLang="en-US" sz="1600" b="1" dirty="0">
                    <a:solidFill>
                      <a:schemeClr val="accent1"/>
                    </a:solidFill>
                    <a:latin typeface="+mn-lt"/>
                    <a:ea typeface="Verdana" panose="020B0604030504040204" pitchFamily="34" charset="0"/>
                  </a:rPr>
                  <a:t>Risk:</a:t>
                </a:r>
                <a:r>
                  <a:rPr lang="en-US" altLang="en-US" sz="1600" dirty="0">
                    <a:solidFill>
                      <a:schemeClr val="accent1"/>
                    </a:solidFill>
                    <a:latin typeface="+mn-lt"/>
                    <a:ea typeface="Verdana" panose="020B0604030504040204" pitchFamily="34" charset="0"/>
                  </a:rPr>
                  <a:t> </a:t>
                </a:r>
                <a:r>
                  <a:rPr lang="en-US" altLang="en-US" sz="1600" dirty="0">
                    <a:latin typeface="+mn-lt"/>
                    <a:ea typeface="Verdana" panose="020B0604030504040204" pitchFamily="34" charset="0"/>
                  </a:rPr>
                  <a:t>How probable is it to get a positive outcome given X	</a:t>
                </a:r>
                <a14:m>
                  <m:oMath xmlns:m="http://schemas.openxmlformats.org/officeDocument/2006/math">
                    <m:r>
                      <m:rPr>
                        <m:sty m:val="p"/>
                      </m:rPr>
                      <a:rPr lang="sv-SE" sz="1600" b="0" i="0" smtClean="0">
                        <a:latin typeface="Cambria Math" panose="02040503050406030204" pitchFamily="18" charset="0"/>
                      </a:rPr>
                      <m:t>Risk</m:t>
                    </m:r>
                    <m:r>
                      <a:rPr lang="sv-SE" sz="1600" b="0" i="0" smtClean="0">
                        <a:latin typeface="Cambria Math" panose="02040503050406030204" pitchFamily="18" charset="0"/>
                      </a:rPr>
                      <m:t>(</m:t>
                    </m:r>
                    <m:r>
                      <m:rPr>
                        <m:sty m:val="p"/>
                      </m:rPr>
                      <a:rPr lang="sv-SE" sz="1600" b="0" i="0" smtClean="0">
                        <a:latin typeface="Cambria Math" panose="02040503050406030204" pitchFamily="18" charset="0"/>
                      </a:rPr>
                      <m:t>x</m:t>
                    </m:r>
                    <m:r>
                      <a:rPr lang="sv-SE" sz="1600" b="0" i="0" smtClean="0">
                        <a:latin typeface="Cambria Math" panose="02040503050406030204" pitchFamily="18" charset="0"/>
                      </a:rPr>
                      <m:t>)=</m:t>
                    </m:r>
                    <m:r>
                      <m:rPr>
                        <m:sty m:val="p"/>
                      </m:rPr>
                      <a:rPr lang="sv-SE" sz="1600">
                        <a:latin typeface="Cambria Math" panose="02040503050406030204" pitchFamily="18" charset="0"/>
                      </a:rPr>
                      <m:t>P</m:t>
                    </m:r>
                    <m:d>
                      <m:dPr>
                        <m:ctrlPr>
                          <a:rPr lang="sv-SE" sz="1600" i="1">
                            <a:latin typeface="Cambria Math" panose="02040503050406030204" pitchFamily="18" charset="0"/>
                          </a:rPr>
                        </m:ctrlPr>
                      </m:dPr>
                      <m:e>
                        <m:r>
                          <a:rPr lang="sv-SE" sz="1600" i="1">
                            <a:latin typeface="Cambria Math" panose="02040503050406030204" pitchFamily="18" charset="0"/>
                          </a:rPr>
                          <m:t>𝑦</m:t>
                        </m:r>
                      </m:e>
                      <m:e>
                        <m:r>
                          <a:rPr lang="sv-SE" sz="1600" i="1">
                            <a:latin typeface="Cambria Math" panose="02040503050406030204" pitchFamily="18" charset="0"/>
                          </a:rPr>
                          <m:t>𝑥</m:t>
                        </m:r>
                      </m:e>
                    </m:d>
                  </m:oMath>
                </a14:m>
                <a:endParaRPr lang="en-US" altLang="en-US" sz="1600" dirty="0">
                  <a:latin typeface="+mn-lt"/>
                  <a:ea typeface="Verdana" panose="020B0604030504040204" pitchFamily="34" charset="0"/>
                </a:endParaRPr>
              </a:p>
              <a:p>
                <a:pPr>
                  <a:spcBef>
                    <a:spcPts val="900"/>
                  </a:spcBef>
                </a:pPr>
                <a:r>
                  <a:rPr lang="en-US" altLang="en-US" sz="1600" b="1" dirty="0">
                    <a:solidFill>
                      <a:schemeClr val="accent1"/>
                    </a:solidFill>
                    <a:latin typeface="+mn-lt"/>
                    <a:ea typeface="Verdana" panose="020B0604030504040204" pitchFamily="34" charset="0"/>
                  </a:rPr>
                  <a:t>Odds:</a:t>
                </a:r>
                <a:r>
                  <a:rPr lang="en-US" altLang="en-US" sz="1600" dirty="0">
                    <a:solidFill>
                      <a:schemeClr val="accent1"/>
                    </a:solidFill>
                    <a:latin typeface="+mn-lt"/>
                    <a:ea typeface="Verdana" panose="020B0604030504040204" pitchFamily="34" charset="0"/>
                  </a:rPr>
                  <a:t> </a:t>
                </a:r>
                <a:r>
                  <a:rPr lang="en-US" altLang="en-US" sz="1600" dirty="0">
                    <a:latin typeface="+mn-lt"/>
                    <a:ea typeface="Verdana" panose="020B0604030504040204" pitchFamily="34" charset="0"/>
                  </a:rPr>
                  <a:t>Odds are the ratio of positive outcomes to negative outcomes.	</a:t>
                </a:r>
                <a14:m>
                  <m:oMath xmlns:m="http://schemas.openxmlformats.org/officeDocument/2006/math">
                    <m:r>
                      <a:rPr lang="sv-SE" sz="1600" b="0" i="1" smtClean="0">
                        <a:latin typeface="Cambria Math" panose="02040503050406030204" pitchFamily="18" charset="0"/>
                      </a:rPr>
                      <m:t>𝑂𝑑𝑑𝑠</m:t>
                    </m:r>
                    <m:r>
                      <a:rPr lang="sv-SE" sz="1600" b="0" i="1" smtClean="0">
                        <a:latin typeface="Cambria Math" panose="02040503050406030204" pitchFamily="18" charset="0"/>
                      </a:rPr>
                      <m:t>(</m:t>
                    </m:r>
                    <m:r>
                      <a:rPr lang="sv-SE" sz="1600" b="0" i="1" smtClean="0">
                        <a:latin typeface="Cambria Math" panose="02040503050406030204" pitchFamily="18" charset="0"/>
                      </a:rPr>
                      <m:t>𝑥</m:t>
                    </m:r>
                    <m:r>
                      <a:rPr lang="sv-SE" sz="1600" b="0" i="1" smtClean="0">
                        <a:latin typeface="Cambria Math" panose="02040503050406030204" pitchFamily="18" charset="0"/>
                      </a:rPr>
                      <m:t>)=</m:t>
                    </m:r>
                    <m:f>
                      <m:fPr>
                        <m:ctrlPr>
                          <a:rPr lang="sv-SE" sz="1600" i="1">
                            <a:latin typeface="Cambria Math" panose="02040503050406030204" pitchFamily="18" charset="0"/>
                          </a:rPr>
                        </m:ctrlPr>
                      </m:fPr>
                      <m:num>
                        <m:r>
                          <m:rPr>
                            <m:sty m:val="p"/>
                          </m:rPr>
                          <a:rPr lang="sv-SE" sz="1600">
                            <a:latin typeface="Cambria Math" panose="02040503050406030204" pitchFamily="18" charset="0"/>
                          </a:rPr>
                          <m:t>P</m:t>
                        </m:r>
                        <m:d>
                          <m:dPr>
                            <m:ctrlPr>
                              <a:rPr lang="sv-SE" sz="1600" i="1">
                                <a:latin typeface="Cambria Math" panose="02040503050406030204" pitchFamily="18" charset="0"/>
                              </a:rPr>
                            </m:ctrlPr>
                          </m:dPr>
                          <m:e>
                            <m:r>
                              <a:rPr lang="sv-SE" sz="1600" i="1">
                                <a:latin typeface="Cambria Math" panose="02040503050406030204" pitchFamily="18" charset="0"/>
                              </a:rPr>
                              <m:t>𝑦</m:t>
                            </m:r>
                          </m:e>
                          <m:e>
                            <m:r>
                              <a:rPr lang="sv-SE" sz="1600" i="1">
                                <a:latin typeface="Cambria Math" panose="02040503050406030204" pitchFamily="18" charset="0"/>
                              </a:rPr>
                              <m:t>𝑥</m:t>
                            </m:r>
                          </m:e>
                        </m:d>
                      </m:num>
                      <m:den>
                        <m:r>
                          <a:rPr lang="sv-SE" sz="1600" i="1">
                            <a:latin typeface="Cambria Math" panose="02040503050406030204" pitchFamily="18" charset="0"/>
                          </a:rPr>
                          <m:t>1−</m:t>
                        </m:r>
                        <m:r>
                          <m:rPr>
                            <m:nor/>
                          </m:rPr>
                          <a:rPr lang="sv-SE" sz="1600">
                            <a:latin typeface="+mn-lt"/>
                            <a:ea typeface="Verdana" panose="020B0604030504040204" pitchFamily="34" charset="0"/>
                          </a:rPr>
                          <m:t>P</m:t>
                        </m:r>
                        <m:d>
                          <m:dPr>
                            <m:ctrlPr>
                              <a:rPr lang="sv-SE" sz="1600" i="1">
                                <a:latin typeface="Cambria Math" panose="02040503050406030204" pitchFamily="18" charset="0"/>
                              </a:rPr>
                            </m:ctrlPr>
                          </m:dPr>
                          <m:e>
                            <m:r>
                              <a:rPr lang="sv-SE" sz="1600" i="1">
                                <a:latin typeface="Cambria Math" panose="02040503050406030204" pitchFamily="18" charset="0"/>
                              </a:rPr>
                              <m:t>𝑦</m:t>
                            </m:r>
                          </m:e>
                          <m:e>
                            <m:r>
                              <a:rPr lang="sv-SE" sz="1600" i="1">
                                <a:latin typeface="Cambria Math" panose="02040503050406030204" pitchFamily="18" charset="0"/>
                              </a:rPr>
                              <m:t>𝑥</m:t>
                            </m:r>
                          </m:e>
                        </m:d>
                      </m:den>
                    </m:f>
                  </m:oMath>
                </a14:m>
                <a:endParaRPr lang="en-US" altLang="en-US" sz="1600" dirty="0">
                  <a:latin typeface="+mn-lt"/>
                  <a:ea typeface="Verdana" panose="020B0604030504040204" pitchFamily="34" charset="0"/>
                </a:endParaRPr>
              </a:p>
              <a:p>
                <a:pPr>
                  <a:spcBef>
                    <a:spcPts val="900"/>
                  </a:spcBef>
                </a:pPr>
                <a:r>
                  <a:rPr lang="en-US" altLang="en-US" sz="1600" b="1" dirty="0">
                    <a:solidFill>
                      <a:schemeClr val="accent1"/>
                    </a:solidFill>
                    <a:latin typeface="+mn-lt"/>
                    <a:ea typeface="Verdana" panose="020B0604030504040204" pitchFamily="34" charset="0"/>
                  </a:rPr>
                  <a:t>Odds ratio: </a:t>
                </a:r>
                <a:r>
                  <a:rPr lang="en-US" altLang="en-US" sz="1600" dirty="0">
                    <a:latin typeface="+mn-lt"/>
                    <a:ea typeface="Verdana" panose="020B0604030504040204" pitchFamily="34" charset="0"/>
                  </a:rPr>
                  <a:t>“How many times larger is the odds when X=t compared to when X=t-1”</a:t>
                </a:r>
              </a:p>
              <a:p>
                <a:pPr>
                  <a:buFontTx/>
                  <a:buNone/>
                </a:pPr>
                <a14:m>
                  <m:oMathPara xmlns:m="http://schemas.openxmlformats.org/officeDocument/2006/math">
                    <m:oMathParaPr>
                      <m:jc m:val="centerGroup"/>
                    </m:oMathParaPr>
                    <m:oMath xmlns:m="http://schemas.openxmlformats.org/officeDocument/2006/math">
                      <m:r>
                        <a:rPr lang="sv-SE" sz="1600" i="1">
                          <a:latin typeface="Cambria Math" panose="02040503050406030204" pitchFamily="18" charset="0"/>
                        </a:rPr>
                        <m:t>𝑂</m:t>
                      </m:r>
                      <m:r>
                        <a:rPr lang="sv-SE" sz="1600" b="0" i="1" smtClean="0">
                          <a:latin typeface="Cambria Math" panose="02040503050406030204" pitchFamily="18" charset="0"/>
                        </a:rPr>
                        <m:t>𝑅</m:t>
                      </m:r>
                      <m:r>
                        <a:rPr lang="sv-SE" sz="1600" i="1">
                          <a:latin typeface="Cambria Math" panose="02040503050406030204" pitchFamily="18" charset="0"/>
                        </a:rPr>
                        <m:t>(</m:t>
                      </m:r>
                      <m:r>
                        <a:rPr lang="sv-SE" sz="1600" i="1">
                          <a:latin typeface="Cambria Math" panose="02040503050406030204" pitchFamily="18" charset="0"/>
                        </a:rPr>
                        <m:t>𝑥</m:t>
                      </m:r>
                      <m:r>
                        <a:rPr lang="sv-SE" sz="1600" b="0" i="1" smtClean="0">
                          <a:latin typeface="Cambria Math" panose="02040503050406030204" pitchFamily="18" charset="0"/>
                        </a:rPr>
                        <m:t>=</m:t>
                      </m:r>
                      <m:r>
                        <a:rPr lang="sv-SE" sz="1600" b="0" i="1" smtClean="0">
                          <a:latin typeface="Cambria Math" panose="02040503050406030204" pitchFamily="18" charset="0"/>
                        </a:rPr>
                        <m:t>𝑡</m:t>
                      </m:r>
                      <m:r>
                        <a:rPr lang="sv-SE" sz="1600" b="0" i="1" smtClean="0">
                          <a:latin typeface="Cambria Math" panose="02040503050406030204" pitchFamily="18" charset="0"/>
                        </a:rPr>
                        <m:t> </m:t>
                      </m:r>
                      <m:r>
                        <a:rPr lang="sv-SE" sz="1600" b="0" i="1" smtClean="0">
                          <a:latin typeface="Cambria Math" panose="02040503050406030204" pitchFamily="18" charset="0"/>
                        </a:rPr>
                        <m:t>𝑣𝑠</m:t>
                      </m:r>
                      <m:r>
                        <a:rPr lang="sv-SE" sz="1600" b="0" i="1" smtClean="0">
                          <a:latin typeface="Cambria Math" panose="02040503050406030204" pitchFamily="18" charset="0"/>
                        </a:rPr>
                        <m:t> </m:t>
                      </m:r>
                      <m:r>
                        <a:rPr lang="sv-SE" sz="1600" b="0" i="1" smtClean="0">
                          <a:latin typeface="Cambria Math" panose="02040503050406030204" pitchFamily="18" charset="0"/>
                        </a:rPr>
                        <m:t>𝑥</m:t>
                      </m:r>
                      <m:r>
                        <a:rPr lang="sv-SE" sz="1600" b="0" i="1" smtClean="0">
                          <a:latin typeface="Cambria Math" panose="02040503050406030204" pitchFamily="18" charset="0"/>
                        </a:rPr>
                        <m:t>=</m:t>
                      </m:r>
                      <m:r>
                        <a:rPr lang="sv-SE" sz="1600" b="0" i="1" smtClean="0">
                          <a:latin typeface="Cambria Math" panose="02040503050406030204" pitchFamily="18" charset="0"/>
                        </a:rPr>
                        <m:t>𝑡</m:t>
                      </m:r>
                      <m:r>
                        <a:rPr lang="sv-SE" sz="1600" b="0" i="1" smtClean="0">
                          <a:latin typeface="Cambria Math" panose="02040503050406030204" pitchFamily="18" charset="0"/>
                        </a:rPr>
                        <m:t>−1)=</m:t>
                      </m:r>
                      <m:f>
                        <m:fPr>
                          <m:ctrlPr>
                            <a:rPr lang="sv-SE" sz="1600" i="1">
                              <a:latin typeface="Cambria Math" panose="02040503050406030204" pitchFamily="18" charset="0"/>
                            </a:rPr>
                          </m:ctrlPr>
                        </m:fPr>
                        <m:num>
                          <m:r>
                            <a:rPr lang="sv-SE" sz="1600" b="0" i="1" smtClean="0">
                              <a:latin typeface="Cambria Math" panose="02040503050406030204" pitchFamily="18" charset="0"/>
                            </a:rPr>
                            <m:t>𝑂𝑑𝑑𝑠</m:t>
                          </m:r>
                          <m:r>
                            <a:rPr lang="sv-SE" sz="1600" b="0" i="1" smtClean="0">
                              <a:latin typeface="Cambria Math" panose="02040503050406030204" pitchFamily="18" charset="0"/>
                            </a:rPr>
                            <m:t>(</m:t>
                          </m:r>
                          <m:r>
                            <a:rPr lang="sv-SE" sz="1600" b="0" i="1" smtClean="0">
                              <a:latin typeface="Cambria Math" panose="02040503050406030204" pitchFamily="18" charset="0"/>
                            </a:rPr>
                            <m:t>𝑥</m:t>
                          </m:r>
                          <m:r>
                            <a:rPr lang="sv-SE" sz="1600" b="0" i="1" smtClean="0">
                              <a:latin typeface="Cambria Math" panose="02040503050406030204" pitchFamily="18" charset="0"/>
                            </a:rPr>
                            <m:t>=</m:t>
                          </m:r>
                          <m:r>
                            <a:rPr lang="sv-SE" sz="1600" b="0" i="1" smtClean="0">
                              <a:latin typeface="Cambria Math" panose="02040503050406030204" pitchFamily="18" charset="0"/>
                            </a:rPr>
                            <m:t>𝑡</m:t>
                          </m:r>
                          <m:r>
                            <a:rPr lang="sv-SE" sz="1600" b="0" i="1" smtClean="0">
                              <a:latin typeface="Cambria Math" panose="02040503050406030204" pitchFamily="18" charset="0"/>
                            </a:rPr>
                            <m:t>)</m:t>
                          </m:r>
                        </m:num>
                        <m:den>
                          <m:r>
                            <a:rPr lang="sv-SE" sz="1600" b="0" i="1" smtClean="0">
                              <a:latin typeface="Cambria Math" panose="02040503050406030204" pitchFamily="18" charset="0"/>
                            </a:rPr>
                            <m:t>𝑂𝑑𝑑𝑠</m:t>
                          </m:r>
                          <m:r>
                            <a:rPr lang="sv-SE" sz="1600" b="0" i="1" smtClean="0">
                              <a:latin typeface="Cambria Math" panose="02040503050406030204" pitchFamily="18" charset="0"/>
                            </a:rPr>
                            <m:t>(</m:t>
                          </m:r>
                          <m:r>
                            <a:rPr lang="sv-SE" sz="1600" b="0" i="1" smtClean="0">
                              <a:latin typeface="Cambria Math" panose="02040503050406030204" pitchFamily="18" charset="0"/>
                            </a:rPr>
                            <m:t>𝑥</m:t>
                          </m:r>
                          <m:r>
                            <a:rPr lang="sv-SE" sz="1600" b="0" i="1" smtClean="0">
                              <a:latin typeface="Cambria Math" panose="02040503050406030204" pitchFamily="18" charset="0"/>
                            </a:rPr>
                            <m:t>=</m:t>
                          </m:r>
                          <m:r>
                            <a:rPr lang="sv-SE" sz="1600" b="0" i="1" smtClean="0">
                              <a:latin typeface="Cambria Math" panose="02040503050406030204" pitchFamily="18" charset="0"/>
                            </a:rPr>
                            <m:t>𝑡</m:t>
                          </m:r>
                          <m:r>
                            <a:rPr lang="sv-SE" sz="1600" b="0" i="1" smtClean="0">
                              <a:latin typeface="Cambria Math" panose="02040503050406030204" pitchFamily="18" charset="0"/>
                            </a:rPr>
                            <m:t>−1)</m:t>
                          </m:r>
                        </m:den>
                      </m:f>
                    </m:oMath>
                  </m:oMathPara>
                </a14:m>
                <a:endParaRPr lang="en-US" altLang="en-US" sz="1600" dirty="0">
                  <a:latin typeface="+mn-lt"/>
                  <a:ea typeface="Verdana" panose="020B0604030504040204" pitchFamily="34" charset="0"/>
                </a:endParaRPr>
              </a:p>
              <a:p>
                <a:pPr>
                  <a:spcBef>
                    <a:spcPts val="900"/>
                  </a:spcBef>
                </a:pPr>
                <a:r>
                  <a:rPr lang="en-US" altLang="en-US" sz="1600" b="1" dirty="0">
                    <a:solidFill>
                      <a:schemeClr val="accent1"/>
                    </a:solidFill>
                    <a:latin typeface="+mn-lt"/>
                    <a:ea typeface="Verdana" panose="020B0604030504040204" pitchFamily="34" charset="0"/>
                  </a:rPr>
                  <a:t>Risk ratio(Relative risk): </a:t>
                </a:r>
                <a:r>
                  <a:rPr lang="en-US" altLang="en-US" sz="1600" dirty="0">
                    <a:latin typeface="+mn-lt"/>
                    <a:ea typeface="Verdana" panose="020B0604030504040204" pitchFamily="34" charset="0"/>
                  </a:rPr>
                  <a:t>“How many times larger is the probability for a positive outcome when X=t compared to when X=t-1”</a:t>
                </a:r>
              </a:p>
              <a:p>
                <a:pPr>
                  <a:buFontTx/>
                  <a:buNone/>
                </a:pPr>
                <a14:m>
                  <m:oMathPara xmlns:m="http://schemas.openxmlformats.org/officeDocument/2006/math">
                    <m:oMathParaPr>
                      <m:jc m:val="centerGroup"/>
                    </m:oMathParaPr>
                    <m:oMath xmlns:m="http://schemas.openxmlformats.org/officeDocument/2006/math">
                      <m:r>
                        <a:rPr lang="sv-SE" sz="1600" b="0" i="1" smtClean="0">
                          <a:latin typeface="Cambria Math" panose="02040503050406030204" pitchFamily="18" charset="0"/>
                        </a:rPr>
                        <m:t>𝑅</m:t>
                      </m:r>
                      <m:r>
                        <a:rPr lang="sv-SE" sz="1600" i="1">
                          <a:latin typeface="Cambria Math" panose="02040503050406030204" pitchFamily="18" charset="0"/>
                        </a:rPr>
                        <m:t>𝑅</m:t>
                      </m:r>
                      <m:r>
                        <a:rPr lang="sv-SE" sz="1600" i="1">
                          <a:latin typeface="Cambria Math" panose="02040503050406030204" pitchFamily="18" charset="0"/>
                        </a:rPr>
                        <m:t>(</m:t>
                      </m:r>
                      <m:r>
                        <a:rPr lang="sv-SE" sz="1600" i="1">
                          <a:latin typeface="Cambria Math" panose="02040503050406030204" pitchFamily="18" charset="0"/>
                        </a:rPr>
                        <m:t>𝑥</m:t>
                      </m:r>
                      <m:r>
                        <a:rPr lang="sv-SE" sz="1600" i="1">
                          <a:latin typeface="Cambria Math" panose="02040503050406030204" pitchFamily="18" charset="0"/>
                        </a:rPr>
                        <m:t>=</m:t>
                      </m:r>
                      <m:r>
                        <a:rPr lang="sv-SE" sz="1600" i="1">
                          <a:latin typeface="Cambria Math" panose="02040503050406030204" pitchFamily="18" charset="0"/>
                        </a:rPr>
                        <m:t>𝑡</m:t>
                      </m:r>
                      <m:r>
                        <a:rPr lang="sv-SE" sz="1600" i="1">
                          <a:latin typeface="Cambria Math" panose="02040503050406030204" pitchFamily="18" charset="0"/>
                        </a:rPr>
                        <m:t> </m:t>
                      </m:r>
                      <m:r>
                        <a:rPr lang="sv-SE" sz="1600" i="1">
                          <a:latin typeface="Cambria Math" panose="02040503050406030204" pitchFamily="18" charset="0"/>
                        </a:rPr>
                        <m:t>𝑣𝑠</m:t>
                      </m:r>
                      <m:r>
                        <a:rPr lang="sv-SE" sz="1600" i="1">
                          <a:latin typeface="Cambria Math" panose="02040503050406030204" pitchFamily="18" charset="0"/>
                        </a:rPr>
                        <m:t> </m:t>
                      </m:r>
                      <m:r>
                        <a:rPr lang="sv-SE" sz="1600" i="1">
                          <a:latin typeface="Cambria Math" panose="02040503050406030204" pitchFamily="18" charset="0"/>
                        </a:rPr>
                        <m:t>𝑥</m:t>
                      </m:r>
                      <m:r>
                        <a:rPr lang="sv-SE" sz="1600" i="1">
                          <a:latin typeface="Cambria Math" panose="02040503050406030204" pitchFamily="18" charset="0"/>
                        </a:rPr>
                        <m:t>=</m:t>
                      </m:r>
                      <m:r>
                        <a:rPr lang="sv-SE" sz="1600" i="1">
                          <a:latin typeface="Cambria Math" panose="02040503050406030204" pitchFamily="18" charset="0"/>
                        </a:rPr>
                        <m:t>𝑡</m:t>
                      </m:r>
                      <m:r>
                        <a:rPr lang="sv-SE" sz="1600" i="1">
                          <a:latin typeface="Cambria Math" panose="02040503050406030204" pitchFamily="18" charset="0"/>
                        </a:rPr>
                        <m:t>−1)=</m:t>
                      </m:r>
                      <m:f>
                        <m:fPr>
                          <m:ctrlPr>
                            <a:rPr lang="sv-SE" sz="1600" i="1">
                              <a:latin typeface="Cambria Math" panose="02040503050406030204" pitchFamily="18" charset="0"/>
                            </a:rPr>
                          </m:ctrlPr>
                        </m:fPr>
                        <m:num>
                          <m:r>
                            <a:rPr lang="sv-SE" sz="1600" b="0" i="1" smtClean="0">
                              <a:latin typeface="Cambria Math" panose="02040503050406030204" pitchFamily="18" charset="0"/>
                            </a:rPr>
                            <m:t>𝑃</m:t>
                          </m:r>
                          <m:r>
                            <a:rPr lang="sv-SE" sz="1600" i="1">
                              <a:latin typeface="Cambria Math" panose="02040503050406030204" pitchFamily="18" charset="0"/>
                            </a:rPr>
                            <m:t>(</m:t>
                          </m:r>
                          <m:r>
                            <a:rPr lang="sv-SE" sz="1600" b="0" i="1" smtClean="0">
                              <a:latin typeface="Cambria Math" panose="02040503050406030204" pitchFamily="18" charset="0"/>
                            </a:rPr>
                            <m:t>𝑦</m:t>
                          </m:r>
                          <m:r>
                            <a:rPr lang="sv-SE" sz="1600" b="0" i="1" smtClean="0">
                              <a:latin typeface="Cambria Math" panose="02040503050406030204" pitchFamily="18" charset="0"/>
                            </a:rPr>
                            <m:t>|</m:t>
                          </m:r>
                          <m:r>
                            <a:rPr lang="sv-SE" sz="1600" b="0" i="1" smtClean="0">
                              <a:latin typeface="Cambria Math" panose="02040503050406030204" pitchFamily="18" charset="0"/>
                            </a:rPr>
                            <m:t>𝑥</m:t>
                          </m:r>
                          <m:r>
                            <a:rPr lang="sv-SE" sz="1600" b="0" i="1" smtClean="0">
                              <a:latin typeface="Cambria Math" panose="02040503050406030204" pitchFamily="18" charset="0"/>
                            </a:rPr>
                            <m:t>=</m:t>
                          </m:r>
                          <m:r>
                            <a:rPr lang="sv-SE" sz="1600" b="0" i="1" smtClean="0">
                              <a:latin typeface="Cambria Math" panose="02040503050406030204" pitchFamily="18" charset="0"/>
                            </a:rPr>
                            <m:t>𝑡</m:t>
                          </m:r>
                          <m:r>
                            <a:rPr lang="sv-SE" sz="1600" i="1">
                              <a:latin typeface="Cambria Math" panose="02040503050406030204" pitchFamily="18" charset="0"/>
                            </a:rPr>
                            <m:t>)</m:t>
                          </m:r>
                        </m:num>
                        <m:den>
                          <m:r>
                            <a:rPr lang="sv-SE" sz="1600" b="0" i="1" smtClean="0">
                              <a:latin typeface="Cambria Math" panose="02040503050406030204" pitchFamily="18" charset="0"/>
                            </a:rPr>
                            <m:t>𝑃</m:t>
                          </m:r>
                          <m:r>
                            <a:rPr lang="sv-SE" sz="1600" i="1">
                              <a:latin typeface="Cambria Math" panose="02040503050406030204" pitchFamily="18" charset="0"/>
                            </a:rPr>
                            <m:t>(</m:t>
                          </m:r>
                          <m:r>
                            <a:rPr lang="sv-SE" sz="1600" b="0" i="1" smtClean="0">
                              <a:latin typeface="Cambria Math" panose="02040503050406030204" pitchFamily="18" charset="0"/>
                            </a:rPr>
                            <m:t>𝑦</m:t>
                          </m:r>
                          <m:r>
                            <a:rPr lang="sv-SE" sz="1600" b="0" i="1" smtClean="0">
                              <a:latin typeface="Cambria Math" panose="02040503050406030204" pitchFamily="18" charset="0"/>
                            </a:rPr>
                            <m:t>|</m:t>
                          </m:r>
                          <m:r>
                            <a:rPr lang="sv-SE" sz="1600" i="1">
                              <a:latin typeface="Cambria Math" panose="02040503050406030204" pitchFamily="18" charset="0"/>
                            </a:rPr>
                            <m:t>𝑥</m:t>
                          </m:r>
                          <m:r>
                            <a:rPr lang="sv-SE" sz="1600" i="1">
                              <a:latin typeface="Cambria Math" panose="02040503050406030204" pitchFamily="18" charset="0"/>
                            </a:rPr>
                            <m:t>=</m:t>
                          </m:r>
                          <m:r>
                            <a:rPr lang="sv-SE" sz="1600" i="1">
                              <a:latin typeface="Cambria Math" panose="02040503050406030204" pitchFamily="18" charset="0"/>
                            </a:rPr>
                            <m:t>𝑡</m:t>
                          </m:r>
                          <m:r>
                            <a:rPr lang="sv-SE" sz="1600" i="1">
                              <a:latin typeface="Cambria Math" panose="02040503050406030204" pitchFamily="18" charset="0"/>
                            </a:rPr>
                            <m:t>−1)</m:t>
                          </m:r>
                        </m:den>
                      </m:f>
                    </m:oMath>
                  </m:oMathPara>
                </a14:m>
                <a:endParaRPr lang="en-US" altLang="en-US" sz="1600" dirty="0">
                  <a:latin typeface="+mn-lt"/>
                  <a:ea typeface="Verdana" panose="020B0604030504040204" pitchFamily="34" charset="0"/>
                </a:endParaRPr>
              </a:p>
              <a:p>
                <a:pPr>
                  <a:spcBef>
                    <a:spcPts val="900"/>
                  </a:spcBef>
                  <a:spcAft>
                    <a:spcPts val="450"/>
                  </a:spcAft>
                </a:pPr>
                <a:r>
                  <a:rPr lang="en-US" altLang="en-US" sz="1600" b="1" dirty="0">
                    <a:solidFill>
                      <a:schemeClr val="accent1"/>
                    </a:solidFill>
                    <a:latin typeface="+mn-lt"/>
                    <a:ea typeface="Verdana" panose="020B0604030504040204" pitchFamily="34" charset="0"/>
                  </a:rPr>
                  <a:t>Risk difference: </a:t>
                </a:r>
                <a:r>
                  <a:rPr lang="en-US" altLang="en-US" sz="1600" dirty="0">
                    <a:latin typeface="+mn-lt"/>
                    <a:ea typeface="Verdana" panose="020B0604030504040204" pitchFamily="34" charset="0"/>
                  </a:rPr>
                  <a:t>“ What is the difference in percentage point (</a:t>
                </a:r>
                <a:r>
                  <a:rPr lang="en-US" altLang="en-US" sz="1600" i="1" dirty="0">
                    <a:latin typeface="+mn-lt"/>
                    <a:ea typeface="Verdana" panose="020B0604030504040204" pitchFamily="34" charset="0"/>
                  </a:rPr>
                  <a:t>pp</a:t>
                </a:r>
                <a:r>
                  <a:rPr lang="en-US" altLang="en-US" sz="1600" dirty="0">
                    <a:latin typeface="+mn-lt"/>
                    <a:ea typeface="Verdana" panose="020B0604030504040204" pitchFamily="34" charset="0"/>
                  </a:rPr>
                  <a:t>) between the risk to get a positive outcome when X=t and to when X=t-1”</a:t>
                </a:r>
              </a:p>
              <a:p>
                <a:pPr/>
                <a14:m>
                  <m:oMathPara xmlns:m="http://schemas.openxmlformats.org/officeDocument/2006/math">
                    <m:oMathParaPr>
                      <m:jc m:val="centerGroup"/>
                    </m:oMathParaPr>
                    <m:oMath xmlns:m="http://schemas.openxmlformats.org/officeDocument/2006/math">
                      <m:r>
                        <a:rPr lang="sv-SE" sz="1600" i="1">
                          <a:latin typeface="Cambria Math" panose="02040503050406030204" pitchFamily="18" charset="0"/>
                        </a:rPr>
                        <m:t>𝑅</m:t>
                      </m:r>
                      <m:r>
                        <a:rPr lang="sv-SE" sz="1600" b="0" i="1" smtClean="0">
                          <a:latin typeface="Cambria Math" panose="02040503050406030204" pitchFamily="18" charset="0"/>
                        </a:rPr>
                        <m:t>𝐷</m:t>
                      </m:r>
                      <m:d>
                        <m:dPr>
                          <m:ctrlPr>
                            <a:rPr lang="sv-SE" sz="1600" b="0" i="1">
                              <a:latin typeface="Cambria Math" panose="02040503050406030204" pitchFamily="18" charset="0"/>
                            </a:rPr>
                          </m:ctrlPr>
                        </m:dPr>
                        <m:e>
                          <m:r>
                            <a:rPr lang="sv-SE" sz="1600" i="1">
                              <a:latin typeface="Cambria Math" panose="02040503050406030204" pitchFamily="18" charset="0"/>
                            </a:rPr>
                            <m:t>𝑥</m:t>
                          </m:r>
                          <m:r>
                            <a:rPr lang="sv-SE" sz="1600" i="1">
                              <a:latin typeface="Cambria Math" panose="02040503050406030204" pitchFamily="18" charset="0"/>
                            </a:rPr>
                            <m:t>=</m:t>
                          </m:r>
                          <m:r>
                            <a:rPr lang="sv-SE" sz="1600" i="1">
                              <a:latin typeface="Cambria Math" panose="02040503050406030204" pitchFamily="18" charset="0"/>
                            </a:rPr>
                            <m:t>𝑡</m:t>
                          </m:r>
                          <m:r>
                            <a:rPr lang="sv-SE" sz="1600" i="1">
                              <a:latin typeface="Cambria Math" panose="02040503050406030204" pitchFamily="18" charset="0"/>
                            </a:rPr>
                            <m:t> </m:t>
                          </m:r>
                          <m:r>
                            <a:rPr lang="sv-SE" sz="1600" i="1">
                              <a:latin typeface="Cambria Math" panose="02040503050406030204" pitchFamily="18" charset="0"/>
                            </a:rPr>
                            <m:t>𝑣𝑠</m:t>
                          </m:r>
                          <m:r>
                            <a:rPr lang="sv-SE" sz="1600" i="1">
                              <a:latin typeface="Cambria Math" panose="02040503050406030204" pitchFamily="18" charset="0"/>
                            </a:rPr>
                            <m:t> </m:t>
                          </m:r>
                          <m:r>
                            <a:rPr lang="sv-SE" sz="1600" i="1">
                              <a:latin typeface="Cambria Math" panose="02040503050406030204" pitchFamily="18" charset="0"/>
                            </a:rPr>
                            <m:t>𝑥</m:t>
                          </m:r>
                          <m:r>
                            <a:rPr lang="sv-SE" sz="1600" i="1">
                              <a:latin typeface="Cambria Math" panose="02040503050406030204" pitchFamily="18" charset="0"/>
                            </a:rPr>
                            <m:t>=</m:t>
                          </m:r>
                          <m:r>
                            <a:rPr lang="sv-SE" sz="1600" i="1">
                              <a:latin typeface="Cambria Math" panose="02040503050406030204" pitchFamily="18" charset="0"/>
                            </a:rPr>
                            <m:t>𝑡</m:t>
                          </m:r>
                          <m:r>
                            <a:rPr lang="sv-SE" sz="1600" i="1">
                              <a:latin typeface="Cambria Math" panose="02040503050406030204" pitchFamily="18" charset="0"/>
                            </a:rPr>
                            <m:t>−1</m:t>
                          </m:r>
                        </m:e>
                      </m:d>
                      <m:r>
                        <a:rPr lang="sv-SE" sz="1600" i="1">
                          <a:latin typeface="Cambria Math" panose="02040503050406030204" pitchFamily="18" charset="0"/>
                        </a:rPr>
                        <m:t>=</m:t>
                      </m:r>
                      <m:r>
                        <a:rPr lang="sv-SE" sz="1600" i="1">
                          <a:latin typeface="Cambria Math" panose="02040503050406030204" pitchFamily="18" charset="0"/>
                        </a:rPr>
                        <m:t>𝑃</m:t>
                      </m:r>
                      <m:d>
                        <m:dPr>
                          <m:ctrlPr>
                            <a:rPr lang="sv-SE" sz="1600" i="1">
                              <a:latin typeface="Cambria Math" panose="02040503050406030204" pitchFamily="18" charset="0"/>
                            </a:rPr>
                          </m:ctrlPr>
                        </m:dPr>
                        <m:e>
                          <m:r>
                            <a:rPr lang="sv-SE" sz="1600" i="1">
                              <a:latin typeface="Cambria Math" panose="02040503050406030204" pitchFamily="18" charset="0"/>
                            </a:rPr>
                            <m:t>𝑦</m:t>
                          </m:r>
                        </m:e>
                        <m:e>
                          <m:r>
                            <a:rPr lang="sv-SE" sz="1600" i="1">
                              <a:latin typeface="Cambria Math" panose="02040503050406030204" pitchFamily="18" charset="0"/>
                            </a:rPr>
                            <m:t>𝑥</m:t>
                          </m:r>
                          <m:r>
                            <a:rPr lang="sv-SE" sz="1600" i="1">
                              <a:latin typeface="Cambria Math" panose="02040503050406030204" pitchFamily="18" charset="0"/>
                            </a:rPr>
                            <m:t>=</m:t>
                          </m:r>
                          <m:r>
                            <a:rPr lang="sv-SE" sz="1600" i="1">
                              <a:latin typeface="Cambria Math" panose="02040503050406030204" pitchFamily="18" charset="0"/>
                            </a:rPr>
                            <m:t>𝑡</m:t>
                          </m:r>
                        </m:e>
                      </m:d>
                      <m:r>
                        <a:rPr lang="sv-SE" sz="1600" b="0" i="1" smtClean="0">
                          <a:latin typeface="Cambria Math" panose="02040503050406030204" pitchFamily="18" charset="0"/>
                        </a:rPr>
                        <m:t>−</m:t>
                      </m:r>
                      <m:r>
                        <a:rPr lang="sv-SE" sz="1600" i="1">
                          <a:latin typeface="Cambria Math" panose="02040503050406030204" pitchFamily="18" charset="0"/>
                        </a:rPr>
                        <m:t>𝑃</m:t>
                      </m:r>
                      <m:d>
                        <m:dPr>
                          <m:ctrlPr>
                            <a:rPr lang="sv-SE" sz="1600" i="1">
                              <a:latin typeface="Cambria Math" panose="02040503050406030204" pitchFamily="18" charset="0"/>
                            </a:rPr>
                          </m:ctrlPr>
                        </m:dPr>
                        <m:e>
                          <m:r>
                            <a:rPr lang="sv-SE" sz="1600" i="1">
                              <a:latin typeface="Cambria Math" panose="02040503050406030204" pitchFamily="18" charset="0"/>
                            </a:rPr>
                            <m:t>𝑦</m:t>
                          </m:r>
                        </m:e>
                        <m:e>
                          <m:r>
                            <a:rPr lang="sv-SE" sz="1600" i="1">
                              <a:latin typeface="Cambria Math" panose="02040503050406030204" pitchFamily="18" charset="0"/>
                            </a:rPr>
                            <m:t>𝑥</m:t>
                          </m:r>
                          <m:r>
                            <a:rPr lang="sv-SE" sz="1600" i="1">
                              <a:latin typeface="Cambria Math" panose="02040503050406030204" pitchFamily="18" charset="0"/>
                            </a:rPr>
                            <m:t>=</m:t>
                          </m:r>
                          <m:r>
                            <a:rPr lang="sv-SE" sz="1600" i="1">
                              <a:latin typeface="Cambria Math" panose="02040503050406030204" pitchFamily="18" charset="0"/>
                            </a:rPr>
                            <m:t>𝑡</m:t>
                          </m:r>
                          <m:r>
                            <a:rPr lang="sv-SE" sz="1600" i="1">
                              <a:latin typeface="Cambria Math" panose="02040503050406030204" pitchFamily="18" charset="0"/>
                            </a:rPr>
                            <m:t>−1</m:t>
                          </m:r>
                        </m:e>
                      </m:d>
                    </m:oMath>
                  </m:oMathPara>
                </a14:m>
                <a:endParaRPr lang="en-US" altLang="en-US" sz="1600" dirty="0">
                  <a:latin typeface="+mn-lt"/>
                  <a:ea typeface="Verdana" panose="020B0604030504040204" pitchFamily="34" charset="0"/>
                </a:endParaRPr>
              </a:p>
            </p:txBody>
          </p:sp>
        </mc:Choice>
        <mc:Fallback xmlns="">
          <p:sp>
            <p:nvSpPr>
              <p:cNvPr id="5" name="Rektangel 4"/>
              <p:cNvSpPr>
                <a:spLocks noRot="1" noChangeAspect="1" noMove="1" noResize="1" noEditPoints="1" noAdjustHandles="1" noChangeArrowheads="1" noChangeShapeType="1" noTextEdit="1"/>
              </p:cNvSpPr>
              <p:nvPr/>
            </p:nvSpPr>
            <p:spPr>
              <a:xfrm>
                <a:off x="467544" y="789553"/>
                <a:ext cx="8424936" cy="3807645"/>
              </a:xfrm>
              <a:prstGeom prst="rect">
                <a:avLst/>
              </a:prstGeom>
              <a:blipFill>
                <a:blip r:embed="rId3"/>
                <a:stretch>
                  <a:fillRect l="-434" t="-481" r="-2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4395065-B12F-4BA5-A863-88083C81DB6C}"/>
              </a:ext>
            </a:extLst>
          </p:cNvPr>
          <p:cNvSpPr>
            <a:spLocks noGrp="1"/>
          </p:cNvSpPr>
          <p:nvPr>
            <p:ph type="sldNum" sz="quarter" idx="4294967295"/>
          </p:nvPr>
        </p:nvSpPr>
        <p:spPr/>
        <p:txBody>
          <a:bodyPr/>
          <a:lstStyle/>
          <a:p>
            <a:pPr>
              <a:defRPr/>
            </a:pPr>
            <a:fld id="{9426A61E-93B8-384D-8975-0A89DB09A550}" type="slidenum">
              <a:rPr lang="sv-SE" smtClean="0"/>
              <a:pPr>
                <a:defRPr/>
              </a:pPr>
              <a:t>112</a:t>
            </a:fld>
            <a:endParaRPr lang="sv-SE"/>
          </a:p>
        </p:txBody>
      </p:sp>
    </p:spTree>
    <p:extLst>
      <p:ext uri="{BB962C8B-B14F-4D97-AF65-F5344CB8AC3E}">
        <p14:creationId xmlns:p14="http://schemas.microsoft.com/office/powerpoint/2010/main" val="402579913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ubrik 1"/>
          <p:cNvSpPr>
            <a:spLocks noGrp="1"/>
          </p:cNvSpPr>
          <p:nvPr>
            <p:ph type="title"/>
          </p:nvPr>
        </p:nvSpPr>
        <p:spPr>
          <a:xfrm>
            <a:off x="899592" y="195486"/>
            <a:ext cx="7416824" cy="583574"/>
          </a:xfrm>
        </p:spPr>
        <p:txBody>
          <a:bodyPr>
            <a:noAutofit/>
          </a:bodyPr>
          <a:lstStyle/>
          <a:p>
            <a:r>
              <a:rPr lang="en-US" sz="2800" dirty="0"/>
              <a:t>effect measures – Logistic regression*</a:t>
            </a:r>
          </a:p>
        </p:txBody>
      </p:sp>
      <p:sp>
        <p:nvSpPr>
          <p:cNvPr id="2" name="Platshållare för bildnummer 1"/>
          <p:cNvSpPr>
            <a:spLocks noGrp="1"/>
          </p:cNvSpPr>
          <p:nvPr>
            <p:ph type="sldNum" sz="quarter" idx="12"/>
          </p:nvPr>
        </p:nvSpPr>
        <p:spPr/>
        <p:txBody>
          <a:bodyPr/>
          <a:lstStyle/>
          <a:p>
            <a:pPr>
              <a:defRPr/>
            </a:pPr>
            <a:fld id="{A4261E0D-31A1-4E7D-B429-45B983D058AA}" type="slidenum">
              <a:rPr lang="sv-SE" smtClean="0">
                <a:solidFill>
                  <a:srgbClr val="000000">
                    <a:tint val="75000"/>
                  </a:srgbClr>
                </a:solidFill>
              </a:rPr>
              <a:pPr>
                <a:defRPr/>
              </a:pPr>
              <a:t>113</a:t>
            </a:fld>
            <a:endParaRPr lang="sv-SE" dirty="0">
              <a:solidFill>
                <a:srgbClr val="000000">
                  <a:tint val="75000"/>
                </a:srgbClr>
              </a:solidFill>
            </a:endParaRPr>
          </a:p>
        </p:txBody>
      </p:sp>
      <p:sp>
        <p:nvSpPr>
          <p:cNvPr id="8" name="textruta 7"/>
          <p:cNvSpPr txBox="1">
            <a:spLocks noChangeArrowheads="1"/>
          </p:cNvSpPr>
          <p:nvPr/>
        </p:nvSpPr>
        <p:spPr bwMode="auto">
          <a:xfrm>
            <a:off x="687016" y="831877"/>
            <a:ext cx="8096488" cy="2443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eaLnBrk="1" hangingPunct="1">
              <a:lnSpc>
                <a:spcPct val="150000"/>
              </a:lnSpc>
              <a:spcBef>
                <a:spcPts val="0"/>
              </a:spcBef>
              <a:spcAft>
                <a:spcPts val="450"/>
              </a:spcAft>
              <a:buFont typeface="Wingdings" panose="05000000000000000000" pitchFamily="2" charset="2"/>
              <a:buChar char="Ø"/>
            </a:pPr>
            <a:r>
              <a:rPr lang="en-US" sz="2400" dirty="0">
                <a:latin typeface="+mn-lt"/>
                <a:ea typeface="Verdana" panose="020B0604030504040204" pitchFamily="34" charset="0"/>
                <a:cs typeface="Times New Roman" panose="02020603050405020304" pitchFamily="18" charset="0"/>
              </a:rPr>
              <a:t>The </a:t>
            </a:r>
            <a:r>
              <a:rPr lang="en-GB" sz="2400" dirty="0">
                <a:latin typeface="+mn-lt"/>
                <a:ea typeface="Verdana" panose="020B0604030504040204" pitchFamily="34" charset="0"/>
                <a:cs typeface="Times New Roman" panose="02020603050405020304" pitchFamily="18" charset="0"/>
              </a:rPr>
              <a:t>Odds ratio (OR) used in </a:t>
            </a:r>
            <a:r>
              <a:rPr lang="en-GB" sz="2400" b="1" dirty="0">
                <a:solidFill>
                  <a:srgbClr val="002060"/>
                </a:solidFill>
                <a:latin typeface="+mn-lt"/>
                <a:ea typeface="Verdana" panose="020B0604030504040204" pitchFamily="34" charset="0"/>
                <a:cs typeface="Times New Roman" panose="02020603050405020304" pitchFamily="18" charset="0"/>
              </a:rPr>
              <a:t>Case control</a:t>
            </a:r>
            <a:r>
              <a:rPr lang="en-GB" sz="2400" dirty="0">
                <a:solidFill>
                  <a:srgbClr val="002060"/>
                </a:solidFill>
                <a:latin typeface="+mn-lt"/>
                <a:ea typeface="Verdana" panose="020B0604030504040204" pitchFamily="34" charset="0"/>
                <a:cs typeface="Times New Roman" panose="02020603050405020304" pitchFamily="18" charset="0"/>
              </a:rPr>
              <a:t> </a:t>
            </a:r>
            <a:r>
              <a:rPr lang="en-GB" sz="2400" dirty="0">
                <a:latin typeface="+mn-lt"/>
                <a:ea typeface="Verdana" panose="020B0604030504040204" pitchFamily="34" charset="0"/>
                <a:cs typeface="Times New Roman" panose="02020603050405020304" pitchFamily="18" charset="0"/>
              </a:rPr>
              <a:t>studies</a:t>
            </a:r>
          </a:p>
          <a:p>
            <a:pPr marL="342900" indent="-342900" eaLnBrk="1" hangingPunct="1">
              <a:lnSpc>
                <a:spcPct val="150000"/>
              </a:lnSpc>
              <a:spcBef>
                <a:spcPts val="0"/>
              </a:spcBef>
              <a:spcAft>
                <a:spcPts val="450"/>
              </a:spcAft>
              <a:buFont typeface="Wingdings" panose="05000000000000000000" pitchFamily="2" charset="2"/>
              <a:buChar char="Ø"/>
            </a:pPr>
            <a:r>
              <a:rPr lang="en-US" sz="2400" dirty="0">
                <a:latin typeface="+mn-lt"/>
                <a:ea typeface="Verdana" panose="020B0604030504040204" pitchFamily="34" charset="0"/>
                <a:cs typeface="Times New Roman" panose="02020603050405020304" pitchFamily="18" charset="0"/>
              </a:rPr>
              <a:t>The </a:t>
            </a:r>
            <a:r>
              <a:rPr lang="en-GB" sz="2400" dirty="0">
                <a:latin typeface="+mn-lt"/>
                <a:ea typeface="Verdana" panose="020B0604030504040204" pitchFamily="34" charset="0"/>
                <a:cs typeface="Times New Roman" panose="02020603050405020304" pitchFamily="18" charset="0"/>
              </a:rPr>
              <a:t>Prevalence ratio (PR)</a:t>
            </a:r>
            <a:r>
              <a:rPr lang="en-GB" sz="2400" b="1" dirty="0">
                <a:latin typeface="+mn-lt"/>
                <a:ea typeface="Verdana" panose="020B0604030504040204" pitchFamily="34" charset="0"/>
                <a:cs typeface="Times New Roman" panose="02020603050405020304" pitchFamily="18" charset="0"/>
              </a:rPr>
              <a:t> </a:t>
            </a:r>
            <a:r>
              <a:rPr lang="en-GB" sz="2400" dirty="0">
                <a:latin typeface="+mn-lt"/>
                <a:ea typeface="Verdana" panose="020B0604030504040204" pitchFamily="34" charset="0"/>
                <a:cs typeface="Times New Roman" panose="02020603050405020304" pitchFamily="18" charset="0"/>
              </a:rPr>
              <a:t>used in </a:t>
            </a:r>
            <a:r>
              <a:rPr lang="en-GB" sz="2400" b="1" dirty="0">
                <a:solidFill>
                  <a:srgbClr val="002060"/>
                </a:solidFill>
                <a:latin typeface="+mn-lt"/>
                <a:ea typeface="Verdana" panose="020B0604030504040204" pitchFamily="34" charset="0"/>
                <a:cs typeface="Times New Roman" panose="02020603050405020304" pitchFamily="18" charset="0"/>
              </a:rPr>
              <a:t>Cross-sectional</a:t>
            </a:r>
            <a:r>
              <a:rPr lang="en-GB" sz="2400" dirty="0">
                <a:latin typeface="+mn-lt"/>
                <a:ea typeface="Verdana" panose="020B0604030504040204" pitchFamily="34" charset="0"/>
                <a:cs typeface="Times New Roman" panose="02020603050405020304" pitchFamily="18" charset="0"/>
              </a:rPr>
              <a:t> studies</a:t>
            </a:r>
          </a:p>
          <a:p>
            <a:pPr marL="157163" indent="-342900" eaLnBrk="1" hangingPunct="1">
              <a:lnSpc>
                <a:spcPct val="150000"/>
              </a:lnSpc>
              <a:spcBef>
                <a:spcPts val="0"/>
              </a:spcBef>
              <a:spcAft>
                <a:spcPts val="450"/>
              </a:spcAft>
              <a:buFont typeface="Wingdings" panose="05000000000000000000" pitchFamily="2" charset="2"/>
              <a:buChar char="Ø"/>
            </a:pPr>
            <a:r>
              <a:rPr lang="en-GB" sz="2400" dirty="0">
                <a:latin typeface="+mn-lt"/>
                <a:ea typeface="Verdana" panose="020B0604030504040204" pitchFamily="34" charset="0"/>
                <a:cs typeface="Times New Roman" panose="02020603050405020304" pitchFamily="18" charset="0"/>
              </a:rPr>
              <a:t>Relative risks (RR) used in </a:t>
            </a:r>
            <a:r>
              <a:rPr lang="en-GB" sz="2400" b="1" dirty="0">
                <a:solidFill>
                  <a:srgbClr val="002060"/>
                </a:solidFill>
                <a:latin typeface="+mn-lt"/>
                <a:ea typeface="Verdana" panose="020B0604030504040204" pitchFamily="34" charset="0"/>
                <a:cs typeface="Times New Roman" panose="02020603050405020304" pitchFamily="18" charset="0"/>
              </a:rPr>
              <a:t>Cohort/Follow-up</a:t>
            </a:r>
            <a:r>
              <a:rPr lang="en-GB" sz="2400" dirty="0">
                <a:latin typeface="+mn-lt"/>
                <a:ea typeface="Verdana" panose="020B0604030504040204" pitchFamily="34" charset="0"/>
                <a:cs typeface="Times New Roman" panose="02020603050405020304" pitchFamily="18" charset="0"/>
              </a:rPr>
              <a:t> studies</a:t>
            </a:r>
          </a:p>
          <a:p>
            <a:pPr marL="342900" indent="-342900" eaLnBrk="1" hangingPunct="1">
              <a:lnSpc>
                <a:spcPct val="150000"/>
              </a:lnSpc>
              <a:spcBef>
                <a:spcPts val="0"/>
              </a:spcBef>
              <a:spcAft>
                <a:spcPts val="450"/>
              </a:spcAft>
              <a:buFont typeface="Wingdings" panose="05000000000000000000" pitchFamily="2" charset="2"/>
              <a:buChar char="Ø"/>
            </a:pPr>
            <a:r>
              <a:rPr lang="en-US" sz="2400" dirty="0">
                <a:latin typeface="+mn-lt"/>
                <a:ea typeface="Verdana" panose="020B0604030504040204" pitchFamily="34" charset="0"/>
                <a:cs typeface="Times New Roman" panose="02020603050405020304" pitchFamily="18" charset="0"/>
              </a:rPr>
              <a:t>The Risk differences (RD)</a:t>
            </a:r>
            <a:r>
              <a:rPr lang="en-US" sz="2400" b="1" dirty="0">
                <a:latin typeface="+mn-lt"/>
                <a:ea typeface="Verdana" panose="020B0604030504040204" pitchFamily="34" charset="0"/>
                <a:cs typeface="Times New Roman" panose="02020603050405020304" pitchFamily="18" charset="0"/>
              </a:rPr>
              <a:t> </a:t>
            </a:r>
            <a:r>
              <a:rPr lang="en-GB" sz="2400" dirty="0">
                <a:latin typeface="+mn-lt"/>
                <a:ea typeface="Verdana" panose="020B0604030504040204" pitchFamily="34" charset="0"/>
                <a:cs typeface="Times New Roman" panose="02020603050405020304" pitchFamily="18" charset="0"/>
              </a:rPr>
              <a:t>- used in </a:t>
            </a:r>
            <a:r>
              <a:rPr lang="en-GB" sz="2400" b="1" dirty="0">
                <a:solidFill>
                  <a:srgbClr val="002060"/>
                </a:solidFill>
                <a:latin typeface="+mn-lt"/>
                <a:ea typeface="Verdana" panose="020B0604030504040204" pitchFamily="34" charset="0"/>
                <a:cs typeface="Times New Roman" panose="02020603050405020304" pitchFamily="18" charset="0"/>
              </a:rPr>
              <a:t>Cohort/Follow-up</a:t>
            </a:r>
            <a:r>
              <a:rPr lang="en-GB" sz="2400" dirty="0">
                <a:latin typeface="+mn-lt"/>
                <a:ea typeface="Verdana" panose="020B0604030504040204" pitchFamily="34" charset="0"/>
                <a:cs typeface="Times New Roman" panose="02020603050405020304" pitchFamily="18" charset="0"/>
              </a:rPr>
              <a:t> </a:t>
            </a:r>
            <a:endParaRPr lang="en-US" sz="2400" b="1" dirty="0">
              <a:latin typeface="+mn-lt"/>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89418145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normAutofit/>
          </a:bodyPr>
          <a:lstStyle/>
          <a:p>
            <a:r>
              <a:rPr lang="sv-SE" sz="3600" dirty="0"/>
              <a:t>Longitudinal data</a:t>
            </a:r>
          </a:p>
        </p:txBody>
      </p:sp>
      <p:sp>
        <p:nvSpPr>
          <p:cNvPr id="3" name="Platshållare för innehåll 2"/>
          <p:cNvSpPr>
            <a:spLocks noGrp="1"/>
          </p:cNvSpPr>
          <p:nvPr>
            <p:ph idx="1"/>
          </p:nvPr>
        </p:nvSpPr>
        <p:spPr>
          <a:xfrm>
            <a:off x="971600" y="1419622"/>
            <a:ext cx="7920880" cy="2969970"/>
          </a:xfrm>
        </p:spPr>
        <p:txBody>
          <a:bodyPr>
            <a:noAutofit/>
          </a:bodyPr>
          <a:lstStyle/>
          <a:p>
            <a:pPr marL="0" indent="0">
              <a:buNone/>
            </a:pPr>
            <a:r>
              <a:rPr lang="en-US" sz="2800" dirty="0"/>
              <a:t>Note that longitudinal studies with more than 2 measurements per individual (or unequal number of observations/individual)  requires other kinds of statistical methods.</a:t>
            </a:r>
          </a:p>
          <a:p>
            <a:pPr marL="0" indent="0">
              <a:buNone/>
            </a:pPr>
            <a:r>
              <a:rPr lang="en-US" sz="2800" dirty="0"/>
              <a:t>E.g. </a:t>
            </a:r>
            <a:r>
              <a:rPr lang="en-US" sz="2800" i="1" dirty="0"/>
              <a:t>repeated measurement ANOVA </a:t>
            </a:r>
            <a:r>
              <a:rPr lang="en-US" sz="2800" dirty="0"/>
              <a:t>or </a:t>
            </a:r>
            <a:r>
              <a:rPr lang="en-US" sz="2800" i="1" dirty="0"/>
              <a:t>mixed models</a:t>
            </a:r>
            <a:r>
              <a:rPr lang="en-US" sz="2800" dirty="0"/>
              <a:t>.</a:t>
            </a:r>
          </a:p>
        </p:txBody>
      </p:sp>
      <p:sp>
        <p:nvSpPr>
          <p:cNvPr id="4" name="Platshållare för bildnummer 3"/>
          <p:cNvSpPr>
            <a:spLocks noGrp="1"/>
          </p:cNvSpPr>
          <p:nvPr>
            <p:ph type="sldNum" sz="quarter" idx="12"/>
          </p:nvPr>
        </p:nvSpPr>
        <p:spPr/>
        <p:txBody>
          <a:bodyPr/>
          <a:lstStyle/>
          <a:p>
            <a:fld id="{49D34020-361E-4A13-8C95-66E98A929282}" type="slidenum">
              <a:rPr lang="sv-SE" smtClean="0"/>
              <a:pPr/>
              <a:t>114</a:t>
            </a:fld>
            <a:endParaRPr lang="sv-SE"/>
          </a:p>
        </p:txBody>
      </p:sp>
    </p:spTree>
    <p:extLst>
      <p:ext uri="{BB962C8B-B14F-4D97-AF65-F5344CB8AC3E}">
        <p14:creationId xmlns:p14="http://schemas.microsoft.com/office/powerpoint/2010/main" val="229827499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brik 4"/>
          <p:cNvSpPr>
            <a:spLocks noGrp="1"/>
          </p:cNvSpPr>
          <p:nvPr>
            <p:ph type="title"/>
          </p:nvPr>
        </p:nvSpPr>
        <p:spPr>
          <a:xfrm>
            <a:off x="971600" y="394776"/>
            <a:ext cx="6172200" cy="695232"/>
          </a:xfrm>
        </p:spPr>
        <p:txBody>
          <a:bodyPr/>
          <a:lstStyle/>
          <a:p>
            <a:r>
              <a:rPr lang="en-US" sz="3600" dirty="0"/>
              <a:t>Before analysis: Organizing data</a:t>
            </a:r>
          </a:p>
        </p:txBody>
      </p:sp>
      <p:sp>
        <p:nvSpPr>
          <p:cNvPr id="6" name="Platshållare för innehåll 5"/>
          <p:cNvSpPr>
            <a:spLocks noGrp="1"/>
          </p:cNvSpPr>
          <p:nvPr>
            <p:ph idx="1"/>
          </p:nvPr>
        </p:nvSpPr>
        <p:spPr>
          <a:xfrm>
            <a:off x="971600" y="1090008"/>
            <a:ext cx="7560840" cy="3348372"/>
          </a:xfrm>
        </p:spPr>
        <p:txBody>
          <a:bodyPr>
            <a:normAutofit lnSpcReduction="10000"/>
          </a:bodyPr>
          <a:lstStyle/>
          <a:p>
            <a:pPr>
              <a:spcBef>
                <a:spcPts val="900"/>
              </a:spcBef>
            </a:pPr>
            <a:r>
              <a:rPr lang="en-US" dirty="0">
                <a:latin typeface="Verdana" panose="020B0604030504040204" pitchFamily="34" charset="0"/>
                <a:ea typeface="Verdana" panose="020B0604030504040204" pitchFamily="34" charset="0"/>
              </a:rPr>
              <a:t>In Excel (or another program)</a:t>
            </a:r>
          </a:p>
          <a:p>
            <a:pPr marL="257175" indent="-257175">
              <a:spcBef>
                <a:spcPts val="900"/>
              </a:spcBef>
              <a:buFont typeface="Arial" panose="020B0604020202020204" pitchFamily="34" charset="0"/>
              <a:buChar char="•"/>
            </a:pPr>
            <a:r>
              <a:rPr lang="en-US" dirty="0">
                <a:latin typeface="Verdana" panose="020B0604030504040204" pitchFamily="34" charset="0"/>
                <a:ea typeface="Verdana" panose="020B0604030504040204" pitchFamily="34" charset="0"/>
              </a:rPr>
              <a:t>One variable per column</a:t>
            </a:r>
          </a:p>
          <a:p>
            <a:pPr marL="257175" indent="-257175">
              <a:spcBef>
                <a:spcPts val="900"/>
              </a:spcBef>
              <a:buFont typeface="Arial" panose="020B0604020202020204" pitchFamily="34" charset="0"/>
              <a:buChar char="•"/>
            </a:pPr>
            <a:r>
              <a:rPr lang="en-US" dirty="0">
                <a:latin typeface="Verdana" panose="020B0604030504040204" pitchFamily="34" charset="0"/>
                <a:ea typeface="Verdana" panose="020B0604030504040204" pitchFamily="34" charset="0"/>
              </a:rPr>
              <a:t>One subject (e.g., patient) per row </a:t>
            </a:r>
          </a:p>
          <a:p>
            <a:pPr marL="257175" indent="-257175">
              <a:spcBef>
                <a:spcPts val="900"/>
              </a:spcBef>
              <a:buFont typeface="Arial" panose="020B0604020202020204" pitchFamily="34" charset="0"/>
              <a:buChar char="•"/>
            </a:pPr>
            <a:r>
              <a:rPr lang="en-US" dirty="0">
                <a:latin typeface="Verdana" panose="020B0604030504040204" pitchFamily="34" charset="0"/>
                <a:ea typeface="Verdana" panose="020B0604030504040204" pitchFamily="34" charset="0"/>
              </a:rPr>
              <a:t>One number per cell</a:t>
            </a:r>
          </a:p>
          <a:p>
            <a:pPr marL="257175" indent="-257175">
              <a:spcBef>
                <a:spcPts val="900"/>
              </a:spcBef>
              <a:buFont typeface="Arial" panose="020B0604020202020204" pitchFamily="34" charset="0"/>
              <a:buChar char="•"/>
            </a:pPr>
            <a:r>
              <a:rPr lang="en-US" dirty="0">
                <a:latin typeface="Verdana" panose="020B0604030504040204" pitchFamily="34" charset="0"/>
                <a:ea typeface="Verdana" panose="020B0604030504040204" pitchFamily="34" charset="0"/>
              </a:rPr>
              <a:t>If giving presenting variable names: only in first row</a:t>
            </a:r>
          </a:p>
          <a:p>
            <a:pPr marL="257175" indent="-257175">
              <a:spcBef>
                <a:spcPts val="900"/>
              </a:spcBef>
              <a:buFont typeface="Arial" panose="020B0604020202020204" pitchFamily="34" charset="0"/>
              <a:buChar char="•"/>
            </a:pPr>
            <a:r>
              <a:rPr lang="en-US" dirty="0">
                <a:latin typeface="Verdana" panose="020B0604030504040204" pitchFamily="34" charset="0"/>
                <a:ea typeface="Verdana" panose="020B0604030504040204" pitchFamily="34" charset="0"/>
              </a:rPr>
              <a:t>No empty rows</a:t>
            </a:r>
          </a:p>
          <a:p>
            <a:pPr marL="257175" indent="-257175">
              <a:spcBef>
                <a:spcPts val="900"/>
              </a:spcBef>
              <a:buFont typeface="Arial" panose="020B0604020202020204" pitchFamily="34" charset="0"/>
              <a:buChar char="•"/>
            </a:pPr>
            <a:r>
              <a:rPr lang="en-US" dirty="0">
                <a:latin typeface="Verdana" panose="020B0604030504040204" pitchFamily="34" charset="0"/>
                <a:ea typeface="Verdana" panose="020B0604030504040204" pitchFamily="34" charset="0"/>
              </a:rPr>
              <a:t>Empty cell means missing data (0 and missing is two different things)</a:t>
            </a:r>
          </a:p>
          <a:p>
            <a:pPr marL="257175" indent="-257175">
              <a:spcBef>
                <a:spcPts val="900"/>
              </a:spcBef>
              <a:buFont typeface="Arial" panose="020B0604020202020204" pitchFamily="34" charset="0"/>
              <a:buChar char="•"/>
            </a:pPr>
            <a:r>
              <a:rPr lang="en-US" dirty="0">
                <a:latin typeface="Verdana" panose="020B0604030504040204" pitchFamily="34" charset="0"/>
                <a:ea typeface="Verdana" panose="020B0604030504040204" pitchFamily="34" charset="0"/>
              </a:rPr>
              <a:t>No comments in the data file </a:t>
            </a: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115</a:t>
            </a:fld>
            <a:endParaRPr lang="sv-SE"/>
          </a:p>
        </p:txBody>
      </p:sp>
    </p:spTree>
    <p:extLst>
      <p:ext uri="{BB962C8B-B14F-4D97-AF65-F5344CB8AC3E}">
        <p14:creationId xmlns:p14="http://schemas.microsoft.com/office/powerpoint/2010/main" val="129334831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brik 4"/>
          <p:cNvSpPr>
            <a:spLocks noGrp="1"/>
          </p:cNvSpPr>
          <p:nvPr>
            <p:ph type="title"/>
          </p:nvPr>
        </p:nvSpPr>
        <p:spPr>
          <a:xfrm>
            <a:off x="971600" y="339502"/>
            <a:ext cx="5940000" cy="594122"/>
          </a:xfrm>
        </p:spPr>
        <p:txBody>
          <a:bodyPr/>
          <a:lstStyle/>
          <a:p>
            <a:r>
              <a:rPr lang="en-US" sz="2700" dirty="0"/>
              <a:t>Organizing data – </a:t>
            </a:r>
            <a:r>
              <a:rPr lang="en-US" sz="2700" dirty="0">
                <a:solidFill>
                  <a:srgbClr val="C00000"/>
                </a:solidFill>
              </a:rPr>
              <a:t>Incorrect</a:t>
            </a:r>
            <a:r>
              <a:rPr lang="en-US" sz="2700" i="1" dirty="0">
                <a:solidFill>
                  <a:srgbClr val="FF0000"/>
                </a:solidFill>
              </a:rPr>
              <a:t> </a:t>
            </a: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116</a:t>
            </a:fld>
            <a:endParaRPr lang="sv-SE"/>
          </a:p>
        </p:txBody>
      </p:sp>
      <p:graphicFrame>
        <p:nvGraphicFramePr>
          <p:cNvPr id="3" name="Tabell 2"/>
          <p:cNvGraphicFramePr>
            <a:graphicFrameLocks noGrp="1"/>
          </p:cNvGraphicFramePr>
          <p:nvPr>
            <p:extLst>
              <p:ext uri="{D42A27DB-BD31-4B8C-83A1-F6EECF244321}">
                <p14:modId xmlns:p14="http://schemas.microsoft.com/office/powerpoint/2010/main" val="292141475"/>
              </p:ext>
            </p:extLst>
          </p:nvPr>
        </p:nvGraphicFramePr>
        <p:xfrm>
          <a:off x="1475656" y="843556"/>
          <a:ext cx="5807969" cy="3685605"/>
        </p:xfrm>
        <a:graphic>
          <a:graphicData uri="http://schemas.openxmlformats.org/drawingml/2006/table">
            <a:tbl>
              <a:tblPr>
                <a:tableStyleId>{5C22544A-7EE6-4342-B048-85BDC9FD1C3A}</a:tableStyleId>
              </a:tblPr>
              <a:tblGrid>
                <a:gridCol w="827248">
                  <a:extLst>
                    <a:ext uri="{9D8B030D-6E8A-4147-A177-3AD203B41FA5}">
                      <a16:colId xmlns:a16="http://schemas.microsoft.com/office/drawing/2014/main" val="20000"/>
                    </a:ext>
                  </a:extLst>
                </a:gridCol>
                <a:gridCol w="827248">
                  <a:extLst>
                    <a:ext uri="{9D8B030D-6E8A-4147-A177-3AD203B41FA5}">
                      <a16:colId xmlns:a16="http://schemas.microsoft.com/office/drawing/2014/main" val="20001"/>
                    </a:ext>
                  </a:extLst>
                </a:gridCol>
                <a:gridCol w="827248">
                  <a:extLst>
                    <a:ext uri="{9D8B030D-6E8A-4147-A177-3AD203B41FA5}">
                      <a16:colId xmlns:a16="http://schemas.microsoft.com/office/drawing/2014/main" val="20002"/>
                    </a:ext>
                  </a:extLst>
                </a:gridCol>
                <a:gridCol w="3326225">
                  <a:extLst>
                    <a:ext uri="{9D8B030D-6E8A-4147-A177-3AD203B41FA5}">
                      <a16:colId xmlns:a16="http://schemas.microsoft.com/office/drawing/2014/main" val="20003"/>
                    </a:ext>
                  </a:extLst>
                </a:gridCol>
              </a:tblGrid>
              <a:tr h="245707">
                <a:tc>
                  <a:txBody>
                    <a:bodyPr/>
                    <a:lstStyle/>
                    <a:p>
                      <a:pPr algn="l" fontAlgn="b"/>
                      <a:r>
                        <a:rPr lang="en-US" sz="1400" b="1" u="none" strike="noStrike" noProof="0" dirty="0">
                          <a:effectLst/>
                        </a:rPr>
                        <a:t>Group 1</a:t>
                      </a:r>
                      <a:endParaRPr lang="en-US" sz="1400" b="1" i="0" u="none" strike="noStrike" noProof="0" dirty="0">
                        <a:solidFill>
                          <a:srgbClr val="000000"/>
                        </a:solidFill>
                        <a:effectLst/>
                        <a:latin typeface="Calibri"/>
                      </a:endParaRPr>
                    </a:p>
                  </a:txBody>
                  <a:tcPr marL="7144" marR="7144" marT="7144" marB="0" anchor="b"/>
                </a:tc>
                <a:tc>
                  <a:txBody>
                    <a:bodyPr/>
                    <a:lstStyle/>
                    <a:p>
                      <a:pPr algn="l" fontAlgn="b"/>
                      <a:r>
                        <a:rPr lang="en-US" sz="1400" b="1" u="none" strike="noStrike" noProof="0" dirty="0">
                          <a:effectLst/>
                        </a:rPr>
                        <a:t> </a:t>
                      </a:r>
                      <a:endParaRPr lang="en-US" sz="1400" b="1" i="0" u="none" strike="noStrike" noProof="0" dirty="0">
                        <a:solidFill>
                          <a:srgbClr val="000000"/>
                        </a:solidFill>
                        <a:effectLst/>
                        <a:latin typeface="Calibri"/>
                      </a:endParaRPr>
                    </a:p>
                  </a:txBody>
                  <a:tcPr marL="7144" marR="7144" marT="7144" marB="0" anchor="b"/>
                </a:tc>
                <a:tc>
                  <a:txBody>
                    <a:bodyPr/>
                    <a:lstStyle/>
                    <a:p>
                      <a:pPr algn="l" fontAlgn="b"/>
                      <a:r>
                        <a:rPr lang="en-US" sz="1400" b="1" u="none" strike="noStrike" noProof="0" dirty="0">
                          <a:effectLst/>
                        </a:rPr>
                        <a:t> </a:t>
                      </a:r>
                      <a:endParaRPr lang="en-US" sz="1400" b="1" i="0" u="none" strike="noStrike" noProof="0" dirty="0">
                        <a:solidFill>
                          <a:srgbClr val="000000"/>
                        </a:solidFill>
                        <a:effectLst/>
                        <a:latin typeface="Calibri"/>
                      </a:endParaRPr>
                    </a:p>
                  </a:txBody>
                  <a:tcPr marL="7144" marR="7144" marT="7144" marB="0" anchor="b"/>
                </a:tc>
                <a:tc>
                  <a:txBody>
                    <a:bodyPr/>
                    <a:lstStyle/>
                    <a:p>
                      <a:pPr algn="l" fontAlgn="b"/>
                      <a:r>
                        <a:rPr lang="en-US" sz="1400" b="1" u="none" strike="noStrike" noProof="0" dirty="0">
                          <a:effectLst/>
                        </a:rPr>
                        <a:t> </a:t>
                      </a:r>
                      <a:endParaRPr lang="en-US" sz="1400" b="1" i="0" u="none" strike="noStrike" noProof="0" dirty="0">
                        <a:solidFill>
                          <a:srgbClr val="000000"/>
                        </a:solidFill>
                        <a:effectLst/>
                        <a:latin typeface="Calibri"/>
                      </a:endParaRPr>
                    </a:p>
                  </a:txBody>
                  <a:tcPr marL="7144" marR="7144" marT="7144" marB="0" anchor="b"/>
                </a:tc>
                <a:extLst>
                  <a:ext uri="{0D108BD9-81ED-4DB2-BD59-A6C34878D82A}">
                    <a16:rowId xmlns:a16="http://schemas.microsoft.com/office/drawing/2014/main" val="10000"/>
                  </a:ext>
                </a:extLst>
              </a:tr>
              <a:tr h="245707">
                <a:tc>
                  <a:txBody>
                    <a:bodyPr/>
                    <a:lstStyle/>
                    <a:p>
                      <a:pPr algn="l" fontAlgn="b"/>
                      <a:r>
                        <a:rPr lang="en-US" sz="1400" b="1" u="none" strike="noStrike" noProof="0" dirty="0">
                          <a:effectLst/>
                        </a:rPr>
                        <a:t>Id</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Age</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Gender</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Symptom</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01"/>
                  </a:ext>
                </a:extLst>
              </a:tr>
              <a:tr h="245707">
                <a:tc>
                  <a:txBody>
                    <a:bodyPr/>
                    <a:lstStyle/>
                    <a:p>
                      <a:pPr algn="r" fontAlgn="b"/>
                      <a:r>
                        <a:rPr lang="en-US" sz="1400" b="1" u="none" strike="noStrike" noProof="0" dirty="0">
                          <a:effectLst/>
                        </a:rPr>
                        <a:t>1</a:t>
                      </a:r>
                      <a:endParaRPr lang="en-US" sz="1400" b="1" i="0" u="none" strike="noStrike" noProof="0" dirty="0">
                        <a:solidFill>
                          <a:srgbClr val="000000"/>
                        </a:solidFill>
                        <a:effectLst/>
                        <a:latin typeface="Calibri"/>
                      </a:endParaRPr>
                    </a:p>
                  </a:txBody>
                  <a:tcPr marL="7144" marR="7144" marT="7144" marB="0" anchor="ctr"/>
                </a:tc>
                <a:tc>
                  <a:txBody>
                    <a:bodyPr/>
                    <a:lstStyle/>
                    <a:p>
                      <a:pPr algn="r" fontAlgn="b"/>
                      <a:r>
                        <a:rPr lang="en-US" sz="1400" b="1" u="none" strike="noStrike" noProof="0" dirty="0">
                          <a:effectLst/>
                        </a:rPr>
                        <a:t>5</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Boy</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Diarrhea, Vomiting, Blood in feces, Fever</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02"/>
                  </a:ext>
                </a:extLst>
              </a:tr>
              <a:tr h="245707">
                <a:tc>
                  <a:txBody>
                    <a:bodyPr/>
                    <a:lstStyle/>
                    <a:p>
                      <a:pPr algn="r" fontAlgn="b"/>
                      <a:r>
                        <a:rPr lang="en-US" sz="1400" b="1" u="none" strike="noStrike" noProof="0" dirty="0">
                          <a:effectLst/>
                        </a:rPr>
                        <a:t>2</a:t>
                      </a:r>
                      <a:endParaRPr lang="en-US" sz="1400" b="1" i="0" u="none" strike="noStrike" noProof="0" dirty="0">
                        <a:solidFill>
                          <a:srgbClr val="000000"/>
                        </a:solidFill>
                        <a:effectLst/>
                        <a:latin typeface="Calibri"/>
                      </a:endParaRPr>
                    </a:p>
                  </a:txBody>
                  <a:tcPr marL="7144" marR="7144" marT="7144" marB="0" anchor="ctr"/>
                </a:tc>
                <a:tc>
                  <a:txBody>
                    <a:bodyPr/>
                    <a:lstStyle/>
                    <a:p>
                      <a:pPr algn="r" fontAlgn="b"/>
                      <a:r>
                        <a:rPr lang="en-US" sz="1400" b="1" u="none" strike="noStrike" noProof="0" dirty="0">
                          <a:effectLst/>
                        </a:rPr>
                        <a:t>10</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Boy</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Diarrhea</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03"/>
                  </a:ext>
                </a:extLst>
              </a:tr>
              <a:tr h="245707">
                <a:tc>
                  <a:txBody>
                    <a:bodyPr/>
                    <a:lstStyle/>
                    <a:p>
                      <a:pPr algn="r" fontAlgn="b"/>
                      <a:r>
                        <a:rPr lang="en-US" sz="1400" b="1" u="none" strike="noStrike" noProof="0" dirty="0">
                          <a:effectLst/>
                        </a:rPr>
                        <a:t>3</a:t>
                      </a:r>
                      <a:endParaRPr lang="en-US" sz="1400" b="1" i="0" u="none" strike="noStrike" noProof="0" dirty="0">
                        <a:solidFill>
                          <a:srgbClr val="000000"/>
                        </a:solidFill>
                        <a:effectLst/>
                        <a:latin typeface="Calibri"/>
                      </a:endParaRPr>
                    </a:p>
                  </a:txBody>
                  <a:tcPr marL="7144" marR="7144" marT="7144" marB="0" anchor="ctr"/>
                </a:tc>
                <a:tc>
                  <a:txBody>
                    <a:bodyPr/>
                    <a:lstStyle/>
                    <a:p>
                      <a:pPr algn="r" fontAlgn="b"/>
                      <a:r>
                        <a:rPr lang="en-US" sz="1400" b="1" u="none" strike="noStrike" noProof="0" dirty="0">
                          <a:effectLst/>
                        </a:rPr>
                        <a:t>9</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Girl</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Diarrhea</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04"/>
                  </a:ext>
                </a:extLst>
              </a:tr>
              <a:tr h="245707">
                <a:tc>
                  <a:txBody>
                    <a:bodyPr/>
                    <a:lstStyle/>
                    <a:p>
                      <a:pPr algn="r" fontAlgn="b"/>
                      <a:r>
                        <a:rPr lang="en-US" sz="1400" b="1" u="none" strike="noStrike" noProof="0" dirty="0">
                          <a:effectLst/>
                        </a:rPr>
                        <a:t>4</a:t>
                      </a:r>
                      <a:endParaRPr lang="en-US" sz="1400" b="1" i="0" u="none" strike="noStrike" noProof="0" dirty="0">
                        <a:solidFill>
                          <a:srgbClr val="000000"/>
                        </a:solidFill>
                        <a:effectLst/>
                        <a:latin typeface="Calibri"/>
                      </a:endParaRPr>
                    </a:p>
                  </a:txBody>
                  <a:tcPr marL="7144" marR="7144" marT="7144" marB="0" anchor="ctr"/>
                </a:tc>
                <a:tc>
                  <a:txBody>
                    <a:bodyPr/>
                    <a:lstStyle/>
                    <a:p>
                      <a:pPr algn="r" fontAlgn="b"/>
                      <a:r>
                        <a:rPr lang="en-US" sz="1400" b="1" u="none" strike="noStrike" noProof="0" dirty="0">
                          <a:effectLst/>
                        </a:rPr>
                        <a:t>3</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Girl</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Vomiting,  Fever</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05"/>
                  </a:ext>
                </a:extLst>
              </a:tr>
              <a:tr h="245707">
                <a:tc>
                  <a:txBody>
                    <a:bodyPr/>
                    <a:lstStyle/>
                    <a:p>
                      <a:pPr algn="r" fontAlgn="b"/>
                      <a:r>
                        <a:rPr lang="en-US" sz="1400" b="1" u="none" strike="noStrike" noProof="0" dirty="0">
                          <a:effectLst/>
                        </a:rPr>
                        <a:t>5</a:t>
                      </a:r>
                      <a:endParaRPr lang="en-US" sz="1400" b="1" i="0" u="none" strike="noStrike" noProof="0" dirty="0">
                        <a:solidFill>
                          <a:srgbClr val="000000"/>
                        </a:solidFill>
                        <a:effectLst/>
                        <a:latin typeface="Calibri"/>
                      </a:endParaRPr>
                    </a:p>
                  </a:txBody>
                  <a:tcPr marL="7144" marR="7144" marT="7144" marB="0" anchor="ctr"/>
                </a:tc>
                <a:tc>
                  <a:txBody>
                    <a:bodyPr/>
                    <a:lstStyle/>
                    <a:p>
                      <a:pPr algn="r" fontAlgn="b"/>
                      <a:r>
                        <a:rPr lang="en-US" sz="1400" b="1" u="none" strike="noStrike" noProof="0" dirty="0">
                          <a:effectLst/>
                        </a:rPr>
                        <a:t>5</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Boy</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Blood in feces, Fever</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06"/>
                  </a:ext>
                </a:extLst>
              </a:tr>
              <a:tr h="245707">
                <a:tc>
                  <a:txBody>
                    <a:bodyPr/>
                    <a:lstStyle/>
                    <a:p>
                      <a:pPr algn="l" fontAlgn="b"/>
                      <a:r>
                        <a:rPr lang="en-US" sz="1400" b="1" u="none" strike="noStrike" noProof="0" dirty="0">
                          <a:effectLst/>
                        </a:rPr>
                        <a:t> </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 </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 </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 </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07"/>
                  </a:ext>
                </a:extLst>
              </a:tr>
              <a:tr h="245707">
                <a:tc>
                  <a:txBody>
                    <a:bodyPr/>
                    <a:lstStyle/>
                    <a:p>
                      <a:pPr algn="l" fontAlgn="b"/>
                      <a:r>
                        <a:rPr lang="en-US" sz="1400" b="1" u="none" strike="noStrike" noProof="0" dirty="0">
                          <a:effectLst/>
                        </a:rPr>
                        <a:t>Group 2</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 </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 </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 </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08"/>
                  </a:ext>
                </a:extLst>
              </a:tr>
              <a:tr h="245707">
                <a:tc>
                  <a:txBody>
                    <a:bodyPr/>
                    <a:lstStyle/>
                    <a:p>
                      <a:pPr algn="l" fontAlgn="b"/>
                      <a:r>
                        <a:rPr lang="en-US" sz="1400" b="1" u="none" strike="noStrike" noProof="0" dirty="0">
                          <a:effectLst/>
                        </a:rPr>
                        <a:t>Id</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Age</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Gender</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Symptom</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09"/>
                  </a:ext>
                </a:extLst>
              </a:tr>
              <a:tr h="245707">
                <a:tc>
                  <a:txBody>
                    <a:bodyPr/>
                    <a:lstStyle/>
                    <a:p>
                      <a:pPr algn="r" fontAlgn="b"/>
                      <a:r>
                        <a:rPr lang="en-US" sz="1400" b="1" u="none" strike="noStrike" noProof="0" dirty="0">
                          <a:effectLst/>
                        </a:rPr>
                        <a:t>6</a:t>
                      </a:r>
                      <a:endParaRPr lang="en-US" sz="1400" b="1" i="0" u="none" strike="noStrike" noProof="0" dirty="0">
                        <a:solidFill>
                          <a:srgbClr val="000000"/>
                        </a:solidFill>
                        <a:effectLst/>
                        <a:latin typeface="Calibri"/>
                      </a:endParaRPr>
                    </a:p>
                  </a:txBody>
                  <a:tcPr marL="7144" marR="7144" marT="7144" marB="0" anchor="ctr"/>
                </a:tc>
                <a:tc>
                  <a:txBody>
                    <a:bodyPr/>
                    <a:lstStyle/>
                    <a:p>
                      <a:pPr algn="r" fontAlgn="b"/>
                      <a:r>
                        <a:rPr lang="en-US" sz="1400" b="1" u="none" strike="noStrike" noProof="0" dirty="0">
                          <a:effectLst/>
                        </a:rPr>
                        <a:t>3</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Boy </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Diarrhea, Vomiting</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10"/>
                  </a:ext>
                </a:extLst>
              </a:tr>
              <a:tr h="245707">
                <a:tc>
                  <a:txBody>
                    <a:bodyPr/>
                    <a:lstStyle/>
                    <a:p>
                      <a:pPr algn="r" fontAlgn="b"/>
                      <a:r>
                        <a:rPr lang="en-US" sz="1400" b="1" u="none" strike="noStrike" noProof="0" dirty="0">
                          <a:effectLst/>
                        </a:rPr>
                        <a:t>7</a:t>
                      </a:r>
                      <a:endParaRPr lang="en-US" sz="1400" b="1" i="0" u="none" strike="noStrike" noProof="0" dirty="0">
                        <a:solidFill>
                          <a:srgbClr val="000000"/>
                        </a:solidFill>
                        <a:effectLst/>
                        <a:latin typeface="Calibri"/>
                      </a:endParaRPr>
                    </a:p>
                  </a:txBody>
                  <a:tcPr marL="7144" marR="7144" marT="7144" marB="0" anchor="ctr"/>
                </a:tc>
                <a:tc>
                  <a:txBody>
                    <a:bodyPr/>
                    <a:lstStyle/>
                    <a:p>
                      <a:pPr algn="r" fontAlgn="b"/>
                      <a:r>
                        <a:rPr lang="en-US" sz="1400" b="1" u="none" strike="noStrike" noProof="0" dirty="0">
                          <a:effectLst/>
                        </a:rPr>
                        <a:t>3</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Boy </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i="1" u="none" strike="noStrike" noProof="0" dirty="0">
                          <a:effectLst/>
                        </a:rPr>
                        <a:t>no journal entries</a:t>
                      </a:r>
                      <a:endParaRPr lang="en-US" sz="1400" b="1" i="1" u="none" strike="noStrike" noProof="0" dirty="0">
                        <a:solidFill>
                          <a:srgbClr val="000000"/>
                        </a:solidFill>
                        <a:effectLst/>
                        <a:latin typeface="Calibri"/>
                      </a:endParaRPr>
                    </a:p>
                  </a:txBody>
                  <a:tcPr marL="7144" marR="7144" marT="7144" marB="0" anchor="ctr">
                    <a:solidFill>
                      <a:srgbClr val="FFFF00"/>
                    </a:solidFill>
                  </a:tcPr>
                </a:tc>
                <a:extLst>
                  <a:ext uri="{0D108BD9-81ED-4DB2-BD59-A6C34878D82A}">
                    <a16:rowId xmlns:a16="http://schemas.microsoft.com/office/drawing/2014/main" val="10011"/>
                  </a:ext>
                </a:extLst>
              </a:tr>
              <a:tr h="245707">
                <a:tc>
                  <a:txBody>
                    <a:bodyPr/>
                    <a:lstStyle/>
                    <a:p>
                      <a:pPr algn="r" fontAlgn="b"/>
                      <a:r>
                        <a:rPr lang="en-US" sz="1400" b="1" u="none" strike="noStrike" noProof="0" dirty="0">
                          <a:effectLst/>
                        </a:rPr>
                        <a:t>8</a:t>
                      </a:r>
                      <a:endParaRPr lang="en-US" sz="1400" b="1" i="0" u="none" strike="noStrike" noProof="0" dirty="0">
                        <a:solidFill>
                          <a:srgbClr val="000000"/>
                        </a:solidFill>
                        <a:effectLst/>
                        <a:latin typeface="Calibri"/>
                      </a:endParaRPr>
                    </a:p>
                  </a:txBody>
                  <a:tcPr marL="7144" marR="7144" marT="7144" marB="0" anchor="ctr"/>
                </a:tc>
                <a:tc>
                  <a:txBody>
                    <a:bodyPr/>
                    <a:lstStyle/>
                    <a:p>
                      <a:pPr algn="r" fontAlgn="b"/>
                      <a:r>
                        <a:rPr lang="en-US" sz="1400" b="1" u="none" strike="noStrike" noProof="0" dirty="0">
                          <a:effectLst/>
                        </a:rPr>
                        <a:t>9</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Boy </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Diarrhea, Fever</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12"/>
                  </a:ext>
                </a:extLst>
              </a:tr>
              <a:tr h="245707">
                <a:tc>
                  <a:txBody>
                    <a:bodyPr/>
                    <a:lstStyle/>
                    <a:p>
                      <a:pPr algn="r" fontAlgn="b"/>
                      <a:r>
                        <a:rPr lang="en-US" sz="1400" b="1" u="none" strike="noStrike" noProof="0" dirty="0">
                          <a:effectLst/>
                        </a:rPr>
                        <a:t>9</a:t>
                      </a:r>
                      <a:endParaRPr lang="en-US" sz="1400" b="1" i="0" u="none" strike="noStrike" noProof="0" dirty="0">
                        <a:solidFill>
                          <a:srgbClr val="000000"/>
                        </a:solidFill>
                        <a:effectLst/>
                        <a:latin typeface="Calibri"/>
                      </a:endParaRPr>
                    </a:p>
                  </a:txBody>
                  <a:tcPr marL="7144" marR="7144" marT="7144" marB="0" anchor="ctr"/>
                </a:tc>
                <a:tc>
                  <a:txBody>
                    <a:bodyPr/>
                    <a:lstStyle/>
                    <a:p>
                      <a:pPr algn="r" fontAlgn="b"/>
                      <a:r>
                        <a:rPr lang="en-US" sz="1400" b="1" u="none" strike="noStrike" noProof="0" dirty="0">
                          <a:effectLst/>
                        </a:rPr>
                        <a:t>8</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Girl</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Diarrhea</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13"/>
                  </a:ext>
                </a:extLst>
              </a:tr>
              <a:tr h="245707">
                <a:tc>
                  <a:txBody>
                    <a:bodyPr/>
                    <a:lstStyle/>
                    <a:p>
                      <a:pPr algn="r" fontAlgn="b"/>
                      <a:r>
                        <a:rPr lang="en-US" sz="1400" b="1" u="none" strike="noStrike" noProof="0" dirty="0">
                          <a:effectLst/>
                        </a:rPr>
                        <a:t>10</a:t>
                      </a:r>
                      <a:endParaRPr lang="en-US" sz="1400" b="1" i="0" u="none" strike="noStrike" noProof="0" dirty="0">
                        <a:solidFill>
                          <a:srgbClr val="000000"/>
                        </a:solidFill>
                        <a:effectLst/>
                        <a:latin typeface="Calibri"/>
                      </a:endParaRPr>
                    </a:p>
                  </a:txBody>
                  <a:tcPr marL="7144" marR="7144" marT="7144" marB="0" anchor="ctr"/>
                </a:tc>
                <a:tc>
                  <a:txBody>
                    <a:bodyPr/>
                    <a:lstStyle/>
                    <a:p>
                      <a:pPr algn="r" fontAlgn="b"/>
                      <a:r>
                        <a:rPr lang="en-US" sz="1400" b="1" u="none" strike="noStrike" noProof="0" dirty="0">
                          <a:effectLst/>
                        </a:rPr>
                        <a:t>8</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Girl</a:t>
                      </a:r>
                      <a:endParaRPr lang="en-US" sz="1400" b="1" i="0" u="none" strike="noStrike" noProof="0" dirty="0">
                        <a:solidFill>
                          <a:srgbClr val="000000"/>
                        </a:solidFill>
                        <a:effectLst/>
                        <a:latin typeface="Calibri"/>
                      </a:endParaRPr>
                    </a:p>
                  </a:txBody>
                  <a:tcPr marL="7144" marR="7144" marT="7144" marB="0" anchor="ctr"/>
                </a:tc>
                <a:tc>
                  <a:txBody>
                    <a:bodyPr/>
                    <a:lstStyle/>
                    <a:p>
                      <a:pPr algn="l" fontAlgn="b"/>
                      <a:r>
                        <a:rPr lang="en-US" sz="1400" b="1" u="none" strike="noStrike" noProof="0" dirty="0">
                          <a:effectLst/>
                        </a:rPr>
                        <a:t>Diarrhea, Vomiting</a:t>
                      </a:r>
                      <a:endParaRPr lang="en-US" sz="1400" b="1" i="0" u="none" strike="noStrike" noProof="0" dirty="0">
                        <a:solidFill>
                          <a:srgbClr val="000000"/>
                        </a:solidFill>
                        <a:effectLst/>
                        <a:latin typeface="Calibri"/>
                      </a:endParaRPr>
                    </a:p>
                  </a:txBody>
                  <a:tcPr marL="7144" marR="7144" marT="7144" marB="0" anchor="ct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37397773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brik 4"/>
          <p:cNvSpPr>
            <a:spLocks noGrp="1"/>
          </p:cNvSpPr>
          <p:nvPr>
            <p:ph type="title"/>
          </p:nvPr>
        </p:nvSpPr>
        <p:spPr>
          <a:xfrm>
            <a:off x="971600" y="339502"/>
            <a:ext cx="5940000" cy="594122"/>
          </a:xfrm>
        </p:spPr>
        <p:txBody>
          <a:bodyPr/>
          <a:lstStyle/>
          <a:p>
            <a:r>
              <a:rPr lang="en-US" sz="2700" dirty="0"/>
              <a:t>Organizing data – Correct </a:t>
            </a: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117</a:t>
            </a:fld>
            <a:endParaRPr lang="sv-SE"/>
          </a:p>
        </p:txBody>
      </p:sp>
      <p:graphicFrame>
        <p:nvGraphicFramePr>
          <p:cNvPr id="4" name="Tabell 3"/>
          <p:cNvGraphicFramePr>
            <a:graphicFrameLocks noGrp="1"/>
          </p:cNvGraphicFramePr>
          <p:nvPr>
            <p:extLst>
              <p:ext uri="{D42A27DB-BD31-4B8C-83A1-F6EECF244321}">
                <p14:modId xmlns:p14="http://schemas.microsoft.com/office/powerpoint/2010/main" val="954065567"/>
              </p:ext>
            </p:extLst>
          </p:nvPr>
        </p:nvGraphicFramePr>
        <p:xfrm>
          <a:off x="899592" y="933627"/>
          <a:ext cx="7560839" cy="3798362"/>
        </p:xfrm>
        <a:graphic>
          <a:graphicData uri="http://schemas.openxmlformats.org/drawingml/2006/table">
            <a:tbl>
              <a:tblPr>
                <a:tableStyleId>{5C22544A-7EE6-4342-B048-85BDC9FD1C3A}</a:tableStyleId>
              </a:tblPr>
              <a:tblGrid>
                <a:gridCol w="548245">
                  <a:extLst>
                    <a:ext uri="{9D8B030D-6E8A-4147-A177-3AD203B41FA5}">
                      <a16:colId xmlns:a16="http://schemas.microsoft.com/office/drawing/2014/main" val="20000"/>
                    </a:ext>
                  </a:extLst>
                </a:gridCol>
                <a:gridCol w="730997">
                  <a:extLst>
                    <a:ext uri="{9D8B030D-6E8A-4147-A177-3AD203B41FA5}">
                      <a16:colId xmlns:a16="http://schemas.microsoft.com/office/drawing/2014/main" val="20001"/>
                    </a:ext>
                  </a:extLst>
                </a:gridCol>
                <a:gridCol w="603815">
                  <a:extLst>
                    <a:ext uri="{9D8B030D-6E8A-4147-A177-3AD203B41FA5}">
                      <a16:colId xmlns:a16="http://schemas.microsoft.com/office/drawing/2014/main" val="20002"/>
                    </a:ext>
                  </a:extLst>
                </a:gridCol>
                <a:gridCol w="1669125">
                  <a:extLst>
                    <a:ext uri="{9D8B030D-6E8A-4147-A177-3AD203B41FA5}">
                      <a16:colId xmlns:a16="http://schemas.microsoft.com/office/drawing/2014/main" val="20003"/>
                    </a:ext>
                  </a:extLst>
                </a:gridCol>
                <a:gridCol w="810540">
                  <a:extLst>
                    <a:ext uri="{9D8B030D-6E8A-4147-A177-3AD203B41FA5}">
                      <a16:colId xmlns:a16="http://schemas.microsoft.com/office/drawing/2014/main" val="20004"/>
                    </a:ext>
                  </a:extLst>
                </a:gridCol>
                <a:gridCol w="932307">
                  <a:extLst>
                    <a:ext uri="{9D8B030D-6E8A-4147-A177-3AD203B41FA5}">
                      <a16:colId xmlns:a16="http://schemas.microsoft.com/office/drawing/2014/main" val="20005"/>
                    </a:ext>
                  </a:extLst>
                </a:gridCol>
                <a:gridCol w="1199771">
                  <a:extLst>
                    <a:ext uri="{9D8B030D-6E8A-4147-A177-3AD203B41FA5}">
                      <a16:colId xmlns:a16="http://schemas.microsoft.com/office/drawing/2014/main" val="20006"/>
                    </a:ext>
                  </a:extLst>
                </a:gridCol>
                <a:gridCol w="1066039">
                  <a:extLst>
                    <a:ext uri="{9D8B030D-6E8A-4147-A177-3AD203B41FA5}">
                      <a16:colId xmlns:a16="http://schemas.microsoft.com/office/drawing/2014/main" val="20007"/>
                    </a:ext>
                  </a:extLst>
                </a:gridCol>
              </a:tblGrid>
              <a:tr h="558832">
                <a:tc>
                  <a:txBody>
                    <a:bodyPr/>
                    <a:lstStyle/>
                    <a:p>
                      <a:pPr algn="ctr" fontAlgn="b"/>
                      <a:r>
                        <a:rPr lang="sv-SE" sz="1400" b="1" u="none" strike="noStrike" dirty="0">
                          <a:effectLst/>
                        </a:rPr>
                        <a:t>Group</a:t>
                      </a:r>
                      <a:endParaRPr lang="sv-SE" sz="1400" b="1" i="0" u="none" strike="noStrike" dirty="0">
                        <a:solidFill>
                          <a:srgbClr val="000000"/>
                        </a:solidFill>
                        <a:effectLst/>
                        <a:latin typeface="Calibri"/>
                      </a:endParaRPr>
                    </a:p>
                  </a:txBody>
                  <a:tcPr marL="7144" marR="7144" marT="7144" marB="0"/>
                </a:tc>
                <a:tc>
                  <a:txBody>
                    <a:bodyPr/>
                    <a:lstStyle/>
                    <a:p>
                      <a:pPr algn="ctr" fontAlgn="b"/>
                      <a:r>
                        <a:rPr lang="sv-SE" sz="1400" b="1" u="none" strike="noStrike" dirty="0">
                          <a:effectLst/>
                        </a:rPr>
                        <a:t>Id</a:t>
                      </a:r>
                      <a:endParaRPr lang="sv-SE" sz="1400" b="1" i="0" u="none" strike="noStrike" dirty="0">
                        <a:solidFill>
                          <a:srgbClr val="000000"/>
                        </a:solidFill>
                        <a:effectLst/>
                        <a:latin typeface="Calibri"/>
                      </a:endParaRPr>
                    </a:p>
                  </a:txBody>
                  <a:tcPr marL="7144" marR="7144" marT="7144" marB="0"/>
                </a:tc>
                <a:tc>
                  <a:txBody>
                    <a:bodyPr/>
                    <a:lstStyle/>
                    <a:p>
                      <a:pPr algn="ctr" fontAlgn="b"/>
                      <a:r>
                        <a:rPr lang="sv-SE" sz="1400" b="1" u="none" strike="noStrike" dirty="0">
                          <a:effectLst/>
                        </a:rPr>
                        <a:t>Age</a:t>
                      </a:r>
                      <a:endParaRPr lang="sv-SE" sz="1400" b="1" i="0" u="none" strike="noStrike" dirty="0">
                        <a:solidFill>
                          <a:srgbClr val="000000"/>
                        </a:solidFill>
                        <a:effectLst/>
                        <a:latin typeface="Calibri"/>
                      </a:endParaRPr>
                    </a:p>
                  </a:txBody>
                  <a:tcPr marL="7144" marR="7144" marT="7144" marB="0"/>
                </a:tc>
                <a:tc>
                  <a:txBody>
                    <a:bodyPr/>
                    <a:lstStyle/>
                    <a:p>
                      <a:pPr algn="ctr" fontAlgn="b"/>
                      <a:r>
                        <a:rPr lang="sv-SE" sz="1400" b="1" u="none" strike="noStrike" dirty="0">
                          <a:effectLst/>
                        </a:rPr>
                        <a:t>Gender</a:t>
                      </a:r>
                      <a:r>
                        <a:rPr lang="sv-SE" sz="1200" b="1" u="none" strike="noStrike" dirty="0">
                          <a:effectLst/>
                        </a:rPr>
                        <a:t>, 1:boy, 2:girl</a:t>
                      </a:r>
                      <a:endParaRPr lang="sv-SE" sz="1200" b="1" i="0" u="none" strike="noStrike" dirty="0">
                        <a:solidFill>
                          <a:srgbClr val="000000"/>
                        </a:solidFill>
                        <a:effectLst/>
                        <a:latin typeface="Calibri"/>
                      </a:endParaRPr>
                    </a:p>
                  </a:txBody>
                  <a:tcPr marL="7144" marR="7144" marT="7144" marB="0"/>
                </a:tc>
                <a:tc>
                  <a:txBody>
                    <a:bodyPr/>
                    <a:lstStyle/>
                    <a:p>
                      <a:pPr algn="ctr" fontAlgn="b"/>
                      <a:r>
                        <a:rPr lang="sv-SE" sz="1400" b="1" u="none" strike="noStrike" dirty="0" err="1">
                          <a:effectLst/>
                        </a:rPr>
                        <a:t>Diarrhea</a:t>
                      </a:r>
                      <a:endParaRPr lang="sv-SE" sz="1400" b="1" i="0" u="none" strike="noStrike" dirty="0">
                        <a:solidFill>
                          <a:srgbClr val="000000"/>
                        </a:solidFill>
                        <a:effectLst/>
                        <a:latin typeface="Calibri"/>
                      </a:endParaRPr>
                    </a:p>
                  </a:txBody>
                  <a:tcPr marL="7144" marR="7144" marT="7144" marB="0"/>
                </a:tc>
                <a:tc>
                  <a:txBody>
                    <a:bodyPr/>
                    <a:lstStyle/>
                    <a:p>
                      <a:pPr algn="ctr" fontAlgn="b"/>
                      <a:r>
                        <a:rPr lang="sv-SE" sz="1400" b="1" u="none" strike="noStrike" dirty="0" err="1">
                          <a:effectLst/>
                        </a:rPr>
                        <a:t>Vomiting</a:t>
                      </a:r>
                      <a:endParaRPr lang="sv-SE" sz="1400" b="1" i="0" u="none" strike="noStrike" dirty="0">
                        <a:solidFill>
                          <a:srgbClr val="000000"/>
                        </a:solidFill>
                        <a:effectLst/>
                        <a:latin typeface="Calibri"/>
                      </a:endParaRPr>
                    </a:p>
                  </a:txBody>
                  <a:tcPr marL="7144" marR="7144" marT="7144" marB="0"/>
                </a:tc>
                <a:tc>
                  <a:txBody>
                    <a:bodyPr/>
                    <a:lstStyle/>
                    <a:p>
                      <a:pPr algn="ctr" fontAlgn="b"/>
                      <a:r>
                        <a:rPr lang="sv-SE" sz="1400" b="1" u="none" strike="noStrike" dirty="0" err="1">
                          <a:effectLst/>
                        </a:rPr>
                        <a:t>Blood</a:t>
                      </a:r>
                      <a:r>
                        <a:rPr lang="sv-SE" sz="1400" b="1" u="none" strike="noStrike" dirty="0">
                          <a:effectLst/>
                        </a:rPr>
                        <a:t> in </a:t>
                      </a:r>
                      <a:r>
                        <a:rPr lang="sv-SE" sz="1400" b="1" u="none" strike="noStrike" dirty="0" err="1">
                          <a:effectLst/>
                        </a:rPr>
                        <a:t>feces</a:t>
                      </a:r>
                      <a:endParaRPr lang="sv-SE" sz="1400" b="1" i="0" u="none" strike="noStrike" dirty="0">
                        <a:solidFill>
                          <a:srgbClr val="000000"/>
                        </a:solidFill>
                        <a:effectLst/>
                        <a:latin typeface="Calibri"/>
                      </a:endParaRPr>
                    </a:p>
                  </a:txBody>
                  <a:tcPr marL="7144" marR="7144" marT="7144" marB="0"/>
                </a:tc>
                <a:tc>
                  <a:txBody>
                    <a:bodyPr/>
                    <a:lstStyle/>
                    <a:p>
                      <a:pPr algn="ctr" fontAlgn="b"/>
                      <a:r>
                        <a:rPr lang="sv-SE" sz="1400" b="1" u="none" strike="noStrike" dirty="0" err="1">
                          <a:effectLst/>
                        </a:rPr>
                        <a:t>Fever</a:t>
                      </a:r>
                      <a:endParaRPr lang="sv-SE" sz="1400" b="1" i="0" u="none" strike="noStrike" dirty="0">
                        <a:solidFill>
                          <a:srgbClr val="000000"/>
                        </a:solidFill>
                        <a:effectLst/>
                        <a:latin typeface="Calibri"/>
                      </a:endParaRPr>
                    </a:p>
                  </a:txBody>
                  <a:tcPr marL="7144" marR="7144" marT="7144" marB="0"/>
                </a:tc>
                <a:extLst>
                  <a:ext uri="{0D108BD9-81ED-4DB2-BD59-A6C34878D82A}">
                    <a16:rowId xmlns:a16="http://schemas.microsoft.com/office/drawing/2014/main" val="10000"/>
                  </a:ext>
                </a:extLst>
              </a:tr>
              <a:tr h="323953">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5</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1</a:t>
                      </a:r>
                      <a:endParaRPr lang="sv-SE" sz="1400" b="1" i="0" u="none" strike="noStrike" dirty="0">
                        <a:solidFill>
                          <a:srgbClr val="000000"/>
                        </a:solidFill>
                        <a:effectLst/>
                        <a:latin typeface="Calibri"/>
                      </a:endParaRPr>
                    </a:p>
                  </a:txBody>
                  <a:tcPr marL="7144" marR="7144" marT="7144" marB="0" anchor="ctr"/>
                </a:tc>
                <a:extLst>
                  <a:ext uri="{0D108BD9-81ED-4DB2-BD59-A6C34878D82A}">
                    <a16:rowId xmlns:a16="http://schemas.microsoft.com/office/drawing/2014/main" val="10001"/>
                  </a:ext>
                </a:extLst>
              </a:tr>
              <a:tr h="323953">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2</a:t>
                      </a:r>
                      <a:endParaRPr lang="sv-SE" sz="1400" b="1" i="0" u="none" strike="noStrike" dirty="0">
                        <a:solidFill>
                          <a:srgbClr val="000000"/>
                        </a:solidFill>
                        <a:effectLst/>
                        <a:latin typeface="Calibri"/>
                      </a:endParaRPr>
                    </a:p>
                  </a:txBody>
                  <a:tcPr marL="7144" marR="7144" marT="7144" marB="0" anchor="ctr"/>
                </a:tc>
                <a:tc>
                  <a:txBody>
                    <a:bodyPr/>
                    <a:lstStyle/>
                    <a:p>
                      <a:pPr algn="ctr" fontAlgn="b"/>
                      <a:r>
                        <a:rPr lang="sv-SE" sz="1400" b="1" u="none" strike="noStrike">
                          <a:effectLst/>
                        </a:rPr>
                        <a:t>10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0</a:t>
                      </a:r>
                      <a:endParaRPr lang="sv-SE" sz="1400" b="1" i="0" u="none" strike="noStrike" dirty="0">
                        <a:solidFill>
                          <a:srgbClr val="000000"/>
                        </a:solidFill>
                        <a:effectLst/>
                        <a:latin typeface="Calibri"/>
                      </a:endParaRPr>
                    </a:p>
                  </a:txBody>
                  <a:tcPr marL="7144" marR="7144" marT="7144" marB="0" anchor="ctr"/>
                </a:tc>
                <a:extLst>
                  <a:ext uri="{0D108BD9-81ED-4DB2-BD59-A6C34878D82A}">
                    <a16:rowId xmlns:a16="http://schemas.microsoft.com/office/drawing/2014/main" val="10002"/>
                  </a:ext>
                </a:extLst>
              </a:tr>
              <a:tr h="323953">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3</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9</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2</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0</a:t>
                      </a:r>
                      <a:endParaRPr lang="sv-SE" sz="1400" b="1" i="0" u="none" strike="noStrike" dirty="0">
                        <a:solidFill>
                          <a:srgbClr val="000000"/>
                        </a:solidFill>
                        <a:effectLst/>
                        <a:latin typeface="Calibri"/>
                      </a:endParaRPr>
                    </a:p>
                  </a:txBody>
                  <a:tcPr marL="7144" marR="7144" marT="7144" marB="0" anchor="ctr"/>
                </a:tc>
                <a:extLst>
                  <a:ext uri="{0D108BD9-81ED-4DB2-BD59-A6C34878D82A}">
                    <a16:rowId xmlns:a16="http://schemas.microsoft.com/office/drawing/2014/main" val="10003"/>
                  </a:ext>
                </a:extLst>
              </a:tr>
              <a:tr h="323953">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4</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3</a:t>
                      </a:r>
                      <a:endParaRPr lang="sv-SE" sz="1400" b="1" i="0" u="none" strike="noStrike" dirty="0">
                        <a:solidFill>
                          <a:srgbClr val="000000"/>
                        </a:solidFill>
                        <a:effectLst/>
                        <a:latin typeface="Calibri"/>
                      </a:endParaRPr>
                    </a:p>
                  </a:txBody>
                  <a:tcPr marL="7144" marR="7144" marT="7144" marB="0" anchor="ctr"/>
                </a:tc>
                <a:tc>
                  <a:txBody>
                    <a:bodyPr/>
                    <a:lstStyle/>
                    <a:p>
                      <a:pPr algn="ctr" fontAlgn="b"/>
                      <a:r>
                        <a:rPr lang="sv-SE" sz="1400" b="1" u="none" strike="noStrike">
                          <a:effectLst/>
                        </a:rPr>
                        <a:t>2</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1</a:t>
                      </a:r>
                      <a:endParaRPr lang="sv-SE" sz="1400" b="1" i="0" u="none" strike="noStrike" dirty="0">
                        <a:solidFill>
                          <a:srgbClr val="000000"/>
                        </a:solidFill>
                        <a:effectLst/>
                        <a:latin typeface="Calibri"/>
                      </a:endParaRPr>
                    </a:p>
                  </a:txBody>
                  <a:tcPr marL="7144" marR="7144" marT="7144" marB="0" anchor="ctr"/>
                </a:tc>
                <a:extLst>
                  <a:ext uri="{0D108BD9-81ED-4DB2-BD59-A6C34878D82A}">
                    <a16:rowId xmlns:a16="http://schemas.microsoft.com/office/drawing/2014/main" val="10004"/>
                  </a:ext>
                </a:extLst>
              </a:tr>
              <a:tr h="323953">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5</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5</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1</a:t>
                      </a:r>
                      <a:endParaRPr lang="sv-SE" sz="1400" b="1" i="0" u="none" strike="noStrike" dirty="0">
                        <a:solidFill>
                          <a:srgbClr val="000000"/>
                        </a:solidFill>
                        <a:effectLst/>
                        <a:latin typeface="Calibri"/>
                      </a:endParaRPr>
                    </a:p>
                  </a:txBody>
                  <a:tcPr marL="7144" marR="7144" marT="7144" marB="0" anchor="ctr"/>
                </a:tc>
                <a:extLst>
                  <a:ext uri="{0D108BD9-81ED-4DB2-BD59-A6C34878D82A}">
                    <a16:rowId xmlns:a16="http://schemas.microsoft.com/office/drawing/2014/main" val="10005"/>
                  </a:ext>
                </a:extLst>
              </a:tr>
              <a:tr h="323953">
                <a:tc>
                  <a:txBody>
                    <a:bodyPr/>
                    <a:lstStyle/>
                    <a:p>
                      <a:pPr algn="ctr" fontAlgn="b"/>
                      <a:r>
                        <a:rPr lang="sv-SE" sz="1400" b="1" u="none" strike="noStrike">
                          <a:effectLst/>
                        </a:rPr>
                        <a:t>2</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6</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3</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1</a:t>
                      </a:r>
                      <a:endParaRPr lang="sv-SE" sz="1400" b="1" i="0" u="none" strike="noStrike" dirty="0">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extLst>
                  <a:ext uri="{0D108BD9-81ED-4DB2-BD59-A6C34878D82A}">
                    <a16:rowId xmlns:a16="http://schemas.microsoft.com/office/drawing/2014/main" val="10006"/>
                  </a:ext>
                </a:extLst>
              </a:tr>
              <a:tr h="323953">
                <a:tc>
                  <a:txBody>
                    <a:bodyPr/>
                    <a:lstStyle/>
                    <a:p>
                      <a:pPr algn="ctr" fontAlgn="b"/>
                      <a:r>
                        <a:rPr lang="sv-SE" sz="1400" b="1" u="none" strike="noStrike">
                          <a:effectLst/>
                        </a:rPr>
                        <a:t>2</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7</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3</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 </a:t>
                      </a:r>
                      <a:endParaRPr lang="sv-SE" sz="1400" b="1" i="0" u="none" strike="noStrike" dirty="0">
                        <a:solidFill>
                          <a:srgbClr val="000000"/>
                        </a:solidFill>
                        <a:effectLst/>
                        <a:latin typeface="Calibri"/>
                      </a:endParaRPr>
                    </a:p>
                  </a:txBody>
                  <a:tcPr marL="7144" marR="7144" marT="7144" marB="0" anchor="ctr"/>
                </a:tc>
                <a:tc>
                  <a:txBody>
                    <a:bodyPr/>
                    <a:lstStyle/>
                    <a:p>
                      <a:pPr algn="ctr" fontAlgn="b"/>
                      <a:r>
                        <a:rPr lang="sv-SE" sz="1400" b="1" u="none" strike="noStrike">
                          <a:effectLst/>
                        </a:rPr>
                        <a:t> </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 </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 </a:t>
                      </a:r>
                      <a:endParaRPr lang="sv-SE" sz="1400" b="1" i="0" u="none" strike="noStrike" dirty="0">
                        <a:solidFill>
                          <a:srgbClr val="000000"/>
                        </a:solidFill>
                        <a:effectLst/>
                        <a:latin typeface="Calibri"/>
                      </a:endParaRPr>
                    </a:p>
                  </a:txBody>
                  <a:tcPr marL="7144" marR="7144" marT="7144" marB="0" anchor="ctr"/>
                </a:tc>
                <a:extLst>
                  <a:ext uri="{0D108BD9-81ED-4DB2-BD59-A6C34878D82A}">
                    <a16:rowId xmlns:a16="http://schemas.microsoft.com/office/drawing/2014/main" val="10007"/>
                  </a:ext>
                </a:extLst>
              </a:tr>
              <a:tr h="323953">
                <a:tc>
                  <a:txBody>
                    <a:bodyPr/>
                    <a:lstStyle/>
                    <a:p>
                      <a:pPr algn="ctr" fontAlgn="b"/>
                      <a:r>
                        <a:rPr lang="sv-SE" sz="1400" b="1" u="none" strike="noStrike">
                          <a:effectLst/>
                        </a:rPr>
                        <a:t>2</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8</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9</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1</a:t>
                      </a:r>
                      <a:endParaRPr lang="sv-SE" sz="1400" b="1" i="0" u="none" strike="noStrike" dirty="0">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0</a:t>
                      </a:r>
                      <a:endParaRPr lang="sv-SE" sz="1400" b="1" i="0" u="none" strike="noStrike" dirty="0">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0</a:t>
                      </a:r>
                      <a:endParaRPr lang="sv-SE" sz="1400" b="1" i="0" u="none" strike="noStrike" dirty="0">
                        <a:solidFill>
                          <a:srgbClr val="000000"/>
                        </a:solidFill>
                        <a:effectLst/>
                        <a:latin typeface="Calibri"/>
                      </a:endParaRPr>
                    </a:p>
                  </a:txBody>
                  <a:tcPr marL="7144" marR="7144" marT="7144" marB="0" anchor="ctr"/>
                </a:tc>
                <a:extLst>
                  <a:ext uri="{0D108BD9-81ED-4DB2-BD59-A6C34878D82A}">
                    <a16:rowId xmlns:a16="http://schemas.microsoft.com/office/drawing/2014/main" val="10008"/>
                  </a:ext>
                </a:extLst>
              </a:tr>
              <a:tr h="323953">
                <a:tc>
                  <a:txBody>
                    <a:bodyPr/>
                    <a:lstStyle/>
                    <a:p>
                      <a:pPr algn="ctr" fontAlgn="b"/>
                      <a:r>
                        <a:rPr lang="sv-SE" sz="1400" b="1" u="none" strike="noStrike">
                          <a:effectLst/>
                        </a:rPr>
                        <a:t>2</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9</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8</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2</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0</a:t>
                      </a:r>
                      <a:endParaRPr lang="sv-SE" sz="1400" b="1" i="0" u="none" strike="noStrike" dirty="0">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0</a:t>
                      </a:r>
                      <a:endParaRPr lang="sv-SE" sz="1400" b="1" i="0" u="none" strike="noStrike" dirty="0">
                        <a:solidFill>
                          <a:srgbClr val="000000"/>
                        </a:solidFill>
                        <a:effectLst/>
                        <a:latin typeface="Calibri"/>
                      </a:endParaRPr>
                    </a:p>
                  </a:txBody>
                  <a:tcPr marL="7144" marR="7144" marT="7144" marB="0" anchor="ctr"/>
                </a:tc>
                <a:extLst>
                  <a:ext uri="{0D108BD9-81ED-4DB2-BD59-A6C34878D82A}">
                    <a16:rowId xmlns:a16="http://schemas.microsoft.com/office/drawing/2014/main" val="10009"/>
                  </a:ext>
                </a:extLst>
              </a:tr>
              <a:tr h="323953">
                <a:tc>
                  <a:txBody>
                    <a:bodyPr/>
                    <a:lstStyle/>
                    <a:p>
                      <a:pPr algn="ctr" fontAlgn="b"/>
                      <a:r>
                        <a:rPr lang="sv-SE" sz="1400" b="1" u="none" strike="noStrike" dirty="0">
                          <a:effectLst/>
                        </a:rPr>
                        <a:t>2</a:t>
                      </a:r>
                      <a:endParaRPr lang="sv-SE" sz="1400" b="1" i="0" u="none" strike="noStrike" dirty="0">
                        <a:solidFill>
                          <a:srgbClr val="000000"/>
                        </a:solidFill>
                        <a:effectLst/>
                        <a:latin typeface="Calibri"/>
                      </a:endParaRPr>
                    </a:p>
                  </a:txBody>
                  <a:tcPr marL="7144" marR="7144" marT="7144" marB="0" anchor="ctr"/>
                </a:tc>
                <a:tc>
                  <a:txBody>
                    <a:bodyPr/>
                    <a:lstStyle/>
                    <a:p>
                      <a:pPr algn="ctr" fontAlgn="b"/>
                      <a:r>
                        <a:rPr lang="sv-SE" sz="1400" b="1" u="none" strike="noStrike">
                          <a:effectLst/>
                        </a:rPr>
                        <a:t>10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8</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2</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1</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a:effectLst/>
                        </a:rPr>
                        <a:t>0</a:t>
                      </a:r>
                      <a:endParaRPr lang="sv-SE" sz="1400" b="1" i="0" u="none" strike="noStrike">
                        <a:solidFill>
                          <a:srgbClr val="000000"/>
                        </a:solidFill>
                        <a:effectLst/>
                        <a:latin typeface="Calibri"/>
                      </a:endParaRPr>
                    </a:p>
                  </a:txBody>
                  <a:tcPr marL="7144" marR="7144" marT="7144" marB="0" anchor="ctr"/>
                </a:tc>
                <a:tc>
                  <a:txBody>
                    <a:bodyPr/>
                    <a:lstStyle/>
                    <a:p>
                      <a:pPr algn="ctr" fontAlgn="b"/>
                      <a:r>
                        <a:rPr lang="sv-SE" sz="1400" b="1" u="none" strike="noStrike" dirty="0">
                          <a:effectLst/>
                        </a:rPr>
                        <a:t>0</a:t>
                      </a:r>
                      <a:endParaRPr lang="sv-SE" sz="1400" b="1" i="0" u="none" strike="noStrike" dirty="0">
                        <a:solidFill>
                          <a:srgbClr val="000000"/>
                        </a:solidFill>
                        <a:effectLst/>
                        <a:latin typeface="Calibri"/>
                      </a:endParaRPr>
                    </a:p>
                  </a:txBody>
                  <a:tcPr marL="7144" marR="7144" marT="7144" marB="0"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21156108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971600" y="411510"/>
            <a:ext cx="6172200" cy="421556"/>
          </a:xfrm>
        </p:spPr>
        <p:txBody>
          <a:bodyPr>
            <a:noAutofit/>
          </a:bodyPr>
          <a:lstStyle/>
          <a:p>
            <a:r>
              <a:rPr lang="en-US" sz="3200" dirty="0"/>
              <a:t>Remember</a:t>
            </a:r>
            <a:endParaRPr lang="sv-SE" sz="3200" dirty="0"/>
          </a:p>
        </p:txBody>
      </p:sp>
      <p:sp>
        <p:nvSpPr>
          <p:cNvPr id="2" name="Platshållare för bildnummer 1"/>
          <p:cNvSpPr>
            <a:spLocks noGrp="1"/>
          </p:cNvSpPr>
          <p:nvPr>
            <p:ph type="sldNum" sz="quarter" idx="12"/>
          </p:nvPr>
        </p:nvSpPr>
        <p:spPr>
          <a:prstGeom prst="rect">
            <a:avLst/>
          </a:prstGeom>
        </p:spPr>
        <p:txBody>
          <a:bodyPr/>
          <a:lstStyle/>
          <a:p>
            <a:pPr>
              <a:defRPr/>
            </a:pPr>
            <a:fld id="{6EA40670-0085-46BE-8A1D-C037329D2922}" type="slidenum">
              <a:rPr lang="sv-SE" sz="900"/>
              <a:pPr>
                <a:defRPr/>
              </a:pPr>
              <a:t>118</a:t>
            </a:fld>
            <a:endParaRPr lang="sv-SE" sz="900" dirty="0"/>
          </a:p>
        </p:txBody>
      </p:sp>
      <p:sp>
        <p:nvSpPr>
          <p:cNvPr id="7" name="TextBox 6"/>
          <p:cNvSpPr txBox="1"/>
          <p:nvPr/>
        </p:nvSpPr>
        <p:spPr>
          <a:xfrm>
            <a:off x="827584" y="1131591"/>
            <a:ext cx="7011779" cy="3377848"/>
          </a:xfrm>
          <a:prstGeom prst="rect">
            <a:avLst/>
          </a:prstGeom>
          <a:noFill/>
        </p:spPr>
        <p:txBody>
          <a:bodyPr wrap="square" rtlCol="0">
            <a:spAutoFit/>
          </a:bodyPr>
          <a:lstStyle/>
          <a:p>
            <a:pPr marL="214313" indent="-214313">
              <a:spcAft>
                <a:spcPts val="900"/>
              </a:spcAft>
              <a:buFont typeface="Arial" panose="020B0604020202020204" pitchFamily="34" charset="0"/>
              <a:buChar char="•"/>
            </a:pPr>
            <a:r>
              <a:rPr lang="en-US" sz="2200" dirty="0">
                <a:latin typeface="+mn-lt"/>
                <a:ea typeface="Verdana" panose="020B0604030504040204" pitchFamily="34" charset="0"/>
              </a:rPr>
              <a:t>Before study, think about </a:t>
            </a:r>
            <a:r>
              <a:rPr lang="en-US" sz="2200" b="1" dirty="0">
                <a:latin typeface="+mn-lt"/>
                <a:ea typeface="Verdana" panose="020B0604030504040204" pitchFamily="34" charset="0"/>
              </a:rPr>
              <a:t>sample size</a:t>
            </a:r>
          </a:p>
          <a:p>
            <a:pPr marL="214313" indent="-214313">
              <a:spcAft>
                <a:spcPts val="900"/>
              </a:spcAft>
              <a:buFont typeface="Arial" panose="020B0604020202020204" pitchFamily="34" charset="0"/>
              <a:buChar char="•"/>
            </a:pPr>
            <a:r>
              <a:rPr lang="en-US" sz="2200" dirty="0">
                <a:latin typeface="+mn-lt"/>
                <a:ea typeface="Verdana" panose="020B0604030504040204" pitchFamily="34" charset="0"/>
              </a:rPr>
              <a:t>Try to state as much as possible in the protocol before beginning data collection and analysis</a:t>
            </a:r>
          </a:p>
          <a:p>
            <a:pPr marL="214313" indent="-214313">
              <a:spcAft>
                <a:spcPts val="900"/>
              </a:spcAft>
              <a:buFont typeface="Arial" panose="020B0604020202020204" pitchFamily="34" charset="0"/>
              <a:buChar char="•"/>
            </a:pPr>
            <a:r>
              <a:rPr lang="en-US" sz="2200" dirty="0">
                <a:latin typeface="+mn-lt"/>
                <a:ea typeface="Verdana" panose="020B0604030504040204" pitchFamily="34" charset="0"/>
              </a:rPr>
              <a:t>When having data, always </a:t>
            </a:r>
            <a:r>
              <a:rPr lang="en-US" sz="2200" b="1" dirty="0">
                <a:latin typeface="+mn-lt"/>
                <a:ea typeface="Verdana" panose="020B0604030504040204" pitchFamily="34" charset="0"/>
              </a:rPr>
              <a:t>plot/tabulate</a:t>
            </a:r>
            <a:r>
              <a:rPr lang="en-US" sz="2200" dirty="0">
                <a:latin typeface="+mn-lt"/>
                <a:ea typeface="Verdana" panose="020B0604030504040204" pitchFamily="34" charset="0"/>
              </a:rPr>
              <a:t> data</a:t>
            </a:r>
          </a:p>
          <a:p>
            <a:pPr marL="214313" indent="-214313">
              <a:spcAft>
                <a:spcPts val="900"/>
              </a:spcAft>
              <a:buFont typeface="Arial" panose="020B0604020202020204" pitchFamily="34" charset="0"/>
              <a:buChar char="•"/>
            </a:pPr>
            <a:r>
              <a:rPr lang="en-US" sz="2200" dirty="0">
                <a:latin typeface="+mn-lt"/>
                <a:ea typeface="Verdana" panose="020B0604030504040204" pitchFamily="34" charset="0"/>
              </a:rPr>
              <a:t>Assess the </a:t>
            </a:r>
            <a:r>
              <a:rPr lang="en-US" sz="2200" b="1" dirty="0">
                <a:latin typeface="+mn-lt"/>
                <a:ea typeface="Verdana" panose="020B0604030504040204" pitchFamily="34" charset="0"/>
              </a:rPr>
              <a:t>assumptions</a:t>
            </a:r>
          </a:p>
          <a:p>
            <a:pPr marL="214313" indent="-214313">
              <a:spcAft>
                <a:spcPts val="900"/>
              </a:spcAft>
              <a:buFont typeface="Arial" panose="020B0604020202020204" pitchFamily="34" charset="0"/>
              <a:buChar char="•"/>
            </a:pPr>
            <a:r>
              <a:rPr lang="en-US" sz="2200" dirty="0">
                <a:latin typeface="+mn-lt"/>
                <a:ea typeface="Verdana" panose="020B0604030504040204" pitchFamily="34" charset="0"/>
              </a:rPr>
              <a:t>Only include/exclude observations in a way that is scientifically ok</a:t>
            </a:r>
          </a:p>
          <a:p>
            <a:pPr marL="214313" indent="-214313">
              <a:spcAft>
                <a:spcPts val="900"/>
              </a:spcAft>
              <a:buFont typeface="Arial" panose="020B0604020202020204" pitchFamily="34" charset="0"/>
              <a:buChar char="•"/>
            </a:pPr>
            <a:r>
              <a:rPr lang="en-US" sz="2200" dirty="0">
                <a:latin typeface="+mn-lt"/>
                <a:ea typeface="Verdana" panose="020B0604030504040204" pitchFamily="34" charset="0"/>
              </a:rPr>
              <a:t>Format</a:t>
            </a:r>
          </a:p>
        </p:txBody>
      </p:sp>
    </p:spTree>
    <p:extLst>
      <p:ext uri="{BB962C8B-B14F-4D97-AF65-F5344CB8AC3E}">
        <p14:creationId xmlns:p14="http://schemas.microsoft.com/office/powerpoint/2010/main" val="362115871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ubrik 5"/>
          <p:cNvSpPr>
            <a:spLocks noGrp="1"/>
          </p:cNvSpPr>
          <p:nvPr>
            <p:ph type="ctrTitle"/>
          </p:nvPr>
        </p:nvSpPr>
        <p:spPr>
          <a:xfrm>
            <a:off x="1493658" y="1597821"/>
            <a:ext cx="5829300" cy="1102519"/>
          </a:xfrm>
          <a:effectLst>
            <a:outerShdw blurRad="50800" dist="38100" dir="2700000" algn="tl" rotWithShape="0">
              <a:prstClr val="black">
                <a:alpha val="40000"/>
              </a:prstClr>
            </a:outerShdw>
          </a:effectLst>
        </p:spPr>
        <p:txBody>
          <a:bodyPr>
            <a:normAutofit/>
          </a:bodyPr>
          <a:lstStyle/>
          <a:p>
            <a:r>
              <a:rPr lang="en-US" sz="4500" dirty="0">
                <a:latin typeface="Candara" panose="020E0502030303020204" pitchFamily="34" charset="0"/>
              </a:rPr>
              <a:t>The research question</a:t>
            </a:r>
          </a:p>
        </p:txBody>
      </p:sp>
      <p:sp>
        <p:nvSpPr>
          <p:cNvPr id="2" name="Platshållare för bildnummer 1"/>
          <p:cNvSpPr>
            <a:spLocks noGrp="1"/>
          </p:cNvSpPr>
          <p:nvPr>
            <p:ph type="sldNum" sz="quarter" idx="12"/>
          </p:nvPr>
        </p:nvSpPr>
        <p:spPr/>
        <p:txBody>
          <a:bodyPr/>
          <a:lstStyle/>
          <a:p>
            <a:fld id="{43FCA45F-E12B-4B3B-99D8-132DADA56E55}" type="slidenum">
              <a:rPr lang="sv-SE" smtClean="0"/>
              <a:pPr/>
              <a:t>119</a:t>
            </a:fld>
            <a:endParaRPr lang="sv-SE"/>
          </a:p>
        </p:txBody>
      </p:sp>
      <p:pic>
        <p:nvPicPr>
          <p:cNvPr id="2050" name="Picture 2" descr="https://2.bp.blogspot.com/-pxWTYtsXhkk/Vvo_IX27byI/AAAAAAAAA8E/fafiCukD4A4XjhxGutmJfDrQc9zvhRneQ/s1600/research%2Bquestion.jpg"/>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0" b="97697" l="4600" r="93200">
                        <a14:foregroundMark x1="72000" y1="8553" x2="73200" y2="5263"/>
                        <a14:foregroundMark x1="72600" y1="4934" x2="67200" y2="6579"/>
                        <a14:backgroundMark x1="74800" y1="987" x2="74800" y2="987"/>
                        <a14:backgroundMark x1="81200" y1="46382" x2="81200" y2="46382"/>
                        <a14:backgroundMark x1="66000" y1="88487" x2="66000" y2="88487"/>
                      </a14:backgroundRemoval>
                    </a14:imgEffect>
                  </a14:imgLayer>
                </a14:imgProps>
              </a:ext>
              <a:ext uri="{28A0092B-C50C-407E-A947-70E740481C1C}">
                <a14:useLocalDpi xmlns:a14="http://schemas.microsoft.com/office/drawing/2010/main" val="0"/>
              </a:ext>
            </a:extLst>
          </a:blip>
          <a:srcRect/>
          <a:stretch>
            <a:fillRect/>
          </a:stretch>
        </p:blipFill>
        <p:spPr bwMode="auto">
          <a:xfrm>
            <a:off x="4653009" y="2814778"/>
            <a:ext cx="3058818" cy="185976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302418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71600" y="280886"/>
            <a:ext cx="6172200" cy="695232"/>
          </a:xfrm>
        </p:spPr>
        <p:txBody>
          <a:bodyPr>
            <a:normAutofit/>
          </a:bodyPr>
          <a:lstStyle/>
          <a:p>
            <a:r>
              <a:rPr lang="en-GB" altLang="sv-SE" sz="3600" dirty="0"/>
              <a:t>What is a research question?</a:t>
            </a:r>
          </a:p>
        </p:txBody>
      </p:sp>
      <p:sp>
        <p:nvSpPr>
          <p:cNvPr id="4099" name="Rectangle 3"/>
          <p:cNvSpPr>
            <a:spLocks noGrp="1" noChangeArrowheads="1"/>
          </p:cNvSpPr>
          <p:nvPr>
            <p:ph idx="1"/>
          </p:nvPr>
        </p:nvSpPr>
        <p:spPr>
          <a:xfrm>
            <a:off x="1115616" y="976118"/>
            <a:ext cx="6399711" cy="3600340"/>
          </a:xfrm>
        </p:spPr>
        <p:txBody>
          <a:bodyPr>
            <a:normAutofit/>
          </a:bodyPr>
          <a:lstStyle/>
          <a:p>
            <a:pPr marL="0" indent="0">
              <a:buNone/>
            </a:pPr>
            <a:r>
              <a:rPr lang="en-GB" altLang="sv-SE" sz="2400" dirty="0"/>
              <a:t>A researcher should ask a very </a:t>
            </a:r>
            <a:r>
              <a:rPr lang="en-GB" altLang="sv-SE" sz="2400" b="1" dirty="0"/>
              <a:t>specific</a:t>
            </a:r>
            <a:r>
              <a:rPr lang="en-GB" altLang="sv-SE" sz="2400" dirty="0"/>
              <a:t> question. </a:t>
            </a:r>
          </a:p>
          <a:p>
            <a:pPr marL="0" indent="0">
              <a:buNone/>
            </a:pPr>
            <a:r>
              <a:rPr lang="en-GB" altLang="sv-SE" sz="2400" dirty="0"/>
              <a:t>Broad questions are usually broken into smaller questions</a:t>
            </a:r>
          </a:p>
          <a:p>
            <a:pPr marL="0" indent="0">
              <a:buNone/>
            </a:pPr>
            <a:endParaRPr lang="en-GB" altLang="sv-SE" sz="2400" dirty="0"/>
          </a:p>
          <a:p>
            <a:pPr marL="0" indent="0">
              <a:buNone/>
            </a:pPr>
            <a:r>
              <a:rPr lang="en-GB" altLang="sv-SE" sz="2400" dirty="0"/>
              <a:t>A good research question can be formulated into a testable </a:t>
            </a:r>
            <a:r>
              <a:rPr lang="en-GB" altLang="sv-SE" sz="2400" b="1" dirty="0"/>
              <a:t>hypothesis</a:t>
            </a:r>
            <a:r>
              <a:rPr lang="en-GB" altLang="sv-SE" sz="2400" dirty="0"/>
              <a:t> </a:t>
            </a: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120</a:t>
            </a:fld>
            <a:endParaRPr lang="sv-SE"/>
          </a:p>
        </p:txBody>
      </p:sp>
    </p:spTree>
    <p:extLst>
      <p:ext uri="{BB962C8B-B14F-4D97-AF65-F5344CB8AC3E}">
        <p14:creationId xmlns:p14="http://schemas.microsoft.com/office/powerpoint/2010/main" val="194779633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48706" y="195486"/>
            <a:ext cx="6935662" cy="684000"/>
          </a:xfrm>
        </p:spPr>
        <p:txBody>
          <a:bodyPr>
            <a:noAutofit/>
          </a:bodyPr>
          <a:lstStyle/>
          <a:p>
            <a:r>
              <a:rPr lang="en-GB" altLang="sv-SE" sz="3200" dirty="0"/>
              <a:t>What makes a poor research question?</a:t>
            </a:r>
          </a:p>
        </p:txBody>
      </p:sp>
      <p:sp>
        <p:nvSpPr>
          <p:cNvPr id="5123" name="Rectangle 3"/>
          <p:cNvSpPr>
            <a:spLocks noGrp="1" noChangeArrowheads="1"/>
          </p:cNvSpPr>
          <p:nvPr>
            <p:ph idx="1"/>
          </p:nvPr>
        </p:nvSpPr>
        <p:spPr>
          <a:xfrm>
            <a:off x="1187624" y="898519"/>
            <a:ext cx="7488832" cy="3240000"/>
          </a:xfrm>
        </p:spPr>
        <p:txBody>
          <a:bodyPr>
            <a:noAutofit/>
          </a:bodyPr>
          <a:lstStyle/>
          <a:p>
            <a:pPr>
              <a:spcAft>
                <a:spcPts val="900"/>
              </a:spcAft>
            </a:pPr>
            <a:r>
              <a:rPr lang="en-GB" altLang="sv-SE" dirty="0">
                <a:latin typeface="Verdana" panose="020B0604030504040204" pitchFamily="34" charset="0"/>
                <a:ea typeface="Verdana" panose="020B0604030504040204" pitchFamily="34" charset="0"/>
              </a:rPr>
              <a:t>A question that matters to nobody (even you)</a:t>
            </a:r>
          </a:p>
          <a:p>
            <a:pPr lvl="1">
              <a:spcAft>
                <a:spcPts val="900"/>
              </a:spcAft>
            </a:pPr>
            <a:r>
              <a:rPr lang="en-GB" altLang="sv-SE" sz="1800" dirty="0">
                <a:latin typeface="Verdana" panose="020B0604030504040204" pitchFamily="34" charset="0"/>
                <a:ea typeface="Verdana" panose="020B0604030504040204" pitchFamily="34" charset="0"/>
              </a:rPr>
              <a:t>It needs to be useful one way or the other…</a:t>
            </a:r>
          </a:p>
          <a:p>
            <a:pPr>
              <a:spcAft>
                <a:spcPts val="900"/>
              </a:spcAft>
            </a:pPr>
            <a:r>
              <a:rPr lang="en-GB" altLang="sv-SE" dirty="0">
                <a:latin typeface="Verdana" panose="020B0604030504040204" pitchFamily="34" charset="0"/>
                <a:ea typeface="Verdana" panose="020B0604030504040204" pitchFamily="34" charset="0"/>
              </a:rPr>
              <a:t>Hoping one emerges from routine clinical records</a:t>
            </a:r>
          </a:p>
          <a:p>
            <a:pPr lvl="1">
              <a:spcAft>
                <a:spcPts val="900"/>
              </a:spcAft>
            </a:pPr>
            <a:r>
              <a:rPr lang="en-GB" altLang="sv-SE" sz="1800" dirty="0">
                <a:latin typeface="Verdana" panose="020B0604030504040204" pitchFamily="34" charset="0"/>
                <a:ea typeface="Verdana" panose="020B0604030504040204" pitchFamily="34" charset="0"/>
              </a:rPr>
              <a:t>The records will be biased and confounded</a:t>
            </a:r>
          </a:p>
          <a:p>
            <a:pPr lvl="1">
              <a:spcAft>
                <a:spcPts val="900"/>
              </a:spcAft>
            </a:pPr>
            <a:r>
              <a:rPr lang="en-GB" altLang="sv-SE" sz="1800" dirty="0">
                <a:latin typeface="Verdana" panose="020B0604030504040204" pitchFamily="34" charset="0"/>
                <a:ea typeface="Verdana" panose="020B0604030504040204" pitchFamily="34" charset="0"/>
              </a:rPr>
              <a:t>They’ll lack information you need to answer your question reliably, because they were collected for another reason</a:t>
            </a:r>
          </a:p>
          <a:p>
            <a:pPr>
              <a:spcAft>
                <a:spcPts val="900"/>
              </a:spcAft>
            </a:pPr>
            <a:r>
              <a:rPr lang="en-GB" altLang="sv-SE" dirty="0">
                <a:latin typeface="Verdana" panose="020B0604030504040204" pitchFamily="34" charset="0"/>
                <a:ea typeface="Verdana" panose="020B0604030504040204" pitchFamily="34" charset="0"/>
              </a:rPr>
              <a:t>Fishing expedition/data dredging – gathering new data</a:t>
            </a:r>
          </a:p>
          <a:p>
            <a:pPr>
              <a:spcAft>
                <a:spcPts val="900"/>
              </a:spcAft>
            </a:pPr>
            <a:r>
              <a:rPr lang="en-GB" altLang="sv-SE" dirty="0">
                <a:latin typeface="Verdana" panose="020B0604030504040204" pitchFamily="34" charset="0"/>
                <a:ea typeface="Verdana" panose="020B0604030504040204" pitchFamily="34" charset="0"/>
              </a:rPr>
              <a:t>and hoping a question will emerge</a:t>
            </a: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121</a:t>
            </a:fld>
            <a:endParaRPr lang="sv-SE"/>
          </a:p>
        </p:txBody>
      </p:sp>
    </p:spTree>
    <p:extLst>
      <p:ext uri="{BB962C8B-B14F-4D97-AF65-F5344CB8AC3E}">
        <p14:creationId xmlns:p14="http://schemas.microsoft.com/office/powerpoint/2010/main" val="358671525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r>
              <a:rPr lang="en-GB" altLang="sv-SE" sz="3200" dirty="0"/>
              <a:t>What makes a good question?</a:t>
            </a:r>
          </a:p>
        </p:txBody>
      </p:sp>
      <p:sp>
        <p:nvSpPr>
          <p:cNvPr id="6147" name="Rectangle 3"/>
          <p:cNvSpPr>
            <a:spLocks noGrp="1" noChangeArrowheads="1"/>
          </p:cNvSpPr>
          <p:nvPr>
            <p:ph idx="1"/>
          </p:nvPr>
        </p:nvSpPr>
        <p:spPr>
          <a:xfrm>
            <a:off x="971600" y="1274400"/>
            <a:ext cx="7704856" cy="3240000"/>
          </a:xfrm>
        </p:spPr>
        <p:txBody>
          <a:bodyPr>
            <a:normAutofit/>
          </a:bodyPr>
          <a:lstStyle/>
          <a:p>
            <a:pPr>
              <a:buFontTx/>
              <a:buNone/>
            </a:pPr>
            <a:r>
              <a:rPr lang="en-GB" altLang="sv-SE" b="1" dirty="0">
                <a:latin typeface="Verdana" panose="020B0604030504040204" pitchFamily="34" charset="0"/>
                <a:ea typeface="Verdana" panose="020B0604030504040204" pitchFamily="34" charset="0"/>
              </a:rPr>
              <a:t>FINER</a:t>
            </a:r>
            <a:r>
              <a:rPr lang="en-GB" altLang="sv-SE" dirty="0">
                <a:latin typeface="Verdana" panose="020B0604030504040204" pitchFamily="34" charset="0"/>
                <a:ea typeface="Verdana" panose="020B0604030504040204" pitchFamily="34" charset="0"/>
              </a:rPr>
              <a:t> criteria </a:t>
            </a:r>
            <a:endParaRPr lang="en-GB" altLang="sv-SE" b="1" dirty="0">
              <a:latin typeface="Verdana" panose="020B0604030504040204" pitchFamily="34" charset="0"/>
              <a:ea typeface="Verdana" panose="020B0604030504040204" pitchFamily="34" charset="0"/>
            </a:endParaRPr>
          </a:p>
          <a:p>
            <a:pPr lvl="3">
              <a:buFontTx/>
              <a:buNone/>
            </a:pPr>
            <a:r>
              <a:rPr lang="en-GB" altLang="sv-SE" sz="1800" b="1" dirty="0">
                <a:latin typeface="Verdana" panose="020B0604030504040204" pitchFamily="34" charset="0"/>
                <a:ea typeface="Verdana" panose="020B0604030504040204" pitchFamily="34" charset="0"/>
              </a:rPr>
              <a:t>F</a:t>
            </a:r>
            <a:r>
              <a:rPr lang="en-GB" altLang="sv-SE" sz="1800" dirty="0">
                <a:latin typeface="Verdana" panose="020B0604030504040204" pitchFamily="34" charset="0"/>
                <a:ea typeface="Verdana" panose="020B0604030504040204" pitchFamily="34" charset="0"/>
              </a:rPr>
              <a:t>easible (Answerable with a robust method, and within your quite restricted time limit)</a:t>
            </a:r>
          </a:p>
          <a:p>
            <a:pPr lvl="3">
              <a:buFontTx/>
              <a:buNone/>
            </a:pPr>
            <a:r>
              <a:rPr lang="en-GB" altLang="sv-SE" sz="1800" b="1" dirty="0">
                <a:latin typeface="Verdana" panose="020B0604030504040204" pitchFamily="34" charset="0"/>
                <a:ea typeface="Verdana" panose="020B0604030504040204" pitchFamily="34" charset="0"/>
              </a:rPr>
              <a:t>I</a:t>
            </a:r>
            <a:r>
              <a:rPr lang="en-GB" altLang="sv-SE" sz="1800" dirty="0">
                <a:latin typeface="Verdana" panose="020B0604030504040204" pitchFamily="34" charset="0"/>
                <a:ea typeface="Verdana" panose="020B0604030504040204" pitchFamily="34" charset="0"/>
              </a:rPr>
              <a:t>nteresting</a:t>
            </a:r>
          </a:p>
          <a:p>
            <a:pPr lvl="3">
              <a:buFontTx/>
              <a:buNone/>
            </a:pPr>
            <a:r>
              <a:rPr lang="en-GB" altLang="sv-SE" sz="1800" b="1" dirty="0">
                <a:latin typeface="Verdana" panose="020B0604030504040204" pitchFamily="34" charset="0"/>
                <a:ea typeface="Verdana" panose="020B0604030504040204" pitchFamily="34" charset="0"/>
              </a:rPr>
              <a:t>N</a:t>
            </a:r>
            <a:r>
              <a:rPr lang="en-GB" altLang="sv-SE" sz="1800" dirty="0">
                <a:latin typeface="Verdana" panose="020B0604030504040204" pitchFamily="34" charset="0"/>
                <a:ea typeface="Verdana" panose="020B0604030504040204" pitchFamily="34" charset="0"/>
              </a:rPr>
              <a:t>ovel (Perhaps not the most important one for a graduate student thesis… )</a:t>
            </a:r>
          </a:p>
          <a:p>
            <a:pPr lvl="3">
              <a:buFontTx/>
              <a:buNone/>
            </a:pPr>
            <a:r>
              <a:rPr lang="en-GB" altLang="sv-SE" sz="1800" b="1" dirty="0">
                <a:latin typeface="Verdana" panose="020B0604030504040204" pitchFamily="34" charset="0"/>
                <a:ea typeface="Verdana" panose="020B0604030504040204" pitchFamily="34" charset="0"/>
              </a:rPr>
              <a:t>E</a:t>
            </a:r>
            <a:r>
              <a:rPr lang="en-GB" altLang="sv-SE" sz="1800" dirty="0">
                <a:latin typeface="Verdana" panose="020B0604030504040204" pitchFamily="34" charset="0"/>
                <a:ea typeface="Verdana" panose="020B0604030504040204" pitchFamily="34" charset="0"/>
              </a:rPr>
              <a:t>thical</a:t>
            </a:r>
          </a:p>
          <a:p>
            <a:pPr lvl="3">
              <a:buFontTx/>
              <a:buNone/>
            </a:pPr>
            <a:r>
              <a:rPr lang="en-GB" altLang="sv-SE" sz="1800" b="1" dirty="0">
                <a:latin typeface="Verdana" panose="020B0604030504040204" pitchFamily="34" charset="0"/>
                <a:ea typeface="Verdana" panose="020B0604030504040204" pitchFamily="34" charset="0"/>
              </a:rPr>
              <a:t>R</a:t>
            </a:r>
            <a:r>
              <a:rPr lang="en-GB" altLang="sv-SE" sz="1800" dirty="0">
                <a:latin typeface="Verdana" panose="020B0604030504040204" pitchFamily="34" charset="0"/>
                <a:ea typeface="Verdana" panose="020B0604030504040204" pitchFamily="34" charset="0"/>
              </a:rPr>
              <a:t>elevant </a:t>
            </a:r>
          </a:p>
          <a:p>
            <a:pPr>
              <a:buFontTx/>
              <a:buNone/>
            </a:pPr>
            <a:endParaRPr lang="en-GB" altLang="sv-SE" dirty="0">
              <a:latin typeface="Verdana" panose="020B0604030504040204" pitchFamily="34" charset="0"/>
              <a:ea typeface="Verdana" panose="020B0604030504040204" pitchFamily="34" charset="0"/>
            </a:endParaRP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122</a:t>
            </a:fld>
            <a:endParaRPr lang="sv-SE"/>
          </a:p>
        </p:txBody>
      </p:sp>
    </p:spTree>
    <p:extLst>
      <p:ext uri="{BB962C8B-B14F-4D97-AF65-F5344CB8AC3E}">
        <p14:creationId xmlns:p14="http://schemas.microsoft.com/office/powerpoint/2010/main" val="73823142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4"/>
          <p:cNvSpPr>
            <a:spLocks noGrp="1"/>
          </p:cNvSpPr>
          <p:nvPr>
            <p:ph type="title"/>
          </p:nvPr>
        </p:nvSpPr>
        <p:spPr>
          <a:xfrm>
            <a:off x="684000" y="171609"/>
            <a:ext cx="6408280" cy="684000"/>
          </a:xfrm>
        </p:spPr>
        <p:txBody>
          <a:bodyPr>
            <a:noAutofit/>
          </a:bodyPr>
          <a:lstStyle/>
          <a:p>
            <a:r>
              <a:rPr lang="en-GB" altLang="sv-SE" sz="3200" dirty="0"/>
              <a:t>Example: Research questions</a:t>
            </a:r>
          </a:p>
        </p:txBody>
      </p:sp>
      <p:sp>
        <p:nvSpPr>
          <p:cNvPr id="4" name="Platshållare för bildnummer 3"/>
          <p:cNvSpPr>
            <a:spLocks noGrp="1"/>
          </p:cNvSpPr>
          <p:nvPr>
            <p:ph type="sldNum" sz="quarter" idx="12"/>
          </p:nvPr>
        </p:nvSpPr>
        <p:spPr/>
        <p:txBody>
          <a:bodyPr/>
          <a:lstStyle/>
          <a:p>
            <a:fld id="{BFF60FBC-534B-422A-BB76-D753B3ABA0EA}" type="slidenum">
              <a:rPr lang="sv-SE" smtClean="0"/>
              <a:pPr/>
              <a:t>123</a:t>
            </a:fld>
            <a:endParaRPr lang="sv-SE"/>
          </a:p>
        </p:txBody>
      </p:sp>
      <p:sp>
        <p:nvSpPr>
          <p:cNvPr id="3" name="Rektangel 2"/>
          <p:cNvSpPr/>
          <p:nvPr/>
        </p:nvSpPr>
        <p:spPr>
          <a:xfrm>
            <a:off x="684000" y="855609"/>
            <a:ext cx="8096056" cy="923330"/>
          </a:xfrm>
          <a:prstGeom prst="rect">
            <a:avLst/>
          </a:prstGeom>
        </p:spPr>
        <p:txBody>
          <a:bodyPr wrap="square">
            <a:spAutoFit/>
          </a:bodyPr>
          <a:lstStyle/>
          <a:p>
            <a:r>
              <a:rPr lang="en-US" dirty="0">
                <a:latin typeface="Verdana" panose="020B0604030504040204" pitchFamily="34" charset="0"/>
                <a:ea typeface="Verdana" panose="020B0604030504040204" pitchFamily="34" charset="0"/>
              </a:rPr>
              <a:t>Does  a difference in _________ (independent variable) explain differences in _________ (dependent variable), controlling for the effects of _________ (control variable)?</a:t>
            </a:r>
            <a:endParaRPr lang="sv-SE" dirty="0">
              <a:latin typeface="Verdana" panose="020B0604030504040204" pitchFamily="34" charset="0"/>
              <a:ea typeface="Verdana" panose="020B0604030504040204" pitchFamily="34" charset="0"/>
            </a:endParaRPr>
          </a:p>
        </p:txBody>
      </p:sp>
      <p:sp>
        <p:nvSpPr>
          <p:cNvPr id="5" name="Rektangel 4"/>
          <p:cNvSpPr/>
          <p:nvPr/>
        </p:nvSpPr>
        <p:spPr>
          <a:xfrm>
            <a:off x="611560" y="3144405"/>
            <a:ext cx="8352928" cy="1628651"/>
          </a:xfrm>
          <a:prstGeom prst="rect">
            <a:avLst/>
          </a:prstGeom>
        </p:spPr>
        <p:txBody>
          <a:bodyPr wrap="square">
            <a:spAutoFit/>
          </a:bodyPr>
          <a:lstStyle/>
          <a:p>
            <a:pPr>
              <a:spcBef>
                <a:spcPts val="900"/>
              </a:spcBef>
            </a:pPr>
            <a:r>
              <a:rPr lang="en-US" sz="1600" b="1" dirty="0">
                <a:latin typeface="Verdana" panose="020B0604030504040204" pitchFamily="34" charset="0"/>
                <a:ea typeface="Verdana" panose="020B0604030504040204" pitchFamily="34" charset="0"/>
              </a:rPr>
              <a:t>Observational studies</a:t>
            </a:r>
          </a:p>
          <a:p>
            <a:pPr>
              <a:spcBef>
                <a:spcPts val="450"/>
              </a:spcBef>
            </a:pPr>
            <a:r>
              <a:rPr lang="en-US" sz="1600" dirty="0">
                <a:latin typeface="Verdana" panose="020B0604030504040204" pitchFamily="34" charset="0"/>
                <a:ea typeface="Verdana" panose="020B0604030504040204" pitchFamily="34" charset="0"/>
              </a:rPr>
              <a:t>What is the relationship between long distance commuters and eating disorders?</a:t>
            </a:r>
          </a:p>
          <a:p>
            <a:pPr>
              <a:spcBef>
                <a:spcPts val="900"/>
              </a:spcBef>
            </a:pPr>
            <a:r>
              <a:rPr lang="en-US" sz="1600" b="1" dirty="0">
                <a:latin typeface="Verdana" panose="020B0604030504040204" pitchFamily="34" charset="0"/>
                <a:ea typeface="Verdana" panose="020B0604030504040204" pitchFamily="34" charset="0"/>
              </a:rPr>
              <a:t>Experimental studies </a:t>
            </a:r>
          </a:p>
          <a:p>
            <a:pPr>
              <a:spcBef>
                <a:spcPts val="450"/>
              </a:spcBef>
            </a:pPr>
            <a:r>
              <a:rPr lang="en-US" sz="1600" dirty="0">
                <a:latin typeface="Verdana" panose="020B0604030504040204" pitchFamily="34" charset="0"/>
                <a:ea typeface="Verdana" panose="020B0604030504040204" pitchFamily="34" charset="0"/>
              </a:rPr>
              <a:t>Does the consumption of fast food lead to eating disorders?</a:t>
            </a:r>
          </a:p>
        </p:txBody>
      </p:sp>
      <p:sp>
        <p:nvSpPr>
          <p:cNvPr id="6" name="Rektangel 5"/>
          <p:cNvSpPr/>
          <p:nvPr/>
        </p:nvSpPr>
        <p:spPr>
          <a:xfrm>
            <a:off x="684000" y="2017802"/>
            <a:ext cx="8280488" cy="923330"/>
          </a:xfrm>
          <a:prstGeom prst="rect">
            <a:avLst/>
          </a:prstGeom>
        </p:spPr>
        <p:txBody>
          <a:bodyPr wrap="square">
            <a:spAutoFit/>
          </a:bodyPr>
          <a:lstStyle/>
          <a:p>
            <a:r>
              <a:rPr lang="en-US" dirty="0">
                <a:latin typeface="Verdana" panose="020B0604030504040204" pitchFamily="34" charset="0"/>
                <a:ea typeface="Verdana" panose="020B0604030504040204" pitchFamily="34" charset="0"/>
              </a:rPr>
              <a:t>Does a difference in </a:t>
            </a:r>
            <a:r>
              <a:rPr lang="en-US" u="sng" dirty="0">
                <a:solidFill>
                  <a:srgbClr val="002060"/>
                </a:solidFill>
                <a:latin typeface="Verdana" panose="020B0604030504040204" pitchFamily="34" charset="0"/>
                <a:ea typeface="Verdana" panose="020B0604030504040204" pitchFamily="34" charset="0"/>
              </a:rPr>
              <a:t>treatment </a:t>
            </a:r>
            <a:r>
              <a:rPr lang="en-US" dirty="0">
                <a:latin typeface="Verdana" panose="020B0604030504040204" pitchFamily="34" charset="0"/>
                <a:ea typeface="Verdana" panose="020B0604030504040204" pitchFamily="34" charset="0"/>
              </a:rPr>
              <a:t>explain differences in </a:t>
            </a:r>
            <a:r>
              <a:rPr lang="en-US" u="sng" dirty="0">
                <a:solidFill>
                  <a:srgbClr val="002060"/>
                </a:solidFill>
                <a:latin typeface="Verdana" panose="020B0604030504040204" pitchFamily="34" charset="0"/>
                <a:ea typeface="Verdana" panose="020B0604030504040204" pitchFamily="34" charset="0"/>
              </a:rPr>
              <a:t>maximum heel-rise height</a:t>
            </a:r>
            <a:r>
              <a:rPr lang="en-US" dirty="0">
                <a:solidFill>
                  <a:srgbClr val="002060"/>
                </a:solidFill>
                <a:latin typeface="Verdana" panose="020B0604030504040204" pitchFamily="34" charset="0"/>
                <a:ea typeface="Verdana" panose="020B0604030504040204" pitchFamily="34" charset="0"/>
              </a:rPr>
              <a:t>,</a:t>
            </a:r>
            <a:r>
              <a:rPr lang="en-US" dirty="0">
                <a:latin typeface="Verdana" panose="020B0604030504040204" pitchFamily="34" charset="0"/>
                <a:ea typeface="Verdana" panose="020B0604030504040204" pitchFamily="34" charset="0"/>
              </a:rPr>
              <a:t>  controlling for the effects of </a:t>
            </a:r>
            <a:r>
              <a:rPr lang="en-US" u="sng" dirty="0">
                <a:solidFill>
                  <a:srgbClr val="002060"/>
                </a:solidFill>
                <a:latin typeface="Verdana" panose="020B0604030504040204" pitchFamily="34" charset="0"/>
                <a:ea typeface="Verdana" panose="020B0604030504040204" pitchFamily="34" charset="0"/>
              </a:rPr>
              <a:t>age, BMI, PAS and early (3 months) ATRS results</a:t>
            </a:r>
            <a:r>
              <a:rPr lang="en-US" dirty="0">
                <a:latin typeface="Verdana" panose="020B0604030504040204" pitchFamily="34" charset="0"/>
                <a:ea typeface="Verdana" panose="020B0604030504040204" pitchFamily="34" charset="0"/>
              </a:rPr>
              <a:t>? </a:t>
            </a:r>
            <a:endParaRPr lang="sv-SE"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0878395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827584" y="167217"/>
            <a:ext cx="8168496" cy="433315"/>
          </a:xfrm>
        </p:spPr>
        <p:txBody>
          <a:bodyPr/>
          <a:lstStyle/>
          <a:p>
            <a:r>
              <a:rPr lang="en-US" dirty="0"/>
              <a:t>Framing your research question</a:t>
            </a:r>
            <a:br>
              <a:rPr lang="sv-SE" dirty="0"/>
            </a:br>
            <a:endParaRPr lang="sv-SE" dirty="0"/>
          </a:p>
        </p:txBody>
      </p:sp>
      <p:graphicFrame>
        <p:nvGraphicFramePr>
          <p:cNvPr id="6" name="Platshållare för innehåll 5"/>
          <p:cNvGraphicFramePr>
            <a:graphicFrameLocks noGrp="1"/>
          </p:cNvGraphicFramePr>
          <p:nvPr>
            <p:ph sz="quarter" idx="12"/>
            <p:extLst>
              <p:ext uri="{D42A27DB-BD31-4B8C-83A1-F6EECF244321}">
                <p14:modId xmlns:p14="http://schemas.microsoft.com/office/powerpoint/2010/main" val="705017111"/>
              </p:ext>
            </p:extLst>
          </p:nvPr>
        </p:nvGraphicFramePr>
        <p:xfrm>
          <a:off x="323528" y="699542"/>
          <a:ext cx="3528392" cy="4032448"/>
        </p:xfrm>
        <a:graphic>
          <a:graphicData uri="http://schemas.openxmlformats.org/drawingml/2006/table">
            <a:tbl>
              <a:tblPr firstRow="1" firstCol="1" bandRow="1">
                <a:tableStyleId>{21E4AEA4-8DFA-4A89-87EB-49C32662AFE0}</a:tableStyleId>
              </a:tblPr>
              <a:tblGrid>
                <a:gridCol w="3528392">
                  <a:extLst>
                    <a:ext uri="{9D8B030D-6E8A-4147-A177-3AD203B41FA5}">
                      <a16:colId xmlns:a16="http://schemas.microsoft.com/office/drawing/2014/main" val="2184522170"/>
                    </a:ext>
                  </a:extLst>
                </a:gridCol>
              </a:tblGrid>
              <a:tr h="936068">
                <a:tc>
                  <a:txBody>
                    <a:bodyPr/>
                    <a:lstStyle/>
                    <a:p>
                      <a:pPr algn="l">
                        <a:spcAft>
                          <a:spcPts val="0"/>
                        </a:spcAft>
                      </a:pPr>
                      <a:r>
                        <a:rPr lang="en-US" sz="3000" dirty="0">
                          <a:solidFill>
                            <a:schemeClr val="tx1"/>
                          </a:solidFill>
                          <a:effectLst/>
                          <a:latin typeface="Verdana" panose="020B0604030504040204" pitchFamily="34" charset="0"/>
                          <a:ea typeface="Verdana" panose="020B0604030504040204" pitchFamily="34" charset="0"/>
                        </a:rPr>
                        <a:t>P </a:t>
                      </a:r>
                      <a:r>
                        <a:rPr lang="en-US" sz="1100" dirty="0">
                          <a:solidFill>
                            <a:schemeClr val="tx1"/>
                          </a:solidFill>
                          <a:effectLst/>
                          <a:latin typeface="Verdana" panose="020B0604030504040204" pitchFamily="34" charset="0"/>
                          <a:ea typeface="Verdana" panose="020B0604030504040204" pitchFamily="34" charset="0"/>
                        </a:rPr>
                        <a:t>Patient / Population, This is the ´Who´. How would I describe a group of patients similar to mine?</a:t>
                      </a:r>
                      <a:endParaRPr lang="sv-SE" sz="11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21797" marR="217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2144861"/>
                  </a:ext>
                </a:extLst>
              </a:tr>
              <a:tr h="982764">
                <a:tc>
                  <a:txBody>
                    <a:bodyPr/>
                    <a:lstStyle/>
                    <a:p>
                      <a:pPr marL="0" algn="l" defTabSz="457200" rtl="0" eaLnBrk="1" latinLnBrk="0" hangingPunct="1">
                        <a:spcAft>
                          <a:spcPts val="0"/>
                        </a:spcAft>
                      </a:pPr>
                      <a:r>
                        <a:rPr lang="en-US" sz="3000" dirty="0">
                          <a:solidFill>
                            <a:schemeClr val="tx1"/>
                          </a:solidFill>
                          <a:effectLst/>
                          <a:latin typeface="Verdana" panose="020B0604030504040204" pitchFamily="34" charset="0"/>
                          <a:ea typeface="Verdana" panose="020B0604030504040204" pitchFamily="34" charset="0"/>
                        </a:rPr>
                        <a:t>I </a:t>
                      </a:r>
                      <a:r>
                        <a:rPr lang="en-US" sz="1100" b="1" kern="1200" dirty="0">
                          <a:solidFill>
                            <a:schemeClr val="tx1"/>
                          </a:solidFill>
                          <a:effectLst/>
                          <a:latin typeface="Verdana" panose="020B0604030504040204" pitchFamily="34" charset="0"/>
                          <a:ea typeface="Verdana" panose="020B0604030504040204" pitchFamily="34" charset="0"/>
                          <a:cs typeface="+mn-cs"/>
                        </a:rPr>
                        <a:t>Intervention: This is the ´What. Which main intervention, prognostic factor, or exposure am I considering?</a:t>
                      </a:r>
                      <a:endParaRPr lang="sv-SE" sz="1100" b="1" kern="1200" dirty="0">
                        <a:solidFill>
                          <a:schemeClr val="tx1"/>
                        </a:solidFill>
                        <a:effectLst/>
                        <a:latin typeface="Verdana" panose="020B0604030504040204" pitchFamily="34" charset="0"/>
                        <a:ea typeface="Verdana" panose="020B0604030504040204" pitchFamily="34" charset="0"/>
                        <a:cs typeface="+mn-cs"/>
                      </a:endParaRPr>
                    </a:p>
                  </a:txBody>
                  <a:tcPr marL="21797" marR="217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202265"/>
                  </a:ext>
                </a:extLst>
              </a:tr>
              <a:tr h="982764">
                <a:tc>
                  <a:txBody>
                    <a:bodyPr/>
                    <a:lstStyle/>
                    <a:p>
                      <a:pPr marL="0" algn="l" defTabSz="457200" rtl="0" eaLnBrk="1" latinLnBrk="0" hangingPunct="1">
                        <a:spcAft>
                          <a:spcPts val="0"/>
                        </a:spcAft>
                      </a:pPr>
                      <a:r>
                        <a:rPr lang="en-US" sz="3000" dirty="0">
                          <a:solidFill>
                            <a:schemeClr val="tx1"/>
                          </a:solidFill>
                          <a:effectLst/>
                          <a:latin typeface="Verdana" panose="020B0604030504040204" pitchFamily="34" charset="0"/>
                          <a:ea typeface="Verdana" panose="020B0604030504040204" pitchFamily="34" charset="0"/>
                        </a:rPr>
                        <a:t>C </a:t>
                      </a:r>
                      <a:r>
                        <a:rPr lang="en-US" sz="1100" b="1" kern="1200" dirty="0">
                          <a:solidFill>
                            <a:schemeClr val="tx1"/>
                          </a:solidFill>
                          <a:effectLst/>
                          <a:latin typeface="Verdana" panose="020B0604030504040204" pitchFamily="34" charset="0"/>
                          <a:ea typeface="Verdana" panose="020B0604030504040204" pitchFamily="34" charset="0"/>
                          <a:cs typeface="+mn-cs"/>
                        </a:rPr>
                        <a:t>Comparison:  With what is the intervention (or indeed population) being compared? This could be a control group</a:t>
                      </a:r>
                      <a:endParaRPr lang="sv-SE" sz="1100" b="1" kern="1200" dirty="0">
                        <a:solidFill>
                          <a:schemeClr val="tx1"/>
                        </a:solidFill>
                        <a:effectLst/>
                        <a:latin typeface="Verdana" panose="020B0604030504040204" pitchFamily="34" charset="0"/>
                        <a:ea typeface="Verdana" panose="020B0604030504040204" pitchFamily="34" charset="0"/>
                        <a:cs typeface="+mn-cs"/>
                      </a:endParaRPr>
                    </a:p>
                  </a:txBody>
                  <a:tcPr marL="21797" marR="217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4777585"/>
                  </a:ext>
                </a:extLst>
              </a:tr>
              <a:tr h="1130852">
                <a:tc>
                  <a:txBody>
                    <a:bodyPr/>
                    <a:lstStyle/>
                    <a:p>
                      <a:pPr marL="0" algn="l" defTabSz="457200" rtl="0" eaLnBrk="1" latinLnBrk="0" hangingPunct="1">
                        <a:spcAft>
                          <a:spcPts val="0"/>
                        </a:spcAft>
                      </a:pPr>
                      <a:r>
                        <a:rPr lang="en-US" sz="3000" dirty="0">
                          <a:solidFill>
                            <a:schemeClr val="tx1"/>
                          </a:solidFill>
                          <a:effectLst/>
                          <a:latin typeface="Verdana" panose="020B0604030504040204" pitchFamily="34" charset="0"/>
                          <a:ea typeface="Verdana" panose="020B0604030504040204" pitchFamily="34" charset="0"/>
                        </a:rPr>
                        <a:t>O </a:t>
                      </a:r>
                      <a:r>
                        <a:rPr lang="en-US" sz="1100" b="1" kern="1200" dirty="0">
                          <a:solidFill>
                            <a:schemeClr val="tx1"/>
                          </a:solidFill>
                          <a:effectLst/>
                          <a:latin typeface="Verdana" panose="020B0604030504040204" pitchFamily="34" charset="0"/>
                          <a:ea typeface="Verdana" panose="020B0604030504040204" pitchFamily="34" charset="0"/>
                          <a:cs typeface="+mn-cs"/>
                        </a:rPr>
                        <a:t>Outcome: What outcome do you expect to see?  For example, you may be interested in knowing whether an intervention has a health benefit, or whether an exposure results in mortality</a:t>
                      </a:r>
                      <a:endParaRPr lang="sv-SE" sz="1100" b="1" kern="1200" dirty="0">
                        <a:solidFill>
                          <a:schemeClr val="tx1"/>
                        </a:solidFill>
                        <a:effectLst/>
                        <a:latin typeface="Verdana" panose="020B0604030504040204" pitchFamily="34" charset="0"/>
                        <a:ea typeface="Verdana" panose="020B0604030504040204" pitchFamily="34" charset="0"/>
                        <a:cs typeface="+mn-cs"/>
                      </a:endParaRPr>
                    </a:p>
                  </a:txBody>
                  <a:tcPr marL="21797" marR="217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6894132"/>
                  </a:ext>
                </a:extLst>
              </a:tr>
            </a:tbl>
          </a:graphicData>
        </a:graphic>
      </p:graphicFrame>
      <p:graphicFrame>
        <p:nvGraphicFramePr>
          <p:cNvPr id="7" name="Platshållare för innehåll 6"/>
          <p:cNvGraphicFramePr>
            <a:graphicFrameLocks noGrp="1"/>
          </p:cNvGraphicFramePr>
          <p:nvPr>
            <p:ph sz="quarter" idx="13"/>
            <p:extLst>
              <p:ext uri="{D42A27DB-BD31-4B8C-83A1-F6EECF244321}">
                <p14:modId xmlns:p14="http://schemas.microsoft.com/office/powerpoint/2010/main" val="280846676"/>
              </p:ext>
            </p:extLst>
          </p:nvPr>
        </p:nvGraphicFramePr>
        <p:xfrm>
          <a:off x="4572000" y="701878"/>
          <a:ext cx="3600400" cy="4108620"/>
        </p:xfrm>
        <a:graphic>
          <a:graphicData uri="http://schemas.openxmlformats.org/drawingml/2006/table">
            <a:tbl>
              <a:tblPr firstRow="1" firstCol="1" bandRow="1">
                <a:tableStyleId>{5C22544A-7EE6-4342-B048-85BDC9FD1C3A}</a:tableStyleId>
              </a:tblPr>
              <a:tblGrid>
                <a:gridCol w="3600400">
                  <a:extLst>
                    <a:ext uri="{9D8B030D-6E8A-4147-A177-3AD203B41FA5}">
                      <a16:colId xmlns:a16="http://schemas.microsoft.com/office/drawing/2014/main" val="1449064561"/>
                    </a:ext>
                  </a:extLst>
                </a:gridCol>
              </a:tblGrid>
              <a:tr h="803636">
                <a:tc>
                  <a:txBody>
                    <a:bodyPr/>
                    <a:lstStyle/>
                    <a:p>
                      <a:pPr algn="l">
                        <a:spcAft>
                          <a:spcPts val="0"/>
                        </a:spcAft>
                      </a:pPr>
                      <a:r>
                        <a:rPr lang="en-US" sz="3000" dirty="0">
                          <a:solidFill>
                            <a:schemeClr val="tx1"/>
                          </a:solidFill>
                          <a:effectLst/>
                          <a:latin typeface="Verdana" panose="020B0604030504040204" pitchFamily="34" charset="0"/>
                          <a:ea typeface="Verdana" panose="020B0604030504040204" pitchFamily="34" charset="0"/>
                        </a:rPr>
                        <a:t>S </a:t>
                      </a:r>
                      <a:r>
                        <a:rPr lang="en-US" sz="1100" b="1" kern="1200" dirty="0">
                          <a:solidFill>
                            <a:schemeClr val="tx1"/>
                          </a:solidFill>
                          <a:effectLst/>
                          <a:latin typeface="Verdana" panose="020B0604030504040204" pitchFamily="34" charset="0"/>
                          <a:ea typeface="Verdana" panose="020B0604030504040204" pitchFamily="34" charset="0"/>
                          <a:cs typeface="+mn-cs"/>
                        </a:rPr>
                        <a:t>Setting: ´Where´. What is the context for the question?</a:t>
                      </a:r>
                      <a:endParaRPr lang="sv-SE" sz="1100" b="1" kern="1200" dirty="0">
                        <a:solidFill>
                          <a:schemeClr val="tx1"/>
                        </a:solidFill>
                        <a:effectLst/>
                        <a:latin typeface="Verdana" panose="020B0604030504040204" pitchFamily="34" charset="0"/>
                        <a:ea typeface="Verdana" panose="020B0604030504040204" pitchFamily="34" charset="0"/>
                        <a:cs typeface="+mn-cs"/>
                      </a:endParaRPr>
                    </a:p>
                  </a:txBody>
                  <a:tcPr marL="23224" marR="2322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3096763"/>
                  </a:ext>
                </a:extLst>
              </a:tr>
              <a:tr h="753226">
                <a:tc>
                  <a:txBody>
                    <a:bodyPr/>
                    <a:lstStyle/>
                    <a:p>
                      <a:pPr algn="l">
                        <a:spcAft>
                          <a:spcPts val="0"/>
                        </a:spcAft>
                      </a:pPr>
                      <a:r>
                        <a:rPr lang="en-US" sz="3000" dirty="0">
                          <a:solidFill>
                            <a:schemeClr val="tx1"/>
                          </a:solidFill>
                          <a:effectLst/>
                          <a:latin typeface="Verdana" panose="020B0604030504040204" pitchFamily="34" charset="0"/>
                          <a:ea typeface="Verdana" panose="020B0604030504040204" pitchFamily="34" charset="0"/>
                        </a:rPr>
                        <a:t>P </a:t>
                      </a:r>
                      <a:r>
                        <a:rPr lang="en-US" sz="1100" b="1" kern="1200" dirty="0">
                          <a:solidFill>
                            <a:schemeClr val="tx1"/>
                          </a:solidFill>
                          <a:effectLst/>
                          <a:latin typeface="Verdana" panose="020B0604030504040204" pitchFamily="34" charset="0"/>
                          <a:ea typeface="Verdana" panose="020B0604030504040204" pitchFamily="34" charset="0"/>
                          <a:cs typeface="+mn-cs"/>
                        </a:rPr>
                        <a:t>Perspective / Population: ‘Who’ . How would I describe a group of patients similar to mine?</a:t>
                      </a:r>
                      <a:endParaRPr lang="sv-SE" sz="1100" b="1" kern="1200" dirty="0">
                        <a:solidFill>
                          <a:schemeClr val="tx1"/>
                        </a:solidFill>
                        <a:effectLst/>
                        <a:latin typeface="Verdana" panose="020B0604030504040204" pitchFamily="34" charset="0"/>
                        <a:ea typeface="Verdana" panose="020B0604030504040204" pitchFamily="34" charset="0"/>
                        <a:cs typeface="+mn-cs"/>
                      </a:endParaRPr>
                    </a:p>
                  </a:txBody>
                  <a:tcPr marL="23224" marR="2322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1859344"/>
                  </a:ext>
                </a:extLst>
              </a:tr>
              <a:tr h="828549">
                <a:tc>
                  <a:txBody>
                    <a:bodyPr/>
                    <a:lstStyle/>
                    <a:p>
                      <a:pPr algn="l">
                        <a:spcAft>
                          <a:spcPts val="0"/>
                        </a:spcAft>
                      </a:pPr>
                      <a:r>
                        <a:rPr lang="en-US" sz="3000" dirty="0">
                          <a:solidFill>
                            <a:schemeClr val="tx1"/>
                          </a:solidFill>
                          <a:effectLst/>
                          <a:latin typeface="Verdana" panose="020B0604030504040204" pitchFamily="34" charset="0"/>
                          <a:ea typeface="Verdana" panose="020B0604030504040204" pitchFamily="34" charset="0"/>
                        </a:rPr>
                        <a:t>I </a:t>
                      </a:r>
                      <a:r>
                        <a:rPr lang="en-US" sz="1100" b="1" kern="1200" dirty="0">
                          <a:solidFill>
                            <a:schemeClr val="tx1"/>
                          </a:solidFill>
                          <a:effectLst/>
                          <a:latin typeface="Verdana" panose="020B0604030504040204" pitchFamily="34" charset="0"/>
                          <a:ea typeface="Verdana" panose="020B0604030504040204" pitchFamily="34" charset="0"/>
                          <a:cs typeface="+mn-cs"/>
                        </a:rPr>
                        <a:t>Intervention: ‘What’. Which main intervention, prognostic factor, or exposure am I considering?</a:t>
                      </a:r>
                      <a:endParaRPr lang="sv-SE" sz="1100" b="1" kern="1200" dirty="0">
                        <a:solidFill>
                          <a:schemeClr val="tx1"/>
                        </a:solidFill>
                        <a:effectLst/>
                        <a:latin typeface="Verdana" panose="020B0604030504040204" pitchFamily="34" charset="0"/>
                        <a:ea typeface="Verdana" panose="020B0604030504040204" pitchFamily="34" charset="0"/>
                        <a:cs typeface="+mn-cs"/>
                      </a:endParaRPr>
                    </a:p>
                  </a:txBody>
                  <a:tcPr marL="23224" marR="2322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0940902"/>
                  </a:ext>
                </a:extLst>
              </a:tr>
              <a:tr h="891475">
                <a:tc>
                  <a:txBody>
                    <a:bodyPr/>
                    <a:lstStyle/>
                    <a:p>
                      <a:pPr marL="0" algn="l" defTabSz="457200" rtl="0" eaLnBrk="1" latinLnBrk="0" hangingPunct="1">
                        <a:spcAft>
                          <a:spcPts val="0"/>
                        </a:spcAft>
                      </a:pPr>
                      <a:r>
                        <a:rPr lang="en-US" sz="3000" dirty="0">
                          <a:solidFill>
                            <a:schemeClr val="tx1"/>
                          </a:solidFill>
                          <a:effectLst/>
                          <a:latin typeface="Verdana" panose="020B0604030504040204" pitchFamily="34" charset="0"/>
                          <a:ea typeface="Verdana" panose="020B0604030504040204" pitchFamily="34" charset="0"/>
                        </a:rPr>
                        <a:t>C </a:t>
                      </a:r>
                      <a:r>
                        <a:rPr lang="en-US" sz="1100" b="1" kern="1200" dirty="0">
                          <a:solidFill>
                            <a:schemeClr val="tx1"/>
                          </a:solidFill>
                          <a:effectLst/>
                          <a:latin typeface="Verdana" panose="020B0604030504040204" pitchFamily="34" charset="0"/>
                          <a:ea typeface="Verdana" panose="020B0604030504040204" pitchFamily="34" charset="0"/>
                          <a:cs typeface="+mn-cs"/>
                        </a:rPr>
                        <a:t>Comparison: With what is the intervention (or indeed population) being compared? This could be a control group.</a:t>
                      </a:r>
                      <a:endParaRPr lang="sv-SE" sz="1100" b="1" kern="1200" dirty="0">
                        <a:solidFill>
                          <a:schemeClr val="tx1"/>
                        </a:solidFill>
                        <a:effectLst/>
                        <a:latin typeface="Verdana" panose="020B0604030504040204" pitchFamily="34" charset="0"/>
                        <a:ea typeface="Verdana" panose="020B0604030504040204" pitchFamily="34" charset="0"/>
                        <a:cs typeface="+mn-cs"/>
                      </a:endParaRPr>
                    </a:p>
                  </a:txBody>
                  <a:tcPr marL="23224" marR="2322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1968633"/>
                  </a:ext>
                </a:extLst>
              </a:tr>
              <a:tr h="753226">
                <a:tc>
                  <a:txBody>
                    <a:bodyPr/>
                    <a:lstStyle/>
                    <a:p>
                      <a:pPr marL="0" algn="l" defTabSz="457200" rtl="0" eaLnBrk="1" latinLnBrk="0" hangingPunct="1">
                        <a:spcAft>
                          <a:spcPts val="0"/>
                        </a:spcAft>
                      </a:pPr>
                      <a:r>
                        <a:rPr lang="en-US" sz="3000" dirty="0">
                          <a:solidFill>
                            <a:schemeClr val="tx1"/>
                          </a:solidFill>
                          <a:effectLst/>
                          <a:latin typeface="Verdana" panose="020B0604030504040204" pitchFamily="34" charset="0"/>
                          <a:ea typeface="Verdana" panose="020B0604030504040204" pitchFamily="34" charset="0"/>
                        </a:rPr>
                        <a:t>E </a:t>
                      </a:r>
                      <a:r>
                        <a:rPr lang="en-US" sz="1100" b="1" kern="1200" dirty="0">
                          <a:solidFill>
                            <a:schemeClr val="tx1"/>
                          </a:solidFill>
                          <a:effectLst/>
                          <a:latin typeface="Verdana" panose="020B0604030504040204" pitchFamily="34" charset="0"/>
                          <a:ea typeface="Verdana" panose="020B0604030504040204" pitchFamily="34" charset="0"/>
                          <a:cs typeface="+mn-cs"/>
                        </a:rPr>
                        <a:t>Evaluation: With what result? What measurement will determine the intervention’s success?</a:t>
                      </a:r>
                      <a:endParaRPr lang="sv-SE" sz="1100" b="1" kern="1200" dirty="0">
                        <a:solidFill>
                          <a:schemeClr val="tx1"/>
                        </a:solidFill>
                        <a:effectLst/>
                        <a:latin typeface="Verdana" panose="020B0604030504040204" pitchFamily="34" charset="0"/>
                        <a:ea typeface="Verdana" panose="020B0604030504040204" pitchFamily="34" charset="0"/>
                        <a:cs typeface="+mn-cs"/>
                      </a:endParaRPr>
                    </a:p>
                  </a:txBody>
                  <a:tcPr marL="23224" marR="2322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0211748"/>
                  </a:ext>
                </a:extLst>
              </a:tr>
            </a:tbl>
          </a:graphicData>
        </a:graphic>
      </p:graphicFrame>
      <p:sp>
        <p:nvSpPr>
          <p:cNvPr id="4" name="Slide Number Placeholder 3">
            <a:extLst>
              <a:ext uri="{FF2B5EF4-FFF2-40B4-BE49-F238E27FC236}">
                <a16:creationId xmlns:a16="http://schemas.microsoft.com/office/drawing/2014/main" id="{39DBF585-F31E-4802-8256-5F7ECB07F476}"/>
              </a:ext>
            </a:extLst>
          </p:cNvPr>
          <p:cNvSpPr>
            <a:spLocks noGrp="1"/>
          </p:cNvSpPr>
          <p:nvPr>
            <p:ph type="sldNum" sz="quarter" idx="10"/>
          </p:nvPr>
        </p:nvSpPr>
        <p:spPr/>
        <p:txBody>
          <a:bodyPr/>
          <a:lstStyle/>
          <a:p>
            <a:pPr>
              <a:defRPr/>
            </a:pPr>
            <a:fld id="{9426A61E-93B8-384D-8975-0A89DB09A550}" type="slidenum">
              <a:rPr lang="sv-SE" smtClean="0"/>
              <a:pPr>
                <a:defRPr/>
              </a:pPr>
              <a:t>124</a:t>
            </a:fld>
            <a:endParaRPr lang="sv-SE"/>
          </a:p>
        </p:txBody>
      </p:sp>
    </p:spTree>
    <p:extLst>
      <p:ext uri="{BB962C8B-B14F-4D97-AF65-F5344CB8AC3E}">
        <p14:creationId xmlns:p14="http://schemas.microsoft.com/office/powerpoint/2010/main" val="74145795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dirty="0" err="1"/>
              <a:t>Some</a:t>
            </a:r>
            <a:r>
              <a:rPr lang="sv-SE" dirty="0"/>
              <a:t> online </a:t>
            </a:r>
            <a:r>
              <a:rPr lang="sv-SE" dirty="0" err="1"/>
              <a:t>guidelines</a:t>
            </a:r>
            <a:endParaRPr lang="sv-SE" dirty="0"/>
          </a:p>
        </p:txBody>
      </p:sp>
      <p:sp>
        <p:nvSpPr>
          <p:cNvPr id="3" name="Platshållare för innehåll 2"/>
          <p:cNvSpPr>
            <a:spLocks noGrp="1"/>
          </p:cNvSpPr>
          <p:nvPr>
            <p:ph idx="1"/>
          </p:nvPr>
        </p:nvSpPr>
        <p:spPr>
          <a:xfrm>
            <a:off x="684000" y="1330620"/>
            <a:ext cx="7488000" cy="2862000"/>
          </a:xfrm>
        </p:spPr>
        <p:txBody>
          <a:bodyPr>
            <a:noAutofit/>
          </a:bodyPr>
          <a:lstStyle/>
          <a:p>
            <a:pPr marL="0" indent="0">
              <a:buNone/>
            </a:pPr>
            <a:r>
              <a:rPr lang="en-US" b="1" dirty="0">
                <a:latin typeface="Verdana" panose="020B0604030504040204" pitchFamily="34" charset="0"/>
                <a:ea typeface="Verdana" panose="020B0604030504040204" pitchFamily="34" charset="0"/>
              </a:rPr>
              <a:t>equator network: </a:t>
            </a:r>
            <a:r>
              <a:rPr lang="en-US" dirty="0">
                <a:latin typeface="Verdana" panose="020B0604030504040204" pitchFamily="34" charset="0"/>
                <a:ea typeface="Verdana" panose="020B0604030504040204" pitchFamily="34" charset="0"/>
              </a:rPr>
              <a:t>Enhancing the QUAlity and Transparency Of health Research</a:t>
            </a:r>
          </a:p>
          <a:p>
            <a:pPr marL="257175" indent="-257175">
              <a:buFont typeface="Arial" panose="020B0604020202020204" pitchFamily="34" charset="0"/>
              <a:buChar char="•"/>
            </a:pPr>
            <a:r>
              <a:rPr lang="en-US" dirty="0">
                <a:latin typeface="Verdana" panose="020B0604030504040204" pitchFamily="34" charset="0"/>
                <a:ea typeface="Verdana" panose="020B0604030504040204" pitchFamily="34" charset="0"/>
              </a:rPr>
              <a:t>reporting guidelines and also links to other resources relevant to research reporting </a:t>
            </a:r>
            <a:r>
              <a:rPr lang="en-US" dirty="0">
                <a:latin typeface="Verdana" panose="020B0604030504040204" pitchFamily="34" charset="0"/>
                <a:ea typeface="Verdana" panose="020B0604030504040204" pitchFamily="34" charset="0"/>
                <a:hlinkClick r:id="rId3"/>
              </a:rPr>
              <a:t>http://www.equator-network.org/</a:t>
            </a:r>
            <a:r>
              <a:rPr lang="en-US" dirty="0">
                <a:latin typeface="Verdana" panose="020B0604030504040204" pitchFamily="34" charset="0"/>
                <a:ea typeface="Verdana" panose="020B0604030504040204" pitchFamily="34" charset="0"/>
              </a:rPr>
              <a:t> </a:t>
            </a:r>
          </a:p>
          <a:p>
            <a:pPr marL="0" indent="0">
              <a:buNone/>
            </a:pPr>
            <a:r>
              <a:rPr lang="en-US" b="1" dirty="0">
                <a:latin typeface="Verdana" panose="020B0604030504040204" pitchFamily="34" charset="0"/>
                <a:ea typeface="Verdana" panose="020B0604030504040204" pitchFamily="34" charset="0"/>
              </a:rPr>
              <a:t>Codex website: </a:t>
            </a:r>
            <a:r>
              <a:rPr lang="en-US" dirty="0">
                <a:latin typeface="Verdana" panose="020B0604030504040204" pitchFamily="34" charset="0"/>
                <a:ea typeface="Verdana" panose="020B0604030504040204" pitchFamily="34" charset="0"/>
              </a:rPr>
              <a:t>rules and guidelines for research</a:t>
            </a:r>
          </a:p>
          <a:p>
            <a:pPr marL="257175" indent="-257175">
              <a:buFont typeface="Arial" panose="020B0604020202020204" pitchFamily="34" charset="0"/>
              <a:buChar char="•"/>
            </a:pPr>
            <a:r>
              <a:rPr lang="en-US" dirty="0">
                <a:latin typeface="Verdana" panose="020B0604030504040204" pitchFamily="34" charset="0"/>
                <a:ea typeface="Verdana" panose="020B0604030504040204" pitchFamily="34" charset="0"/>
              </a:rPr>
              <a:t>This website's aim is to give researchers and other interested parties access to and information on the guidelines, ethics codes and laws that regulate and place ethical demands on the research process. </a:t>
            </a:r>
          </a:p>
          <a:p>
            <a:pPr marL="0" indent="0">
              <a:buNone/>
            </a:pPr>
            <a:r>
              <a:rPr lang="sv-SE" dirty="0">
                <a:latin typeface="Verdana" panose="020B0604030504040204" pitchFamily="34" charset="0"/>
                <a:ea typeface="Verdana" panose="020B0604030504040204" pitchFamily="34" charset="0"/>
                <a:hlinkClick r:id="rId4"/>
              </a:rPr>
              <a:t>http://www.codex.vr.se/en/index.shtml</a:t>
            </a:r>
            <a:endParaRPr lang="sv-SE" dirty="0">
              <a:latin typeface="Verdana" panose="020B0604030504040204" pitchFamily="34" charset="0"/>
              <a:ea typeface="Verdana" panose="020B0604030504040204" pitchFamily="34" charset="0"/>
            </a:endParaRPr>
          </a:p>
          <a:p>
            <a:pPr marL="0" indent="0">
              <a:buNone/>
            </a:pPr>
            <a:endParaRPr lang="sv-SE" dirty="0">
              <a:latin typeface="Verdana" panose="020B0604030504040204" pitchFamily="34" charset="0"/>
              <a:ea typeface="Verdana" panose="020B0604030504040204" pitchFamily="34" charset="0"/>
            </a:endParaRPr>
          </a:p>
        </p:txBody>
      </p:sp>
      <p:sp>
        <p:nvSpPr>
          <p:cNvPr id="5" name="Slide Number Placeholder 4">
            <a:extLst>
              <a:ext uri="{FF2B5EF4-FFF2-40B4-BE49-F238E27FC236}">
                <a16:creationId xmlns:a16="http://schemas.microsoft.com/office/drawing/2014/main" id="{1908305A-0F02-42DF-9D12-BC4FA2DB9C94}"/>
              </a:ext>
            </a:extLst>
          </p:cNvPr>
          <p:cNvSpPr>
            <a:spLocks noGrp="1"/>
          </p:cNvSpPr>
          <p:nvPr>
            <p:ph type="sldNum" sz="quarter" idx="10"/>
          </p:nvPr>
        </p:nvSpPr>
        <p:spPr/>
        <p:txBody>
          <a:bodyPr/>
          <a:lstStyle/>
          <a:p>
            <a:pPr>
              <a:defRPr/>
            </a:pPr>
            <a:fld id="{9426A61E-93B8-384D-8975-0A89DB09A550}" type="slidenum">
              <a:rPr lang="sv-SE" smtClean="0"/>
              <a:pPr>
                <a:defRPr/>
              </a:pPr>
              <a:t>125</a:t>
            </a:fld>
            <a:endParaRPr lang="sv-SE"/>
          </a:p>
        </p:txBody>
      </p:sp>
    </p:spTree>
    <p:extLst>
      <p:ext uri="{BB962C8B-B14F-4D97-AF65-F5344CB8AC3E}">
        <p14:creationId xmlns:p14="http://schemas.microsoft.com/office/powerpoint/2010/main" val="197085842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ktangel med rundade hörn 5"/>
          <p:cNvSpPr/>
          <p:nvPr/>
        </p:nvSpPr>
        <p:spPr>
          <a:xfrm>
            <a:off x="1763688" y="735546"/>
            <a:ext cx="5712114" cy="3764755"/>
          </a:xfrm>
          <a:prstGeom prst="roundRect">
            <a:avLst>
              <a:gd name="adj" fmla="val 0"/>
            </a:avLst>
          </a:prstGeom>
          <a:blipFill dpi="0" rotWithShape="1">
            <a:blip r:embed="rId3">
              <a:alphaModFix amt="38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ubrik 7"/>
          <p:cNvSpPr>
            <a:spLocks noGrp="1"/>
          </p:cNvSpPr>
          <p:nvPr>
            <p:ph type="title"/>
          </p:nvPr>
        </p:nvSpPr>
        <p:spPr>
          <a:xfrm>
            <a:off x="2505182" y="120473"/>
            <a:ext cx="5029200" cy="571500"/>
          </a:xfrm>
        </p:spPr>
        <p:txBody>
          <a:bodyPr>
            <a:noAutofit/>
          </a:bodyPr>
          <a:lstStyle/>
          <a:p>
            <a:pPr algn="l"/>
            <a:r>
              <a:rPr lang="en-US" sz="4050" b="1" dirty="0">
                <a:ln>
                  <a:solidFill>
                    <a:schemeClr val="tx1">
                      <a:lumMod val="85000"/>
                      <a:lumOff val="15000"/>
                    </a:schemeClr>
                  </a:solidFill>
                </a:ln>
                <a:solidFill>
                  <a:schemeClr val="tx1">
                    <a:lumMod val="85000"/>
                    <a:lumOff val="15000"/>
                  </a:schemeClr>
                </a:solidFill>
                <a:effectLst>
                  <a:outerShdw blurRad="50800" dist="38100" dir="2700000" algn="tl" rotWithShape="0">
                    <a:prstClr val="black">
                      <a:alpha val="40000"/>
                    </a:prstClr>
                  </a:outerShdw>
                </a:effectLst>
              </a:rPr>
              <a:t>Study</a:t>
            </a:r>
            <a:r>
              <a:rPr lang="en-US" sz="4050" b="1" dirty="0">
                <a:ln>
                  <a:solidFill>
                    <a:schemeClr val="tx1">
                      <a:lumMod val="85000"/>
                      <a:lumOff val="15000"/>
                    </a:schemeClr>
                  </a:solidFill>
                </a:ln>
                <a:solidFill>
                  <a:schemeClr val="tx1">
                    <a:lumMod val="85000"/>
                    <a:lumOff val="15000"/>
                  </a:schemeClr>
                </a:solidFill>
              </a:rPr>
              <a:t> designs</a:t>
            </a:r>
          </a:p>
        </p:txBody>
      </p:sp>
      <p:sp>
        <p:nvSpPr>
          <p:cNvPr id="17" name="Platshållare för bildnummer 16"/>
          <p:cNvSpPr>
            <a:spLocks noGrp="1"/>
          </p:cNvSpPr>
          <p:nvPr>
            <p:ph type="sldNum" sz="quarter" idx="10"/>
          </p:nvPr>
        </p:nvSpPr>
        <p:spPr/>
        <p:txBody>
          <a:bodyPr/>
          <a:lstStyle/>
          <a:p>
            <a:fld id="{43FCA45F-E12B-4B3B-99D8-132DADA56E55}" type="slidenum">
              <a:rPr lang="sv-SE" smtClean="0"/>
              <a:pPr/>
              <a:t>126</a:t>
            </a:fld>
            <a:endParaRPr lang="sv-SE"/>
          </a:p>
        </p:txBody>
      </p:sp>
      <p:grpSp>
        <p:nvGrpSpPr>
          <p:cNvPr id="12" name="Grupp 11"/>
          <p:cNvGrpSpPr/>
          <p:nvPr/>
        </p:nvGrpSpPr>
        <p:grpSpPr>
          <a:xfrm>
            <a:off x="1979712" y="962935"/>
            <a:ext cx="1188132" cy="837093"/>
            <a:chOff x="1115616" y="1283913"/>
            <a:chExt cx="1584176" cy="1116124"/>
          </a:xfrm>
        </p:grpSpPr>
        <p:sp>
          <p:nvSpPr>
            <p:cNvPr id="11" name="Rektangel med rundade hörn 10"/>
            <p:cNvSpPr/>
            <p:nvPr/>
          </p:nvSpPr>
          <p:spPr>
            <a:xfrm>
              <a:off x="1295636" y="1664804"/>
              <a:ext cx="1044116" cy="64807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med rundade hörn 9"/>
            <p:cNvSpPr/>
            <p:nvPr/>
          </p:nvSpPr>
          <p:spPr>
            <a:xfrm flipH="1">
              <a:off x="1115616" y="1283913"/>
              <a:ext cx="1584176" cy="1116124"/>
            </a:xfrm>
            <a:prstGeom prst="roundRect">
              <a:avLst>
                <a:gd name="adj" fmla="val 50000"/>
              </a:avLst>
            </a:prstGeom>
            <a:blipFill>
              <a:blip r:embed="rId4">
                <a:alphaModFix amt="38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sp>
        <p:nvSpPr>
          <p:cNvPr id="14" name="Rektangel med rundade hörn 13"/>
          <p:cNvSpPr/>
          <p:nvPr/>
        </p:nvSpPr>
        <p:spPr>
          <a:xfrm>
            <a:off x="4768560" y="1242410"/>
            <a:ext cx="910563" cy="48605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ktangel med rundade hörn 14"/>
          <p:cNvSpPr/>
          <p:nvPr/>
        </p:nvSpPr>
        <p:spPr>
          <a:xfrm>
            <a:off x="4777842" y="936653"/>
            <a:ext cx="1188132" cy="837093"/>
          </a:xfrm>
          <a:prstGeom prst="roundRect">
            <a:avLst>
              <a:gd name="adj" fmla="val 50000"/>
            </a:avLst>
          </a:prstGeom>
          <a:blipFill dpi="0" rotWithShape="1">
            <a:blip r:embed="rId5">
              <a:alphaModFix amt="38000"/>
            </a:blip>
            <a:srcRect/>
            <a:stretch>
              <a:fillRect r="1000"/>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230491125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2562141" y="303498"/>
            <a:ext cx="4629150" cy="486054"/>
          </a:xfrm>
        </p:spPr>
        <p:txBody>
          <a:bodyPr>
            <a:noAutofit/>
          </a:bodyPr>
          <a:lstStyle/>
          <a:p>
            <a:r>
              <a:rPr lang="en-US" sz="3200" dirty="0"/>
              <a:t>Overview of study designs</a:t>
            </a:r>
          </a:p>
        </p:txBody>
      </p:sp>
      <p:sp>
        <p:nvSpPr>
          <p:cNvPr id="2" name="Platshållare för bildnummer 1"/>
          <p:cNvSpPr>
            <a:spLocks noGrp="1"/>
          </p:cNvSpPr>
          <p:nvPr>
            <p:ph type="sldNum" sz="quarter" idx="12"/>
          </p:nvPr>
        </p:nvSpPr>
        <p:spPr>
          <a:xfrm>
            <a:off x="6570222" y="4840002"/>
            <a:ext cx="1200150" cy="205383"/>
          </a:xfrm>
          <a:prstGeom prst="rect">
            <a:avLst/>
          </a:prstGeom>
        </p:spPr>
        <p:txBody>
          <a:bodyPr/>
          <a:lstStyle/>
          <a:p>
            <a:pPr>
              <a:defRPr/>
            </a:pPr>
            <a:fld id="{6EA40670-0085-46BE-8A1D-C037329D2922}" type="slidenum">
              <a:rPr lang="sv-SE" smtClean="0"/>
              <a:pPr>
                <a:defRPr/>
              </a:pPr>
              <a:t>127</a:t>
            </a:fld>
            <a:endParaRPr lang="sv-SE"/>
          </a:p>
        </p:txBody>
      </p:sp>
      <p:pic>
        <p:nvPicPr>
          <p:cNvPr id="1026"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16210" y="951479"/>
            <a:ext cx="5912235" cy="3591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899592" y="4573166"/>
            <a:ext cx="3816424" cy="230832"/>
          </a:xfrm>
          <a:prstGeom prst="rect">
            <a:avLst/>
          </a:prstGeom>
          <a:noFill/>
        </p:spPr>
        <p:txBody>
          <a:bodyPr wrap="square" rtlCol="0">
            <a:spAutoFit/>
          </a:bodyPr>
          <a:lstStyle/>
          <a:p>
            <a:r>
              <a:rPr lang="sv-SE" sz="900" dirty="0"/>
              <a:t>From ”Praktisk statistik för medicin och hälsa” by Jonas Björk, page 285</a:t>
            </a:r>
          </a:p>
        </p:txBody>
      </p:sp>
    </p:spTree>
    <p:extLst>
      <p:ext uri="{BB962C8B-B14F-4D97-AF65-F5344CB8AC3E}">
        <p14:creationId xmlns:p14="http://schemas.microsoft.com/office/powerpoint/2010/main" val="376812482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 1"/>
          <p:cNvGrpSpPr/>
          <p:nvPr/>
        </p:nvGrpSpPr>
        <p:grpSpPr>
          <a:xfrm>
            <a:off x="899592" y="195486"/>
            <a:ext cx="7101408" cy="3537393"/>
            <a:chOff x="1385646" y="2510898"/>
            <a:chExt cx="6161628" cy="2427443"/>
          </a:xfrm>
        </p:grpSpPr>
        <p:pic>
          <p:nvPicPr>
            <p:cNvPr id="4"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85646" y="2510898"/>
              <a:ext cx="3672408" cy="2427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ktangel 4"/>
            <p:cNvSpPr/>
            <p:nvPr/>
          </p:nvSpPr>
          <p:spPr bwMode="auto">
            <a:xfrm>
              <a:off x="1412649" y="3239979"/>
              <a:ext cx="1134126" cy="1242138"/>
            </a:xfrm>
            <a:prstGeom prst="rect">
              <a:avLst/>
            </a:prstGeom>
            <a:noFill/>
            <a:ln w="28575">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51435" tIns="25718" rIns="51435" bIns="25718" numCol="1" rtlCol="0" anchor="t" anchorCtr="0" compatLnSpc="1">
              <a:prstTxWarp prst="textNoShape">
                <a:avLst/>
              </a:prstTxWarp>
            </a:bodyPr>
            <a:lstStyle/>
            <a:p>
              <a:pPr defTabSz="514350" eaLnBrk="0" hangingPunct="0"/>
              <a:endParaRPr lang="sv-SE">
                <a:solidFill>
                  <a:schemeClr val="tx1"/>
                </a:solidFill>
                <a:latin typeface="Arial" panose="020B0604020202020204" pitchFamily="34" charset="0"/>
                <a:ea typeface="ヒラギノ角ゴ Pro W3"/>
                <a:cs typeface="ヒラギノ角ゴ Pro W3"/>
              </a:endParaRPr>
            </a:p>
          </p:txBody>
        </p:sp>
        <p:pic>
          <p:nvPicPr>
            <p:cNvPr id="7" name="Bildobjekt 6"/>
            <p:cNvPicPr>
              <a:picLocks noChangeAspect="1"/>
            </p:cNvPicPr>
            <p:nvPr/>
          </p:nvPicPr>
          <p:blipFill>
            <a:blip r:embed="rId4"/>
            <a:stretch>
              <a:fillRect/>
            </a:stretch>
          </p:blipFill>
          <p:spPr>
            <a:xfrm>
              <a:off x="4653009" y="2510898"/>
              <a:ext cx="2894265" cy="1929510"/>
            </a:xfrm>
            <a:prstGeom prst="rect">
              <a:avLst/>
            </a:prstGeom>
            <a:effectLst>
              <a:softEdge rad="63500"/>
            </a:effectLst>
          </p:spPr>
        </p:pic>
      </p:grpSp>
      <p:sp>
        <p:nvSpPr>
          <p:cNvPr id="8" name="Text Placeholder 5"/>
          <p:cNvSpPr txBox="1">
            <a:spLocks/>
          </p:cNvSpPr>
          <p:nvPr/>
        </p:nvSpPr>
        <p:spPr>
          <a:xfrm>
            <a:off x="1736685" y="3911457"/>
            <a:ext cx="4436269" cy="580142"/>
          </a:xfrm>
          <a:prstGeom prst="rect">
            <a:avLst/>
          </a:prstGeom>
        </p:spPr>
        <p:txBody>
          <a:bodyPr>
            <a:normAutofit/>
          </a:bodyPr>
          <a:lst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0" indent="0" fontAlgn="auto">
              <a:spcAft>
                <a:spcPts val="0"/>
              </a:spcAft>
              <a:buNone/>
            </a:pPr>
            <a:r>
              <a:rPr lang="en-US" sz="2800" b="1" dirty="0">
                <a:solidFill>
                  <a:schemeClr val="tx1">
                    <a:lumMod val="85000"/>
                    <a:lumOff val="15000"/>
                  </a:schemeClr>
                </a:solidFill>
                <a:latin typeface="Calibri" panose="020F0502020204030204" pitchFamily="34" charset="0"/>
              </a:rPr>
              <a:t>Experimental studies/ trials</a:t>
            </a:r>
            <a:endParaRPr lang="en-US" b="1" dirty="0">
              <a:solidFill>
                <a:schemeClr val="tx1">
                  <a:lumMod val="85000"/>
                  <a:lumOff val="15000"/>
                </a:schemeClr>
              </a:solidFill>
              <a:latin typeface="Calibri" panose="020F0502020204030204" pitchFamily="34" charset="0"/>
            </a:endParaRPr>
          </a:p>
        </p:txBody>
      </p:sp>
      <p:sp>
        <p:nvSpPr>
          <p:cNvPr id="3" name="Rektangel 2"/>
          <p:cNvSpPr/>
          <p:nvPr/>
        </p:nvSpPr>
        <p:spPr>
          <a:xfrm>
            <a:off x="930714" y="4289408"/>
            <a:ext cx="6593614" cy="369332"/>
          </a:xfrm>
          <a:prstGeom prst="rect">
            <a:avLst/>
          </a:prstGeom>
        </p:spPr>
        <p:txBody>
          <a:bodyPr wrap="square">
            <a:spAutoFit/>
          </a:bodyPr>
          <a:lstStyle/>
          <a:p>
            <a:r>
              <a:rPr lang="en-US" i="1" dirty="0">
                <a:solidFill>
                  <a:schemeClr val="bg1">
                    <a:lumMod val="50000"/>
                  </a:schemeClr>
                </a:solidFill>
              </a:rPr>
              <a:t>Identify subjects, intervene, then observe effects of intervention</a:t>
            </a:r>
            <a:endParaRPr lang="sv-SE" i="1" dirty="0">
              <a:solidFill>
                <a:schemeClr val="bg1">
                  <a:lumMod val="50000"/>
                </a:schemeClr>
              </a:solidFill>
            </a:endParaRPr>
          </a:p>
        </p:txBody>
      </p:sp>
      <p:sp>
        <p:nvSpPr>
          <p:cNvPr id="6" name="Platshållare för bildnummer 5"/>
          <p:cNvSpPr>
            <a:spLocks noGrp="1"/>
          </p:cNvSpPr>
          <p:nvPr>
            <p:ph type="sldNum" sz="quarter" idx="4294967295"/>
          </p:nvPr>
        </p:nvSpPr>
        <p:spPr>
          <a:xfrm>
            <a:off x="6400800" y="4767263"/>
            <a:ext cx="1600200" cy="273844"/>
          </a:xfrm>
        </p:spPr>
        <p:txBody>
          <a:bodyPr/>
          <a:lstStyle/>
          <a:p>
            <a:fld id="{848F4548-6D24-4817-AD0D-6AD054FBF319}" type="slidenum">
              <a:rPr lang="sv-SE" smtClean="0"/>
              <a:pPr/>
              <a:t>128</a:t>
            </a:fld>
            <a:endParaRPr lang="sv-SE"/>
          </a:p>
        </p:txBody>
      </p:sp>
    </p:spTree>
    <p:extLst>
      <p:ext uri="{BB962C8B-B14F-4D97-AF65-F5344CB8AC3E}">
        <p14:creationId xmlns:p14="http://schemas.microsoft.com/office/powerpoint/2010/main" val="206290967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a:xfrm>
            <a:off x="1535286" y="3754481"/>
            <a:ext cx="4436269" cy="843855"/>
          </a:xfrm>
        </p:spPr>
        <p:txBody>
          <a:bodyPr>
            <a:normAutofit/>
          </a:bodyPr>
          <a:lstStyle/>
          <a:p>
            <a:r>
              <a:rPr lang="en-US" sz="2100" b="1" dirty="0">
                <a:solidFill>
                  <a:schemeClr val="tx1">
                    <a:lumMod val="85000"/>
                    <a:lumOff val="15000"/>
                  </a:schemeClr>
                </a:solidFill>
                <a:latin typeface="Calibri" panose="020F0502020204030204" pitchFamily="34" charset="0"/>
              </a:rPr>
              <a:t>Randomized controlled trial (RCT)</a:t>
            </a:r>
            <a:endParaRPr lang="en-US" sz="1800" b="1" dirty="0">
              <a:solidFill>
                <a:schemeClr val="tx1">
                  <a:lumMod val="85000"/>
                  <a:lumOff val="15000"/>
                </a:schemeClr>
              </a:solidFill>
              <a:latin typeface="Calibri" panose="020F0502020204030204" pitchFamily="34" charset="0"/>
            </a:endParaRPr>
          </a:p>
        </p:txBody>
      </p:sp>
      <p:sp>
        <p:nvSpPr>
          <p:cNvPr id="4" name="Slide Number Placeholder 3"/>
          <p:cNvSpPr>
            <a:spLocks noGrp="1"/>
          </p:cNvSpPr>
          <p:nvPr>
            <p:ph type="sldNum" sz="quarter" idx="12"/>
          </p:nvPr>
        </p:nvSpPr>
        <p:spPr>
          <a:xfrm>
            <a:off x="5686425" y="4218386"/>
            <a:ext cx="1200150" cy="205383"/>
          </a:xfrm>
          <a:prstGeom prst="rect">
            <a:avLst/>
          </a:prstGeom>
        </p:spPr>
        <p:txBody>
          <a:bodyPr/>
          <a:lstStyle/>
          <a:p>
            <a:pPr>
              <a:defRPr/>
            </a:pPr>
            <a:fld id="{143F5C80-4ED5-4C7B-9E1A-5093DBFB213F}" type="slidenum">
              <a:rPr lang="sv-SE" smtClean="0">
                <a:solidFill>
                  <a:srgbClr val="000000">
                    <a:tint val="75000"/>
                  </a:srgbClr>
                </a:solidFill>
              </a:rPr>
              <a:pPr>
                <a:defRPr/>
              </a:pPr>
              <a:t>129</a:t>
            </a:fld>
            <a:endParaRPr lang="sv-SE">
              <a:solidFill>
                <a:srgbClr val="000000">
                  <a:tint val="75000"/>
                </a:srgbClr>
              </a:solidFill>
            </a:endParaRPr>
          </a:p>
        </p:txBody>
      </p:sp>
      <p:grpSp>
        <p:nvGrpSpPr>
          <p:cNvPr id="5" name="Grupp 4"/>
          <p:cNvGrpSpPr/>
          <p:nvPr/>
        </p:nvGrpSpPr>
        <p:grpSpPr>
          <a:xfrm>
            <a:off x="899592" y="150564"/>
            <a:ext cx="7057249" cy="3879349"/>
            <a:chOff x="1547665" y="1569290"/>
            <a:chExt cx="6558402" cy="3263866"/>
          </a:xfrm>
        </p:grpSpPr>
        <p:sp>
          <p:nvSpPr>
            <p:cNvPr id="3" name="Rektangel 2"/>
            <p:cNvSpPr/>
            <p:nvPr/>
          </p:nvSpPr>
          <p:spPr bwMode="auto">
            <a:xfrm>
              <a:off x="1563047" y="2714684"/>
              <a:ext cx="1179299" cy="1466255"/>
            </a:xfrm>
            <a:prstGeom prst="rect">
              <a:avLst/>
            </a:prstGeom>
            <a:no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51435" tIns="25718" rIns="51435" bIns="25718" numCol="1" rtlCol="0" anchor="t" anchorCtr="0" compatLnSpc="1">
              <a:prstTxWarp prst="textNoShape">
                <a:avLst/>
              </a:prstTxWarp>
            </a:bodyPr>
            <a:lstStyle/>
            <a:p>
              <a:pPr defTabSz="514350" eaLnBrk="0" hangingPunct="0"/>
              <a:endParaRPr lang="sv-SE">
                <a:solidFill>
                  <a:schemeClr val="tx1"/>
                </a:solidFill>
                <a:latin typeface="Arial" panose="020B0604020202020204" pitchFamily="34" charset="0"/>
                <a:ea typeface="ヒラギノ角ゴ Pro W3"/>
                <a:cs typeface="ヒラギノ角ゴ Pro W3"/>
              </a:endParaRPr>
            </a:p>
          </p:txBody>
        </p:sp>
        <p:grpSp>
          <p:nvGrpSpPr>
            <p:cNvPr id="14" name="Grupp 13"/>
            <p:cNvGrpSpPr/>
            <p:nvPr/>
          </p:nvGrpSpPr>
          <p:grpSpPr>
            <a:xfrm>
              <a:off x="1600815" y="2830237"/>
              <a:ext cx="1040101" cy="1256191"/>
              <a:chOff x="947649" y="1772816"/>
              <a:chExt cx="1578784" cy="2178977"/>
            </a:xfrm>
          </p:grpSpPr>
          <p:grpSp>
            <p:nvGrpSpPr>
              <p:cNvPr id="2" name="Grupp 1"/>
              <p:cNvGrpSpPr/>
              <p:nvPr/>
            </p:nvGrpSpPr>
            <p:grpSpPr>
              <a:xfrm>
                <a:off x="947649" y="1772816"/>
                <a:ext cx="1557112" cy="1440160"/>
                <a:chOff x="947649" y="1033133"/>
                <a:chExt cx="1776094" cy="1891811"/>
              </a:xfrm>
            </p:grpSpPr>
            <p:pic>
              <p:nvPicPr>
                <p:cNvPr id="2050"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47649" y="1052736"/>
                  <a:ext cx="437964" cy="8759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397732" y="1040904"/>
                  <a:ext cx="437964" cy="8759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5684" y="2049016"/>
                  <a:ext cx="437964" cy="87592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397732" y="2049016"/>
                  <a:ext cx="437964" cy="87592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35696" y="2049016"/>
                  <a:ext cx="437964" cy="87592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85779" y="1040904"/>
                  <a:ext cx="437964" cy="87592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53731" y="1033133"/>
                  <a:ext cx="437964" cy="87592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85779" y="2049016"/>
                  <a:ext cx="437964" cy="875928"/>
                </a:xfrm>
                <a:prstGeom prst="rect">
                  <a:avLst/>
                </a:prstGeom>
                <a:noFill/>
                <a:extLst>
                  <a:ext uri="{909E8E84-426E-40DD-AFC4-6F175D3DCCD1}">
                    <a14:hiddenFill xmlns:a14="http://schemas.microsoft.com/office/drawing/2010/main">
                      <a:solidFill>
                        <a:srgbClr val="FFFFFF"/>
                      </a:solidFill>
                    </a14:hiddenFill>
                  </a:ext>
                </a:extLst>
              </p:spPr>
            </p:pic>
          </p:grpSp>
          <p:pic>
            <p:nvPicPr>
              <p:cNvPr id="15"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71600" y="3266247"/>
                <a:ext cx="383966" cy="66680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350379" y="3266247"/>
                <a:ext cx="383966" cy="66680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763688" y="3284984"/>
                <a:ext cx="383966" cy="66680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142467" y="3284984"/>
                <a:ext cx="383966" cy="666809"/>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1" name="Rak pil 20"/>
            <p:cNvCxnSpPr>
              <a:stCxn id="3" idx="3"/>
              <a:endCxn id="19" idx="1"/>
            </p:cNvCxnSpPr>
            <p:nvPr/>
          </p:nvCxnSpPr>
          <p:spPr bwMode="auto">
            <a:xfrm flipV="1">
              <a:off x="2742346" y="2559271"/>
              <a:ext cx="400901" cy="88854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Rak pil 23"/>
            <p:cNvCxnSpPr>
              <a:stCxn id="3" idx="3"/>
              <a:endCxn id="23" idx="1"/>
            </p:cNvCxnSpPr>
            <p:nvPr/>
          </p:nvCxnSpPr>
          <p:spPr bwMode="auto">
            <a:xfrm>
              <a:off x="2742346" y="3447811"/>
              <a:ext cx="427904" cy="915591"/>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5" name="Grupp 54"/>
            <p:cNvGrpSpPr/>
            <p:nvPr/>
          </p:nvGrpSpPr>
          <p:grpSpPr>
            <a:xfrm>
              <a:off x="3170251" y="3893647"/>
              <a:ext cx="1044572" cy="939509"/>
              <a:chOff x="2771800" y="3119205"/>
              <a:chExt cx="1392763" cy="1252678"/>
            </a:xfrm>
          </p:grpSpPr>
          <p:sp>
            <p:nvSpPr>
              <p:cNvPr id="23" name="Rektangel 22"/>
              <p:cNvSpPr/>
              <p:nvPr/>
            </p:nvSpPr>
            <p:spPr bwMode="auto">
              <a:xfrm>
                <a:off x="2771800" y="3119205"/>
                <a:ext cx="1392763" cy="1252678"/>
              </a:xfrm>
              <a:prstGeom prst="rect">
                <a:avLst/>
              </a:prstGeom>
              <a:no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51435" tIns="25718" rIns="51435" bIns="25718" numCol="1" rtlCol="0" anchor="t" anchorCtr="0" compatLnSpc="1">
                <a:prstTxWarp prst="textNoShape">
                  <a:avLst/>
                </a:prstTxWarp>
              </a:bodyPr>
              <a:lstStyle/>
              <a:p>
                <a:pPr defTabSz="514350" eaLnBrk="0" hangingPunct="0"/>
                <a:endParaRPr lang="sv-SE">
                  <a:solidFill>
                    <a:schemeClr val="tx1"/>
                  </a:solidFill>
                  <a:latin typeface="Arial" panose="020B0604020202020204" pitchFamily="34" charset="0"/>
                  <a:ea typeface="ヒラギノ角ゴ Pro W3"/>
                  <a:cs typeface="ヒラギノ角ゴ Pro W3"/>
                </a:endParaRPr>
              </a:p>
            </p:txBody>
          </p:sp>
          <p:grpSp>
            <p:nvGrpSpPr>
              <p:cNvPr id="44" name="Grupp 43"/>
              <p:cNvGrpSpPr/>
              <p:nvPr/>
            </p:nvGrpSpPr>
            <p:grpSpPr>
              <a:xfrm>
                <a:off x="2771800" y="3284637"/>
                <a:ext cx="1365762" cy="1080467"/>
                <a:chOff x="3062222" y="3284637"/>
                <a:chExt cx="1365762" cy="1080467"/>
              </a:xfrm>
            </p:grpSpPr>
            <p:pic>
              <p:nvPicPr>
                <p:cNvPr id="38"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25065" y="328463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71672" y="328463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62222" y="3838143"/>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394940" y="3838143"/>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57990" y="3852546"/>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90709" y="3852546"/>
                  <a:ext cx="337275" cy="51255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54" name="Grupp 53"/>
            <p:cNvGrpSpPr/>
            <p:nvPr/>
          </p:nvGrpSpPr>
          <p:grpSpPr>
            <a:xfrm>
              <a:off x="3143248" y="2089516"/>
              <a:ext cx="1098578" cy="939509"/>
              <a:chOff x="2699792" y="724972"/>
              <a:chExt cx="1464771" cy="1252678"/>
            </a:xfrm>
          </p:grpSpPr>
          <p:sp>
            <p:nvSpPr>
              <p:cNvPr id="19" name="Rektangel 18"/>
              <p:cNvSpPr/>
              <p:nvPr/>
            </p:nvSpPr>
            <p:spPr bwMode="auto">
              <a:xfrm>
                <a:off x="2699792" y="724972"/>
                <a:ext cx="1464771" cy="1252678"/>
              </a:xfrm>
              <a:prstGeom prst="rect">
                <a:avLst/>
              </a:prstGeom>
              <a:no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51435" tIns="25718" rIns="51435" bIns="25718" numCol="1" rtlCol="0" anchor="t" anchorCtr="0" compatLnSpc="1">
                <a:prstTxWarp prst="textNoShape">
                  <a:avLst/>
                </a:prstTxWarp>
              </a:bodyPr>
              <a:lstStyle/>
              <a:p>
                <a:pPr defTabSz="514350" eaLnBrk="0" hangingPunct="0"/>
                <a:endParaRPr lang="sv-SE">
                  <a:solidFill>
                    <a:schemeClr val="tx1"/>
                  </a:solidFill>
                  <a:latin typeface="Arial" panose="020B0604020202020204" pitchFamily="34" charset="0"/>
                  <a:ea typeface="ヒラギノ角ゴ Pro W3"/>
                  <a:cs typeface="ヒラギノ角ゴ Pro W3"/>
                </a:endParaRPr>
              </a:p>
            </p:txBody>
          </p:sp>
          <p:grpSp>
            <p:nvGrpSpPr>
              <p:cNvPr id="47" name="Grupp 46"/>
              <p:cNvGrpSpPr/>
              <p:nvPr/>
            </p:nvGrpSpPr>
            <p:grpSpPr>
              <a:xfrm>
                <a:off x="2771800" y="809820"/>
                <a:ext cx="1367764" cy="1107012"/>
                <a:chOff x="2771800" y="809820"/>
                <a:chExt cx="1367764" cy="1107012"/>
              </a:xfrm>
            </p:grpSpPr>
            <p:pic>
              <p:nvPicPr>
                <p:cNvPr id="48"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771800" y="821291"/>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18407" y="81436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785689" y="1404274"/>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18407" y="1404274"/>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02289" y="81436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69571" y="809820"/>
                  <a:ext cx="337275" cy="51255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57" name="Grupp 56"/>
            <p:cNvGrpSpPr/>
            <p:nvPr/>
          </p:nvGrpSpPr>
          <p:grpSpPr>
            <a:xfrm>
              <a:off x="4801447" y="3893647"/>
              <a:ext cx="1044572" cy="939509"/>
              <a:chOff x="2771800" y="3119205"/>
              <a:chExt cx="1392763" cy="1252678"/>
            </a:xfrm>
          </p:grpSpPr>
          <p:sp>
            <p:nvSpPr>
              <p:cNvPr id="58" name="Rektangel 57"/>
              <p:cNvSpPr/>
              <p:nvPr/>
            </p:nvSpPr>
            <p:spPr bwMode="auto">
              <a:xfrm>
                <a:off x="2771800" y="3119205"/>
                <a:ext cx="1392763" cy="1252678"/>
              </a:xfrm>
              <a:prstGeom prst="rect">
                <a:avLst/>
              </a:prstGeom>
              <a:no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51435" tIns="25718" rIns="51435" bIns="25718" numCol="1" rtlCol="0" anchor="t" anchorCtr="0" compatLnSpc="1">
                <a:prstTxWarp prst="textNoShape">
                  <a:avLst/>
                </a:prstTxWarp>
              </a:bodyPr>
              <a:lstStyle/>
              <a:p>
                <a:pPr defTabSz="514350" eaLnBrk="0" hangingPunct="0"/>
                <a:endParaRPr lang="sv-SE">
                  <a:solidFill>
                    <a:schemeClr val="tx1"/>
                  </a:solidFill>
                  <a:latin typeface="Arial" panose="020B0604020202020204" pitchFamily="34" charset="0"/>
                  <a:ea typeface="ヒラギノ角ゴ Pro W3"/>
                  <a:cs typeface="ヒラギノ角ゴ Pro W3"/>
                </a:endParaRPr>
              </a:p>
            </p:txBody>
          </p:sp>
          <p:grpSp>
            <p:nvGrpSpPr>
              <p:cNvPr id="59" name="Grupp 58"/>
              <p:cNvGrpSpPr/>
              <p:nvPr/>
            </p:nvGrpSpPr>
            <p:grpSpPr>
              <a:xfrm>
                <a:off x="2771800" y="3284637"/>
                <a:ext cx="1365762" cy="1080467"/>
                <a:chOff x="3062222" y="3284637"/>
                <a:chExt cx="1365762" cy="1080467"/>
              </a:xfrm>
            </p:grpSpPr>
            <p:pic>
              <p:nvPicPr>
                <p:cNvPr id="60"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25065" y="328463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71672" y="328463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62222" y="3838143"/>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394940" y="3838143"/>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57990" y="3852546"/>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90709" y="3852546"/>
                  <a:ext cx="337275" cy="51255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66" name="Grupp 65"/>
            <p:cNvGrpSpPr/>
            <p:nvPr/>
          </p:nvGrpSpPr>
          <p:grpSpPr>
            <a:xfrm>
              <a:off x="4774443" y="2089516"/>
              <a:ext cx="1098578" cy="939509"/>
              <a:chOff x="2699792" y="724972"/>
              <a:chExt cx="1464771" cy="1252678"/>
            </a:xfrm>
          </p:grpSpPr>
          <p:sp>
            <p:nvSpPr>
              <p:cNvPr id="67" name="Rektangel 66"/>
              <p:cNvSpPr/>
              <p:nvPr/>
            </p:nvSpPr>
            <p:spPr bwMode="auto">
              <a:xfrm>
                <a:off x="2699792" y="724972"/>
                <a:ext cx="1464771" cy="1252678"/>
              </a:xfrm>
              <a:prstGeom prst="rect">
                <a:avLst/>
              </a:prstGeom>
              <a:no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51435" tIns="25718" rIns="51435" bIns="25718" numCol="1" rtlCol="0" anchor="t" anchorCtr="0" compatLnSpc="1">
                <a:prstTxWarp prst="textNoShape">
                  <a:avLst/>
                </a:prstTxWarp>
              </a:bodyPr>
              <a:lstStyle/>
              <a:p>
                <a:pPr defTabSz="514350" eaLnBrk="0" hangingPunct="0"/>
                <a:endParaRPr lang="sv-SE">
                  <a:solidFill>
                    <a:schemeClr val="tx1"/>
                  </a:solidFill>
                  <a:latin typeface="Arial" panose="020B0604020202020204" pitchFamily="34" charset="0"/>
                  <a:ea typeface="ヒラギノ角ゴ Pro W3"/>
                  <a:cs typeface="ヒラギノ角ゴ Pro W3"/>
                </a:endParaRPr>
              </a:p>
            </p:txBody>
          </p:sp>
          <p:grpSp>
            <p:nvGrpSpPr>
              <p:cNvPr id="68" name="Grupp 67"/>
              <p:cNvGrpSpPr/>
              <p:nvPr/>
            </p:nvGrpSpPr>
            <p:grpSpPr>
              <a:xfrm>
                <a:off x="2771800" y="809820"/>
                <a:ext cx="1367764" cy="1107012"/>
                <a:chOff x="2771800" y="809820"/>
                <a:chExt cx="1367764" cy="1107012"/>
              </a:xfrm>
            </p:grpSpPr>
            <p:pic>
              <p:nvPicPr>
                <p:cNvPr id="69"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771800" y="821291"/>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18407" y="81436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785689" y="1404274"/>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18407" y="1404274"/>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02289" y="81436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69571" y="809820"/>
                  <a:ext cx="337275" cy="51255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76" name="textruta 75"/>
            <p:cNvSpPr txBox="1"/>
            <p:nvPr/>
          </p:nvSpPr>
          <p:spPr>
            <a:xfrm>
              <a:off x="5811490" y="3166454"/>
              <a:ext cx="2294577" cy="33663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sz="2000" b="1" i="1" dirty="0"/>
                <a:t>Compare results!</a:t>
              </a:r>
            </a:p>
          </p:txBody>
        </p:sp>
        <p:cxnSp>
          <p:nvCxnSpPr>
            <p:cNvPr id="78" name="Rak pil 77"/>
            <p:cNvCxnSpPr>
              <a:stCxn id="19" idx="3"/>
              <a:endCxn id="67" idx="1"/>
            </p:cNvCxnSpPr>
            <p:nvPr/>
          </p:nvCxnSpPr>
          <p:spPr bwMode="auto">
            <a:xfrm>
              <a:off x="4241825" y="2559271"/>
              <a:ext cx="532617"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Rak pil 79"/>
            <p:cNvCxnSpPr>
              <a:stCxn id="23" idx="3"/>
              <a:endCxn id="58" idx="1"/>
            </p:cNvCxnSpPr>
            <p:nvPr/>
          </p:nvCxnSpPr>
          <p:spPr bwMode="auto">
            <a:xfrm>
              <a:off x="4214823" y="4363402"/>
              <a:ext cx="586624"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Rak pil 81"/>
            <p:cNvCxnSpPr>
              <a:stCxn id="58" idx="3"/>
              <a:endCxn id="76" idx="2"/>
            </p:cNvCxnSpPr>
            <p:nvPr/>
          </p:nvCxnSpPr>
          <p:spPr bwMode="auto">
            <a:xfrm flipV="1">
              <a:off x="5846019" y="3492385"/>
              <a:ext cx="924120" cy="871017"/>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Rak pil 83"/>
            <p:cNvCxnSpPr>
              <a:stCxn id="67" idx="3"/>
              <a:endCxn id="76" idx="0"/>
            </p:cNvCxnSpPr>
            <p:nvPr/>
          </p:nvCxnSpPr>
          <p:spPr bwMode="auto">
            <a:xfrm>
              <a:off x="5873022" y="2559271"/>
              <a:ext cx="897117" cy="633722"/>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ruta 84"/>
            <p:cNvSpPr txBox="1"/>
            <p:nvPr/>
          </p:nvSpPr>
          <p:spPr>
            <a:xfrm>
              <a:off x="3071535" y="3384469"/>
              <a:ext cx="1242000" cy="646331"/>
            </a:xfrm>
            <a:prstGeom prst="rect">
              <a:avLst/>
            </a:prstGeom>
            <a:noFill/>
          </p:spPr>
          <p:txBody>
            <a:bodyPr wrap="square" rtlCol="0">
              <a:spAutoFit/>
            </a:bodyPr>
            <a:lstStyle/>
            <a:p>
              <a:pPr algn="ctr"/>
              <a:r>
                <a:rPr lang="en-US" dirty="0"/>
                <a:t>Control group</a:t>
              </a:r>
            </a:p>
          </p:txBody>
        </p:sp>
        <p:sp>
          <p:nvSpPr>
            <p:cNvPr id="87" name="textruta 86"/>
            <p:cNvSpPr txBox="1"/>
            <p:nvPr/>
          </p:nvSpPr>
          <p:spPr>
            <a:xfrm>
              <a:off x="2966943" y="1569290"/>
              <a:ext cx="1531030" cy="644844"/>
            </a:xfrm>
            <a:prstGeom prst="rect">
              <a:avLst/>
            </a:prstGeom>
            <a:noFill/>
          </p:spPr>
          <p:txBody>
            <a:bodyPr wrap="square" rtlCol="0">
              <a:spAutoFit/>
            </a:bodyPr>
            <a:lstStyle/>
            <a:p>
              <a:pPr algn="ctr"/>
              <a:r>
                <a:rPr lang="en-US" dirty="0"/>
                <a:t>Treatment group</a:t>
              </a:r>
            </a:p>
          </p:txBody>
        </p:sp>
        <p:sp>
          <p:nvSpPr>
            <p:cNvPr id="88" name="textruta 87"/>
            <p:cNvSpPr txBox="1"/>
            <p:nvPr/>
          </p:nvSpPr>
          <p:spPr>
            <a:xfrm>
              <a:off x="4639428" y="1657734"/>
              <a:ext cx="1407454" cy="369332"/>
            </a:xfrm>
            <a:prstGeom prst="rect">
              <a:avLst/>
            </a:prstGeom>
            <a:noFill/>
          </p:spPr>
          <p:txBody>
            <a:bodyPr wrap="square" rtlCol="0">
              <a:spAutoFit/>
            </a:bodyPr>
            <a:lstStyle/>
            <a:p>
              <a:pPr algn="ctr"/>
              <a:r>
                <a:rPr lang="en-US"/>
                <a:t>Follow-up</a:t>
              </a:r>
            </a:p>
          </p:txBody>
        </p:sp>
        <p:sp>
          <p:nvSpPr>
            <p:cNvPr id="89" name="textruta 88"/>
            <p:cNvSpPr txBox="1"/>
            <p:nvPr/>
          </p:nvSpPr>
          <p:spPr>
            <a:xfrm>
              <a:off x="4639428" y="3625040"/>
              <a:ext cx="1407454" cy="369332"/>
            </a:xfrm>
            <a:prstGeom prst="rect">
              <a:avLst/>
            </a:prstGeom>
            <a:noFill/>
          </p:spPr>
          <p:txBody>
            <a:bodyPr wrap="square" rtlCol="0">
              <a:spAutoFit/>
            </a:bodyPr>
            <a:lstStyle/>
            <a:p>
              <a:pPr algn="ctr"/>
              <a:r>
                <a:rPr lang="en-US"/>
                <a:t>Follow-up</a:t>
              </a:r>
            </a:p>
          </p:txBody>
        </p:sp>
        <p:sp>
          <p:nvSpPr>
            <p:cNvPr id="86" name="textruta 85"/>
            <p:cNvSpPr txBox="1"/>
            <p:nvPr/>
          </p:nvSpPr>
          <p:spPr>
            <a:xfrm>
              <a:off x="1547665" y="2437684"/>
              <a:ext cx="937111" cy="646331"/>
            </a:xfrm>
            <a:prstGeom prst="rect">
              <a:avLst/>
            </a:prstGeom>
            <a:noFill/>
          </p:spPr>
          <p:txBody>
            <a:bodyPr wrap="square" rtlCol="0">
              <a:spAutoFit/>
            </a:bodyPr>
            <a:lstStyle/>
            <a:p>
              <a:r>
                <a:rPr lang="sv-SE"/>
                <a:t>Patients</a:t>
              </a:r>
            </a:p>
          </p:txBody>
        </p:sp>
      </p:grpSp>
    </p:spTree>
    <p:extLst>
      <p:ext uri="{BB962C8B-B14F-4D97-AF65-F5344CB8AC3E}">
        <p14:creationId xmlns:p14="http://schemas.microsoft.com/office/powerpoint/2010/main" val="196152579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p:cNvSpPr>
            <a:spLocks noGrp="1"/>
          </p:cNvSpPr>
          <p:nvPr>
            <p:ph type="title"/>
          </p:nvPr>
        </p:nvSpPr>
        <p:spPr>
          <a:xfrm>
            <a:off x="1485906" y="195486"/>
            <a:ext cx="6172200" cy="696600"/>
          </a:xfrm>
        </p:spPr>
        <p:txBody>
          <a:bodyPr>
            <a:normAutofit/>
          </a:bodyPr>
          <a:lstStyle/>
          <a:p>
            <a:r>
              <a:rPr lang="en-US" sz="3600" dirty="0"/>
              <a:t>Randomized Controlled Trials</a:t>
            </a:r>
          </a:p>
        </p:txBody>
      </p:sp>
      <p:sp>
        <p:nvSpPr>
          <p:cNvPr id="2" name="Platshållare för bildnummer 1"/>
          <p:cNvSpPr>
            <a:spLocks noGrp="1"/>
          </p:cNvSpPr>
          <p:nvPr>
            <p:ph type="sldNum" sz="quarter" idx="12"/>
          </p:nvPr>
        </p:nvSpPr>
        <p:spPr/>
        <p:txBody>
          <a:bodyPr/>
          <a:lstStyle/>
          <a:p>
            <a:fld id="{4C91F0F6-1F87-4BDD-A41F-BD68A4369A65}" type="slidenum">
              <a:rPr lang="sv-SE" smtClean="0"/>
              <a:pPr/>
              <a:t>130</a:t>
            </a:fld>
            <a:endParaRPr lang="sv-SE"/>
          </a:p>
        </p:txBody>
      </p:sp>
      <p:sp>
        <p:nvSpPr>
          <p:cNvPr id="5" name="Rektangel 4"/>
          <p:cNvSpPr/>
          <p:nvPr/>
        </p:nvSpPr>
        <p:spPr>
          <a:xfrm>
            <a:off x="899592" y="699542"/>
            <a:ext cx="7880464" cy="4044697"/>
          </a:xfrm>
          <a:prstGeom prst="rect">
            <a:avLst/>
          </a:prstGeom>
        </p:spPr>
        <p:txBody>
          <a:bodyPr wrap="square">
            <a:spAutoFit/>
          </a:bodyPr>
          <a:lstStyle/>
          <a:p>
            <a:pPr>
              <a:buFontTx/>
              <a:buNone/>
            </a:pPr>
            <a:r>
              <a:rPr lang="en-GB" altLang="sv-SE" b="1" i="1" dirty="0">
                <a:latin typeface="Verdana" panose="020B0604030504040204" pitchFamily="34" charset="0"/>
                <a:ea typeface="Verdana" panose="020B0604030504040204" pitchFamily="34" charset="0"/>
              </a:rPr>
              <a:t>Advantages: </a:t>
            </a:r>
            <a:endParaRPr lang="en-GB" altLang="sv-SE" b="1" dirty="0">
              <a:latin typeface="Verdana" panose="020B0604030504040204" pitchFamily="34" charset="0"/>
              <a:ea typeface="Verdana" panose="020B0604030504040204" pitchFamily="34" charset="0"/>
            </a:endParaRPr>
          </a:p>
          <a:p>
            <a:pPr marL="214313" indent="-214313">
              <a:spcAft>
                <a:spcPts val="450"/>
              </a:spcAft>
              <a:buFont typeface="Arial" panose="020B0604020202020204" pitchFamily="34" charset="0"/>
              <a:buChar char="•"/>
            </a:pPr>
            <a:r>
              <a:rPr lang="en-US" altLang="sv-SE" dirty="0">
                <a:latin typeface="Verdana" panose="020B0604030504040204" pitchFamily="34" charset="0"/>
                <a:ea typeface="Verdana" panose="020B0604030504040204" pitchFamily="34" charset="0"/>
              </a:rPr>
              <a:t>Gold standard for establishing causal conclusions (still not easy…)</a:t>
            </a:r>
            <a:endParaRPr lang="en-GB" altLang="sv-SE" dirty="0">
              <a:latin typeface="Verdana" panose="020B0604030504040204" pitchFamily="34" charset="0"/>
              <a:ea typeface="Verdana" panose="020B0604030504040204" pitchFamily="34" charset="0"/>
            </a:endParaRPr>
          </a:p>
          <a:p>
            <a:pPr marL="214313" indent="-214313">
              <a:spcAft>
                <a:spcPts val="450"/>
              </a:spcAft>
              <a:buFont typeface="Arial" panose="020B0604020202020204" pitchFamily="34" charset="0"/>
              <a:buChar char="•"/>
            </a:pPr>
            <a:r>
              <a:rPr lang="en-US" altLang="sv-SE" dirty="0">
                <a:latin typeface="Verdana" panose="020B0604030504040204" pitchFamily="34" charset="0"/>
                <a:ea typeface="Verdana" panose="020B0604030504040204" pitchFamily="34" charset="0"/>
              </a:rPr>
              <a:t>Reduces influence of confounders due to randomization.</a:t>
            </a:r>
          </a:p>
          <a:p>
            <a:pPr marL="557213" lvl="1" indent="-214313">
              <a:spcAft>
                <a:spcPts val="450"/>
              </a:spcAft>
              <a:buFont typeface="Arial" panose="020B0604020202020204" pitchFamily="34" charset="0"/>
              <a:buChar char="−"/>
            </a:pPr>
            <a:r>
              <a:rPr lang="en-GB" altLang="sv-SE" dirty="0">
                <a:latin typeface="Verdana" panose="020B0604030504040204" pitchFamily="34" charset="0"/>
                <a:ea typeface="Verdana" panose="020B0604030504040204" pitchFamily="34" charset="0"/>
              </a:rPr>
              <a:t>No need to adjust for confounders</a:t>
            </a:r>
          </a:p>
          <a:p>
            <a:pPr marL="557213" lvl="1" indent="-214313">
              <a:spcAft>
                <a:spcPts val="450"/>
              </a:spcAft>
              <a:buFont typeface="Arial" panose="020B0604020202020204" pitchFamily="34" charset="0"/>
              <a:buChar char="−"/>
            </a:pPr>
            <a:r>
              <a:rPr lang="en-GB" altLang="sv-SE" dirty="0">
                <a:latin typeface="Verdana" panose="020B0604030504040204" pitchFamily="34" charset="0"/>
                <a:ea typeface="Verdana" panose="020B0604030504040204" pitchFamily="34" charset="0"/>
              </a:rPr>
              <a:t>Simplifies the statistical analyses</a:t>
            </a:r>
          </a:p>
          <a:p>
            <a:pPr marL="214313" indent="-214313">
              <a:spcAft>
                <a:spcPts val="450"/>
              </a:spcAft>
              <a:buFont typeface="Arial" panose="020B0604020202020204" pitchFamily="34" charset="0"/>
              <a:buChar char="•"/>
            </a:pPr>
            <a:r>
              <a:rPr lang="en-GB" altLang="sv-SE" dirty="0">
                <a:latin typeface="Verdana" panose="020B0604030504040204" pitchFamily="34" charset="0"/>
                <a:ea typeface="Verdana" panose="020B0604030504040204" pitchFamily="34" charset="0"/>
              </a:rPr>
              <a:t>Blinding often possible </a:t>
            </a:r>
          </a:p>
          <a:p>
            <a:pPr>
              <a:spcBef>
                <a:spcPts val="900"/>
              </a:spcBef>
              <a:spcAft>
                <a:spcPts val="0"/>
              </a:spcAft>
            </a:pPr>
            <a:r>
              <a:rPr lang="en-GB" altLang="sv-SE" b="1" i="1" dirty="0">
                <a:latin typeface="Verdana" panose="020B0604030504040204" pitchFamily="34" charset="0"/>
                <a:ea typeface="Verdana" panose="020B0604030504040204" pitchFamily="34" charset="0"/>
              </a:rPr>
              <a:t>Disadvantages: </a:t>
            </a:r>
            <a:endParaRPr lang="en-GB" altLang="sv-SE" b="1" dirty="0">
              <a:latin typeface="Verdana" panose="020B0604030504040204" pitchFamily="34" charset="0"/>
              <a:ea typeface="Verdana" panose="020B0604030504040204" pitchFamily="34" charset="0"/>
            </a:endParaRPr>
          </a:p>
          <a:p>
            <a:pPr marL="214313" indent="-214313">
              <a:spcAft>
                <a:spcPts val="450"/>
              </a:spcAft>
              <a:buFont typeface="Arial" panose="020B0604020202020204" pitchFamily="34" charset="0"/>
              <a:buChar char="•"/>
            </a:pPr>
            <a:r>
              <a:rPr lang="en-GB" altLang="sv-SE" dirty="0">
                <a:latin typeface="Verdana" panose="020B0604030504040204" pitchFamily="34" charset="0"/>
                <a:ea typeface="Verdana" panose="020B0604030504040204" pitchFamily="34" charset="0"/>
              </a:rPr>
              <a:t>Expensive, time-consuming</a:t>
            </a:r>
          </a:p>
          <a:p>
            <a:pPr marL="214313" indent="-214313">
              <a:spcAft>
                <a:spcPts val="450"/>
              </a:spcAft>
              <a:buFont typeface="Arial" panose="020B0604020202020204" pitchFamily="34" charset="0"/>
              <a:buChar char="•"/>
            </a:pPr>
            <a:r>
              <a:rPr lang="en-GB" altLang="sv-SE" dirty="0">
                <a:latin typeface="Verdana" panose="020B0604030504040204" pitchFamily="34" charset="0"/>
                <a:ea typeface="Verdana" panose="020B0604030504040204" pitchFamily="34" charset="0"/>
              </a:rPr>
              <a:t>Ethically problematic at times </a:t>
            </a:r>
          </a:p>
          <a:p>
            <a:pPr marL="214313" indent="-214313">
              <a:spcAft>
                <a:spcPts val="450"/>
              </a:spcAft>
              <a:buFont typeface="Arial" panose="020B0604020202020204" pitchFamily="34" charset="0"/>
              <a:buChar char="•"/>
            </a:pPr>
            <a:r>
              <a:rPr lang="en-GB" altLang="sv-SE" dirty="0">
                <a:latin typeface="Verdana" panose="020B0604030504040204" pitchFamily="34" charset="0"/>
                <a:ea typeface="Verdana" panose="020B0604030504040204" pitchFamily="34" charset="0"/>
              </a:rPr>
              <a:t>Volunteer bias </a:t>
            </a:r>
          </a:p>
          <a:p>
            <a:pPr marL="600075" lvl="1" indent="-257175">
              <a:spcAft>
                <a:spcPts val="450"/>
              </a:spcAft>
              <a:buFont typeface="Arial" panose="020B0604020202020204" pitchFamily="34" charset="0"/>
              <a:buChar char="−"/>
            </a:pPr>
            <a:r>
              <a:rPr lang="en-GB" altLang="sv-SE" dirty="0">
                <a:latin typeface="Verdana" panose="020B0604030504040204" pitchFamily="34" charset="0"/>
                <a:ea typeface="Verdana" panose="020B0604030504040204" pitchFamily="34" charset="0"/>
              </a:rPr>
              <a:t>What works in a clinical setting may not work in “real life”.</a:t>
            </a:r>
          </a:p>
        </p:txBody>
      </p:sp>
    </p:spTree>
    <p:extLst>
      <p:ext uri="{BB962C8B-B14F-4D97-AF65-F5344CB8AC3E}">
        <p14:creationId xmlns:p14="http://schemas.microsoft.com/office/powerpoint/2010/main" val="341405046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a:xfrm>
            <a:off x="2720967" y="218714"/>
            <a:ext cx="4436269" cy="843855"/>
          </a:xfrm>
        </p:spPr>
        <p:txBody>
          <a:bodyPr anchor="t">
            <a:normAutofit/>
          </a:bodyPr>
          <a:lstStyle/>
          <a:p>
            <a:r>
              <a:rPr lang="en-US" sz="3200" b="1" dirty="0">
                <a:solidFill>
                  <a:schemeClr val="tx1">
                    <a:lumMod val="85000"/>
                    <a:lumOff val="15000"/>
                  </a:schemeClr>
                </a:solidFill>
              </a:rPr>
              <a:t>Cross-Over trials</a:t>
            </a:r>
          </a:p>
        </p:txBody>
      </p:sp>
      <p:sp>
        <p:nvSpPr>
          <p:cNvPr id="4" name="Slide Number Placeholder 3"/>
          <p:cNvSpPr>
            <a:spLocks noGrp="1"/>
          </p:cNvSpPr>
          <p:nvPr>
            <p:ph type="sldNum" sz="quarter" idx="12"/>
          </p:nvPr>
        </p:nvSpPr>
        <p:spPr>
          <a:xfrm>
            <a:off x="5686425" y="4218386"/>
            <a:ext cx="1200150" cy="205383"/>
          </a:xfrm>
          <a:prstGeom prst="rect">
            <a:avLst/>
          </a:prstGeom>
        </p:spPr>
        <p:txBody>
          <a:bodyPr/>
          <a:lstStyle/>
          <a:p>
            <a:pPr>
              <a:defRPr/>
            </a:pPr>
            <a:fld id="{143F5C80-4ED5-4C7B-9E1A-5093DBFB213F}" type="slidenum">
              <a:rPr lang="sv-SE" smtClean="0">
                <a:solidFill>
                  <a:srgbClr val="000000">
                    <a:tint val="75000"/>
                  </a:srgbClr>
                </a:solidFill>
              </a:rPr>
              <a:pPr>
                <a:defRPr/>
              </a:pPr>
              <a:t>131</a:t>
            </a:fld>
            <a:endParaRPr lang="sv-SE">
              <a:solidFill>
                <a:srgbClr val="000000">
                  <a:tint val="75000"/>
                </a:srgbClr>
              </a:solidFill>
            </a:endParaRPr>
          </a:p>
        </p:txBody>
      </p:sp>
      <p:grpSp>
        <p:nvGrpSpPr>
          <p:cNvPr id="3" name="Grupp 2"/>
          <p:cNvGrpSpPr/>
          <p:nvPr/>
        </p:nvGrpSpPr>
        <p:grpSpPr>
          <a:xfrm>
            <a:off x="1115616" y="699542"/>
            <a:ext cx="6656231" cy="3249361"/>
            <a:chOff x="363044" y="1360957"/>
            <a:chExt cx="8475418" cy="3904247"/>
          </a:xfrm>
        </p:grpSpPr>
        <p:sp>
          <p:nvSpPr>
            <p:cNvPr id="76" name="textruta 75"/>
            <p:cNvSpPr txBox="1"/>
            <p:nvPr/>
          </p:nvSpPr>
          <p:spPr>
            <a:xfrm>
              <a:off x="7364026" y="3089838"/>
              <a:ext cx="1474436" cy="73866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sz="1500" b="1" i="1" dirty="0"/>
                <a:t>Compare results!</a:t>
              </a:r>
            </a:p>
          </p:txBody>
        </p:sp>
        <p:grpSp>
          <p:nvGrpSpPr>
            <p:cNvPr id="2" name="Grupp 1"/>
            <p:cNvGrpSpPr/>
            <p:nvPr/>
          </p:nvGrpSpPr>
          <p:grpSpPr>
            <a:xfrm>
              <a:off x="363044" y="1360957"/>
              <a:ext cx="7000983" cy="3904247"/>
              <a:chOff x="363044" y="1360957"/>
              <a:chExt cx="7000983" cy="3904247"/>
            </a:xfrm>
          </p:grpSpPr>
          <p:grpSp>
            <p:nvGrpSpPr>
              <p:cNvPr id="54" name="Grupp 53"/>
              <p:cNvGrpSpPr/>
              <p:nvPr/>
            </p:nvGrpSpPr>
            <p:grpSpPr>
              <a:xfrm>
                <a:off x="601591" y="1849397"/>
                <a:ext cx="1392613" cy="1255567"/>
                <a:chOff x="2699792" y="724972"/>
                <a:chExt cx="1464771" cy="1252678"/>
              </a:xfrm>
            </p:grpSpPr>
            <p:sp>
              <p:nvSpPr>
                <p:cNvPr id="19" name="Rektangel 18"/>
                <p:cNvSpPr/>
                <p:nvPr/>
              </p:nvSpPr>
              <p:spPr bwMode="auto">
                <a:xfrm>
                  <a:off x="2699792" y="724972"/>
                  <a:ext cx="1464771" cy="1252678"/>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51435" tIns="25718" rIns="51435" bIns="25718" numCol="1" rtlCol="0" anchor="t" anchorCtr="0" compatLnSpc="1">
                  <a:prstTxWarp prst="textNoShape">
                    <a:avLst/>
                  </a:prstTxWarp>
                </a:bodyPr>
                <a:lstStyle/>
                <a:p>
                  <a:pPr defTabSz="514350" eaLnBrk="0" hangingPunct="0"/>
                  <a:endParaRPr lang="sv-SE">
                    <a:solidFill>
                      <a:schemeClr val="accent3"/>
                    </a:solidFill>
                    <a:latin typeface="Arial" panose="020B0604020202020204" pitchFamily="34" charset="0"/>
                    <a:ea typeface="ヒラギノ角ゴ Pro W3"/>
                    <a:cs typeface="ヒラギノ角ゴ Pro W3"/>
                  </a:endParaRPr>
                </a:p>
              </p:txBody>
            </p:sp>
            <p:grpSp>
              <p:nvGrpSpPr>
                <p:cNvPr id="47" name="Grupp 46"/>
                <p:cNvGrpSpPr/>
                <p:nvPr/>
              </p:nvGrpSpPr>
              <p:grpSpPr>
                <a:xfrm>
                  <a:off x="2771800" y="809820"/>
                  <a:ext cx="1367764" cy="1107012"/>
                  <a:chOff x="2771800" y="809820"/>
                  <a:chExt cx="1367764" cy="1107012"/>
                </a:xfrm>
              </p:grpSpPr>
              <p:pic>
                <p:nvPicPr>
                  <p:cNvPr id="48"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771800" y="821291"/>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18407" y="81436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785689" y="1404274"/>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18407" y="1404274"/>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02289" y="81436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69571" y="809820"/>
                    <a:ext cx="337275" cy="51255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66" name="Grupp 65"/>
              <p:cNvGrpSpPr/>
              <p:nvPr/>
            </p:nvGrpSpPr>
            <p:grpSpPr>
              <a:xfrm>
                <a:off x="4424681" y="1775535"/>
                <a:ext cx="1392613" cy="1255567"/>
                <a:chOff x="2699792" y="724972"/>
                <a:chExt cx="1464771" cy="1252678"/>
              </a:xfrm>
            </p:grpSpPr>
            <p:sp>
              <p:nvSpPr>
                <p:cNvPr id="67" name="Rektangel 66"/>
                <p:cNvSpPr/>
                <p:nvPr/>
              </p:nvSpPr>
              <p:spPr bwMode="auto">
                <a:xfrm>
                  <a:off x="2699792" y="724972"/>
                  <a:ext cx="1464771" cy="1252678"/>
                </a:xfrm>
                <a:prstGeom prst="rect">
                  <a:avLst/>
                </a:prstGeom>
                <a:noFill/>
                <a:ln>
                  <a:solidFill>
                    <a:srgbClr val="00B0F0"/>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51435" tIns="25718" rIns="51435" bIns="25718" numCol="1" rtlCol="0" anchor="t" anchorCtr="0" compatLnSpc="1">
                  <a:prstTxWarp prst="textNoShape">
                    <a:avLst/>
                  </a:prstTxWarp>
                </a:bodyPr>
                <a:lstStyle/>
                <a:p>
                  <a:pPr defTabSz="514350" eaLnBrk="0" hangingPunct="0"/>
                  <a:endParaRPr lang="sv-SE">
                    <a:solidFill>
                      <a:schemeClr val="tx1"/>
                    </a:solidFill>
                    <a:latin typeface="Arial" panose="020B0604020202020204" pitchFamily="34" charset="0"/>
                    <a:ea typeface="ヒラギノ角ゴ Pro W3"/>
                    <a:cs typeface="ヒラギノ角ゴ Pro W3"/>
                  </a:endParaRPr>
                </a:p>
              </p:txBody>
            </p:sp>
            <p:grpSp>
              <p:nvGrpSpPr>
                <p:cNvPr id="68" name="Grupp 67"/>
                <p:cNvGrpSpPr/>
                <p:nvPr/>
              </p:nvGrpSpPr>
              <p:grpSpPr>
                <a:xfrm>
                  <a:off x="2771800" y="809820"/>
                  <a:ext cx="1367764" cy="1107012"/>
                  <a:chOff x="2771800" y="809820"/>
                  <a:chExt cx="1367764" cy="1107012"/>
                </a:xfrm>
              </p:grpSpPr>
              <p:pic>
                <p:nvPicPr>
                  <p:cNvPr id="69"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771800" y="821291"/>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18407" y="81436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785689" y="1404274"/>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18407" y="1404274"/>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02289" y="81436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69571" y="809820"/>
                    <a:ext cx="337275" cy="512558"/>
                  </a:xfrm>
                  <a:prstGeom prst="rect">
                    <a:avLst/>
                  </a:prstGeom>
                  <a:noFill/>
                  <a:extLst>
                    <a:ext uri="{909E8E84-426E-40DD-AFC4-6F175D3DCCD1}">
                      <a14:hiddenFill xmlns:a14="http://schemas.microsoft.com/office/drawing/2010/main">
                        <a:solidFill>
                          <a:srgbClr val="FFFFFF"/>
                        </a:solidFill>
                      </a14:hiddenFill>
                    </a:ext>
                  </a:extLst>
                </p:spPr>
              </p:pic>
            </p:grpSp>
          </p:grpSp>
          <p:cxnSp>
            <p:nvCxnSpPr>
              <p:cNvPr id="78" name="Rak pil 77"/>
              <p:cNvCxnSpPr>
                <a:stCxn id="19" idx="3"/>
                <a:endCxn id="97" idx="1"/>
              </p:cNvCxnSpPr>
              <p:nvPr/>
            </p:nvCxnSpPr>
            <p:spPr bwMode="auto">
              <a:xfrm flipV="1">
                <a:off x="1994204" y="2462989"/>
                <a:ext cx="248937" cy="14192"/>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 name="textruta 86"/>
              <p:cNvSpPr txBox="1"/>
              <p:nvPr/>
            </p:nvSpPr>
            <p:spPr>
              <a:xfrm>
                <a:off x="363044" y="1472297"/>
                <a:ext cx="1940810" cy="443768"/>
              </a:xfrm>
              <a:prstGeom prst="rect">
                <a:avLst/>
              </a:prstGeom>
              <a:noFill/>
            </p:spPr>
            <p:txBody>
              <a:bodyPr wrap="square" rtlCol="0">
                <a:spAutoFit/>
              </a:bodyPr>
              <a:lstStyle/>
              <a:p>
                <a:pPr algn="ctr"/>
                <a:r>
                  <a:rPr lang="en-US" dirty="0"/>
                  <a:t>Treatment  </a:t>
                </a:r>
                <a:r>
                  <a:rPr lang="en-US" dirty="0">
                    <a:solidFill>
                      <a:schemeClr val="accent3"/>
                    </a:solidFill>
                  </a:rPr>
                  <a:t>A</a:t>
                </a:r>
              </a:p>
            </p:txBody>
          </p:sp>
          <p:grpSp>
            <p:nvGrpSpPr>
              <p:cNvPr id="55" name="Grupp 54"/>
              <p:cNvGrpSpPr/>
              <p:nvPr/>
            </p:nvGrpSpPr>
            <p:grpSpPr>
              <a:xfrm>
                <a:off x="646285" y="3990023"/>
                <a:ext cx="1324152" cy="1255567"/>
                <a:chOff x="2771800" y="3119205"/>
                <a:chExt cx="1392763" cy="1252678"/>
              </a:xfrm>
            </p:grpSpPr>
            <p:sp>
              <p:nvSpPr>
                <p:cNvPr id="23" name="Rektangel 22"/>
                <p:cNvSpPr/>
                <p:nvPr/>
              </p:nvSpPr>
              <p:spPr bwMode="auto">
                <a:xfrm>
                  <a:off x="2771800" y="3119205"/>
                  <a:ext cx="1392763" cy="1252678"/>
                </a:xfrm>
                <a:prstGeom prst="rect">
                  <a:avLst/>
                </a:prstGeom>
                <a:noFill/>
                <a:ln>
                  <a:solidFill>
                    <a:srgbClr val="00B0F0"/>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51435" tIns="25718" rIns="51435" bIns="25718" numCol="1" rtlCol="0" anchor="t" anchorCtr="0" compatLnSpc="1">
                  <a:prstTxWarp prst="textNoShape">
                    <a:avLst/>
                  </a:prstTxWarp>
                </a:bodyPr>
                <a:lstStyle/>
                <a:p>
                  <a:pPr defTabSz="514350" eaLnBrk="0" hangingPunct="0"/>
                  <a:endParaRPr lang="sv-SE">
                    <a:solidFill>
                      <a:schemeClr val="tx1"/>
                    </a:solidFill>
                    <a:latin typeface="Arial" panose="020B0604020202020204" pitchFamily="34" charset="0"/>
                    <a:ea typeface="ヒラギノ角ゴ Pro W3"/>
                    <a:cs typeface="ヒラギノ角ゴ Pro W3"/>
                  </a:endParaRPr>
                </a:p>
              </p:txBody>
            </p:sp>
            <p:grpSp>
              <p:nvGrpSpPr>
                <p:cNvPr id="44" name="Grupp 43"/>
                <p:cNvGrpSpPr/>
                <p:nvPr/>
              </p:nvGrpSpPr>
              <p:grpSpPr>
                <a:xfrm>
                  <a:off x="2771800" y="3284637"/>
                  <a:ext cx="1365762" cy="1080467"/>
                  <a:chOff x="3062222" y="3284637"/>
                  <a:chExt cx="1365762" cy="1080467"/>
                </a:xfrm>
              </p:grpSpPr>
              <p:pic>
                <p:nvPicPr>
                  <p:cNvPr id="38" name="Picture 2" descr="C:\Users\SaraG\AppData\Local\Microsoft\Windows\Temporary Internet Files\Content.IE5\2Y6E2FQZ\user-296691_640[1].png"/>
                  <p:cNvPicPr>
                    <a:picLocks noChangeAspect="1" noChangeArrowheads="1"/>
                  </p:cNvPicPr>
                  <p:nvPr/>
                </p:nvPicPr>
                <p:blipFill>
                  <a:blip r:embed="rId4" cstate="print">
                    <a:duotone>
                      <a:schemeClr val="accent6">
                        <a:shade val="45000"/>
                        <a:satMod val="135000"/>
                      </a:schemeClr>
                      <a:prstClr val="white"/>
                    </a:duotone>
                    <a:extLst>
                      <a:ext uri="{BEBA8EAE-BF5A-486C-A8C5-ECC9F3942E4B}">
                        <a14:imgProps xmlns:a14="http://schemas.microsoft.com/office/drawing/2010/main">
                          <a14:imgLayer r:embed="rId5">
                            <a14:imgEffect>
                              <a14:backgroundRemoval t="0" b="99187" l="0" r="100000"/>
                            </a14:imgEffect>
                          </a14:imgLayer>
                        </a14:imgProps>
                      </a:ext>
                      <a:ext uri="{28A0092B-C50C-407E-A947-70E740481C1C}">
                        <a14:useLocalDpi xmlns:a14="http://schemas.microsoft.com/office/drawing/2010/main" val="0"/>
                      </a:ext>
                    </a:extLst>
                  </a:blip>
                  <a:srcRect/>
                  <a:stretch>
                    <a:fillRect/>
                  </a:stretch>
                </p:blipFill>
                <p:spPr bwMode="auto">
                  <a:xfrm>
                    <a:off x="3725065" y="3284637"/>
                    <a:ext cx="337275" cy="51255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9"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71672" y="328463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62222" y="3838143"/>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394940" y="3838143"/>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57990" y="3852546"/>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90709" y="3852546"/>
                    <a:ext cx="337275" cy="51255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57" name="Grupp 56"/>
              <p:cNvGrpSpPr/>
              <p:nvPr/>
            </p:nvGrpSpPr>
            <p:grpSpPr>
              <a:xfrm>
                <a:off x="4457189" y="4009637"/>
                <a:ext cx="1324152" cy="1255567"/>
                <a:chOff x="2771800" y="3119205"/>
                <a:chExt cx="1392763" cy="1252678"/>
              </a:xfrm>
            </p:grpSpPr>
            <p:sp>
              <p:nvSpPr>
                <p:cNvPr id="58" name="Rektangel 57"/>
                <p:cNvSpPr/>
                <p:nvPr/>
              </p:nvSpPr>
              <p:spPr bwMode="auto">
                <a:xfrm>
                  <a:off x="2771800" y="3119205"/>
                  <a:ext cx="1392763" cy="1252678"/>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51435" tIns="25718" rIns="51435" bIns="25718" numCol="1" rtlCol="0" anchor="t" anchorCtr="0" compatLnSpc="1">
                  <a:prstTxWarp prst="textNoShape">
                    <a:avLst/>
                  </a:prstTxWarp>
                </a:bodyPr>
                <a:lstStyle/>
                <a:p>
                  <a:pPr defTabSz="514350" eaLnBrk="0" hangingPunct="0"/>
                  <a:endParaRPr lang="sv-SE">
                    <a:solidFill>
                      <a:schemeClr val="tx1"/>
                    </a:solidFill>
                    <a:latin typeface="Arial" panose="020B0604020202020204" pitchFamily="34" charset="0"/>
                    <a:ea typeface="ヒラギノ角ゴ Pro W3"/>
                    <a:cs typeface="ヒラギノ角ゴ Pro W3"/>
                  </a:endParaRPr>
                </a:p>
              </p:txBody>
            </p:sp>
            <p:grpSp>
              <p:nvGrpSpPr>
                <p:cNvPr id="59" name="Grupp 58"/>
                <p:cNvGrpSpPr/>
                <p:nvPr/>
              </p:nvGrpSpPr>
              <p:grpSpPr>
                <a:xfrm>
                  <a:off x="2771800" y="3284637"/>
                  <a:ext cx="1365762" cy="1080467"/>
                  <a:chOff x="3062222" y="3284637"/>
                  <a:chExt cx="1365762" cy="1080467"/>
                </a:xfrm>
              </p:grpSpPr>
              <p:pic>
                <p:nvPicPr>
                  <p:cNvPr id="60"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25065" y="328463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71672" y="3284637"/>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62222" y="3838143"/>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C:\Users\SaraG\AppData\Local\Microsoft\Windows\Temporary Internet Files\Content.IE5\2Y6E2FQZ\user-296691_640[1].png"/>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394940" y="3838143"/>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57990" y="3852546"/>
                    <a:ext cx="337275" cy="512558"/>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C:\Users\SaraG\AppData\Local\Microsoft\Windows\Temporary Internet Files\Content.IE5\2Y6E2FQZ\user-296691_640[1].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90709" y="3852546"/>
                    <a:ext cx="337275" cy="512558"/>
                  </a:xfrm>
                  <a:prstGeom prst="rect">
                    <a:avLst/>
                  </a:prstGeom>
                  <a:noFill/>
                  <a:extLst>
                    <a:ext uri="{909E8E84-426E-40DD-AFC4-6F175D3DCCD1}">
                      <a14:hiddenFill xmlns:a14="http://schemas.microsoft.com/office/drawing/2010/main">
                        <a:solidFill>
                          <a:srgbClr val="FFFFFF"/>
                        </a:solidFill>
                      </a14:hiddenFill>
                    </a:ext>
                  </a:extLst>
                </p:spPr>
              </p:pic>
            </p:grpSp>
          </p:grpSp>
          <p:cxnSp>
            <p:nvCxnSpPr>
              <p:cNvPr id="80" name="Rak pil 79"/>
              <p:cNvCxnSpPr>
                <a:stCxn id="23" idx="3"/>
                <a:endCxn id="75" idx="1"/>
              </p:cNvCxnSpPr>
              <p:nvPr/>
            </p:nvCxnSpPr>
            <p:spPr bwMode="auto">
              <a:xfrm flipV="1">
                <a:off x="1970437" y="4617806"/>
                <a:ext cx="276118" cy="1"/>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ruta 84"/>
              <p:cNvSpPr txBox="1"/>
              <p:nvPr/>
            </p:nvSpPr>
            <p:spPr>
              <a:xfrm>
                <a:off x="530114" y="3613060"/>
                <a:ext cx="1877032" cy="443768"/>
              </a:xfrm>
              <a:prstGeom prst="rect">
                <a:avLst/>
              </a:prstGeom>
              <a:noFill/>
            </p:spPr>
            <p:txBody>
              <a:bodyPr wrap="square" rtlCol="0">
                <a:spAutoFit/>
              </a:bodyPr>
              <a:lstStyle/>
              <a:p>
                <a:pPr algn="ctr"/>
                <a:r>
                  <a:rPr lang="en-US" dirty="0"/>
                  <a:t>Treatment </a:t>
                </a:r>
                <a:r>
                  <a:rPr lang="en-US" dirty="0">
                    <a:solidFill>
                      <a:srgbClr val="00B0F0"/>
                    </a:solidFill>
                  </a:rPr>
                  <a:t>B</a:t>
                </a:r>
              </a:p>
            </p:txBody>
          </p:sp>
          <p:sp>
            <p:nvSpPr>
              <p:cNvPr id="27" name="textruta 26"/>
              <p:cNvSpPr txBox="1"/>
              <p:nvPr/>
            </p:nvSpPr>
            <p:spPr>
              <a:xfrm>
                <a:off x="3415684" y="4052947"/>
                <a:ext cx="986709" cy="769441"/>
              </a:xfrm>
              <a:prstGeom prst="rect">
                <a:avLst/>
              </a:prstGeom>
              <a:noFill/>
            </p:spPr>
            <p:txBody>
              <a:bodyPr wrap="square" rtlCol="0">
                <a:spAutoFit/>
              </a:bodyPr>
              <a:lstStyle/>
              <a:p>
                <a:r>
                  <a:rPr lang="en-US" sz="1050" i="1" dirty="0"/>
                  <a:t>Wash-out period</a:t>
                </a:r>
              </a:p>
            </p:txBody>
          </p:sp>
          <p:sp>
            <p:nvSpPr>
              <p:cNvPr id="75" name="textruta 74"/>
              <p:cNvSpPr txBox="1"/>
              <p:nvPr/>
            </p:nvSpPr>
            <p:spPr>
              <a:xfrm>
                <a:off x="2246554" y="4263863"/>
                <a:ext cx="1127545" cy="73866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sz="1500" i="1" dirty="0"/>
                  <a:t>Collect results</a:t>
                </a:r>
              </a:p>
            </p:txBody>
          </p:sp>
          <p:cxnSp>
            <p:nvCxnSpPr>
              <p:cNvPr id="90" name="Rak pil 79"/>
              <p:cNvCxnSpPr>
                <a:stCxn id="75" idx="3"/>
                <a:endCxn id="58" idx="1"/>
              </p:cNvCxnSpPr>
              <p:nvPr/>
            </p:nvCxnSpPr>
            <p:spPr bwMode="auto">
              <a:xfrm>
                <a:off x="3374100" y="4617806"/>
                <a:ext cx="1083089" cy="19615"/>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Rak pil 79"/>
              <p:cNvCxnSpPr>
                <a:endCxn id="95" idx="1"/>
              </p:cNvCxnSpPr>
              <p:nvPr/>
            </p:nvCxnSpPr>
            <p:spPr bwMode="auto">
              <a:xfrm flipV="1">
                <a:off x="5815320" y="4634919"/>
                <a:ext cx="316327" cy="1"/>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textruta 94"/>
              <p:cNvSpPr txBox="1"/>
              <p:nvPr/>
            </p:nvSpPr>
            <p:spPr>
              <a:xfrm>
                <a:off x="6131647" y="4280976"/>
                <a:ext cx="1127545" cy="73866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sz="1500" i="1" dirty="0"/>
                  <a:t>Collect results</a:t>
                </a:r>
              </a:p>
            </p:txBody>
          </p:sp>
          <p:sp>
            <p:nvSpPr>
              <p:cNvPr id="96" name="textruta 95"/>
              <p:cNvSpPr txBox="1"/>
              <p:nvPr/>
            </p:nvSpPr>
            <p:spPr>
              <a:xfrm>
                <a:off x="3404329" y="1905921"/>
                <a:ext cx="986709" cy="769441"/>
              </a:xfrm>
              <a:prstGeom prst="rect">
                <a:avLst/>
              </a:prstGeom>
              <a:noFill/>
            </p:spPr>
            <p:txBody>
              <a:bodyPr wrap="square" rtlCol="0">
                <a:spAutoFit/>
              </a:bodyPr>
              <a:lstStyle/>
              <a:p>
                <a:r>
                  <a:rPr lang="en-US" sz="1050" i="1" dirty="0"/>
                  <a:t>Wash-out period</a:t>
                </a:r>
              </a:p>
            </p:txBody>
          </p:sp>
          <p:sp>
            <p:nvSpPr>
              <p:cNvPr id="97" name="textruta 96"/>
              <p:cNvSpPr txBox="1"/>
              <p:nvPr/>
            </p:nvSpPr>
            <p:spPr>
              <a:xfrm>
                <a:off x="2243141" y="2109046"/>
                <a:ext cx="1127545" cy="73866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sz="1500" i="1" dirty="0"/>
                  <a:t>Collect results</a:t>
                </a:r>
              </a:p>
            </p:txBody>
          </p:sp>
          <p:cxnSp>
            <p:nvCxnSpPr>
              <p:cNvPr id="98" name="Rak pil 79"/>
              <p:cNvCxnSpPr>
                <a:stCxn id="97" idx="3"/>
              </p:cNvCxnSpPr>
              <p:nvPr/>
            </p:nvCxnSpPr>
            <p:spPr bwMode="auto">
              <a:xfrm>
                <a:off x="3370686" y="2462989"/>
                <a:ext cx="1025876"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Rak pil 79"/>
              <p:cNvCxnSpPr>
                <a:endCxn id="102" idx="1"/>
              </p:cNvCxnSpPr>
              <p:nvPr/>
            </p:nvCxnSpPr>
            <p:spPr bwMode="auto">
              <a:xfrm flipV="1">
                <a:off x="5817294" y="2385816"/>
                <a:ext cx="316327" cy="1"/>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textruta 101"/>
              <p:cNvSpPr txBox="1"/>
              <p:nvPr/>
            </p:nvSpPr>
            <p:spPr>
              <a:xfrm>
                <a:off x="6133621" y="2031873"/>
                <a:ext cx="1127545" cy="73866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sz="1500" i="1" dirty="0"/>
                  <a:t>Collect results</a:t>
                </a:r>
              </a:p>
            </p:txBody>
          </p:sp>
          <p:sp>
            <p:nvSpPr>
              <p:cNvPr id="103" name="textruta 102"/>
              <p:cNvSpPr txBox="1"/>
              <p:nvPr/>
            </p:nvSpPr>
            <p:spPr>
              <a:xfrm>
                <a:off x="4091063" y="3590040"/>
                <a:ext cx="1940810" cy="443768"/>
              </a:xfrm>
              <a:prstGeom prst="rect">
                <a:avLst/>
              </a:prstGeom>
              <a:noFill/>
            </p:spPr>
            <p:txBody>
              <a:bodyPr wrap="square" rtlCol="0">
                <a:spAutoFit/>
              </a:bodyPr>
              <a:lstStyle/>
              <a:p>
                <a:pPr algn="ctr"/>
                <a:r>
                  <a:rPr lang="en-US" dirty="0"/>
                  <a:t>Treatment  </a:t>
                </a:r>
                <a:r>
                  <a:rPr lang="en-US" dirty="0">
                    <a:solidFill>
                      <a:schemeClr val="accent3"/>
                    </a:solidFill>
                  </a:rPr>
                  <a:t>A</a:t>
                </a:r>
              </a:p>
            </p:txBody>
          </p:sp>
          <p:sp>
            <p:nvSpPr>
              <p:cNvPr id="104" name="textruta 103"/>
              <p:cNvSpPr txBox="1"/>
              <p:nvPr/>
            </p:nvSpPr>
            <p:spPr>
              <a:xfrm>
                <a:off x="4274257" y="1360957"/>
                <a:ext cx="1908824" cy="443768"/>
              </a:xfrm>
              <a:prstGeom prst="rect">
                <a:avLst/>
              </a:prstGeom>
              <a:noFill/>
            </p:spPr>
            <p:txBody>
              <a:bodyPr wrap="square" rtlCol="0">
                <a:spAutoFit/>
              </a:bodyPr>
              <a:lstStyle/>
              <a:p>
                <a:pPr algn="ctr"/>
                <a:r>
                  <a:rPr lang="en-US" dirty="0"/>
                  <a:t>Treatment </a:t>
                </a:r>
                <a:r>
                  <a:rPr lang="en-US" dirty="0">
                    <a:solidFill>
                      <a:srgbClr val="00B0F0"/>
                    </a:solidFill>
                  </a:rPr>
                  <a:t>B</a:t>
                </a:r>
              </a:p>
            </p:txBody>
          </p:sp>
          <p:cxnSp>
            <p:nvCxnSpPr>
              <p:cNvPr id="105" name="Vinklad koppling 104"/>
              <p:cNvCxnSpPr>
                <a:stCxn id="75" idx="0"/>
                <a:endCxn id="76" idx="1"/>
              </p:cNvCxnSpPr>
              <p:nvPr/>
            </p:nvCxnSpPr>
            <p:spPr>
              <a:xfrm rot="5400000" flipH="1" flipV="1">
                <a:off x="4677137" y="1576974"/>
                <a:ext cx="820081" cy="4553698"/>
              </a:xfrm>
              <a:prstGeom prst="bentConnector2">
                <a:avLst/>
              </a:prstGeom>
              <a:ln w="12700">
                <a:solidFill>
                  <a:schemeClr val="tx1"/>
                </a:solidFill>
                <a:prstDash val="lg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9" name="Vinklad koppling 108"/>
              <p:cNvCxnSpPr>
                <a:stCxn id="97" idx="2"/>
                <a:endCxn id="76" idx="1"/>
              </p:cNvCxnSpPr>
              <p:nvPr/>
            </p:nvCxnSpPr>
            <p:spPr>
              <a:xfrm rot="16200000" flipH="1">
                <a:off x="4772045" y="851801"/>
                <a:ext cx="626850" cy="4557112"/>
              </a:xfrm>
              <a:prstGeom prst="bentConnector2">
                <a:avLst/>
              </a:prstGeom>
              <a:ln w="12700">
                <a:solidFill>
                  <a:schemeClr val="tx1"/>
                </a:solidFill>
                <a:prstDash val="lg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1" name="Vinklad koppling 110"/>
              <p:cNvCxnSpPr>
                <a:stCxn id="95" idx="0"/>
                <a:endCxn id="76" idx="1"/>
              </p:cNvCxnSpPr>
              <p:nvPr/>
            </p:nvCxnSpPr>
            <p:spPr>
              <a:xfrm rot="5400000" flipH="1" flipV="1">
                <a:off x="6611126" y="3528076"/>
                <a:ext cx="837194" cy="668606"/>
              </a:xfrm>
              <a:prstGeom prst="bentConnector2">
                <a:avLst/>
              </a:prstGeom>
              <a:ln w="12700">
                <a:solidFill>
                  <a:schemeClr val="tx1"/>
                </a:solidFill>
                <a:prstDash val="lg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3" name="Vinklad koppling 112"/>
              <p:cNvCxnSpPr>
                <a:stCxn id="102" idx="2"/>
                <a:endCxn id="76" idx="1"/>
              </p:cNvCxnSpPr>
              <p:nvPr/>
            </p:nvCxnSpPr>
            <p:spPr>
              <a:xfrm rot="16200000" flipH="1">
                <a:off x="6678699" y="2758454"/>
                <a:ext cx="704023" cy="666632"/>
              </a:xfrm>
              <a:prstGeom prst="bentConnector2">
                <a:avLst/>
              </a:prstGeom>
              <a:ln w="12700">
                <a:solidFill>
                  <a:schemeClr val="tx1"/>
                </a:solidFill>
                <a:prstDash val="lg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97879848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971600" y="195486"/>
            <a:ext cx="6172200" cy="696600"/>
          </a:xfrm>
        </p:spPr>
        <p:txBody>
          <a:bodyPr>
            <a:normAutofit/>
          </a:bodyPr>
          <a:lstStyle/>
          <a:p>
            <a:r>
              <a:rPr lang="en-US" sz="3200" dirty="0"/>
              <a:t>Crossover trials</a:t>
            </a:r>
          </a:p>
        </p:txBody>
      </p:sp>
      <p:sp>
        <p:nvSpPr>
          <p:cNvPr id="4" name="Platshållare för bildnummer 3"/>
          <p:cNvSpPr>
            <a:spLocks noGrp="1"/>
          </p:cNvSpPr>
          <p:nvPr>
            <p:ph type="sldNum" sz="quarter" idx="12"/>
          </p:nvPr>
        </p:nvSpPr>
        <p:spPr/>
        <p:txBody>
          <a:bodyPr/>
          <a:lstStyle/>
          <a:p>
            <a:fld id="{4C91F0F6-1F87-4BDD-A41F-BD68A4369A65}" type="slidenum">
              <a:rPr lang="sv-SE" smtClean="0"/>
              <a:pPr/>
              <a:t>132</a:t>
            </a:fld>
            <a:endParaRPr lang="sv-SE"/>
          </a:p>
        </p:txBody>
      </p:sp>
      <p:sp>
        <p:nvSpPr>
          <p:cNvPr id="3" name="Rektangel 2"/>
          <p:cNvSpPr/>
          <p:nvPr/>
        </p:nvSpPr>
        <p:spPr>
          <a:xfrm>
            <a:off x="1115616" y="771550"/>
            <a:ext cx="6164079" cy="3449662"/>
          </a:xfrm>
          <a:prstGeom prst="rect">
            <a:avLst/>
          </a:prstGeom>
        </p:spPr>
        <p:txBody>
          <a:bodyPr wrap="square">
            <a:spAutoFit/>
          </a:bodyPr>
          <a:lstStyle/>
          <a:p>
            <a:pPr>
              <a:buFontTx/>
              <a:buNone/>
            </a:pPr>
            <a:r>
              <a:rPr lang="en-GB" altLang="sv-SE" sz="1650" b="1" dirty="0">
                <a:latin typeface="Verdana" panose="020B0604030504040204" pitchFamily="34" charset="0"/>
                <a:ea typeface="Verdana" panose="020B0604030504040204" pitchFamily="34" charset="0"/>
              </a:rPr>
              <a:t>Advantages: </a:t>
            </a:r>
          </a:p>
          <a:p>
            <a:pPr marL="214313" indent="-214313">
              <a:spcAft>
                <a:spcPts val="450"/>
              </a:spcAft>
              <a:buFont typeface="Arial" panose="020B0604020202020204" pitchFamily="34" charset="0"/>
              <a:buChar char="•"/>
            </a:pPr>
            <a:r>
              <a:rPr lang="en-US" altLang="sv-SE" sz="1650" dirty="0">
                <a:latin typeface="Verdana" panose="020B0604030504040204" pitchFamily="34" charset="0"/>
                <a:ea typeface="Verdana" panose="020B0604030504040204" pitchFamily="34" charset="0"/>
              </a:rPr>
              <a:t>All participants serve as own controls </a:t>
            </a:r>
          </a:p>
          <a:p>
            <a:pPr marL="600075" lvl="1" indent="-257175">
              <a:spcAft>
                <a:spcPts val="450"/>
              </a:spcAft>
              <a:buFontTx/>
              <a:buChar char="−"/>
            </a:pPr>
            <a:r>
              <a:rPr lang="en-US" altLang="sv-SE" sz="1650" dirty="0">
                <a:latin typeface="Verdana" panose="020B0604030504040204" pitchFamily="34" charset="0"/>
                <a:ea typeface="Verdana" panose="020B0604030504040204" pitchFamily="34" charset="0"/>
              </a:rPr>
              <a:t>Error variance is reduced → smaller sample size needed </a:t>
            </a:r>
          </a:p>
          <a:p>
            <a:pPr marL="214313" indent="-214313">
              <a:spcAft>
                <a:spcPts val="450"/>
              </a:spcAft>
              <a:buFont typeface="Arial" panose="020B0604020202020204" pitchFamily="34" charset="0"/>
              <a:buChar char="•"/>
            </a:pPr>
            <a:r>
              <a:rPr lang="en-US" altLang="sv-SE" sz="1650" dirty="0">
                <a:latin typeface="Verdana" panose="020B0604030504040204" pitchFamily="34" charset="0"/>
                <a:ea typeface="Verdana" panose="020B0604030504040204" pitchFamily="34" charset="0"/>
              </a:rPr>
              <a:t>All participants receive treatment </a:t>
            </a:r>
          </a:p>
          <a:p>
            <a:pPr marL="214313" indent="-214313">
              <a:spcAft>
                <a:spcPts val="450"/>
              </a:spcAft>
              <a:buFont typeface="Arial" panose="020B0604020202020204" pitchFamily="34" charset="0"/>
              <a:buChar char="•"/>
            </a:pPr>
            <a:r>
              <a:rPr lang="en-US" altLang="sv-SE" sz="1650" dirty="0">
                <a:latin typeface="Verdana" panose="020B0604030504040204" pitchFamily="34" charset="0"/>
                <a:ea typeface="Verdana" panose="020B0604030504040204" pitchFamily="34" charset="0"/>
              </a:rPr>
              <a:t>Blinding can be used</a:t>
            </a:r>
          </a:p>
          <a:p>
            <a:pPr>
              <a:spcBef>
                <a:spcPts val="900"/>
              </a:spcBef>
              <a:spcAft>
                <a:spcPts val="450"/>
              </a:spcAft>
            </a:pPr>
            <a:r>
              <a:rPr lang="en-GB" altLang="sv-SE" sz="1650" b="1" dirty="0">
                <a:latin typeface="Verdana" panose="020B0604030504040204" pitchFamily="34" charset="0"/>
                <a:ea typeface="Verdana" panose="020B0604030504040204" pitchFamily="34" charset="0"/>
              </a:rPr>
              <a:t>Disadvantages: </a:t>
            </a:r>
          </a:p>
          <a:p>
            <a:pPr marL="214313" indent="-214313">
              <a:spcAft>
                <a:spcPts val="450"/>
              </a:spcAft>
              <a:buFont typeface="Arial" panose="020B0604020202020204" pitchFamily="34" charset="0"/>
              <a:buChar char="•"/>
            </a:pPr>
            <a:r>
              <a:rPr lang="en-US" altLang="sv-SE" sz="1650" dirty="0">
                <a:latin typeface="Verdana" panose="020B0604030504040204" pitchFamily="34" charset="0"/>
                <a:ea typeface="Verdana" panose="020B0604030504040204" pitchFamily="34" charset="0"/>
              </a:rPr>
              <a:t>All participants receive placebo/alternative treatment at some point </a:t>
            </a:r>
          </a:p>
          <a:p>
            <a:pPr marL="214313" indent="-214313">
              <a:spcAft>
                <a:spcPts val="450"/>
              </a:spcAft>
              <a:buFont typeface="Arial" panose="020B0604020202020204" pitchFamily="34" charset="0"/>
              <a:buChar char="•"/>
            </a:pPr>
            <a:r>
              <a:rPr lang="en-US" altLang="sv-SE" sz="1650" dirty="0">
                <a:latin typeface="Verdana" panose="020B0604030504040204" pitchFamily="34" charset="0"/>
                <a:ea typeface="Verdana" panose="020B0604030504040204" pitchFamily="34" charset="0"/>
              </a:rPr>
              <a:t>Washout period lengthy or might be unknown </a:t>
            </a:r>
          </a:p>
          <a:p>
            <a:pPr marL="214313" indent="-214313">
              <a:spcAft>
                <a:spcPts val="450"/>
              </a:spcAft>
              <a:buFont typeface="Arial" panose="020B0604020202020204" pitchFamily="34" charset="0"/>
              <a:buChar char="•"/>
            </a:pPr>
            <a:r>
              <a:rPr lang="en-US" altLang="sv-SE" sz="1650" dirty="0">
                <a:latin typeface="Verdana" panose="020B0604030504040204" pitchFamily="34" charset="0"/>
                <a:ea typeface="Verdana" panose="020B0604030504040204" pitchFamily="34" charset="0"/>
              </a:rPr>
              <a:t>Doesn’t work for treatments with permanent effects </a:t>
            </a:r>
          </a:p>
        </p:txBody>
      </p:sp>
    </p:spTree>
    <p:extLst>
      <p:ext uri="{BB962C8B-B14F-4D97-AF65-F5344CB8AC3E}">
        <p14:creationId xmlns:p14="http://schemas.microsoft.com/office/powerpoint/2010/main" val="263637429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a:xfrm>
            <a:off x="539552" y="3529475"/>
            <a:ext cx="6089207" cy="843855"/>
          </a:xfrm>
        </p:spPr>
        <p:txBody>
          <a:bodyPr>
            <a:normAutofit/>
          </a:bodyPr>
          <a:lstStyle/>
          <a:p>
            <a:r>
              <a:rPr lang="en-US" sz="2100" b="1" dirty="0">
                <a:solidFill>
                  <a:schemeClr val="tx1">
                    <a:lumMod val="85000"/>
                    <a:lumOff val="15000"/>
                  </a:schemeClr>
                </a:solidFill>
                <a:latin typeface="Calibri" panose="020F0502020204030204" pitchFamily="34" charset="0"/>
              </a:rPr>
              <a:t>Observational studies</a:t>
            </a:r>
          </a:p>
        </p:txBody>
      </p:sp>
      <p:sp>
        <p:nvSpPr>
          <p:cNvPr id="4" name="Slide Number Placeholder 3"/>
          <p:cNvSpPr>
            <a:spLocks noGrp="1"/>
          </p:cNvSpPr>
          <p:nvPr>
            <p:ph type="sldNum" sz="quarter" idx="12"/>
          </p:nvPr>
        </p:nvSpPr>
        <p:spPr>
          <a:xfrm>
            <a:off x="6606139" y="4829910"/>
            <a:ext cx="1200150" cy="205383"/>
          </a:xfrm>
          <a:prstGeom prst="rect">
            <a:avLst/>
          </a:prstGeom>
        </p:spPr>
        <p:txBody>
          <a:bodyPr/>
          <a:lstStyle/>
          <a:p>
            <a:pPr>
              <a:defRPr/>
            </a:pPr>
            <a:fld id="{143F5C80-4ED5-4C7B-9E1A-5093DBFB213F}" type="slidenum">
              <a:rPr lang="sv-SE" smtClean="0">
                <a:solidFill>
                  <a:srgbClr val="000000">
                    <a:tint val="75000"/>
                  </a:srgbClr>
                </a:solidFill>
              </a:rPr>
              <a:pPr>
                <a:defRPr/>
              </a:pPr>
              <a:t>133</a:t>
            </a:fld>
            <a:endParaRPr lang="sv-SE" dirty="0">
              <a:solidFill>
                <a:srgbClr val="000000">
                  <a:tint val="75000"/>
                </a:srgbClr>
              </a:solidFill>
            </a:endParaRPr>
          </a:p>
        </p:txBody>
      </p:sp>
      <p:grpSp>
        <p:nvGrpSpPr>
          <p:cNvPr id="3" name="Grupp 2"/>
          <p:cNvGrpSpPr/>
          <p:nvPr/>
        </p:nvGrpSpPr>
        <p:grpSpPr>
          <a:xfrm>
            <a:off x="323528" y="189676"/>
            <a:ext cx="6786754" cy="3725703"/>
            <a:chOff x="1451850" y="1727811"/>
            <a:chExt cx="6316205" cy="3380427"/>
          </a:xfrm>
        </p:grpSpPr>
        <p:grpSp>
          <p:nvGrpSpPr>
            <p:cNvPr id="2" name="Grupp 1"/>
            <p:cNvGrpSpPr/>
            <p:nvPr/>
          </p:nvGrpSpPr>
          <p:grpSpPr>
            <a:xfrm>
              <a:off x="1451850" y="1727811"/>
              <a:ext cx="6316205" cy="3380427"/>
              <a:chOff x="1451850" y="1727811"/>
              <a:chExt cx="6316205" cy="3380427"/>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9682"/>
              <a:stretch/>
            </p:blipFill>
            <p:spPr bwMode="auto">
              <a:xfrm>
                <a:off x="1537979" y="1727811"/>
                <a:ext cx="6230076" cy="3380427"/>
              </a:xfrm>
              <a:prstGeom prst="rect">
                <a:avLst/>
              </a:prstGeom>
              <a:noFill/>
              <a:ln>
                <a:noFill/>
              </a:ln>
              <a:effectLst>
                <a:softEdge rad="63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51850" y="2049812"/>
                <a:ext cx="3445203" cy="273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8" name="Rektangel 7"/>
            <p:cNvSpPr/>
            <p:nvPr/>
          </p:nvSpPr>
          <p:spPr bwMode="auto">
            <a:xfrm>
              <a:off x="2655020" y="2924521"/>
              <a:ext cx="2210426" cy="1881633"/>
            </a:xfrm>
            <a:prstGeom prst="rect">
              <a:avLst/>
            </a:prstGeom>
            <a:noFill/>
            <a:ln w="28575">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51435" tIns="25718" rIns="51435" bIns="25718" numCol="1" rtlCol="0" anchor="t" anchorCtr="0" compatLnSpc="1">
              <a:prstTxWarp prst="textNoShape">
                <a:avLst/>
              </a:prstTxWarp>
            </a:bodyPr>
            <a:lstStyle/>
            <a:p>
              <a:pPr defTabSz="514350" eaLnBrk="0" hangingPunct="0"/>
              <a:endParaRPr lang="sv-SE">
                <a:solidFill>
                  <a:schemeClr val="tx1"/>
                </a:solidFill>
                <a:latin typeface="Arial" panose="020B0604020202020204" pitchFamily="34" charset="0"/>
                <a:ea typeface="ヒラギノ角ゴ Pro W3"/>
                <a:cs typeface="ヒラギノ角ゴ Pro W3"/>
              </a:endParaRPr>
            </a:p>
          </p:txBody>
        </p:sp>
      </p:grpSp>
      <p:sp>
        <p:nvSpPr>
          <p:cNvPr id="5" name="Rektangel 4"/>
          <p:cNvSpPr/>
          <p:nvPr/>
        </p:nvSpPr>
        <p:spPr>
          <a:xfrm>
            <a:off x="539552" y="4371959"/>
            <a:ext cx="6299882" cy="369332"/>
          </a:xfrm>
          <a:prstGeom prst="rect">
            <a:avLst/>
          </a:prstGeom>
        </p:spPr>
        <p:txBody>
          <a:bodyPr wrap="square">
            <a:spAutoFit/>
          </a:bodyPr>
          <a:lstStyle/>
          <a:p>
            <a:r>
              <a:rPr lang="en-US" dirty="0">
                <a:solidFill>
                  <a:schemeClr val="bg1">
                    <a:lumMod val="50000"/>
                  </a:schemeClr>
                </a:solidFill>
              </a:rPr>
              <a:t>Identify subjects, then observe and record characteristics</a:t>
            </a:r>
            <a:endParaRPr lang="sv-SE" dirty="0">
              <a:solidFill>
                <a:schemeClr val="bg1">
                  <a:lumMod val="50000"/>
                </a:schemeClr>
              </a:solidFill>
            </a:endParaRPr>
          </a:p>
        </p:txBody>
      </p:sp>
    </p:spTree>
    <p:extLst>
      <p:ext uri="{BB962C8B-B14F-4D97-AF65-F5344CB8AC3E}">
        <p14:creationId xmlns:p14="http://schemas.microsoft.com/office/powerpoint/2010/main" val="349659370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2427126" y="114477"/>
            <a:ext cx="4629150" cy="316167"/>
          </a:xfrm>
        </p:spPr>
        <p:txBody>
          <a:bodyPr>
            <a:noAutofit/>
          </a:bodyPr>
          <a:lstStyle/>
          <a:p>
            <a:r>
              <a:rPr lang="en-US" sz="2700" dirty="0">
                <a:latin typeface="Calibri" panose="020F0502020204030204" pitchFamily="34" charset="0"/>
              </a:rPr>
              <a:t>Observational studies </a:t>
            </a:r>
          </a:p>
        </p:txBody>
      </p:sp>
      <p:sp>
        <p:nvSpPr>
          <p:cNvPr id="5" name="Content Placeholder 2"/>
          <p:cNvSpPr>
            <a:spLocks noGrp="1"/>
          </p:cNvSpPr>
          <p:nvPr>
            <p:ph idx="1"/>
          </p:nvPr>
        </p:nvSpPr>
        <p:spPr>
          <a:xfrm>
            <a:off x="960629" y="564944"/>
            <a:ext cx="6060690" cy="3140646"/>
          </a:xfrm>
        </p:spPr>
        <p:txBody>
          <a:bodyPr>
            <a:noAutofit/>
          </a:bodyPr>
          <a:lstStyle/>
          <a:p>
            <a:pPr>
              <a:buFontTx/>
              <a:buNone/>
            </a:pPr>
            <a:r>
              <a:rPr lang="en-GB" altLang="sv-SE" dirty="0">
                <a:latin typeface="Verdana" panose="020B0604030504040204" pitchFamily="34" charset="0"/>
                <a:ea typeface="Verdana" panose="020B0604030504040204" pitchFamily="34" charset="0"/>
              </a:rPr>
              <a:t>Advantages: </a:t>
            </a:r>
          </a:p>
          <a:p>
            <a:r>
              <a:rPr lang="en-GB" altLang="sv-SE" sz="1650" dirty="0">
                <a:latin typeface="Verdana" panose="020B0604030504040204" pitchFamily="34" charset="0"/>
                <a:ea typeface="Verdana" panose="020B0604030504040204" pitchFamily="34" charset="0"/>
              </a:rPr>
              <a:t>Ethically safe</a:t>
            </a:r>
          </a:p>
          <a:p>
            <a:r>
              <a:rPr lang="en-GB" altLang="sv-SE" sz="1650" dirty="0">
                <a:latin typeface="Verdana" panose="020B0604030504040204" pitchFamily="34" charset="0"/>
                <a:ea typeface="Verdana" panose="020B0604030504040204" pitchFamily="34" charset="0"/>
              </a:rPr>
              <a:t>Participants can be matched </a:t>
            </a:r>
          </a:p>
          <a:p>
            <a:r>
              <a:rPr lang="en-GB" altLang="sv-SE" sz="1650" dirty="0">
                <a:latin typeface="Verdana" panose="020B0604030504040204" pitchFamily="34" charset="0"/>
                <a:ea typeface="Verdana" panose="020B0604030504040204" pitchFamily="34" charset="0"/>
              </a:rPr>
              <a:t>Can establish timing and directionality of events </a:t>
            </a:r>
          </a:p>
          <a:p>
            <a:pPr>
              <a:buFontTx/>
              <a:buNone/>
            </a:pPr>
            <a:endParaRPr lang="en-GB" altLang="sv-SE" sz="1500" dirty="0">
              <a:latin typeface="Verdana" panose="020B0604030504040204" pitchFamily="34" charset="0"/>
              <a:ea typeface="Verdana" panose="020B0604030504040204" pitchFamily="34" charset="0"/>
            </a:endParaRPr>
          </a:p>
          <a:p>
            <a:pPr>
              <a:buFontTx/>
              <a:buNone/>
            </a:pPr>
            <a:r>
              <a:rPr lang="en-GB" altLang="sv-SE" dirty="0">
                <a:latin typeface="Verdana" panose="020B0604030504040204" pitchFamily="34" charset="0"/>
                <a:ea typeface="Verdana" panose="020B0604030504040204" pitchFamily="34" charset="0"/>
              </a:rPr>
              <a:t>Disadvantages: </a:t>
            </a:r>
          </a:p>
          <a:p>
            <a:r>
              <a:rPr lang="en-GB" altLang="sv-SE" sz="1650" dirty="0">
                <a:latin typeface="Verdana" panose="020B0604030504040204" pitchFamily="34" charset="0"/>
                <a:ea typeface="Verdana" panose="020B0604030504040204" pitchFamily="34" charset="0"/>
              </a:rPr>
              <a:t>Controls may be difficult to identify </a:t>
            </a:r>
          </a:p>
          <a:p>
            <a:r>
              <a:rPr lang="en-GB" altLang="sv-SE" sz="1650" dirty="0">
                <a:latin typeface="Verdana" panose="020B0604030504040204" pitchFamily="34" charset="0"/>
                <a:ea typeface="Verdana" panose="020B0604030504040204" pitchFamily="34" charset="0"/>
              </a:rPr>
              <a:t>Exposure may be linked to a hidden confounder </a:t>
            </a:r>
          </a:p>
          <a:p>
            <a:r>
              <a:rPr lang="en-GB" altLang="sv-SE" sz="1650" dirty="0">
                <a:latin typeface="Verdana" panose="020B0604030504040204" pitchFamily="34" charset="0"/>
                <a:ea typeface="Verdana" panose="020B0604030504040204" pitchFamily="34" charset="0"/>
              </a:rPr>
              <a:t>Blinding is difficult</a:t>
            </a:r>
          </a:p>
          <a:p>
            <a:r>
              <a:rPr lang="en-GB" altLang="sv-SE" sz="1650" dirty="0">
                <a:latin typeface="Verdana" panose="020B0604030504040204" pitchFamily="34" charset="0"/>
                <a:ea typeface="Verdana" panose="020B0604030504040204" pitchFamily="34" charset="0"/>
              </a:rPr>
              <a:t>For rare disease, large sample sizes or long follow-up is necessary </a:t>
            </a:r>
          </a:p>
          <a:p>
            <a:pPr>
              <a:buFontTx/>
              <a:buNone/>
            </a:pPr>
            <a:endParaRPr lang="en-GB" altLang="sv-SE" sz="1500" dirty="0">
              <a:latin typeface="Verdana" panose="020B0604030504040204" pitchFamily="34" charset="0"/>
              <a:ea typeface="Verdana" panose="020B0604030504040204" pitchFamily="34" charset="0"/>
            </a:endParaRPr>
          </a:p>
        </p:txBody>
      </p:sp>
      <p:sp>
        <p:nvSpPr>
          <p:cNvPr id="2" name="Platshållare för bildnummer 1"/>
          <p:cNvSpPr>
            <a:spLocks noGrp="1"/>
          </p:cNvSpPr>
          <p:nvPr>
            <p:ph type="sldNum" sz="quarter" idx="12"/>
          </p:nvPr>
        </p:nvSpPr>
        <p:spPr>
          <a:xfrm>
            <a:off x="6624228" y="4812999"/>
            <a:ext cx="1200150" cy="205383"/>
          </a:xfrm>
          <a:prstGeom prst="rect">
            <a:avLst/>
          </a:prstGeom>
        </p:spPr>
        <p:txBody>
          <a:bodyPr/>
          <a:lstStyle/>
          <a:p>
            <a:pPr>
              <a:defRPr/>
            </a:pPr>
            <a:fld id="{6EA40670-0085-46BE-8A1D-C037329D2922}" type="slidenum">
              <a:rPr lang="sv-SE" smtClean="0"/>
              <a:pPr>
                <a:defRPr/>
              </a:pPr>
              <a:t>134</a:t>
            </a:fld>
            <a:endParaRPr lang="sv-SE" dirty="0"/>
          </a:p>
        </p:txBody>
      </p:sp>
    </p:spTree>
    <p:extLst>
      <p:ext uri="{BB962C8B-B14F-4D97-AF65-F5344CB8AC3E}">
        <p14:creationId xmlns:p14="http://schemas.microsoft.com/office/powerpoint/2010/main" val="111610378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049996" y="162483"/>
            <a:ext cx="5940000" cy="594122"/>
          </a:xfrm>
        </p:spPr>
        <p:txBody>
          <a:bodyPr>
            <a:normAutofit fontScale="90000"/>
          </a:bodyPr>
          <a:lstStyle/>
          <a:p>
            <a:pPr algn="ctr" eaLnBrk="1" hangingPunct="1"/>
            <a:r>
              <a:rPr lang="en-US" altLang="sv-SE" sz="3000" dirty="0"/>
              <a:t>Observational Study – Points to Consider</a:t>
            </a:r>
          </a:p>
        </p:txBody>
      </p:sp>
      <p:sp>
        <p:nvSpPr>
          <p:cNvPr id="19459" name="Rectangle 3"/>
          <p:cNvSpPr>
            <a:spLocks noGrp="1" noChangeArrowheads="1"/>
          </p:cNvSpPr>
          <p:nvPr>
            <p:ph idx="1"/>
          </p:nvPr>
        </p:nvSpPr>
        <p:spPr>
          <a:xfrm>
            <a:off x="899592" y="766772"/>
            <a:ext cx="7200800" cy="4061771"/>
          </a:xfrm>
        </p:spPr>
        <p:txBody>
          <a:bodyPr>
            <a:normAutofit fontScale="92500" lnSpcReduction="10000"/>
          </a:bodyPr>
          <a:lstStyle/>
          <a:p>
            <a:pPr eaLnBrk="1" hangingPunct="1">
              <a:lnSpc>
                <a:spcPct val="90000"/>
              </a:lnSpc>
            </a:pPr>
            <a:r>
              <a:rPr lang="en-US" altLang="sv-SE" sz="2100" dirty="0">
                <a:latin typeface="Verdana" panose="020B0604030504040204" pitchFamily="34" charset="0"/>
                <a:ea typeface="Verdana" panose="020B0604030504040204" pitchFamily="34" charset="0"/>
              </a:rPr>
              <a:t>What is your outcome of interest?</a:t>
            </a:r>
          </a:p>
          <a:p>
            <a:pPr lvl="1" eaLnBrk="1" hangingPunct="1">
              <a:lnSpc>
                <a:spcPct val="160000"/>
              </a:lnSpc>
            </a:pPr>
            <a:r>
              <a:rPr lang="en-US" altLang="sv-SE" sz="1950" dirty="0">
                <a:latin typeface="Verdana" panose="020B0604030504040204" pitchFamily="34" charset="0"/>
                <a:ea typeface="Verdana" panose="020B0604030504040204" pitchFamily="34" charset="0"/>
              </a:rPr>
              <a:t>Common or rare </a:t>
            </a:r>
          </a:p>
          <a:p>
            <a:pPr lvl="1" eaLnBrk="1" hangingPunct="1">
              <a:lnSpc>
                <a:spcPct val="160000"/>
              </a:lnSpc>
            </a:pPr>
            <a:r>
              <a:rPr lang="en-US" altLang="sv-SE" sz="1950" dirty="0">
                <a:latin typeface="Verdana" panose="020B0604030504040204" pitchFamily="34" charset="0"/>
                <a:ea typeface="Verdana" panose="020B0604030504040204" pitchFamily="34" charset="0"/>
              </a:rPr>
              <a:t>Descriptive (incidence, prevalence) or analytic (association)</a:t>
            </a:r>
          </a:p>
          <a:p>
            <a:pPr>
              <a:lnSpc>
                <a:spcPct val="90000"/>
              </a:lnSpc>
              <a:spcBef>
                <a:spcPts val="900"/>
              </a:spcBef>
            </a:pPr>
            <a:r>
              <a:rPr lang="en-US" altLang="sv-SE" sz="2100" dirty="0">
                <a:latin typeface="Verdana" panose="020B0604030504040204" pitchFamily="34" charset="0"/>
                <a:ea typeface="Verdana" panose="020B0604030504040204" pitchFamily="34" charset="0"/>
              </a:rPr>
              <a:t>Time frame</a:t>
            </a:r>
          </a:p>
          <a:p>
            <a:pPr lvl="1" eaLnBrk="1" hangingPunct="1">
              <a:lnSpc>
                <a:spcPct val="150000"/>
              </a:lnSpc>
            </a:pPr>
            <a:r>
              <a:rPr lang="en-US" altLang="sv-SE" sz="1950" b="1" dirty="0">
                <a:latin typeface="Verdana" panose="020B0604030504040204" pitchFamily="34" charset="0"/>
                <a:ea typeface="Verdana" panose="020B0604030504040204" pitchFamily="34" charset="0"/>
              </a:rPr>
              <a:t>Prospective</a:t>
            </a:r>
            <a:r>
              <a:rPr lang="en-US" altLang="sv-SE" sz="1950" dirty="0">
                <a:latin typeface="Verdana" panose="020B0604030504040204" pitchFamily="34" charset="0"/>
                <a:ea typeface="Verdana" panose="020B0604030504040204" pitchFamily="34" charset="0"/>
              </a:rPr>
              <a:t> or </a:t>
            </a:r>
            <a:r>
              <a:rPr lang="en-US" altLang="sv-SE" sz="1950" b="1" dirty="0">
                <a:latin typeface="Verdana" panose="020B0604030504040204" pitchFamily="34" charset="0"/>
                <a:ea typeface="Verdana" panose="020B0604030504040204" pitchFamily="34" charset="0"/>
              </a:rPr>
              <a:t>Retrospective (historical cohort)</a:t>
            </a:r>
            <a:endParaRPr lang="en-US" altLang="sv-SE" sz="1950" dirty="0">
              <a:latin typeface="Verdana" panose="020B0604030504040204" pitchFamily="34" charset="0"/>
              <a:ea typeface="Verdana" panose="020B0604030504040204" pitchFamily="34" charset="0"/>
            </a:endParaRPr>
          </a:p>
          <a:p>
            <a:pPr lvl="1" eaLnBrk="1" hangingPunct="1">
              <a:lnSpc>
                <a:spcPct val="150000"/>
              </a:lnSpc>
            </a:pPr>
            <a:r>
              <a:rPr lang="en-US" altLang="sv-SE" sz="1950" dirty="0">
                <a:latin typeface="Verdana" panose="020B0604030504040204" pitchFamily="34" charset="0"/>
                <a:ea typeface="Verdana" panose="020B0604030504040204" pitchFamily="34" charset="0"/>
              </a:rPr>
              <a:t>Interested in changes over time or a single point in time?</a:t>
            </a:r>
          </a:p>
          <a:p>
            <a:pPr>
              <a:lnSpc>
                <a:spcPct val="90000"/>
              </a:lnSpc>
              <a:spcBef>
                <a:spcPts val="900"/>
              </a:spcBef>
            </a:pPr>
            <a:r>
              <a:rPr lang="en-US" altLang="sv-SE" sz="2100" dirty="0">
                <a:latin typeface="Verdana" panose="020B0604030504040204" pitchFamily="34" charset="0"/>
                <a:ea typeface="Verdana" panose="020B0604030504040204" pitchFamily="34" charset="0"/>
              </a:rPr>
              <a:t>Natural grouping of subjects</a:t>
            </a:r>
          </a:p>
          <a:p>
            <a:pPr lvl="1" eaLnBrk="1" hangingPunct="1">
              <a:lnSpc>
                <a:spcPct val="150000"/>
              </a:lnSpc>
            </a:pPr>
            <a:r>
              <a:rPr lang="en-US" altLang="sv-SE" sz="1950" dirty="0">
                <a:latin typeface="Verdana" panose="020B0604030504040204" pitchFamily="34" charset="0"/>
                <a:ea typeface="Verdana" panose="020B0604030504040204" pitchFamily="34" charset="0"/>
              </a:rPr>
              <a:t>Exposed vs. unexposed</a:t>
            </a:r>
          </a:p>
          <a:p>
            <a:pPr lvl="1" eaLnBrk="1" hangingPunct="1">
              <a:lnSpc>
                <a:spcPct val="150000"/>
              </a:lnSpc>
            </a:pPr>
            <a:r>
              <a:rPr lang="en-US" altLang="sv-SE" sz="1950" dirty="0">
                <a:latin typeface="Verdana" panose="020B0604030504040204" pitchFamily="34" charset="0"/>
                <a:ea typeface="Verdana" panose="020B0604030504040204" pitchFamily="34" charset="0"/>
              </a:rPr>
              <a:t>Diseased vs. non-diseased</a:t>
            </a: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135</a:t>
            </a:fld>
            <a:endParaRPr lang="sv-SE"/>
          </a:p>
        </p:txBody>
      </p:sp>
    </p:spTree>
    <p:extLst>
      <p:ext uri="{BB962C8B-B14F-4D97-AF65-F5344CB8AC3E}">
        <p14:creationId xmlns:p14="http://schemas.microsoft.com/office/powerpoint/2010/main" val="141141844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2411760" y="168777"/>
            <a:ext cx="4185465" cy="709496"/>
          </a:xfrm>
        </p:spPr>
        <p:txBody>
          <a:bodyPr>
            <a:normAutofit/>
          </a:bodyPr>
          <a:lstStyle/>
          <a:p>
            <a:r>
              <a:rPr lang="en-US" altLang="sv-SE" sz="2700" dirty="0"/>
              <a:t>Cross-sectional Studies</a:t>
            </a:r>
          </a:p>
        </p:txBody>
      </p:sp>
      <p:sp>
        <p:nvSpPr>
          <p:cNvPr id="2052" name="Rectangle 3"/>
          <p:cNvSpPr>
            <a:spLocks noGrp="1" noChangeArrowheads="1"/>
          </p:cNvSpPr>
          <p:nvPr>
            <p:ph idx="1"/>
          </p:nvPr>
        </p:nvSpPr>
        <p:spPr>
          <a:xfrm>
            <a:off x="827584" y="699542"/>
            <a:ext cx="6887666" cy="3132348"/>
          </a:xfrm>
        </p:spPr>
        <p:txBody>
          <a:bodyPr>
            <a:noAutofit/>
          </a:bodyPr>
          <a:lstStyle/>
          <a:p>
            <a:pPr marL="0" indent="0">
              <a:spcAft>
                <a:spcPts val="900"/>
              </a:spcAft>
              <a:buNone/>
            </a:pPr>
            <a:r>
              <a:rPr lang="en-US" altLang="sv-SE" sz="1500" dirty="0">
                <a:latin typeface="Verdana" panose="020B0604030504040204" pitchFamily="34" charset="0"/>
                <a:ea typeface="Verdana" panose="020B0604030504040204" pitchFamily="34" charset="0"/>
              </a:rPr>
              <a:t>Cross-sectional data is a snapshot of the population, in which the exposure and the outcome are measured at the same time</a:t>
            </a:r>
          </a:p>
          <a:p>
            <a:pPr>
              <a:spcAft>
                <a:spcPts val="900"/>
              </a:spcAft>
            </a:pPr>
            <a:r>
              <a:rPr lang="en-US" altLang="sv-SE" sz="1500" dirty="0">
                <a:latin typeface="Verdana" panose="020B0604030504040204" pitchFamily="34" charset="0"/>
                <a:ea typeface="Verdana" panose="020B0604030504040204" pitchFamily="34" charset="0"/>
              </a:rPr>
              <a:t>Useful for describing variables and their distribution patterns.</a:t>
            </a:r>
          </a:p>
          <a:p>
            <a:pPr>
              <a:spcAft>
                <a:spcPts val="900"/>
              </a:spcAft>
            </a:pPr>
            <a:r>
              <a:rPr lang="en-US" altLang="sv-SE" sz="1500" dirty="0">
                <a:latin typeface="Verdana" panose="020B0604030504040204" pitchFamily="34" charset="0"/>
                <a:ea typeface="Verdana" panose="020B0604030504040204" pitchFamily="34" charset="0"/>
              </a:rPr>
              <a:t>Measures prevalence, not incidence, of disease</a:t>
            </a:r>
          </a:p>
          <a:p>
            <a:pPr lvl="1">
              <a:spcAft>
                <a:spcPts val="900"/>
              </a:spcAft>
            </a:pPr>
            <a:r>
              <a:rPr lang="en-US" altLang="sv-SE" sz="1500" dirty="0">
                <a:latin typeface="Verdana" panose="020B0604030504040204" pitchFamily="34" charset="0"/>
                <a:ea typeface="Verdana" panose="020B0604030504040204" pitchFamily="34" charset="0"/>
              </a:rPr>
              <a:t>Common measures: Prevalence ratio</a:t>
            </a:r>
          </a:p>
          <a:p>
            <a:pPr>
              <a:spcAft>
                <a:spcPts val="900"/>
              </a:spcAft>
            </a:pPr>
            <a:r>
              <a:rPr lang="en-US" altLang="sv-SE" sz="1500" dirty="0">
                <a:latin typeface="Verdana" panose="020B0604030504040204" pitchFamily="34" charset="0"/>
                <a:ea typeface="Verdana" panose="020B0604030504040204" pitchFamily="34" charset="0"/>
              </a:rPr>
              <a:t>Often used to study conditions that are relatively frequent with long duration of expression (e.g. nonfatal, chronic conditions)</a:t>
            </a:r>
          </a:p>
          <a:p>
            <a:pPr>
              <a:spcAft>
                <a:spcPts val="900"/>
              </a:spcAft>
            </a:pPr>
            <a:r>
              <a:rPr lang="en-US" altLang="sv-SE" sz="1500" dirty="0">
                <a:latin typeface="Verdana" panose="020B0604030504040204" pitchFamily="34" charset="0"/>
                <a:ea typeface="Verdana" panose="020B0604030504040204" pitchFamily="34" charset="0"/>
              </a:rPr>
              <a:t>Not suitable for studying rare, highly fatal diseases or diseases with short duration of expression</a:t>
            </a:r>
          </a:p>
          <a:p>
            <a:pPr>
              <a:spcAft>
                <a:spcPts val="900"/>
              </a:spcAft>
            </a:pPr>
            <a:r>
              <a:rPr lang="en-US" altLang="sv-SE" sz="1500" dirty="0">
                <a:latin typeface="Verdana" panose="020B0604030504040204" pitchFamily="34" charset="0"/>
                <a:ea typeface="Verdana" panose="020B0604030504040204" pitchFamily="34" charset="0"/>
              </a:rPr>
              <a:t>Not suitable for drawing causal conclusions</a:t>
            </a:r>
          </a:p>
          <a:p>
            <a:pPr marL="0" indent="0">
              <a:buNone/>
            </a:pPr>
            <a:endParaRPr lang="en-US" altLang="sv-SE" sz="1500" dirty="0">
              <a:latin typeface="Verdana" panose="020B0604030504040204" pitchFamily="34" charset="0"/>
              <a:ea typeface="Verdana" panose="020B0604030504040204" pitchFamily="34" charset="0"/>
            </a:endParaRPr>
          </a:p>
        </p:txBody>
      </p:sp>
      <p:sp>
        <p:nvSpPr>
          <p:cNvPr id="2" name="Platshållare för bildnummer 1"/>
          <p:cNvSpPr>
            <a:spLocks noGrp="1"/>
          </p:cNvSpPr>
          <p:nvPr>
            <p:ph type="sldNum" sz="quarter" idx="12"/>
          </p:nvPr>
        </p:nvSpPr>
        <p:spPr/>
        <p:txBody>
          <a:bodyPr/>
          <a:lstStyle/>
          <a:p>
            <a:fld id="{49D34020-361E-4A13-8C95-66E98A929282}" type="slidenum">
              <a:rPr lang="sv-SE" smtClean="0"/>
              <a:pPr/>
              <a:t>136</a:t>
            </a:fld>
            <a:endParaRPr lang="sv-SE"/>
          </a:p>
        </p:txBody>
      </p:sp>
    </p:spTree>
    <p:extLst>
      <p:ext uri="{BB962C8B-B14F-4D97-AF65-F5344CB8AC3E}">
        <p14:creationId xmlns:p14="http://schemas.microsoft.com/office/powerpoint/2010/main" val="80880085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5"/>
          <p:cNvSpPr txBox="1">
            <a:spLocks/>
          </p:cNvSpPr>
          <p:nvPr/>
        </p:nvSpPr>
        <p:spPr bwMode="auto">
          <a:xfrm>
            <a:off x="1677967" y="3848278"/>
            <a:ext cx="5798595" cy="8438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lvl1pPr marL="0" indent="0" algn="ctr" rtl="0" fontAlgn="base">
              <a:spcBef>
                <a:spcPct val="50000"/>
              </a:spcBef>
              <a:spcAft>
                <a:spcPct val="0"/>
              </a:spcAft>
              <a:buNone/>
              <a:defRPr sz="2400" kern="1200">
                <a:solidFill>
                  <a:schemeClr val="tx1"/>
                </a:solidFill>
                <a:latin typeface="+mn-lt"/>
                <a:ea typeface="+mn-ea"/>
                <a:cs typeface="+mn-cs"/>
              </a:defRPr>
            </a:lvl1pPr>
            <a:lvl2pPr marL="457200" indent="0" algn="ctr" rtl="0" fontAlgn="base">
              <a:spcBef>
                <a:spcPct val="50000"/>
              </a:spcBef>
              <a:spcAft>
                <a:spcPct val="0"/>
              </a:spcAft>
              <a:buNone/>
              <a:defRPr sz="2000" kern="1200">
                <a:solidFill>
                  <a:schemeClr val="tx1"/>
                </a:solidFill>
                <a:latin typeface="+mn-lt"/>
                <a:ea typeface="+mn-ea"/>
                <a:cs typeface="+mn-cs"/>
              </a:defRPr>
            </a:lvl2pPr>
            <a:lvl3pPr marL="914400" indent="0" algn="ctr" rtl="0" fontAlgn="base">
              <a:spcBef>
                <a:spcPct val="50000"/>
              </a:spcBef>
              <a:spcAft>
                <a:spcPct val="0"/>
              </a:spcAft>
              <a:buNone/>
              <a:defRPr sz="1800" kern="1200">
                <a:solidFill>
                  <a:schemeClr val="tx1"/>
                </a:solidFill>
                <a:latin typeface="+mn-lt"/>
                <a:ea typeface="+mn-ea"/>
                <a:cs typeface="+mn-cs"/>
              </a:defRPr>
            </a:lvl3pPr>
            <a:lvl4pPr marL="1371600" indent="0" algn="ctr" rtl="0" fontAlgn="base">
              <a:spcBef>
                <a:spcPct val="50000"/>
              </a:spcBef>
              <a:spcAft>
                <a:spcPct val="0"/>
              </a:spcAft>
              <a:buNone/>
              <a:defRPr sz="1600" kern="1200">
                <a:solidFill>
                  <a:schemeClr val="tx1"/>
                </a:solidFill>
                <a:latin typeface="+mn-lt"/>
                <a:ea typeface="+mn-ea"/>
                <a:cs typeface="+mn-cs"/>
              </a:defRPr>
            </a:lvl4pPr>
            <a:lvl5pPr marL="1828800" indent="0" algn="ctr" rtl="0" fontAlgn="base">
              <a:spcBef>
                <a:spcPct val="50000"/>
              </a:spcBef>
              <a:spcAft>
                <a:spcPct val="0"/>
              </a:spcAft>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100" b="1" dirty="0">
                <a:solidFill>
                  <a:schemeClr val="tx1">
                    <a:lumMod val="85000"/>
                    <a:lumOff val="15000"/>
                  </a:schemeClr>
                </a:solidFill>
                <a:latin typeface="Calibri" panose="020F0502020204030204" pitchFamily="34" charset="0"/>
              </a:rPr>
              <a:t>Longitudinal studies </a:t>
            </a:r>
          </a:p>
          <a:p>
            <a:pPr>
              <a:spcBef>
                <a:spcPts val="338"/>
              </a:spcBef>
            </a:pPr>
            <a:r>
              <a:rPr lang="en-US" sz="2100" b="1" dirty="0">
                <a:solidFill>
                  <a:schemeClr val="bg1">
                    <a:lumMod val="50000"/>
                  </a:schemeClr>
                </a:solidFill>
                <a:latin typeface="Calibri" panose="020F0502020204030204" pitchFamily="34" charset="0"/>
              </a:rPr>
              <a:t>	– Cohort studies &amp; Case-control studies</a:t>
            </a:r>
          </a:p>
        </p:txBody>
      </p:sp>
      <p:grpSp>
        <p:nvGrpSpPr>
          <p:cNvPr id="4" name="Grupp 3"/>
          <p:cNvGrpSpPr/>
          <p:nvPr/>
        </p:nvGrpSpPr>
        <p:grpSpPr>
          <a:xfrm>
            <a:off x="2215689" y="924567"/>
            <a:ext cx="5265586" cy="2666741"/>
            <a:chOff x="1385646" y="1549558"/>
            <a:chExt cx="6318703" cy="3130840"/>
          </a:xfrm>
        </p:grpSpPr>
        <p:grpSp>
          <p:nvGrpSpPr>
            <p:cNvPr id="3" name="Grupp 2"/>
            <p:cNvGrpSpPr/>
            <p:nvPr/>
          </p:nvGrpSpPr>
          <p:grpSpPr>
            <a:xfrm>
              <a:off x="1385646" y="1549558"/>
              <a:ext cx="6277839" cy="3130840"/>
              <a:chOff x="1385646" y="1549558"/>
              <a:chExt cx="6277839" cy="3130840"/>
            </a:xfrm>
          </p:grpSpPr>
          <p:pic>
            <p:nvPicPr>
              <p:cNvPr id="6" name="Picture 2"/>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32583" t="32897"/>
              <a:stretch/>
            </p:blipFill>
            <p:spPr bwMode="auto">
              <a:xfrm>
                <a:off x="4549394" y="2134559"/>
                <a:ext cx="3114091" cy="2372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descr="C:\Users\SaraG\AppData\Local\Microsoft\Windows\Temporary Internet Files\Content.IE5\1SVIO5V2\people-309097_640[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646" y="2807932"/>
                <a:ext cx="3036876" cy="1872466"/>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C:\Users\SaraG\AppData\Local\Microsoft\Windows\Temporary Internet Files\Content.IE5\NZH94TD7\time-151055_64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76745" y="1549558"/>
                <a:ext cx="1170003" cy="1170003"/>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Frihandsfigur 1"/>
            <p:cNvSpPr/>
            <p:nvPr/>
          </p:nvSpPr>
          <p:spPr>
            <a:xfrm>
              <a:off x="5342868" y="3104965"/>
              <a:ext cx="2361481" cy="1402076"/>
            </a:xfrm>
            <a:custGeom>
              <a:avLst/>
              <a:gdLst>
                <a:gd name="connsiteX0" fmla="*/ 0 w 3148641"/>
                <a:gd name="connsiteY0" fmla="*/ 1777042 h 1777042"/>
                <a:gd name="connsiteX1" fmla="*/ 8626 w 3148641"/>
                <a:gd name="connsiteY1" fmla="*/ 871268 h 1777042"/>
                <a:gd name="connsiteX2" fmla="*/ 888521 w 3148641"/>
                <a:gd name="connsiteY2" fmla="*/ 871268 h 1777042"/>
                <a:gd name="connsiteX3" fmla="*/ 905774 w 3148641"/>
                <a:gd name="connsiteY3" fmla="*/ 0 h 1777042"/>
                <a:gd name="connsiteX4" fmla="*/ 2329132 w 3148641"/>
                <a:gd name="connsiteY4" fmla="*/ 0 h 1777042"/>
                <a:gd name="connsiteX5" fmla="*/ 2329132 w 3148641"/>
                <a:gd name="connsiteY5" fmla="*/ 871268 h 1777042"/>
                <a:gd name="connsiteX6" fmla="*/ 3148641 w 3148641"/>
                <a:gd name="connsiteY6" fmla="*/ 871268 h 1777042"/>
                <a:gd name="connsiteX7" fmla="*/ 3131389 w 3148641"/>
                <a:gd name="connsiteY7" fmla="*/ 1777042 h 1777042"/>
                <a:gd name="connsiteX8" fmla="*/ 0 w 3148641"/>
                <a:gd name="connsiteY8" fmla="*/ 1777042 h 177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8641" h="1777042">
                  <a:moveTo>
                    <a:pt x="0" y="1777042"/>
                  </a:moveTo>
                  <a:cubicBezTo>
                    <a:pt x="2875" y="1475117"/>
                    <a:pt x="5751" y="1173193"/>
                    <a:pt x="8626" y="871268"/>
                  </a:cubicBezTo>
                  <a:lnTo>
                    <a:pt x="888521" y="871268"/>
                  </a:lnTo>
                  <a:lnTo>
                    <a:pt x="905774" y="0"/>
                  </a:lnTo>
                  <a:lnTo>
                    <a:pt x="2329132" y="0"/>
                  </a:lnTo>
                  <a:lnTo>
                    <a:pt x="2329132" y="871268"/>
                  </a:lnTo>
                  <a:lnTo>
                    <a:pt x="3148641" y="871268"/>
                  </a:lnTo>
                  <a:lnTo>
                    <a:pt x="3131389" y="1777042"/>
                  </a:lnTo>
                  <a:lnTo>
                    <a:pt x="0" y="1777042"/>
                  </a:ln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sp>
        <p:nvSpPr>
          <p:cNvPr id="7" name="Slide Number Placeholder 6">
            <a:extLst>
              <a:ext uri="{FF2B5EF4-FFF2-40B4-BE49-F238E27FC236}">
                <a16:creationId xmlns:a16="http://schemas.microsoft.com/office/drawing/2014/main" id="{BD8CF19E-60F0-4143-8D95-4DAA065C1666}"/>
              </a:ext>
            </a:extLst>
          </p:cNvPr>
          <p:cNvSpPr>
            <a:spLocks noGrp="1"/>
          </p:cNvSpPr>
          <p:nvPr>
            <p:ph type="sldNum" sz="quarter" idx="12"/>
          </p:nvPr>
        </p:nvSpPr>
        <p:spPr/>
        <p:txBody>
          <a:bodyPr/>
          <a:lstStyle/>
          <a:p>
            <a:fld id="{227F0B53-9592-4779-891F-997228E46E01}" type="slidenum">
              <a:rPr lang="sv-SE" smtClean="0"/>
              <a:t>137</a:t>
            </a:fld>
            <a:endParaRPr lang="sv-SE"/>
          </a:p>
        </p:txBody>
      </p:sp>
    </p:spTree>
    <p:extLst>
      <p:ext uri="{BB962C8B-B14F-4D97-AF65-F5344CB8AC3E}">
        <p14:creationId xmlns:p14="http://schemas.microsoft.com/office/powerpoint/2010/main" val="76833018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1691680" y="339502"/>
            <a:ext cx="6264696" cy="596074"/>
          </a:xfrm>
        </p:spPr>
        <p:txBody>
          <a:bodyPr>
            <a:noAutofit/>
          </a:bodyPr>
          <a:lstStyle/>
          <a:p>
            <a:r>
              <a:rPr lang="en-US" sz="3600" dirty="0">
                <a:latin typeface="Calibri" panose="020F0502020204030204" pitchFamily="34" charset="0"/>
              </a:rPr>
              <a:t>Cohort studies </a:t>
            </a:r>
          </a:p>
        </p:txBody>
      </p:sp>
      <p:sp>
        <p:nvSpPr>
          <p:cNvPr id="2" name="Platshållare för bildnummer 1"/>
          <p:cNvSpPr>
            <a:spLocks noGrp="1"/>
          </p:cNvSpPr>
          <p:nvPr>
            <p:ph type="sldNum" sz="quarter" idx="12"/>
          </p:nvPr>
        </p:nvSpPr>
        <p:spPr>
          <a:xfrm>
            <a:off x="6624228" y="4812999"/>
            <a:ext cx="1200150" cy="205383"/>
          </a:xfrm>
          <a:prstGeom prst="rect">
            <a:avLst/>
          </a:prstGeom>
        </p:spPr>
        <p:txBody>
          <a:bodyPr/>
          <a:lstStyle/>
          <a:p>
            <a:pPr>
              <a:defRPr/>
            </a:pPr>
            <a:fld id="{6EA40670-0085-46BE-8A1D-C037329D2922}" type="slidenum">
              <a:rPr lang="sv-SE" smtClean="0"/>
              <a:pPr>
                <a:defRPr/>
              </a:pPr>
              <a:t>138</a:t>
            </a:fld>
            <a:endParaRPr lang="sv-SE" dirty="0"/>
          </a:p>
        </p:txBody>
      </p:sp>
      <p:sp>
        <p:nvSpPr>
          <p:cNvPr id="7" name="TextBox 6"/>
          <p:cNvSpPr txBox="1"/>
          <p:nvPr/>
        </p:nvSpPr>
        <p:spPr>
          <a:xfrm>
            <a:off x="1187624" y="1059582"/>
            <a:ext cx="6840760" cy="3296287"/>
          </a:xfrm>
          <a:prstGeom prst="rect">
            <a:avLst/>
          </a:prstGeom>
          <a:noFill/>
        </p:spPr>
        <p:txBody>
          <a:bodyPr wrap="square" rtlCol="0">
            <a:spAutoFit/>
          </a:bodyPr>
          <a:lstStyle/>
          <a:p>
            <a:pPr marL="160735" indent="-160735">
              <a:lnSpc>
                <a:spcPct val="120000"/>
              </a:lnSpc>
              <a:spcAft>
                <a:spcPts val="900"/>
              </a:spcAft>
              <a:buFont typeface="Arial" panose="020B0604020202020204" pitchFamily="34" charset="0"/>
              <a:buChar char="•"/>
            </a:pPr>
            <a:r>
              <a:rPr lang="en-US" sz="1650" b="1" dirty="0">
                <a:latin typeface="Verdana" panose="020B0604030504040204" pitchFamily="34" charset="0"/>
                <a:ea typeface="Verdana" panose="020B0604030504040204" pitchFamily="34" charset="0"/>
              </a:rPr>
              <a:t>Prospective Cohort </a:t>
            </a:r>
            <a:r>
              <a:rPr lang="en-US" sz="1650" dirty="0">
                <a:latin typeface="Verdana" panose="020B0604030504040204" pitchFamily="34" charset="0"/>
                <a:ea typeface="Verdana" panose="020B0604030504040204" pitchFamily="34" charset="0"/>
              </a:rPr>
              <a:t>studies start with a group (cohort) of healthy subjects and compares those exposed with those unexposed =&gt; are those exposed more likely to get sick? </a:t>
            </a:r>
          </a:p>
          <a:p>
            <a:pPr marL="160735" indent="-160735">
              <a:lnSpc>
                <a:spcPct val="120000"/>
              </a:lnSpc>
              <a:spcAft>
                <a:spcPts val="900"/>
              </a:spcAft>
              <a:buFont typeface="Arial" panose="020B0604020202020204" pitchFamily="34" charset="0"/>
              <a:buChar char="•"/>
            </a:pPr>
            <a:r>
              <a:rPr lang="en-US" sz="1650" dirty="0">
                <a:latin typeface="Verdana" panose="020B0604030504040204" pitchFamily="34" charset="0"/>
                <a:ea typeface="Verdana" panose="020B0604030504040204" pitchFamily="34" charset="0"/>
              </a:rPr>
              <a:t>Can be either </a:t>
            </a:r>
            <a:r>
              <a:rPr lang="en-US" sz="1650" b="1" dirty="0">
                <a:latin typeface="Verdana" panose="020B0604030504040204" pitchFamily="34" charset="0"/>
                <a:ea typeface="Verdana" panose="020B0604030504040204" pitchFamily="34" charset="0"/>
              </a:rPr>
              <a:t>data to be collected</a:t>
            </a:r>
            <a:r>
              <a:rPr lang="en-US" sz="1650" dirty="0">
                <a:latin typeface="Verdana" panose="020B0604030504040204" pitchFamily="34" charset="0"/>
                <a:ea typeface="Verdana" panose="020B0604030504040204" pitchFamily="34" charset="0"/>
              </a:rPr>
              <a:t> or from </a:t>
            </a:r>
            <a:r>
              <a:rPr lang="en-US" sz="1650" b="1" dirty="0">
                <a:latin typeface="Verdana" panose="020B0604030504040204" pitchFamily="34" charset="0"/>
                <a:ea typeface="Verdana" panose="020B0604030504040204" pitchFamily="34" charset="0"/>
              </a:rPr>
              <a:t>historical data </a:t>
            </a:r>
            <a:r>
              <a:rPr lang="en-US" sz="1650" dirty="0">
                <a:latin typeface="Verdana" panose="020B0604030504040204" pitchFamily="34" charset="0"/>
                <a:ea typeface="Verdana" panose="020B0604030504040204" pitchFamily="34" charset="0"/>
              </a:rPr>
              <a:t> (registers etc.).</a:t>
            </a:r>
          </a:p>
          <a:p>
            <a:pPr marL="160735" indent="-160735">
              <a:lnSpc>
                <a:spcPct val="120000"/>
              </a:lnSpc>
              <a:spcAft>
                <a:spcPts val="900"/>
              </a:spcAft>
              <a:buFont typeface="Arial" panose="020B0604020202020204" pitchFamily="34" charset="0"/>
              <a:buChar char="•"/>
            </a:pPr>
            <a:r>
              <a:rPr lang="en-US" sz="1650" dirty="0">
                <a:latin typeface="Verdana" panose="020B0604030504040204" pitchFamily="34" charset="0"/>
                <a:ea typeface="Verdana" panose="020B0604030504040204" pitchFamily="34" charset="0"/>
              </a:rPr>
              <a:t>No randomization of exposure / treatment.</a:t>
            </a:r>
          </a:p>
          <a:p>
            <a:pPr marL="160735" lvl="1" indent="-160735">
              <a:lnSpc>
                <a:spcPct val="120000"/>
              </a:lnSpc>
              <a:spcAft>
                <a:spcPts val="900"/>
              </a:spcAft>
              <a:buFont typeface="Arial" panose="020B0604020202020204" pitchFamily="34" charset="0"/>
              <a:buChar char="•"/>
            </a:pPr>
            <a:r>
              <a:rPr lang="en-US" sz="1650" dirty="0">
                <a:latin typeface="Verdana" panose="020B0604030504040204" pitchFamily="34" charset="0"/>
                <a:ea typeface="Verdana" panose="020B0604030504040204" pitchFamily="34" charset="0"/>
              </a:rPr>
              <a:t>Can be confounded (by indication) since exposure not randomized.</a:t>
            </a:r>
          </a:p>
          <a:p>
            <a:pPr marL="160735" indent="-160735">
              <a:lnSpc>
                <a:spcPct val="120000"/>
              </a:lnSpc>
              <a:spcAft>
                <a:spcPts val="900"/>
              </a:spcAft>
              <a:buFont typeface="Arial" panose="020B0604020202020204" pitchFamily="34" charset="0"/>
              <a:buChar char="•"/>
            </a:pPr>
            <a:r>
              <a:rPr lang="en-US" sz="1650" b="1" dirty="0">
                <a:latin typeface="Verdana" panose="020B0604030504040204" pitchFamily="34" charset="0"/>
                <a:ea typeface="Verdana" panose="020B0604030504040204" pitchFamily="34" charset="0"/>
              </a:rPr>
              <a:t>Time</a:t>
            </a:r>
            <a:r>
              <a:rPr lang="en-US" sz="1650" dirty="0">
                <a:latin typeface="Verdana" panose="020B0604030504040204" pitchFamily="34" charset="0"/>
                <a:ea typeface="Verdana" panose="020B0604030504040204" pitchFamily="34" charset="0"/>
              </a:rPr>
              <a:t>: 1 month-incidence, 10 year-incidence, 5-year survival</a:t>
            </a:r>
          </a:p>
        </p:txBody>
      </p:sp>
    </p:spTree>
    <p:extLst>
      <p:ext uri="{BB962C8B-B14F-4D97-AF65-F5344CB8AC3E}">
        <p14:creationId xmlns:p14="http://schemas.microsoft.com/office/powerpoint/2010/main" val="3363476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nummer 1"/>
          <p:cNvSpPr>
            <a:spLocks noGrp="1"/>
          </p:cNvSpPr>
          <p:nvPr>
            <p:ph type="sldNum" sz="quarter" idx="12"/>
          </p:nvPr>
        </p:nvSpPr>
        <p:spPr/>
        <p:txBody>
          <a:bodyPr/>
          <a:lstStyle/>
          <a:p>
            <a:pPr>
              <a:defRPr/>
            </a:pPr>
            <a:fld id="{6EA40670-0085-46BE-8A1D-C037329D2922}" type="slidenum">
              <a:rPr lang="sv-SE" smtClean="0"/>
              <a:pPr>
                <a:defRPr/>
              </a:pPr>
              <a:t>139</a:t>
            </a:fld>
            <a:endParaRPr lang="sv-SE"/>
          </a:p>
        </p:txBody>
      </p:sp>
      <p:sp>
        <p:nvSpPr>
          <p:cNvPr id="7" name="TextBox 6"/>
          <p:cNvSpPr txBox="1"/>
          <p:nvPr/>
        </p:nvSpPr>
        <p:spPr>
          <a:xfrm>
            <a:off x="971600" y="711066"/>
            <a:ext cx="7344816" cy="3773854"/>
          </a:xfrm>
          <a:prstGeom prst="rect">
            <a:avLst/>
          </a:prstGeom>
          <a:noFill/>
        </p:spPr>
        <p:txBody>
          <a:bodyPr wrap="square" rtlCol="0">
            <a:spAutoFit/>
          </a:bodyPr>
          <a:lstStyle/>
          <a:p>
            <a:pPr>
              <a:lnSpc>
                <a:spcPct val="130000"/>
              </a:lnSpc>
              <a:spcAft>
                <a:spcPts val="450"/>
              </a:spcAft>
            </a:pPr>
            <a:r>
              <a:rPr lang="en-GB" altLang="sv-SE" dirty="0">
                <a:latin typeface="Verdana" panose="020B0604030504040204" pitchFamily="34" charset="0"/>
                <a:ea typeface="Verdana" panose="020B0604030504040204" pitchFamily="34" charset="0"/>
              </a:rPr>
              <a:t>“Best for studying effects of risk factors on an outcome”</a:t>
            </a:r>
            <a:endParaRPr lang="en-US" dirty="0">
              <a:latin typeface="Verdana" panose="020B0604030504040204" pitchFamily="34" charset="0"/>
              <a:ea typeface="Verdana" panose="020B0604030504040204" pitchFamily="34" charset="0"/>
            </a:endParaRPr>
          </a:p>
          <a:p>
            <a:pPr>
              <a:lnSpc>
                <a:spcPct val="130000"/>
              </a:lnSpc>
              <a:spcAft>
                <a:spcPts val="450"/>
              </a:spcAft>
            </a:pPr>
            <a:r>
              <a:rPr lang="en-US" dirty="0">
                <a:latin typeface="Verdana" panose="020B0604030504040204" pitchFamily="34" charset="0"/>
                <a:ea typeface="Verdana" panose="020B0604030504040204" pitchFamily="34" charset="0"/>
              </a:rPr>
              <a:t>The result of cohort studies:</a:t>
            </a:r>
          </a:p>
          <a:p>
            <a:pPr marL="557213" lvl="1" indent="-214313">
              <a:lnSpc>
                <a:spcPct val="130000"/>
              </a:lnSpc>
              <a:spcAft>
                <a:spcPts val="450"/>
              </a:spcAft>
              <a:buFont typeface="Arial" panose="020B0604020202020204" pitchFamily="34" charset="0"/>
              <a:buChar char="•"/>
            </a:pPr>
            <a:r>
              <a:rPr lang="en-US" sz="2100" b="1" dirty="0">
                <a:solidFill>
                  <a:srgbClr val="002060"/>
                </a:solidFill>
                <a:latin typeface="Verdana" panose="020B0604030504040204" pitchFamily="34" charset="0"/>
                <a:ea typeface="Verdana" panose="020B0604030504040204" pitchFamily="34" charset="0"/>
              </a:rPr>
              <a:t>Incidence/ relative risk of incidence</a:t>
            </a:r>
          </a:p>
          <a:p>
            <a:pPr lvl="1">
              <a:lnSpc>
                <a:spcPct val="130000"/>
              </a:lnSpc>
              <a:spcAft>
                <a:spcPts val="450"/>
              </a:spcAft>
            </a:pPr>
            <a:r>
              <a:rPr lang="en-US" dirty="0">
                <a:latin typeface="Verdana" panose="020B0604030504040204" pitchFamily="34" charset="0"/>
                <a:ea typeface="Verdana" panose="020B0604030504040204" pitchFamily="34" charset="0"/>
              </a:rPr>
              <a:t>“Smokers are 3 times more likely to develop cardiovascular disease compared to non-smokers.” </a:t>
            </a:r>
          </a:p>
          <a:p>
            <a:pPr marL="557213" lvl="1" indent="-214313">
              <a:lnSpc>
                <a:spcPct val="130000"/>
              </a:lnSpc>
              <a:spcAft>
                <a:spcPts val="450"/>
              </a:spcAft>
              <a:buFont typeface="Arial" panose="020B0604020202020204" pitchFamily="34" charset="0"/>
              <a:buChar char="•"/>
            </a:pPr>
            <a:r>
              <a:rPr lang="en-US" sz="2100" b="1" dirty="0">
                <a:solidFill>
                  <a:srgbClr val="002060"/>
                </a:solidFill>
                <a:latin typeface="Verdana" panose="020B0604030504040204" pitchFamily="34" charset="0"/>
                <a:ea typeface="Verdana" panose="020B0604030504040204" pitchFamily="34" charset="0"/>
              </a:rPr>
              <a:t>Survival</a:t>
            </a:r>
          </a:p>
          <a:p>
            <a:pPr lvl="1">
              <a:lnSpc>
                <a:spcPct val="130000"/>
              </a:lnSpc>
              <a:spcAft>
                <a:spcPts val="450"/>
              </a:spcAft>
            </a:pPr>
            <a:r>
              <a:rPr lang="en-US" dirty="0">
                <a:latin typeface="Verdana" panose="020B0604030504040204" pitchFamily="34" charset="0"/>
                <a:ea typeface="Verdana" panose="020B0604030504040204" pitchFamily="34" charset="0"/>
              </a:rPr>
              <a:t>“Patients who got </a:t>
            </a:r>
            <a:r>
              <a:rPr lang="en-US" i="1" dirty="0">
                <a:latin typeface="Verdana" panose="020B0604030504040204" pitchFamily="34" charset="0"/>
                <a:ea typeface="Verdana" panose="020B0604030504040204" pitchFamily="34" charset="0"/>
              </a:rPr>
              <a:t>therapy X</a:t>
            </a:r>
            <a:r>
              <a:rPr lang="en-US" dirty="0">
                <a:latin typeface="Verdana" panose="020B0604030504040204" pitchFamily="34" charset="0"/>
                <a:ea typeface="Verdana" panose="020B0604030504040204" pitchFamily="34" charset="0"/>
              </a:rPr>
              <a:t> were had double chance of survival at 5-years after treatment began, compared to those patients that got </a:t>
            </a:r>
            <a:r>
              <a:rPr lang="en-US" i="1" dirty="0">
                <a:latin typeface="Verdana" panose="020B0604030504040204" pitchFamily="34" charset="0"/>
                <a:ea typeface="Verdana" panose="020B0604030504040204" pitchFamily="34" charset="0"/>
              </a:rPr>
              <a:t>therapy Y</a:t>
            </a:r>
            <a:r>
              <a:rPr lang="en-US" dirty="0">
                <a:latin typeface="Verdana" panose="020B0604030504040204" pitchFamily="34" charset="0"/>
                <a:ea typeface="Verdana" panose="020B0604030504040204" pitchFamily="34" charset="0"/>
              </a:rPr>
              <a:t>.” </a:t>
            </a:r>
          </a:p>
        </p:txBody>
      </p:sp>
      <p:sp>
        <p:nvSpPr>
          <p:cNvPr id="8" name="Rubrik 1"/>
          <p:cNvSpPr txBox="1">
            <a:spLocks/>
          </p:cNvSpPr>
          <p:nvPr/>
        </p:nvSpPr>
        <p:spPr bwMode="auto">
          <a:xfrm>
            <a:off x="1691680" y="181418"/>
            <a:ext cx="4629150" cy="31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Autofit/>
          </a:bodyPr>
          <a:lstStyle>
            <a:lvl1pPr algn="l" defTabSz="457200" rtl="0" eaLnBrk="1" fontAlgn="base" hangingPunct="1">
              <a:lnSpc>
                <a:spcPct val="90000"/>
              </a:lnSpc>
              <a:spcBef>
                <a:spcPct val="0"/>
              </a:spcBef>
              <a:spcAft>
                <a:spcPct val="0"/>
              </a:spcAft>
              <a:defRPr sz="4400" b="1" i="0" kern="1200">
                <a:solidFill>
                  <a:schemeClr val="tx1">
                    <a:lumMod val="85000"/>
                    <a:lumOff val="15000"/>
                  </a:schemeClr>
                </a:solidFill>
                <a:latin typeface="+mj-lt"/>
                <a:ea typeface="ＭＳ Ｐゴシック" pitchFamily="-65" charset="-128"/>
                <a:cs typeface="ＭＳ Ｐゴシック" charset="0"/>
              </a:defRPr>
            </a:lvl1pPr>
            <a:lvl2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1" fontAlgn="base" hangingPunct="1">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eaLnBrk="1" fontAlgn="base" hangingPunct="1">
              <a:spcBef>
                <a:spcPct val="0"/>
              </a:spcBef>
              <a:spcAft>
                <a:spcPct val="0"/>
              </a:spcAft>
              <a:defRPr sz="2000">
                <a:solidFill>
                  <a:srgbClr val="464646"/>
                </a:solidFill>
                <a:latin typeface="Arial Bold" pitchFamily="-65" charset="0"/>
                <a:ea typeface="ＭＳ Ｐゴシック" pitchFamily="-65" charset="-128"/>
              </a:defRPr>
            </a:lvl9pPr>
          </a:lstStyle>
          <a:p>
            <a:r>
              <a:rPr lang="en-US" sz="3600" dirty="0">
                <a:latin typeface="Calibri" panose="020F0502020204030204" pitchFamily="34" charset="0"/>
              </a:rPr>
              <a:t>Cohort studies </a:t>
            </a:r>
          </a:p>
        </p:txBody>
      </p:sp>
    </p:spTree>
    <p:extLst>
      <p:ext uri="{BB962C8B-B14F-4D97-AF65-F5344CB8AC3E}">
        <p14:creationId xmlns:p14="http://schemas.microsoft.com/office/powerpoint/2010/main" val="200514196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1001150" y="210529"/>
            <a:ext cx="5083018" cy="450717"/>
          </a:xfrm>
        </p:spPr>
        <p:txBody>
          <a:bodyPr>
            <a:noAutofit/>
          </a:bodyPr>
          <a:lstStyle/>
          <a:p>
            <a:r>
              <a:rPr lang="en-US" sz="3200" dirty="0"/>
              <a:t>Cohort studies </a:t>
            </a:r>
          </a:p>
        </p:txBody>
      </p:sp>
      <p:sp>
        <p:nvSpPr>
          <p:cNvPr id="2" name="Platshållare för bildnummer 1"/>
          <p:cNvSpPr>
            <a:spLocks noGrp="1"/>
          </p:cNvSpPr>
          <p:nvPr>
            <p:ph type="sldNum" sz="quarter" idx="12"/>
          </p:nvPr>
        </p:nvSpPr>
        <p:spPr>
          <a:xfrm>
            <a:off x="5686425" y="4218386"/>
            <a:ext cx="1200150" cy="205383"/>
          </a:xfrm>
          <a:prstGeom prst="rect">
            <a:avLst/>
          </a:prstGeom>
        </p:spPr>
        <p:txBody>
          <a:bodyPr/>
          <a:lstStyle/>
          <a:p>
            <a:pPr>
              <a:defRPr/>
            </a:pPr>
            <a:fld id="{6EA40670-0085-46BE-8A1D-C037329D2922}" type="slidenum">
              <a:rPr lang="sv-SE" smtClean="0"/>
              <a:pPr>
                <a:defRPr/>
              </a:pPr>
              <a:t>140</a:t>
            </a:fld>
            <a:endParaRPr lang="sv-SE"/>
          </a:p>
        </p:txBody>
      </p:sp>
      <p:sp>
        <p:nvSpPr>
          <p:cNvPr id="5" name="TextBox 4"/>
          <p:cNvSpPr txBox="1"/>
          <p:nvPr/>
        </p:nvSpPr>
        <p:spPr>
          <a:xfrm>
            <a:off x="945798" y="780210"/>
            <a:ext cx="7730657" cy="923330"/>
          </a:xfrm>
          <a:prstGeom prst="rect">
            <a:avLst/>
          </a:prstGeom>
          <a:noFill/>
        </p:spPr>
        <p:txBody>
          <a:bodyPr wrap="square" rtlCol="0">
            <a:spAutoFit/>
          </a:bodyPr>
          <a:lstStyle/>
          <a:p>
            <a:pPr>
              <a:spcAft>
                <a:spcPts val="0"/>
              </a:spcAft>
            </a:pPr>
            <a:r>
              <a:rPr lang="en-US" b="1" dirty="0">
                <a:latin typeface="Verdana" panose="020B0604030504040204" pitchFamily="34" charset="0"/>
                <a:ea typeface="Verdana" panose="020B0604030504040204" pitchFamily="34" charset="0"/>
              </a:rPr>
              <a:t>The idea</a:t>
            </a:r>
            <a:r>
              <a:rPr lang="en-US" dirty="0">
                <a:latin typeface="Verdana" panose="020B0604030504040204" pitchFamily="34" charset="0"/>
                <a:ea typeface="Verdana" panose="020B0604030504040204" pitchFamily="34" charset="0"/>
              </a:rPr>
              <a:t>: Start with a sample (cohort) of </a:t>
            </a:r>
            <a:r>
              <a:rPr lang="en-US" u="sng" dirty="0">
                <a:latin typeface="Verdana" panose="020B0604030504040204" pitchFamily="34" charset="0"/>
                <a:ea typeface="Verdana" panose="020B0604030504040204" pitchFamily="34" charset="0"/>
              </a:rPr>
              <a:t>healthy</a:t>
            </a:r>
            <a:r>
              <a:rPr lang="en-US" dirty="0">
                <a:latin typeface="Verdana" panose="020B0604030504040204" pitchFamily="34" charset="0"/>
                <a:ea typeface="Verdana" panose="020B0604030504040204" pitchFamily="34" charset="0"/>
              </a:rPr>
              <a:t> subjects and follow them for a period (e.g., 5 years) in order to identify risk factors for a disease</a:t>
            </a:r>
          </a:p>
        </p:txBody>
      </p:sp>
      <p:cxnSp>
        <p:nvCxnSpPr>
          <p:cNvPr id="37" name="Straight Arrow Connector 24"/>
          <p:cNvCxnSpPr>
            <a:endCxn id="42" idx="1"/>
          </p:cNvCxnSpPr>
          <p:nvPr/>
        </p:nvCxnSpPr>
        <p:spPr>
          <a:xfrm flipV="1">
            <a:off x="5085525" y="2619422"/>
            <a:ext cx="600901" cy="26206"/>
          </a:xfrm>
          <a:prstGeom prst="straightConnector1">
            <a:avLst/>
          </a:prstGeom>
          <a:ln w="57150">
            <a:gradFill>
              <a:gsLst>
                <a:gs pos="2000">
                  <a:srgbClr val="FFF200"/>
                </a:gs>
                <a:gs pos="45000">
                  <a:srgbClr val="FF7A00"/>
                </a:gs>
                <a:gs pos="77000">
                  <a:srgbClr val="FF0300"/>
                </a:gs>
                <a:gs pos="95000">
                  <a:srgbClr val="4D0808"/>
                </a:gs>
              </a:gsLst>
              <a:lin ang="5400000" scaled="0"/>
            </a:gradFill>
            <a:tailEnd type="arrow"/>
          </a:ln>
        </p:spPr>
        <p:style>
          <a:lnRef idx="1">
            <a:schemeClr val="accent1"/>
          </a:lnRef>
          <a:fillRef idx="0">
            <a:schemeClr val="accent1"/>
          </a:fillRef>
          <a:effectRef idx="0">
            <a:schemeClr val="accent1"/>
          </a:effectRef>
          <a:fontRef idx="minor">
            <a:schemeClr val="tx1"/>
          </a:fontRef>
        </p:style>
      </p:cxnSp>
      <p:grpSp>
        <p:nvGrpSpPr>
          <p:cNvPr id="3" name="Grupp 2"/>
          <p:cNvGrpSpPr/>
          <p:nvPr/>
        </p:nvGrpSpPr>
        <p:grpSpPr>
          <a:xfrm>
            <a:off x="1475657" y="1710308"/>
            <a:ext cx="6118825" cy="2890131"/>
            <a:chOff x="755576" y="2701691"/>
            <a:chExt cx="8046228" cy="3465725"/>
          </a:xfrm>
        </p:grpSpPr>
        <p:grpSp>
          <p:nvGrpSpPr>
            <p:cNvPr id="35" name="Group 34"/>
            <p:cNvGrpSpPr/>
            <p:nvPr/>
          </p:nvGrpSpPr>
          <p:grpSpPr>
            <a:xfrm>
              <a:off x="755576" y="2701691"/>
              <a:ext cx="8046228" cy="3465725"/>
              <a:chOff x="635648" y="2207195"/>
              <a:chExt cx="8902305" cy="4620969"/>
            </a:xfrm>
          </p:grpSpPr>
          <p:grpSp>
            <p:nvGrpSpPr>
              <p:cNvPr id="32" name="Group 31"/>
              <p:cNvGrpSpPr/>
              <p:nvPr/>
            </p:nvGrpSpPr>
            <p:grpSpPr>
              <a:xfrm>
                <a:off x="635649" y="2207195"/>
                <a:ext cx="8902304" cy="3939788"/>
                <a:chOff x="635649" y="2207195"/>
                <a:chExt cx="8902304" cy="3939788"/>
              </a:xfrm>
            </p:grpSpPr>
            <p:grpSp>
              <p:nvGrpSpPr>
                <p:cNvPr id="19" name="Group 18"/>
                <p:cNvGrpSpPr/>
                <p:nvPr/>
              </p:nvGrpSpPr>
              <p:grpSpPr>
                <a:xfrm>
                  <a:off x="635649" y="4744194"/>
                  <a:ext cx="8051151" cy="1402789"/>
                  <a:chOff x="635649" y="4744194"/>
                  <a:chExt cx="8051151" cy="1402789"/>
                </a:xfrm>
              </p:grpSpPr>
              <p:sp>
                <p:nvSpPr>
                  <p:cNvPr id="12" name="TextBox 11"/>
                  <p:cNvSpPr txBox="1"/>
                  <p:nvPr/>
                </p:nvSpPr>
                <p:spPr>
                  <a:xfrm>
                    <a:off x="3851920" y="5013177"/>
                    <a:ext cx="1104123" cy="656590"/>
                  </a:xfrm>
                  <a:prstGeom prst="rect">
                    <a:avLst/>
                  </a:prstGeom>
                  <a:noFill/>
                </p:spPr>
                <p:txBody>
                  <a:bodyPr wrap="square" rtlCol="0">
                    <a:spAutoFit/>
                  </a:bodyPr>
                  <a:lstStyle/>
                  <a:p>
                    <a:pPr algn="ctr"/>
                    <a:r>
                      <a:rPr lang="en-US" b="1" dirty="0">
                        <a:latin typeface="+mj-lt"/>
                      </a:rPr>
                      <a:t>Time</a:t>
                    </a:r>
                  </a:p>
                </p:txBody>
              </p:sp>
              <p:sp>
                <p:nvSpPr>
                  <p:cNvPr id="14" name="TextBox 13"/>
                  <p:cNvSpPr txBox="1"/>
                  <p:nvPr/>
                </p:nvSpPr>
                <p:spPr>
                  <a:xfrm>
                    <a:off x="635649" y="4998022"/>
                    <a:ext cx="2449844" cy="1033405"/>
                  </a:xfrm>
                  <a:prstGeom prst="rect">
                    <a:avLst/>
                  </a:prstGeom>
                  <a:noFill/>
                </p:spPr>
                <p:txBody>
                  <a:bodyPr wrap="square" rtlCol="0">
                    <a:spAutoFit/>
                  </a:bodyPr>
                  <a:lstStyle/>
                  <a:p>
                    <a:pPr algn="ctr"/>
                    <a:r>
                      <a:rPr lang="en-US" dirty="0">
                        <a:latin typeface="+mj-lt"/>
                      </a:rPr>
                      <a:t>0 </a:t>
                    </a:r>
                  </a:p>
                  <a:p>
                    <a:pPr algn="ctr"/>
                    <a:r>
                      <a:rPr lang="en-US" dirty="0">
                        <a:latin typeface="+mj-lt"/>
                      </a:rPr>
                      <a:t>(Start of study)</a:t>
                    </a:r>
                  </a:p>
                </p:txBody>
              </p:sp>
              <p:sp>
                <p:nvSpPr>
                  <p:cNvPr id="15" name="TextBox 14"/>
                  <p:cNvSpPr txBox="1"/>
                  <p:nvPr/>
                </p:nvSpPr>
                <p:spPr>
                  <a:xfrm>
                    <a:off x="6121600" y="4997950"/>
                    <a:ext cx="2244248" cy="1149033"/>
                  </a:xfrm>
                  <a:prstGeom prst="rect">
                    <a:avLst/>
                  </a:prstGeom>
                  <a:noFill/>
                </p:spPr>
                <p:txBody>
                  <a:bodyPr wrap="square" rtlCol="0">
                    <a:spAutoFit/>
                  </a:bodyPr>
                  <a:lstStyle/>
                  <a:p>
                    <a:pPr algn="ctr"/>
                    <a:r>
                      <a:rPr lang="en-US" i="1" dirty="0">
                        <a:latin typeface="+mj-lt"/>
                      </a:rPr>
                      <a:t>t</a:t>
                    </a:r>
                    <a:r>
                      <a:rPr lang="en-US" dirty="0">
                        <a:latin typeface="+mj-lt"/>
                      </a:rPr>
                      <a:t> </a:t>
                    </a:r>
                  </a:p>
                  <a:p>
                    <a:pPr algn="ctr"/>
                    <a:r>
                      <a:rPr lang="en-US" dirty="0">
                        <a:latin typeface="+mj-lt"/>
                      </a:rPr>
                      <a:t>(End of study)</a:t>
                    </a:r>
                  </a:p>
                </p:txBody>
              </p:sp>
              <p:grpSp>
                <p:nvGrpSpPr>
                  <p:cNvPr id="17" name="Group 16"/>
                  <p:cNvGrpSpPr/>
                  <p:nvPr/>
                </p:nvGrpSpPr>
                <p:grpSpPr>
                  <a:xfrm>
                    <a:off x="827584" y="4744194"/>
                    <a:ext cx="7859216" cy="253758"/>
                    <a:chOff x="827584" y="4744194"/>
                    <a:chExt cx="7859216" cy="253758"/>
                  </a:xfrm>
                </p:grpSpPr>
                <p:cxnSp>
                  <p:nvCxnSpPr>
                    <p:cNvPr id="11" name="Straight Connector 10"/>
                    <p:cNvCxnSpPr/>
                    <p:nvPr/>
                  </p:nvCxnSpPr>
                  <p:spPr>
                    <a:xfrm>
                      <a:off x="827584" y="4842591"/>
                      <a:ext cx="7859216" cy="9603"/>
                    </a:xfrm>
                    <a:prstGeom prst="line">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943708" y="4744194"/>
                      <a:ext cx="0" cy="216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a:endCxn id="15" idx="0"/>
                    </p:cNvCxnSpPr>
                    <p:nvPr/>
                  </p:nvCxnSpPr>
                  <p:spPr>
                    <a:xfrm flipH="1">
                      <a:off x="7243724" y="4748019"/>
                      <a:ext cx="1" cy="249933"/>
                    </a:xfrm>
                    <a:prstGeom prst="line">
                      <a:avLst/>
                    </a:prstGeom>
                    <a:ln w="28575"/>
                  </p:spPr>
                  <p:style>
                    <a:lnRef idx="1">
                      <a:schemeClr val="accent1"/>
                    </a:lnRef>
                    <a:fillRef idx="0">
                      <a:schemeClr val="accent1"/>
                    </a:fillRef>
                    <a:effectRef idx="0">
                      <a:schemeClr val="accent1"/>
                    </a:effectRef>
                    <a:fontRef idx="minor">
                      <a:schemeClr val="tx1"/>
                    </a:fontRef>
                  </p:style>
                </p:cxnSp>
              </p:grpSp>
            </p:grpSp>
            <p:sp>
              <p:nvSpPr>
                <p:cNvPr id="31" name="TextBox 30"/>
                <p:cNvSpPr txBox="1"/>
                <p:nvPr/>
              </p:nvSpPr>
              <p:spPr>
                <a:xfrm>
                  <a:off x="827584" y="2362712"/>
                  <a:ext cx="2618334" cy="590517"/>
                </a:xfrm>
                <a:prstGeom prst="rect">
                  <a:avLst/>
                </a:prstGeom>
                <a:noFill/>
              </p:spPr>
              <p:txBody>
                <a:bodyPr wrap="square" lIns="20250" rIns="0" rtlCol="0">
                  <a:spAutoFit/>
                </a:bodyPr>
                <a:lstStyle/>
                <a:p>
                  <a:r>
                    <a:rPr lang="en-US" b="1" dirty="0">
                      <a:solidFill>
                        <a:schemeClr val="tx2">
                          <a:lumMod val="75000"/>
                        </a:schemeClr>
                      </a:solidFill>
                      <a:latin typeface="Calibri" panose="020F0502020204030204" pitchFamily="34" charset="0"/>
                    </a:rPr>
                    <a:t>Cohort @ baseline</a:t>
                  </a:r>
                  <a:endParaRPr lang="en-US" b="1" i="1" dirty="0">
                    <a:solidFill>
                      <a:schemeClr val="tx2">
                        <a:lumMod val="75000"/>
                      </a:schemeClr>
                    </a:solidFill>
                    <a:latin typeface="Calibri" panose="020F0502020204030204" pitchFamily="34" charset="0"/>
                  </a:endParaRPr>
                </a:p>
              </p:txBody>
            </p:sp>
            <p:sp>
              <p:nvSpPr>
                <p:cNvPr id="33" name="TextBox 32"/>
                <p:cNvSpPr txBox="1"/>
                <p:nvPr/>
              </p:nvSpPr>
              <p:spPr>
                <a:xfrm>
                  <a:off x="6380546" y="2207195"/>
                  <a:ext cx="3157407" cy="590517"/>
                </a:xfrm>
                <a:prstGeom prst="rect">
                  <a:avLst/>
                </a:prstGeom>
                <a:noFill/>
              </p:spPr>
              <p:txBody>
                <a:bodyPr wrap="square" lIns="20250" rIns="0" rtlCol="0">
                  <a:spAutoFit/>
                </a:bodyPr>
                <a:lstStyle/>
                <a:p>
                  <a:r>
                    <a:rPr lang="en-US" b="1" dirty="0">
                      <a:solidFill>
                        <a:schemeClr val="tx2">
                          <a:lumMod val="75000"/>
                        </a:schemeClr>
                      </a:solidFill>
                      <a:latin typeface="Calibri" panose="020F0502020204030204" pitchFamily="34" charset="0"/>
                    </a:rPr>
                    <a:t>Cohort @ follow-up</a:t>
                  </a:r>
                  <a:endParaRPr lang="en-US" b="1" i="1" dirty="0">
                    <a:solidFill>
                      <a:schemeClr val="tx2">
                        <a:lumMod val="75000"/>
                      </a:schemeClr>
                    </a:solidFill>
                    <a:latin typeface="Calibri" panose="020F0502020204030204" pitchFamily="34" charset="0"/>
                  </a:endParaRPr>
                </a:p>
              </p:txBody>
            </p:sp>
          </p:grpSp>
          <p:sp>
            <p:nvSpPr>
              <p:cNvPr id="34" name="TextBox 33"/>
              <p:cNvSpPr txBox="1"/>
              <p:nvPr/>
            </p:nvSpPr>
            <p:spPr>
              <a:xfrm>
                <a:off x="635648" y="6286857"/>
                <a:ext cx="8325440" cy="541307"/>
              </a:xfrm>
              <a:prstGeom prst="rect">
                <a:avLst/>
              </a:prstGeom>
              <a:noFill/>
            </p:spPr>
            <p:txBody>
              <a:bodyPr wrap="square" rtlCol="0">
                <a:spAutoFit/>
              </a:bodyPr>
              <a:lstStyle/>
              <a:p>
                <a:r>
                  <a:rPr lang="en-US" sz="1600" dirty="0">
                    <a:latin typeface="+mj-lt"/>
                  </a:rPr>
                  <a:t>The cohort is a randomized sample or full ‘population’</a:t>
                </a:r>
              </a:p>
            </p:txBody>
          </p:sp>
        </p:grpSp>
        <p:cxnSp>
          <p:nvCxnSpPr>
            <p:cNvPr id="26" name="Straight Arrow Connector 24"/>
            <p:cNvCxnSpPr>
              <a:stCxn id="36" idx="3"/>
              <a:endCxn id="38" idx="1"/>
            </p:cNvCxnSpPr>
            <p:nvPr/>
          </p:nvCxnSpPr>
          <p:spPr>
            <a:xfrm>
              <a:off x="2810372" y="3851153"/>
              <a:ext cx="860761" cy="805"/>
            </a:xfrm>
            <a:prstGeom prst="straightConnector1">
              <a:avLst/>
            </a:prstGeom>
            <a:ln w="57150">
              <a:gradFill>
                <a:gsLst>
                  <a:gs pos="2000">
                    <a:srgbClr val="FFF200"/>
                  </a:gs>
                  <a:gs pos="45000">
                    <a:srgbClr val="FF7A00"/>
                  </a:gs>
                  <a:gs pos="77000">
                    <a:srgbClr val="FF0300"/>
                  </a:gs>
                  <a:gs pos="95000">
                    <a:srgbClr val="4D0808"/>
                  </a:gs>
                </a:gsLst>
                <a:lin ang="5400000" scaled="0"/>
              </a:gradFill>
              <a:tailEnd type="arrow"/>
            </a:ln>
          </p:spPr>
          <p:style>
            <a:lnRef idx="1">
              <a:schemeClr val="accent1"/>
            </a:lnRef>
            <a:fillRef idx="0">
              <a:schemeClr val="accent1"/>
            </a:fillRef>
            <a:effectRef idx="0">
              <a:schemeClr val="accent1"/>
            </a:effectRef>
            <a:fontRef idx="minor">
              <a:schemeClr val="tx1"/>
            </a:fontRef>
          </p:style>
        </p:cxnSp>
        <p:sp>
          <p:nvSpPr>
            <p:cNvPr id="36" name="Rounded Rectangle 20"/>
            <p:cNvSpPr/>
            <p:nvPr/>
          </p:nvSpPr>
          <p:spPr>
            <a:xfrm>
              <a:off x="1244198" y="3230083"/>
              <a:ext cx="1566174" cy="1242138"/>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solidFill>
                  <a:schemeClr val="tx1"/>
                </a:solidFill>
              </a:endParaRPr>
            </a:p>
            <a:p>
              <a:endParaRPr lang="en-US">
                <a:solidFill>
                  <a:schemeClr val="tx1"/>
                </a:solidFill>
              </a:endParaRPr>
            </a:p>
          </p:txBody>
        </p:sp>
        <p:sp>
          <p:nvSpPr>
            <p:cNvPr id="38" name="Rounded Rectangle 20"/>
            <p:cNvSpPr/>
            <p:nvPr/>
          </p:nvSpPr>
          <p:spPr>
            <a:xfrm>
              <a:off x="3671133" y="3230888"/>
              <a:ext cx="1787704" cy="1242138"/>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Exposed</a:t>
              </a:r>
            </a:p>
            <a:p>
              <a:endParaRPr lang="en-US">
                <a:solidFill>
                  <a:schemeClr val="tx1"/>
                </a:solidFill>
              </a:endParaRPr>
            </a:p>
            <a:p>
              <a:r>
                <a:rPr lang="en-US">
                  <a:solidFill>
                    <a:schemeClr val="tx1"/>
                  </a:solidFill>
                </a:rPr>
                <a:t>Unexposed</a:t>
              </a:r>
            </a:p>
          </p:txBody>
        </p:sp>
        <p:sp>
          <p:nvSpPr>
            <p:cNvPr id="42" name="Rounded Rectangle 20"/>
            <p:cNvSpPr/>
            <p:nvPr/>
          </p:nvSpPr>
          <p:spPr>
            <a:xfrm>
              <a:off x="6292719" y="3170793"/>
              <a:ext cx="1848692" cy="1242137"/>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Exposed</a:t>
              </a:r>
            </a:p>
            <a:p>
              <a:endParaRPr lang="en-US" dirty="0">
                <a:solidFill>
                  <a:schemeClr val="tx1"/>
                </a:solidFill>
              </a:endParaRPr>
            </a:p>
            <a:p>
              <a:r>
                <a:rPr lang="en-US" dirty="0">
                  <a:solidFill>
                    <a:schemeClr val="tx1"/>
                  </a:solidFill>
                </a:rPr>
                <a:t>Unexposed</a:t>
              </a:r>
            </a:p>
          </p:txBody>
        </p:sp>
        <p:cxnSp>
          <p:nvCxnSpPr>
            <p:cNvPr id="40" name="Straight Connector 21"/>
            <p:cNvCxnSpPr/>
            <p:nvPr/>
          </p:nvCxnSpPr>
          <p:spPr>
            <a:xfrm>
              <a:off x="3649736" y="3821716"/>
              <a:ext cx="1566174" cy="157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21"/>
            <p:cNvCxnSpPr>
              <a:endCxn id="42" idx="3"/>
            </p:cNvCxnSpPr>
            <p:nvPr/>
          </p:nvCxnSpPr>
          <p:spPr>
            <a:xfrm flipV="1">
              <a:off x="6319597" y="3791863"/>
              <a:ext cx="1821813" cy="2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ktangel med rundade hörn 38"/>
            <p:cNvSpPr/>
            <p:nvPr/>
          </p:nvSpPr>
          <p:spPr bwMode="auto">
            <a:xfrm>
              <a:off x="7708891" y="3249483"/>
              <a:ext cx="324036" cy="811577"/>
            </a:xfrm>
            <a:prstGeom prst="roundRect">
              <a:avLst/>
            </a:prstGeom>
            <a:solidFill>
              <a:schemeClr val="accent3">
                <a:alpha val="90000"/>
              </a:schemeClr>
            </a:solidFill>
            <a:ln w="9525" cap="flat" cmpd="sng" algn="ctr">
              <a:solidFill>
                <a:schemeClr val="tx1"/>
              </a:solidFill>
              <a:prstDash val="solid"/>
              <a:round/>
              <a:headEnd type="none" w="med" len="med"/>
              <a:tailEnd type="none" w="med" len="med"/>
            </a:ln>
            <a:effectLst/>
          </p:spPr>
          <p:txBody>
            <a:bodyPr vert="vert" wrap="square" lIns="51435" tIns="25718" rIns="51435" bIns="25718" numCol="1" rtlCol="0" anchor="ctr" anchorCtr="0" compatLnSpc="1">
              <a:prstTxWarp prst="textNoShape">
                <a:avLst/>
              </a:prstTxWarp>
            </a:bodyPr>
            <a:lstStyle/>
            <a:p>
              <a:pPr algn="ctr" defTabSz="514350" eaLnBrk="0" hangingPunct="0"/>
              <a:r>
                <a:rPr kumimoji="0" lang="sv-SE" b="0" i="0" u="none" strike="noStrike" cap="none" normalizeH="0" baseline="0" dirty="0">
                  <a:ln>
                    <a:noFill/>
                  </a:ln>
                  <a:solidFill>
                    <a:schemeClr val="bg1"/>
                  </a:solidFill>
                  <a:effectLst/>
                  <a:latin typeface="Calibri" panose="020F0502020204030204" pitchFamily="34" charset="0"/>
                  <a:ea typeface="ヒラギノ角ゴ Pro W3"/>
                  <a:cs typeface="ヒラギノ角ゴ Pro W3"/>
                </a:rPr>
                <a:t>Cases</a:t>
              </a:r>
            </a:p>
          </p:txBody>
        </p:sp>
      </p:grpSp>
    </p:spTree>
    <p:extLst>
      <p:ext uri="{BB962C8B-B14F-4D97-AF65-F5344CB8AC3E}">
        <p14:creationId xmlns:p14="http://schemas.microsoft.com/office/powerpoint/2010/main" val="65807842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nummer 1"/>
          <p:cNvSpPr>
            <a:spLocks noGrp="1"/>
          </p:cNvSpPr>
          <p:nvPr>
            <p:ph type="sldNum" sz="quarter" idx="12"/>
          </p:nvPr>
        </p:nvSpPr>
        <p:spPr/>
        <p:txBody>
          <a:bodyPr/>
          <a:lstStyle/>
          <a:p>
            <a:pPr>
              <a:defRPr/>
            </a:pPr>
            <a:fld id="{6EA40670-0085-46BE-8A1D-C037329D2922}" type="slidenum">
              <a:rPr lang="sv-SE" smtClean="0"/>
              <a:pPr>
                <a:defRPr/>
              </a:pPr>
              <a:t>141</a:t>
            </a:fld>
            <a:endParaRPr lang="sv-SE"/>
          </a:p>
        </p:txBody>
      </p:sp>
      <p:sp>
        <p:nvSpPr>
          <p:cNvPr id="7" name="TextBox 6"/>
          <p:cNvSpPr txBox="1"/>
          <p:nvPr/>
        </p:nvSpPr>
        <p:spPr>
          <a:xfrm>
            <a:off x="179512" y="601925"/>
            <a:ext cx="8816568" cy="4152419"/>
          </a:xfrm>
          <a:prstGeom prst="rect">
            <a:avLst/>
          </a:prstGeom>
          <a:noFill/>
        </p:spPr>
        <p:txBody>
          <a:bodyPr wrap="square" rtlCol="0">
            <a:spAutoFit/>
          </a:bodyPr>
          <a:lstStyle/>
          <a:p>
            <a:pPr marL="214313" indent="-214313">
              <a:lnSpc>
                <a:spcPct val="150000"/>
              </a:lnSpc>
              <a:spcAft>
                <a:spcPts val="450"/>
              </a:spcAft>
              <a:buFont typeface="Arial" panose="020B0604020202020204" pitchFamily="34" charset="0"/>
              <a:buChar char="•"/>
            </a:pPr>
            <a:r>
              <a:rPr lang="en-US" b="1" dirty="0">
                <a:latin typeface="Verdana" panose="020B0604030504040204" pitchFamily="34" charset="0"/>
                <a:ea typeface="Verdana" panose="020B0604030504040204" pitchFamily="34" charset="0"/>
              </a:rPr>
              <a:t>Prospective cohort </a:t>
            </a:r>
            <a:r>
              <a:rPr lang="en-US" dirty="0">
                <a:latin typeface="Verdana" panose="020B0604030504040204" pitchFamily="34" charset="0"/>
                <a:ea typeface="Verdana" panose="020B0604030504040204" pitchFamily="34" charset="0"/>
              </a:rPr>
              <a:t>studies can be often </a:t>
            </a:r>
            <a:r>
              <a:rPr lang="en-US" b="1" dirty="0">
                <a:latin typeface="Verdana" panose="020B0604030504040204" pitchFamily="34" charset="0"/>
                <a:ea typeface="Verdana" panose="020B0604030504040204" pitchFamily="34" charset="0"/>
              </a:rPr>
              <a:t>impossible</a:t>
            </a:r>
            <a:r>
              <a:rPr lang="en-US" dirty="0">
                <a:latin typeface="Verdana" panose="020B0604030504040204" pitchFamily="34" charset="0"/>
                <a:ea typeface="Verdana" panose="020B0604030504040204" pitchFamily="34" charset="0"/>
              </a:rPr>
              <a:t> to do </a:t>
            </a:r>
          </a:p>
          <a:p>
            <a:pPr marL="557213" lvl="1" indent="-214313">
              <a:lnSpc>
                <a:spcPct val="150000"/>
              </a:lnSpc>
              <a:spcAft>
                <a:spcPts val="450"/>
              </a:spcAft>
              <a:buFont typeface="Arial" panose="020B0604020202020204" pitchFamily="34" charset="0"/>
              <a:buChar char="•"/>
            </a:pPr>
            <a:r>
              <a:rPr lang="en-US" dirty="0">
                <a:latin typeface="Verdana" panose="020B0604030504040204" pitchFamily="34" charset="0"/>
                <a:ea typeface="Verdana" panose="020B0604030504040204" pitchFamily="34" charset="0"/>
              </a:rPr>
              <a:t>the </a:t>
            </a:r>
            <a:r>
              <a:rPr lang="en-US" b="1" dirty="0">
                <a:latin typeface="Verdana" panose="020B0604030504040204" pitchFamily="34" charset="0"/>
                <a:ea typeface="Verdana" panose="020B0604030504040204" pitchFamily="34" charset="0"/>
              </a:rPr>
              <a:t>time</a:t>
            </a:r>
            <a:r>
              <a:rPr lang="en-US" dirty="0">
                <a:latin typeface="Verdana" panose="020B0604030504040204" pitchFamily="34" charset="0"/>
                <a:ea typeface="Verdana" panose="020B0604030504040204" pitchFamily="34" charset="0"/>
              </a:rPr>
              <a:t> from exposure until disease can be very </a:t>
            </a:r>
            <a:r>
              <a:rPr lang="en-US" b="1" dirty="0">
                <a:latin typeface="Verdana" panose="020B0604030504040204" pitchFamily="34" charset="0"/>
                <a:ea typeface="Verdana" panose="020B0604030504040204" pitchFamily="34" charset="0"/>
              </a:rPr>
              <a:t>long</a:t>
            </a:r>
            <a:r>
              <a:rPr lang="en-US" dirty="0">
                <a:latin typeface="Verdana" panose="020B0604030504040204" pitchFamily="34" charset="0"/>
                <a:ea typeface="Verdana" panose="020B0604030504040204" pitchFamily="34" charset="0"/>
              </a:rPr>
              <a:t> </a:t>
            </a:r>
          </a:p>
          <a:p>
            <a:pPr marL="900113" lvl="2" indent="-214313">
              <a:lnSpc>
                <a:spcPct val="150000"/>
              </a:lnSpc>
              <a:spcAft>
                <a:spcPts val="450"/>
              </a:spcAft>
              <a:buFont typeface="Arial" panose="020B0604020202020204" pitchFamily="34" charset="0"/>
              <a:buChar char="•"/>
            </a:pPr>
            <a:r>
              <a:rPr lang="en-US" dirty="0">
                <a:latin typeface="Verdana" panose="020B0604030504040204" pitchFamily="34" charset="0"/>
                <a:ea typeface="Verdana" panose="020B0604030504040204" pitchFamily="34" charset="0"/>
              </a:rPr>
              <a:t>start smoking as teenager -&gt; heart disease as an adult; treated for leukemia as a child -&gt; affects fat-free body mass in adulthood</a:t>
            </a:r>
          </a:p>
          <a:p>
            <a:pPr marL="557213" lvl="1" indent="-214313">
              <a:lnSpc>
                <a:spcPct val="150000"/>
              </a:lnSpc>
              <a:spcAft>
                <a:spcPts val="450"/>
              </a:spcAft>
              <a:buFont typeface="Arial" panose="020B0604020202020204" pitchFamily="34" charset="0"/>
              <a:buChar char="•"/>
            </a:pPr>
            <a:r>
              <a:rPr lang="en-US" dirty="0">
                <a:latin typeface="Verdana" panose="020B0604030504040204" pitchFamily="34" charset="0"/>
                <a:ea typeface="Verdana" panose="020B0604030504040204" pitchFamily="34" charset="0"/>
              </a:rPr>
              <a:t>The disease is very </a:t>
            </a:r>
            <a:r>
              <a:rPr lang="en-US" b="1" dirty="0">
                <a:latin typeface="Verdana" panose="020B0604030504040204" pitchFamily="34" charset="0"/>
                <a:ea typeface="Verdana" panose="020B0604030504040204" pitchFamily="34" charset="0"/>
              </a:rPr>
              <a:t>rare</a:t>
            </a:r>
            <a:r>
              <a:rPr lang="en-US" dirty="0">
                <a:latin typeface="Verdana" panose="020B0604030504040204" pitchFamily="34" charset="0"/>
                <a:ea typeface="Verdana" panose="020B0604030504040204" pitchFamily="34" charset="0"/>
              </a:rPr>
              <a:t>: suppose 5/100.000. To identify “enough” cases (required for power) might need to have a cohort of 1.000.000 subjects</a:t>
            </a:r>
          </a:p>
          <a:p>
            <a:pPr marL="0" lvl="1" indent="342900">
              <a:lnSpc>
                <a:spcPct val="150000"/>
              </a:lnSpc>
              <a:spcAft>
                <a:spcPts val="450"/>
              </a:spcAft>
              <a:buFont typeface="Arial" panose="020B0604020202020204" pitchFamily="34" charset="0"/>
              <a:buChar char="•"/>
            </a:pPr>
            <a:r>
              <a:rPr lang="en-US" dirty="0">
                <a:latin typeface="Verdana" panose="020B0604030504040204" pitchFamily="34" charset="0"/>
                <a:ea typeface="Verdana" panose="020B0604030504040204" pitchFamily="34" charset="0"/>
              </a:rPr>
              <a:t>One alternative </a:t>
            </a:r>
            <a:r>
              <a:rPr lang="en-US" b="1" dirty="0">
                <a:solidFill>
                  <a:srgbClr val="002060"/>
                </a:solidFill>
                <a:latin typeface="Verdana" panose="020B0604030504040204" pitchFamily="34" charset="0"/>
                <a:ea typeface="Verdana" panose="020B0604030504040204" pitchFamily="34" charset="0"/>
              </a:rPr>
              <a:t>Case - Control</a:t>
            </a:r>
            <a:r>
              <a:rPr lang="en-US" b="1"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study</a:t>
            </a:r>
          </a:p>
          <a:p>
            <a:pPr marL="0" lvl="1" indent="342900">
              <a:lnSpc>
                <a:spcPct val="150000"/>
              </a:lnSpc>
              <a:spcAft>
                <a:spcPts val="450"/>
              </a:spcAft>
              <a:buFont typeface="Arial" panose="020B0604020202020204" pitchFamily="34" charset="0"/>
              <a:buChar char="•"/>
            </a:pPr>
            <a:r>
              <a:rPr lang="en-US" dirty="0">
                <a:latin typeface="Verdana" panose="020B0604030504040204" pitchFamily="34" charset="0"/>
                <a:ea typeface="Verdana" panose="020B0604030504040204" pitchFamily="34" charset="0"/>
              </a:rPr>
              <a:t>Time is a main ingredient: how far back should I look for exposure?</a:t>
            </a:r>
          </a:p>
        </p:txBody>
      </p:sp>
      <p:sp>
        <p:nvSpPr>
          <p:cNvPr id="6" name="Rubrik 1"/>
          <p:cNvSpPr txBox="1">
            <a:spLocks/>
          </p:cNvSpPr>
          <p:nvPr/>
        </p:nvSpPr>
        <p:spPr bwMode="auto">
          <a:xfrm>
            <a:off x="2951820" y="205978"/>
            <a:ext cx="3456384" cy="42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noAutofit/>
          </a:bodyPr>
          <a:lstStyle>
            <a:lvl1pPr algn="l" defTabSz="457200" rtl="0" eaLnBrk="0" fontAlgn="base" hangingPunct="0">
              <a:lnSpc>
                <a:spcPct val="90000"/>
              </a:lnSpc>
              <a:spcBef>
                <a:spcPct val="0"/>
              </a:spcBef>
              <a:spcAft>
                <a:spcPct val="0"/>
              </a:spcAft>
              <a:defRPr sz="3000" b="1" i="0" kern="1200">
                <a:solidFill>
                  <a:schemeClr val="tx1"/>
                </a:solidFill>
                <a:latin typeface="Trebuchet MS" panose="020B0603020202020204" pitchFamily="34" charset="0"/>
                <a:ea typeface="ＭＳ Ｐゴシック" pitchFamily="-65" charset="-128"/>
                <a:cs typeface="Trebuchet MS" panose="020B0603020202020204" pitchFamily="34" charset="0"/>
              </a:defRPr>
            </a:lvl1pPr>
            <a:lvl2pPr algn="l" defTabSz="457200" rtl="0" eaLnBrk="0" fontAlgn="base" hangingPunct="0">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0" fontAlgn="base" hangingPunct="0">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0" fontAlgn="base" hangingPunct="0">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0" fontAlgn="base" hangingPunct="0">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fontAlgn="base">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fontAlgn="base">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fontAlgn="base">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fontAlgn="base">
              <a:spcBef>
                <a:spcPct val="0"/>
              </a:spcBef>
              <a:spcAft>
                <a:spcPct val="0"/>
              </a:spcAft>
              <a:defRPr sz="2000">
                <a:solidFill>
                  <a:srgbClr val="464646"/>
                </a:solidFill>
                <a:latin typeface="Arial Bold" pitchFamily="-65" charset="0"/>
                <a:ea typeface="ＭＳ Ｐゴシック" pitchFamily="-65" charset="-128"/>
              </a:defRPr>
            </a:lvl9pPr>
          </a:lstStyle>
          <a:p>
            <a:r>
              <a:rPr lang="en-US" sz="3200" dirty="0">
                <a:latin typeface="+mj-lt"/>
              </a:rPr>
              <a:t>Case-control studies </a:t>
            </a:r>
            <a:endParaRPr lang="sv-SE" sz="3200" dirty="0">
              <a:latin typeface="+mj-lt"/>
            </a:endParaRPr>
          </a:p>
        </p:txBody>
      </p:sp>
    </p:spTree>
    <p:extLst>
      <p:ext uri="{BB962C8B-B14F-4D97-AF65-F5344CB8AC3E}">
        <p14:creationId xmlns:p14="http://schemas.microsoft.com/office/powerpoint/2010/main" val="371468443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ubrik 1"/>
          <p:cNvSpPr>
            <a:spLocks noGrp="1"/>
          </p:cNvSpPr>
          <p:nvPr>
            <p:ph type="title"/>
          </p:nvPr>
        </p:nvSpPr>
        <p:spPr>
          <a:xfrm>
            <a:off x="2920694" y="101922"/>
            <a:ext cx="3456384" cy="421556"/>
          </a:xfrm>
        </p:spPr>
        <p:txBody>
          <a:bodyPr>
            <a:noAutofit/>
          </a:bodyPr>
          <a:lstStyle/>
          <a:p>
            <a:r>
              <a:rPr lang="en-US" sz="3200" dirty="0"/>
              <a:t>Case-control studies </a:t>
            </a:r>
            <a:endParaRPr lang="sv-SE" sz="3200" dirty="0"/>
          </a:p>
        </p:txBody>
      </p:sp>
      <p:sp>
        <p:nvSpPr>
          <p:cNvPr id="2" name="Platshållare för bildnummer 1"/>
          <p:cNvSpPr>
            <a:spLocks noGrp="1"/>
          </p:cNvSpPr>
          <p:nvPr>
            <p:ph type="sldNum" sz="quarter" idx="12"/>
          </p:nvPr>
        </p:nvSpPr>
        <p:spPr/>
        <p:txBody>
          <a:bodyPr/>
          <a:lstStyle/>
          <a:p>
            <a:pPr>
              <a:defRPr/>
            </a:pPr>
            <a:fld id="{6EA40670-0085-46BE-8A1D-C037329D2922}" type="slidenum">
              <a:rPr lang="sv-SE" smtClean="0"/>
              <a:pPr>
                <a:defRPr/>
              </a:pPr>
              <a:t>142</a:t>
            </a:fld>
            <a:endParaRPr lang="sv-SE"/>
          </a:p>
        </p:txBody>
      </p:sp>
      <p:grpSp>
        <p:nvGrpSpPr>
          <p:cNvPr id="35" name="Group 34"/>
          <p:cNvGrpSpPr/>
          <p:nvPr/>
        </p:nvGrpSpPr>
        <p:grpSpPr>
          <a:xfrm>
            <a:off x="1043608" y="2327378"/>
            <a:ext cx="6192688" cy="2574154"/>
            <a:chOff x="827584" y="2473742"/>
            <a:chExt cx="6984776" cy="3962179"/>
          </a:xfrm>
        </p:grpSpPr>
        <p:grpSp>
          <p:nvGrpSpPr>
            <p:cNvPr id="32" name="Group 31"/>
            <p:cNvGrpSpPr/>
            <p:nvPr/>
          </p:nvGrpSpPr>
          <p:grpSpPr>
            <a:xfrm>
              <a:off x="827584" y="2473742"/>
              <a:ext cx="6624736" cy="3962179"/>
              <a:chOff x="827584" y="2473742"/>
              <a:chExt cx="6624736" cy="3962179"/>
            </a:xfrm>
          </p:grpSpPr>
          <p:grpSp>
            <p:nvGrpSpPr>
              <p:cNvPr id="30" name="Group 29"/>
              <p:cNvGrpSpPr/>
              <p:nvPr/>
            </p:nvGrpSpPr>
            <p:grpSpPr>
              <a:xfrm>
                <a:off x="827584" y="3024683"/>
                <a:ext cx="6624736" cy="3411238"/>
                <a:chOff x="827584" y="3024683"/>
                <a:chExt cx="6624736" cy="3411238"/>
              </a:xfrm>
            </p:grpSpPr>
            <p:grpSp>
              <p:nvGrpSpPr>
                <p:cNvPr id="23" name="Group 22"/>
                <p:cNvGrpSpPr/>
                <p:nvPr/>
              </p:nvGrpSpPr>
              <p:grpSpPr>
                <a:xfrm>
                  <a:off x="1309292" y="3024683"/>
                  <a:ext cx="1872208" cy="1656184"/>
                  <a:chOff x="1309292" y="3024683"/>
                  <a:chExt cx="1872208" cy="1656184"/>
                </a:xfrm>
              </p:grpSpPr>
              <p:sp>
                <p:nvSpPr>
                  <p:cNvPr id="3" name="Rounded Rectangle 2"/>
                  <p:cNvSpPr/>
                  <p:nvPr/>
                </p:nvSpPr>
                <p:spPr>
                  <a:xfrm>
                    <a:off x="1309292" y="3024683"/>
                    <a:ext cx="1872208" cy="16561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Exposed</a:t>
                    </a:r>
                  </a:p>
                  <a:p>
                    <a:pPr algn="ctr"/>
                    <a:endParaRPr lang="en-US" dirty="0"/>
                  </a:p>
                  <a:p>
                    <a:pPr algn="ctr"/>
                    <a:r>
                      <a:rPr lang="en-US" dirty="0"/>
                      <a:t>Unexposed</a:t>
                    </a:r>
                  </a:p>
                </p:txBody>
              </p:sp>
              <p:cxnSp>
                <p:nvCxnSpPr>
                  <p:cNvPr id="6" name="Straight Connector 5"/>
                  <p:cNvCxnSpPr>
                    <a:stCxn id="3" idx="1"/>
                    <a:endCxn id="3" idx="3"/>
                  </p:cNvCxnSpPr>
                  <p:nvPr/>
                </p:nvCxnSpPr>
                <p:spPr>
                  <a:xfrm>
                    <a:off x="1309292" y="3852775"/>
                    <a:ext cx="1872208"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9" name="Group 18"/>
                <p:cNvGrpSpPr/>
                <p:nvPr/>
              </p:nvGrpSpPr>
              <p:grpSpPr>
                <a:xfrm>
                  <a:off x="827584" y="4744194"/>
                  <a:ext cx="6624736" cy="1691727"/>
                  <a:chOff x="827584" y="4744194"/>
                  <a:chExt cx="6624736" cy="1691727"/>
                </a:xfrm>
              </p:grpSpPr>
              <p:sp>
                <p:nvSpPr>
                  <p:cNvPr id="12" name="TextBox 11"/>
                  <p:cNvSpPr txBox="1"/>
                  <p:nvPr/>
                </p:nvSpPr>
                <p:spPr>
                  <a:xfrm>
                    <a:off x="3851921" y="5013175"/>
                    <a:ext cx="792088" cy="995921"/>
                  </a:xfrm>
                  <a:prstGeom prst="rect">
                    <a:avLst/>
                  </a:prstGeom>
                  <a:noFill/>
                </p:spPr>
                <p:txBody>
                  <a:bodyPr wrap="square" rtlCol="0">
                    <a:spAutoFit/>
                  </a:bodyPr>
                  <a:lstStyle/>
                  <a:p>
                    <a:pPr algn="ctr"/>
                    <a:r>
                      <a:rPr lang="en-US" b="1" dirty="0">
                        <a:latin typeface="+mj-lt"/>
                      </a:rPr>
                      <a:t>Time</a:t>
                    </a:r>
                  </a:p>
                </p:txBody>
              </p:sp>
              <p:sp>
                <p:nvSpPr>
                  <p:cNvPr id="14" name="TextBox 13"/>
                  <p:cNvSpPr txBox="1"/>
                  <p:nvPr/>
                </p:nvSpPr>
                <p:spPr>
                  <a:xfrm>
                    <a:off x="1259632" y="5013175"/>
                    <a:ext cx="1944216" cy="1422744"/>
                  </a:xfrm>
                  <a:prstGeom prst="rect">
                    <a:avLst/>
                  </a:prstGeom>
                  <a:noFill/>
                </p:spPr>
                <p:txBody>
                  <a:bodyPr wrap="square" rtlCol="0">
                    <a:spAutoFit/>
                  </a:bodyPr>
                  <a:lstStyle/>
                  <a:p>
                    <a:pPr algn="ctr"/>
                    <a:r>
                      <a:rPr lang="en-US" dirty="0">
                        <a:latin typeface="+mj-lt"/>
                      </a:rPr>
                      <a:t>0 </a:t>
                    </a:r>
                  </a:p>
                  <a:p>
                    <a:pPr algn="ctr"/>
                    <a:r>
                      <a:rPr lang="en-US" dirty="0">
                        <a:latin typeface="+mj-lt"/>
                      </a:rPr>
                      <a:t>(start of study)</a:t>
                    </a:r>
                  </a:p>
                </p:txBody>
              </p:sp>
              <p:sp>
                <p:nvSpPr>
                  <p:cNvPr id="15" name="TextBox 14"/>
                  <p:cNvSpPr txBox="1"/>
                  <p:nvPr/>
                </p:nvSpPr>
                <p:spPr>
                  <a:xfrm>
                    <a:off x="5364088" y="5013177"/>
                    <a:ext cx="1944216" cy="1422744"/>
                  </a:xfrm>
                  <a:prstGeom prst="rect">
                    <a:avLst/>
                  </a:prstGeom>
                  <a:noFill/>
                </p:spPr>
                <p:txBody>
                  <a:bodyPr wrap="square" rtlCol="0">
                    <a:spAutoFit/>
                  </a:bodyPr>
                  <a:lstStyle/>
                  <a:p>
                    <a:pPr algn="ctr"/>
                    <a:r>
                      <a:rPr lang="en-US" i="1" dirty="0">
                        <a:latin typeface="+mj-lt"/>
                      </a:rPr>
                      <a:t>t</a:t>
                    </a:r>
                    <a:r>
                      <a:rPr lang="en-US" dirty="0">
                        <a:latin typeface="+mj-lt"/>
                      </a:rPr>
                      <a:t> </a:t>
                    </a:r>
                  </a:p>
                  <a:p>
                    <a:pPr algn="ctr"/>
                    <a:r>
                      <a:rPr lang="en-US" dirty="0">
                        <a:latin typeface="+mj-lt"/>
                      </a:rPr>
                      <a:t>(end of study)</a:t>
                    </a:r>
                  </a:p>
                </p:txBody>
              </p:sp>
              <p:grpSp>
                <p:nvGrpSpPr>
                  <p:cNvPr id="17" name="Group 16"/>
                  <p:cNvGrpSpPr/>
                  <p:nvPr/>
                </p:nvGrpSpPr>
                <p:grpSpPr>
                  <a:xfrm>
                    <a:off x="827584" y="4744194"/>
                    <a:ext cx="6624736" cy="235050"/>
                    <a:chOff x="827584" y="4744194"/>
                    <a:chExt cx="6624736" cy="235050"/>
                  </a:xfrm>
                </p:grpSpPr>
                <p:cxnSp>
                  <p:nvCxnSpPr>
                    <p:cNvPr id="11" name="Straight Connector 10"/>
                    <p:cNvCxnSpPr/>
                    <p:nvPr/>
                  </p:nvCxnSpPr>
                  <p:spPr>
                    <a:xfrm>
                      <a:off x="827584" y="4869160"/>
                      <a:ext cx="6624736" cy="0"/>
                    </a:xfrm>
                    <a:prstGeom prst="line">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231740" y="4744194"/>
                      <a:ext cx="0" cy="216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343625" y="4763244"/>
                      <a:ext cx="0" cy="216000"/>
                    </a:xfrm>
                    <a:prstGeom prst="line">
                      <a:avLst/>
                    </a:prstGeom>
                    <a:ln w="28575"/>
                  </p:spPr>
                  <p:style>
                    <a:lnRef idx="1">
                      <a:schemeClr val="accent1"/>
                    </a:lnRef>
                    <a:fillRef idx="0">
                      <a:schemeClr val="accent1"/>
                    </a:fillRef>
                    <a:effectRef idx="0">
                      <a:schemeClr val="accent1"/>
                    </a:effectRef>
                    <a:fontRef idx="minor">
                      <a:schemeClr val="tx1"/>
                    </a:fontRef>
                  </p:style>
                </p:cxnSp>
              </p:grpSp>
            </p:grpSp>
            <p:cxnSp>
              <p:nvCxnSpPr>
                <p:cNvPr id="25" name="Straight Arrow Connector 24"/>
                <p:cNvCxnSpPr>
                  <a:stCxn id="3" idx="3"/>
                  <a:endCxn id="21" idx="1"/>
                </p:cNvCxnSpPr>
                <p:nvPr/>
              </p:nvCxnSpPr>
              <p:spPr>
                <a:xfrm>
                  <a:off x="3181501" y="3852774"/>
                  <a:ext cx="2160240" cy="0"/>
                </a:xfrm>
                <a:prstGeom prst="straightConnector1">
                  <a:avLst/>
                </a:prstGeom>
                <a:ln w="57150">
                  <a:gradFill>
                    <a:gsLst>
                      <a:gs pos="2000">
                        <a:srgbClr val="FFF200"/>
                      </a:gs>
                      <a:gs pos="45000">
                        <a:srgbClr val="FF7A00"/>
                      </a:gs>
                      <a:gs pos="77000">
                        <a:srgbClr val="FF0300"/>
                      </a:gs>
                      <a:gs pos="95000">
                        <a:srgbClr val="4D0808"/>
                      </a:gs>
                    </a:gsLst>
                    <a:lin ang="5400000" scaled="0"/>
                  </a:gradFill>
                  <a:tailEnd type="arrow"/>
                </a:ln>
              </p:spPr>
              <p:style>
                <a:lnRef idx="1">
                  <a:schemeClr val="accent1"/>
                </a:lnRef>
                <a:fillRef idx="0">
                  <a:schemeClr val="accent1"/>
                </a:fillRef>
                <a:effectRef idx="0">
                  <a:schemeClr val="accent1"/>
                </a:effectRef>
                <a:fontRef idx="minor">
                  <a:schemeClr val="tx1"/>
                </a:fontRef>
              </p:style>
            </p:cxnSp>
            <p:grpSp>
              <p:nvGrpSpPr>
                <p:cNvPr id="29" name="Group 28"/>
                <p:cNvGrpSpPr/>
                <p:nvPr/>
              </p:nvGrpSpPr>
              <p:grpSpPr>
                <a:xfrm>
                  <a:off x="5341740" y="3024683"/>
                  <a:ext cx="2088232" cy="1656184"/>
                  <a:chOff x="5341740" y="3024683"/>
                  <a:chExt cx="2088232" cy="1656184"/>
                </a:xfrm>
              </p:grpSpPr>
              <p:sp>
                <p:nvSpPr>
                  <p:cNvPr id="21" name="Rounded Rectangle 20"/>
                  <p:cNvSpPr/>
                  <p:nvPr/>
                </p:nvSpPr>
                <p:spPr>
                  <a:xfrm>
                    <a:off x="5341740" y="3024683"/>
                    <a:ext cx="2088232" cy="16561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Exposed</a:t>
                    </a:r>
                  </a:p>
                  <a:p>
                    <a:endParaRPr lang="en-US" dirty="0"/>
                  </a:p>
                  <a:p>
                    <a:r>
                      <a:rPr lang="en-US" dirty="0"/>
                      <a:t>Unexposed</a:t>
                    </a:r>
                  </a:p>
                </p:txBody>
              </p:sp>
              <p:cxnSp>
                <p:nvCxnSpPr>
                  <p:cNvPr id="22" name="Straight Connector 21"/>
                  <p:cNvCxnSpPr>
                    <a:endCxn id="21" idx="3"/>
                  </p:cNvCxnSpPr>
                  <p:nvPr/>
                </p:nvCxnSpPr>
                <p:spPr>
                  <a:xfrm>
                    <a:off x="5341740" y="3850679"/>
                    <a:ext cx="2088232" cy="2096"/>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Snip Single Corner Rectangle 25"/>
                  <p:cNvSpPr/>
                  <p:nvPr/>
                </p:nvSpPr>
                <p:spPr>
                  <a:xfrm rot="5400000">
                    <a:off x="6355939" y="3590063"/>
                    <a:ext cx="1440160" cy="504056"/>
                  </a:xfrm>
                  <a:prstGeom prst="snip1Rect">
                    <a:avLst/>
                  </a:prstGeom>
                  <a:gradFill>
                    <a:gsLst>
                      <a:gs pos="0">
                        <a:srgbClr val="FFF200"/>
                      </a:gs>
                      <a:gs pos="70000">
                        <a:srgbClr val="FF7A00"/>
                      </a:gs>
                      <a:gs pos="93000">
                        <a:srgbClr val="FF0300"/>
                      </a:gs>
                      <a:gs pos="100000">
                        <a:srgbClr val="4D0808"/>
                      </a:gs>
                    </a:gsLst>
                    <a:lin ang="0" scaled="0"/>
                  </a:gradFill>
                  <a:ln w="19050">
                    <a:solidFill>
                      <a:schemeClr val="bg2"/>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50" dirty="0">
                        <a:solidFill>
                          <a:schemeClr val="tx1"/>
                        </a:solidFill>
                      </a:rPr>
                      <a:t>CASES</a:t>
                    </a:r>
                  </a:p>
                </p:txBody>
              </p:sp>
            </p:grpSp>
          </p:grpSp>
          <p:sp>
            <p:nvSpPr>
              <p:cNvPr id="31" name="TextBox 30"/>
              <p:cNvSpPr txBox="1"/>
              <p:nvPr/>
            </p:nvSpPr>
            <p:spPr>
              <a:xfrm>
                <a:off x="1374478" y="2473742"/>
                <a:ext cx="1885779" cy="568482"/>
              </a:xfrm>
              <a:prstGeom prst="rect">
                <a:avLst/>
              </a:prstGeom>
              <a:noFill/>
            </p:spPr>
            <p:txBody>
              <a:bodyPr wrap="square" lIns="27000" rIns="0" rtlCol="0">
                <a:spAutoFit/>
              </a:bodyPr>
              <a:lstStyle/>
              <a:p>
                <a:r>
                  <a:rPr lang="en-US" b="1" dirty="0">
                    <a:solidFill>
                      <a:schemeClr val="tx2">
                        <a:lumMod val="75000"/>
                      </a:schemeClr>
                    </a:solidFill>
                    <a:latin typeface="+mj-lt"/>
                  </a:rPr>
                  <a:t>Cohort @time </a:t>
                </a:r>
                <a:r>
                  <a:rPr lang="en-US" b="1" i="1" dirty="0">
                    <a:solidFill>
                      <a:schemeClr val="tx2">
                        <a:lumMod val="75000"/>
                      </a:schemeClr>
                    </a:solidFill>
                    <a:latin typeface="+mj-lt"/>
                  </a:rPr>
                  <a:t>0</a:t>
                </a:r>
              </a:p>
            </p:txBody>
          </p:sp>
          <p:sp>
            <p:nvSpPr>
              <p:cNvPr id="33" name="TextBox 32"/>
              <p:cNvSpPr txBox="1"/>
              <p:nvPr/>
            </p:nvSpPr>
            <p:spPr>
              <a:xfrm>
                <a:off x="5542038" y="2503073"/>
                <a:ext cx="1786008" cy="568482"/>
              </a:xfrm>
              <a:prstGeom prst="rect">
                <a:avLst/>
              </a:prstGeom>
              <a:noFill/>
            </p:spPr>
            <p:txBody>
              <a:bodyPr wrap="square" lIns="27000" rIns="0" rtlCol="0">
                <a:spAutoFit/>
              </a:bodyPr>
              <a:lstStyle/>
              <a:p>
                <a:r>
                  <a:rPr lang="en-US" b="1" dirty="0">
                    <a:solidFill>
                      <a:schemeClr val="tx2">
                        <a:lumMod val="75000"/>
                      </a:schemeClr>
                    </a:solidFill>
                    <a:latin typeface="+mj-lt"/>
                  </a:rPr>
                  <a:t>Cohort @time </a:t>
                </a:r>
                <a:r>
                  <a:rPr lang="en-US" b="1" i="1" dirty="0">
                    <a:solidFill>
                      <a:schemeClr val="tx2">
                        <a:lumMod val="75000"/>
                      </a:schemeClr>
                    </a:solidFill>
                    <a:latin typeface="+mj-lt"/>
                  </a:rPr>
                  <a:t>t</a:t>
                </a:r>
              </a:p>
            </p:txBody>
          </p:sp>
        </p:grpSp>
        <p:sp>
          <p:nvSpPr>
            <p:cNvPr id="34" name="TextBox 33"/>
            <p:cNvSpPr txBox="1"/>
            <p:nvPr/>
          </p:nvSpPr>
          <p:spPr>
            <a:xfrm>
              <a:off x="1115615" y="5762686"/>
              <a:ext cx="6696745" cy="480176"/>
            </a:xfrm>
            <a:prstGeom prst="rect">
              <a:avLst/>
            </a:prstGeom>
            <a:noFill/>
          </p:spPr>
          <p:txBody>
            <a:bodyPr wrap="square" rtlCol="0">
              <a:spAutoFit/>
            </a:bodyPr>
            <a:lstStyle/>
            <a:p>
              <a:r>
                <a:rPr lang="en-US" sz="1425" dirty="0">
                  <a:latin typeface="+mj-lt"/>
                </a:rPr>
                <a:t>Fig 15.6 Schematic representation of a case-control study</a:t>
              </a:r>
            </a:p>
          </p:txBody>
        </p:sp>
      </p:grpSp>
      <p:grpSp>
        <p:nvGrpSpPr>
          <p:cNvPr id="45" name="Group 44"/>
          <p:cNvGrpSpPr/>
          <p:nvPr/>
        </p:nvGrpSpPr>
        <p:grpSpPr>
          <a:xfrm>
            <a:off x="3269714" y="1129544"/>
            <a:ext cx="4326621" cy="1922963"/>
            <a:chOff x="2835619" y="1841877"/>
            <a:chExt cx="5768828" cy="2380927"/>
          </a:xfrm>
        </p:grpSpPr>
        <p:grpSp>
          <p:nvGrpSpPr>
            <p:cNvPr id="24" name="Group 23"/>
            <p:cNvGrpSpPr/>
            <p:nvPr/>
          </p:nvGrpSpPr>
          <p:grpSpPr>
            <a:xfrm>
              <a:off x="4427984" y="2420888"/>
              <a:ext cx="936476" cy="1801916"/>
              <a:chOff x="4680012" y="2492896"/>
              <a:chExt cx="936476" cy="1801916"/>
            </a:xfrm>
          </p:grpSpPr>
          <p:cxnSp>
            <p:nvCxnSpPr>
              <p:cNvPr id="9" name="Straight Connector 8"/>
              <p:cNvCxnSpPr/>
              <p:nvPr/>
            </p:nvCxnSpPr>
            <p:spPr>
              <a:xfrm flipV="1">
                <a:off x="4680012" y="2492896"/>
                <a:ext cx="0" cy="1801916"/>
              </a:xfrm>
              <a:prstGeom prst="line">
                <a:avLst/>
              </a:prstGeom>
              <a:ln w="38100">
                <a:gradFill>
                  <a:gsLst>
                    <a:gs pos="0">
                      <a:srgbClr val="FFF200"/>
                    </a:gs>
                    <a:gs pos="45000">
                      <a:srgbClr val="FF7A00"/>
                    </a:gs>
                    <a:gs pos="70000">
                      <a:srgbClr val="FF0300"/>
                    </a:gs>
                    <a:gs pos="100000">
                      <a:srgbClr val="4D0808"/>
                    </a:gs>
                  </a:gsLst>
                  <a:lin ang="5400000" scaled="0"/>
                </a:gradFill>
                <a:prstDash val="lgDash"/>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680012" y="2492896"/>
                <a:ext cx="936476" cy="0"/>
              </a:xfrm>
              <a:prstGeom prst="straightConnector1">
                <a:avLst/>
              </a:prstGeom>
              <a:ln w="25400">
                <a:gradFill>
                  <a:gsLst>
                    <a:gs pos="0">
                      <a:srgbClr val="FFF200"/>
                    </a:gs>
                    <a:gs pos="45000">
                      <a:srgbClr val="FF7A00"/>
                    </a:gs>
                    <a:gs pos="70000">
                      <a:srgbClr val="FF0300"/>
                    </a:gs>
                    <a:gs pos="100000">
                      <a:srgbClr val="4D0808"/>
                    </a:gs>
                  </a:gsLst>
                  <a:lin ang="5400000" scaled="0"/>
                </a:gradFill>
                <a:prstDash val="lgDash"/>
                <a:tailEnd type="arrow"/>
              </a:ln>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5352507" y="1841877"/>
              <a:ext cx="3251940" cy="1486946"/>
              <a:chOff x="5352507" y="1841877"/>
              <a:chExt cx="3251940" cy="1486946"/>
            </a:xfrm>
          </p:grpSpPr>
          <p:sp>
            <p:nvSpPr>
              <p:cNvPr id="36" name="Rounded Rectangle 35"/>
              <p:cNvSpPr/>
              <p:nvPr/>
            </p:nvSpPr>
            <p:spPr>
              <a:xfrm>
                <a:off x="5364459" y="1853552"/>
                <a:ext cx="3239988" cy="147527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rgbClr val="C00000"/>
                    </a:solidFill>
                  </a:rPr>
                  <a:t>Exposed	 Exposed </a:t>
                </a:r>
              </a:p>
              <a:p>
                <a:r>
                  <a:rPr lang="en-US" sz="1400" dirty="0">
                    <a:solidFill>
                      <a:srgbClr val="C00000"/>
                    </a:solidFill>
                  </a:rPr>
                  <a:t>Controls 	  cases     </a:t>
                </a:r>
              </a:p>
              <a:p>
                <a:r>
                  <a:rPr lang="en-US" sz="1400" dirty="0">
                    <a:solidFill>
                      <a:srgbClr val="C00000"/>
                    </a:solidFill>
                  </a:rPr>
                  <a:t>Unexposed </a:t>
                </a:r>
              </a:p>
              <a:p>
                <a:r>
                  <a:rPr lang="en-US" sz="1400" dirty="0">
                    <a:solidFill>
                      <a:srgbClr val="C00000"/>
                    </a:solidFill>
                  </a:rPr>
                  <a:t>Controls          </a:t>
                </a:r>
                <a:r>
                  <a:rPr lang="en-US" sz="1200" dirty="0">
                    <a:solidFill>
                      <a:srgbClr val="C00000"/>
                    </a:solidFill>
                  </a:rPr>
                  <a:t>Unexposed</a:t>
                </a:r>
                <a:r>
                  <a:rPr lang="en-US" sz="1400" dirty="0">
                    <a:solidFill>
                      <a:srgbClr val="C00000"/>
                    </a:solidFill>
                  </a:rPr>
                  <a:t> c</a:t>
                </a:r>
                <a:r>
                  <a:rPr lang="en-US" sz="1200" dirty="0">
                    <a:solidFill>
                      <a:srgbClr val="C00000"/>
                    </a:solidFill>
                  </a:rPr>
                  <a:t>ases</a:t>
                </a:r>
                <a:endParaRPr lang="en-US" sz="1400" dirty="0">
                  <a:solidFill>
                    <a:srgbClr val="C00000"/>
                  </a:solidFill>
                </a:endParaRPr>
              </a:p>
            </p:txBody>
          </p:sp>
          <p:cxnSp>
            <p:nvCxnSpPr>
              <p:cNvPr id="28" name="Straight Connector 27"/>
              <p:cNvCxnSpPr/>
              <p:nvPr/>
            </p:nvCxnSpPr>
            <p:spPr>
              <a:xfrm>
                <a:off x="6780246" y="1841877"/>
                <a:ext cx="0" cy="1444084"/>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6786747" y="2730050"/>
                <a:ext cx="1721692" cy="893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352507" y="2610594"/>
                <a:ext cx="1427739" cy="893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43" name="TextBox 42"/>
            <p:cNvSpPr txBox="1"/>
            <p:nvPr/>
          </p:nvSpPr>
          <p:spPr>
            <a:xfrm rot="19365717">
              <a:off x="2835619" y="2257510"/>
              <a:ext cx="2504047" cy="724042"/>
            </a:xfrm>
            <a:prstGeom prst="rect">
              <a:avLst/>
            </a:prstGeom>
            <a:noFill/>
          </p:spPr>
          <p:txBody>
            <a:bodyPr wrap="square" lIns="0" rIns="0" rtlCol="0">
              <a:spAutoFit/>
            </a:bodyPr>
            <a:lstStyle/>
            <a:p>
              <a:r>
                <a:rPr lang="en-US" sz="1600" dirty="0">
                  <a:latin typeface="+mj-lt"/>
                </a:rPr>
                <a:t>Selection of cases and controls</a:t>
              </a:r>
            </a:p>
          </p:txBody>
        </p:sp>
      </p:grpSp>
      <p:sp>
        <p:nvSpPr>
          <p:cNvPr id="38" name="TextBox 37"/>
          <p:cNvSpPr txBox="1"/>
          <p:nvPr/>
        </p:nvSpPr>
        <p:spPr>
          <a:xfrm>
            <a:off x="611560" y="455103"/>
            <a:ext cx="8064896" cy="923330"/>
          </a:xfrm>
          <a:prstGeom prst="rect">
            <a:avLst/>
          </a:prstGeom>
          <a:noFill/>
        </p:spPr>
        <p:txBody>
          <a:bodyPr wrap="square" rtlCol="0">
            <a:spAutoFit/>
          </a:bodyPr>
          <a:lstStyle/>
          <a:p>
            <a:pPr>
              <a:spcAft>
                <a:spcPts val="450"/>
              </a:spcAft>
            </a:pPr>
            <a:r>
              <a:rPr lang="en-US" dirty="0">
                <a:latin typeface="Verdana" panose="020B0604030504040204" pitchFamily="34" charset="0"/>
                <a:ea typeface="Verdana" panose="020B0604030504040204" pitchFamily="34" charset="0"/>
              </a:rPr>
              <a:t>A group of </a:t>
            </a:r>
            <a:r>
              <a:rPr lang="en-US" b="1" dirty="0">
                <a:latin typeface="Verdana" panose="020B0604030504040204" pitchFamily="34" charset="0"/>
                <a:ea typeface="Verdana" panose="020B0604030504040204" pitchFamily="34" charset="0"/>
              </a:rPr>
              <a:t>cases</a:t>
            </a:r>
            <a:r>
              <a:rPr lang="en-US" dirty="0">
                <a:latin typeface="Verdana" panose="020B0604030504040204" pitchFamily="34" charset="0"/>
                <a:ea typeface="Verdana" panose="020B0604030504040204" pitchFamily="34" charset="0"/>
              </a:rPr>
              <a:t> and a group of comparable </a:t>
            </a:r>
            <a:r>
              <a:rPr lang="en-US" b="1" dirty="0">
                <a:latin typeface="Verdana" panose="020B0604030504040204" pitchFamily="34" charset="0"/>
                <a:ea typeface="Verdana" panose="020B0604030504040204" pitchFamily="34" charset="0"/>
              </a:rPr>
              <a:t>controls</a:t>
            </a:r>
            <a:r>
              <a:rPr lang="en-US" dirty="0">
                <a:latin typeface="Verdana" panose="020B0604030504040204" pitchFamily="34" charset="0"/>
                <a:ea typeface="Verdana" panose="020B0604030504040204" pitchFamily="34" charset="0"/>
              </a:rPr>
              <a:t> (</a:t>
            </a:r>
            <a:r>
              <a:rPr lang="en-US" i="1" dirty="0">
                <a:latin typeface="Verdana" panose="020B0604030504040204" pitchFamily="34" charset="0"/>
                <a:ea typeface="Verdana" panose="020B0604030504040204" pitchFamily="34" charset="0"/>
              </a:rPr>
              <a:t>not case</a:t>
            </a:r>
            <a:r>
              <a:rPr lang="en-US" dirty="0">
                <a:latin typeface="Verdana" panose="020B0604030504040204" pitchFamily="34" charset="0"/>
                <a:ea typeface="Verdana" panose="020B0604030504040204" pitchFamily="34" charset="0"/>
              </a:rPr>
              <a:t>), look back into their past; compare cases vs controls how frequently the risk factor is present</a:t>
            </a:r>
            <a:endParaRPr lang="en-US"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55232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circle(in)">
                                      <p:cBhvr>
                                        <p:cTn id="7" dur="2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nummer 1"/>
          <p:cNvSpPr>
            <a:spLocks noGrp="1"/>
          </p:cNvSpPr>
          <p:nvPr>
            <p:ph type="sldNum" sz="quarter" idx="12"/>
          </p:nvPr>
        </p:nvSpPr>
        <p:spPr/>
        <p:txBody>
          <a:bodyPr/>
          <a:lstStyle/>
          <a:p>
            <a:pPr>
              <a:defRPr/>
            </a:pPr>
            <a:fld id="{6EA40670-0085-46BE-8A1D-C037329D2922}" type="slidenum">
              <a:rPr lang="sv-SE" smtClean="0"/>
              <a:pPr>
                <a:defRPr/>
              </a:pPr>
              <a:t>143</a:t>
            </a:fld>
            <a:endParaRPr lang="sv-SE"/>
          </a:p>
        </p:txBody>
      </p:sp>
      <p:sp>
        <p:nvSpPr>
          <p:cNvPr id="7" name="TextBox 6"/>
          <p:cNvSpPr txBox="1"/>
          <p:nvPr/>
        </p:nvSpPr>
        <p:spPr>
          <a:xfrm>
            <a:off x="1385646" y="681541"/>
            <a:ext cx="6318702" cy="1744067"/>
          </a:xfrm>
          <a:prstGeom prst="rect">
            <a:avLst/>
          </a:prstGeom>
          <a:noFill/>
        </p:spPr>
        <p:txBody>
          <a:bodyPr wrap="square" rtlCol="0">
            <a:spAutoFit/>
          </a:bodyPr>
          <a:lstStyle/>
          <a:p>
            <a:pPr marL="214313" indent="-214313">
              <a:lnSpc>
                <a:spcPct val="150000"/>
              </a:lnSpc>
              <a:spcAft>
                <a:spcPts val="450"/>
              </a:spcAft>
              <a:buFont typeface="Arial" panose="020B0604020202020204" pitchFamily="34" charset="0"/>
              <a:buChar char="•"/>
            </a:pPr>
            <a:r>
              <a:rPr lang="en-US" sz="1650" b="1" dirty="0">
                <a:latin typeface="+mj-lt"/>
              </a:rPr>
              <a:t>Case-control </a:t>
            </a:r>
            <a:r>
              <a:rPr lang="en-US" sz="1650" dirty="0">
                <a:latin typeface="+mj-lt"/>
              </a:rPr>
              <a:t>studies start with a group of </a:t>
            </a:r>
            <a:r>
              <a:rPr lang="en-US" sz="1650" b="1" dirty="0">
                <a:solidFill>
                  <a:srgbClr val="002060"/>
                </a:solidFill>
                <a:latin typeface="+mj-lt"/>
              </a:rPr>
              <a:t>cases</a:t>
            </a:r>
            <a:r>
              <a:rPr lang="en-US" sz="1650" dirty="0">
                <a:latin typeface="+mj-lt"/>
              </a:rPr>
              <a:t> and then includes a random selection of </a:t>
            </a:r>
            <a:r>
              <a:rPr lang="en-US" sz="1650" b="1" dirty="0">
                <a:solidFill>
                  <a:srgbClr val="002060"/>
                </a:solidFill>
                <a:latin typeface="+mj-lt"/>
              </a:rPr>
              <a:t>controls</a:t>
            </a:r>
            <a:r>
              <a:rPr lang="en-US" sz="1650" dirty="0">
                <a:latin typeface="+mj-lt"/>
              </a:rPr>
              <a:t> (no disease under the study!) </a:t>
            </a:r>
          </a:p>
          <a:p>
            <a:pPr marL="214313" indent="-214313">
              <a:lnSpc>
                <a:spcPct val="150000"/>
              </a:lnSpc>
              <a:spcAft>
                <a:spcPts val="450"/>
              </a:spcAft>
              <a:buFont typeface="Arial" panose="020B0604020202020204" pitchFamily="34" charset="0"/>
              <a:buChar char="•"/>
            </a:pPr>
            <a:r>
              <a:rPr lang="en-US" sz="1650" dirty="0">
                <a:latin typeface="+mj-lt"/>
              </a:rPr>
              <a:t>Decide the </a:t>
            </a:r>
            <a:r>
              <a:rPr lang="en-US" sz="1650" b="1" dirty="0">
                <a:solidFill>
                  <a:srgbClr val="002060"/>
                </a:solidFill>
                <a:latin typeface="+mj-lt"/>
              </a:rPr>
              <a:t>time</a:t>
            </a:r>
            <a:r>
              <a:rPr lang="en-US" sz="1650" dirty="0">
                <a:latin typeface="+mj-lt"/>
              </a:rPr>
              <a:t> component: look back for 20 years, 1 year, 1 month?</a:t>
            </a:r>
          </a:p>
          <a:p>
            <a:pPr marL="214313" indent="-214313">
              <a:lnSpc>
                <a:spcPct val="150000"/>
              </a:lnSpc>
              <a:spcAft>
                <a:spcPts val="450"/>
              </a:spcAft>
              <a:buFont typeface="Arial" panose="020B0604020202020204" pitchFamily="34" charset="0"/>
              <a:buChar char="•"/>
            </a:pPr>
            <a:r>
              <a:rPr lang="en-US" sz="1650" dirty="0">
                <a:latin typeface="+mj-lt"/>
              </a:rPr>
              <a:t>Map exposure for each case and control:</a:t>
            </a:r>
          </a:p>
        </p:txBody>
      </p:sp>
      <p:graphicFrame>
        <p:nvGraphicFramePr>
          <p:cNvPr id="3" name="Table 2"/>
          <p:cNvGraphicFramePr>
            <a:graphicFrameLocks noGrp="1"/>
          </p:cNvGraphicFramePr>
          <p:nvPr>
            <p:extLst>
              <p:ext uri="{D42A27DB-BD31-4B8C-83A1-F6EECF244321}">
                <p14:modId xmlns:p14="http://schemas.microsoft.com/office/powerpoint/2010/main" val="3967754789"/>
              </p:ext>
            </p:extLst>
          </p:nvPr>
        </p:nvGraphicFramePr>
        <p:xfrm>
          <a:off x="2627784" y="2571750"/>
          <a:ext cx="3942438" cy="990600"/>
        </p:xfrm>
        <a:graphic>
          <a:graphicData uri="http://schemas.openxmlformats.org/drawingml/2006/table">
            <a:tbl>
              <a:tblPr firstRow="1" bandRow="1">
                <a:tableStyleId>{5C22544A-7EE6-4342-B048-85BDC9FD1C3A}</a:tableStyleId>
              </a:tblPr>
              <a:tblGrid>
                <a:gridCol w="1155213">
                  <a:extLst>
                    <a:ext uri="{9D8B030D-6E8A-4147-A177-3AD203B41FA5}">
                      <a16:colId xmlns:a16="http://schemas.microsoft.com/office/drawing/2014/main" val="20000"/>
                    </a:ext>
                  </a:extLst>
                </a:gridCol>
                <a:gridCol w="897015">
                  <a:extLst>
                    <a:ext uri="{9D8B030D-6E8A-4147-A177-3AD203B41FA5}">
                      <a16:colId xmlns:a16="http://schemas.microsoft.com/office/drawing/2014/main" val="20001"/>
                    </a:ext>
                  </a:extLst>
                </a:gridCol>
                <a:gridCol w="810090">
                  <a:extLst>
                    <a:ext uri="{9D8B030D-6E8A-4147-A177-3AD203B41FA5}">
                      <a16:colId xmlns:a16="http://schemas.microsoft.com/office/drawing/2014/main" val="20002"/>
                    </a:ext>
                  </a:extLst>
                </a:gridCol>
                <a:gridCol w="1080120">
                  <a:extLst>
                    <a:ext uri="{9D8B030D-6E8A-4147-A177-3AD203B41FA5}">
                      <a16:colId xmlns:a16="http://schemas.microsoft.com/office/drawing/2014/main" val="20003"/>
                    </a:ext>
                  </a:extLst>
                </a:gridCol>
              </a:tblGrid>
              <a:tr h="278130">
                <a:tc>
                  <a:txBody>
                    <a:bodyPr/>
                    <a:lstStyle/>
                    <a:p>
                      <a:r>
                        <a:rPr lang="en-US" sz="1400" b="1" dirty="0">
                          <a:solidFill>
                            <a:schemeClr val="bg2">
                              <a:lumMod val="25000"/>
                            </a:schemeClr>
                          </a:solidFill>
                        </a:rPr>
                        <a:t>Cases</a:t>
                      </a:r>
                    </a:p>
                  </a:txBody>
                  <a:tcPr marL="68580" marR="68580" marT="34290" marB="34290">
                    <a:solidFill>
                      <a:schemeClr val="bg1">
                        <a:lumMod val="85000"/>
                      </a:schemeClr>
                    </a:solidFill>
                  </a:tcPr>
                </a:tc>
                <a:tc gridSpan="2">
                  <a:txBody>
                    <a:bodyPr/>
                    <a:lstStyle/>
                    <a:p>
                      <a:r>
                        <a:rPr lang="en-US" sz="1400" dirty="0"/>
                        <a:t>% exposed</a:t>
                      </a:r>
                    </a:p>
                  </a:txBody>
                  <a:tcPr marL="68580" marR="68580" marT="34290" marB="34290">
                    <a:solidFill>
                      <a:srgbClr val="7030A0"/>
                    </a:solidFill>
                  </a:tcPr>
                </a:tc>
                <a:tc hMerge="1">
                  <a:txBody>
                    <a:bodyPr/>
                    <a:lstStyle/>
                    <a:p>
                      <a:endParaRPr lang="en-US"/>
                    </a:p>
                  </a:txBody>
                  <a:tcPr/>
                </a:tc>
                <a:tc>
                  <a:txBody>
                    <a:bodyPr/>
                    <a:lstStyle/>
                    <a:p>
                      <a:r>
                        <a:rPr lang="en-US" sz="1400" dirty="0"/>
                        <a:t>% unexposed</a:t>
                      </a:r>
                    </a:p>
                  </a:txBody>
                  <a:tcPr marL="68580" marR="68580" marT="34290" marB="34290"/>
                </a:tc>
                <a:extLst>
                  <a:ext uri="{0D108BD9-81ED-4DB2-BD59-A6C34878D82A}">
                    <a16:rowId xmlns:a16="http://schemas.microsoft.com/office/drawing/2014/main" val="10000"/>
                  </a:ext>
                </a:extLst>
              </a:tr>
              <a:tr h="278130">
                <a:tc>
                  <a:txBody>
                    <a:bodyPr/>
                    <a:lstStyle/>
                    <a:p>
                      <a:r>
                        <a:rPr lang="en-US" sz="1400" b="1" dirty="0">
                          <a:solidFill>
                            <a:schemeClr val="bg2">
                              <a:lumMod val="25000"/>
                            </a:schemeClr>
                          </a:solidFill>
                        </a:rPr>
                        <a:t>Controls</a:t>
                      </a:r>
                    </a:p>
                  </a:txBody>
                  <a:tcPr marL="68580" marR="68580" marT="34290" marB="34290">
                    <a:solidFill>
                      <a:schemeClr val="bg1">
                        <a:lumMod val="85000"/>
                      </a:schemeClr>
                    </a:solidFill>
                  </a:tcPr>
                </a:tc>
                <a:tc>
                  <a:txBody>
                    <a:bodyPr/>
                    <a:lstStyle/>
                    <a:p>
                      <a:r>
                        <a:rPr lang="en-US" sz="1400" dirty="0">
                          <a:solidFill>
                            <a:schemeClr val="bg1"/>
                          </a:solidFill>
                        </a:rPr>
                        <a:t>% exposed</a:t>
                      </a:r>
                    </a:p>
                  </a:txBody>
                  <a:tcPr marL="68580" marR="68580" marT="34290" marB="34290">
                    <a:solidFill>
                      <a:srgbClr val="7030A0"/>
                    </a:solidFill>
                  </a:tcPr>
                </a:tc>
                <a:tc gridSpan="2">
                  <a:txBody>
                    <a:bodyPr/>
                    <a:lstStyle/>
                    <a:p>
                      <a:r>
                        <a:rPr lang="en-US" sz="1400" dirty="0">
                          <a:solidFill>
                            <a:schemeClr val="bg1"/>
                          </a:solidFill>
                        </a:rPr>
                        <a:t>% exposed</a:t>
                      </a:r>
                    </a:p>
                  </a:txBody>
                  <a:tcPr marL="68580" marR="68580" marT="34290" marB="34290">
                    <a:solidFill>
                      <a:schemeClr val="accent1"/>
                    </a:solidFill>
                  </a:tcPr>
                </a:tc>
                <a:tc hMerge="1">
                  <a:txBody>
                    <a:bodyPr/>
                    <a:lstStyle/>
                    <a:p>
                      <a:endParaRPr lang="en-US" dirty="0"/>
                    </a:p>
                  </a:txBody>
                  <a:tcPr/>
                </a:tc>
                <a:extLst>
                  <a:ext uri="{0D108BD9-81ED-4DB2-BD59-A6C34878D82A}">
                    <a16:rowId xmlns:a16="http://schemas.microsoft.com/office/drawing/2014/main" val="10001"/>
                  </a:ext>
                </a:extLst>
              </a:tr>
            </a:tbl>
          </a:graphicData>
        </a:graphic>
      </p:graphicFrame>
      <p:sp>
        <p:nvSpPr>
          <p:cNvPr id="6" name="TextBox 5"/>
          <p:cNvSpPr txBox="1"/>
          <p:nvPr/>
        </p:nvSpPr>
        <p:spPr>
          <a:xfrm>
            <a:off x="1476766" y="3435846"/>
            <a:ext cx="6318702" cy="814710"/>
          </a:xfrm>
          <a:prstGeom prst="rect">
            <a:avLst/>
          </a:prstGeom>
          <a:noFill/>
        </p:spPr>
        <p:txBody>
          <a:bodyPr wrap="square" rtlCol="0">
            <a:spAutoFit/>
          </a:bodyPr>
          <a:lstStyle/>
          <a:p>
            <a:pPr lvl="1">
              <a:lnSpc>
                <a:spcPct val="150000"/>
              </a:lnSpc>
              <a:spcAft>
                <a:spcPts val="450"/>
              </a:spcAft>
            </a:pPr>
            <a:r>
              <a:rPr lang="en-US" sz="1650" b="1" dirty="0">
                <a:latin typeface="+mj-lt"/>
              </a:rPr>
              <a:t>Calculate </a:t>
            </a:r>
            <a:r>
              <a:rPr lang="en-US" sz="1650" b="1" dirty="0">
                <a:solidFill>
                  <a:srgbClr val="002060"/>
                </a:solidFill>
                <a:latin typeface="+mj-lt"/>
              </a:rPr>
              <a:t>odds ratios</a:t>
            </a:r>
            <a:r>
              <a:rPr lang="en-US" sz="1650" dirty="0">
                <a:latin typeface="+mj-lt"/>
              </a:rPr>
              <a:t>: compare the odds of being exposed among cases to the odds of exposure among controls </a:t>
            </a:r>
            <a:r>
              <a:rPr lang="en-US" sz="1650" b="1" dirty="0">
                <a:latin typeface="+mj-lt"/>
              </a:rPr>
              <a:t> </a:t>
            </a:r>
            <a:endParaRPr lang="en-US" sz="1650" dirty="0">
              <a:latin typeface="+mj-lt"/>
            </a:endParaRPr>
          </a:p>
        </p:txBody>
      </p:sp>
      <p:sp>
        <p:nvSpPr>
          <p:cNvPr id="8" name="Rubrik 1"/>
          <p:cNvSpPr txBox="1">
            <a:spLocks/>
          </p:cNvSpPr>
          <p:nvPr/>
        </p:nvSpPr>
        <p:spPr bwMode="auto">
          <a:xfrm>
            <a:off x="2951820" y="205978"/>
            <a:ext cx="3456384" cy="42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noAutofit/>
          </a:bodyPr>
          <a:lstStyle>
            <a:lvl1pPr algn="l" defTabSz="457200" rtl="0" eaLnBrk="0" fontAlgn="base" hangingPunct="0">
              <a:lnSpc>
                <a:spcPct val="90000"/>
              </a:lnSpc>
              <a:spcBef>
                <a:spcPct val="0"/>
              </a:spcBef>
              <a:spcAft>
                <a:spcPct val="0"/>
              </a:spcAft>
              <a:defRPr sz="3000" b="1" i="0" kern="1200">
                <a:solidFill>
                  <a:schemeClr val="tx1"/>
                </a:solidFill>
                <a:latin typeface="Trebuchet MS" panose="020B0603020202020204" pitchFamily="34" charset="0"/>
                <a:ea typeface="ＭＳ Ｐゴシック" pitchFamily="-65" charset="-128"/>
                <a:cs typeface="Trebuchet MS" panose="020B0603020202020204" pitchFamily="34" charset="0"/>
              </a:defRPr>
            </a:lvl1pPr>
            <a:lvl2pPr algn="l" defTabSz="457200" rtl="0" eaLnBrk="0" fontAlgn="base" hangingPunct="0">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2pPr>
            <a:lvl3pPr algn="l" defTabSz="457200" rtl="0" eaLnBrk="0" fontAlgn="base" hangingPunct="0">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3pPr>
            <a:lvl4pPr algn="l" defTabSz="457200" rtl="0" eaLnBrk="0" fontAlgn="base" hangingPunct="0">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4pPr>
            <a:lvl5pPr algn="l" defTabSz="457200" rtl="0" eaLnBrk="0" fontAlgn="base" hangingPunct="0">
              <a:lnSpc>
                <a:spcPct val="90000"/>
              </a:lnSpc>
              <a:spcBef>
                <a:spcPct val="0"/>
              </a:spcBef>
              <a:spcAft>
                <a:spcPct val="0"/>
              </a:spcAft>
              <a:defRPr sz="3000" b="1">
                <a:solidFill>
                  <a:schemeClr val="tx1"/>
                </a:solidFill>
                <a:latin typeface="Arial" charset="0"/>
                <a:ea typeface="ＭＳ Ｐゴシック" pitchFamily="-65" charset="-128"/>
                <a:cs typeface="ＭＳ Ｐゴシック" charset="0"/>
              </a:defRPr>
            </a:lvl5pPr>
            <a:lvl6pPr marL="457200" algn="l" defTabSz="457200" rtl="0" fontAlgn="base">
              <a:spcBef>
                <a:spcPct val="0"/>
              </a:spcBef>
              <a:spcAft>
                <a:spcPct val="0"/>
              </a:spcAft>
              <a:defRPr sz="2000">
                <a:solidFill>
                  <a:srgbClr val="464646"/>
                </a:solidFill>
                <a:latin typeface="Arial Bold" pitchFamily="-65" charset="0"/>
                <a:ea typeface="ＭＳ Ｐゴシック" pitchFamily="-65" charset="-128"/>
              </a:defRPr>
            </a:lvl6pPr>
            <a:lvl7pPr marL="914400" algn="l" defTabSz="457200" rtl="0" fontAlgn="base">
              <a:spcBef>
                <a:spcPct val="0"/>
              </a:spcBef>
              <a:spcAft>
                <a:spcPct val="0"/>
              </a:spcAft>
              <a:defRPr sz="2000">
                <a:solidFill>
                  <a:srgbClr val="464646"/>
                </a:solidFill>
                <a:latin typeface="Arial Bold" pitchFamily="-65" charset="0"/>
                <a:ea typeface="ＭＳ Ｐゴシック" pitchFamily="-65" charset="-128"/>
              </a:defRPr>
            </a:lvl7pPr>
            <a:lvl8pPr marL="1371600" algn="l" defTabSz="457200" rtl="0" fontAlgn="base">
              <a:spcBef>
                <a:spcPct val="0"/>
              </a:spcBef>
              <a:spcAft>
                <a:spcPct val="0"/>
              </a:spcAft>
              <a:defRPr sz="2000">
                <a:solidFill>
                  <a:srgbClr val="464646"/>
                </a:solidFill>
                <a:latin typeface="Arial Bold" pitchFamily="-65" charset="0"/>
                <a:ea typeface="ＭＳ Ｐゴシック" pitchFamily="-65" charset="-128"/>
              </a:defRPr>
            </a:lvl8pPr>
            <a:lvl9pPr marL="1828800" algn="l" defTabSz="457200" rtl="0" fontAlgn="base">
              <a:spcBef>
                <a:spcPct val="0"/>
              </a:spcBef>
              <a:spcAft>
                <a:spcPct val="0"/>
              </a:spcAft>
              <a:defRPr sz="2000">
                <a:solidFill>
                  <a:srgbClr val="464646"/>
                </a:solidFill>
                <a:latin typeface="Arial Bold" pitchFamily="-65" charset="0"/>
                <a:ea typeface="ＭＳ Ｐゴシック" pitchFamily="-65" charset="-128"/>
              </a:defRPr>
            </a:lvl9pPr>
          </a:lstStyle>
          <a:p>
            <a:r>
              <a:rPr lang="en-US" sz="2700"/>
              <a:t>Case-control studies </a:t>
            </a:r>
            <a:endParaRPr lang="sv-SE" sz="2700" dirty="0"/>
          </a:p>
        </p:txBody>
      </p:sp>
    </p:spTree>
    <p:extLst>
      <p:ext uri="{BB962C8B-B14F-4D97-AF65-F5344CB8AC3E}">
        <p14:creationId xmlns:p14="http://schemas.microsoft.com/office/powerpoint/2010/main" val="115148381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ubrik 1"/>
          <p:cNvSpPr>
            <a:spLocks noGrp="1"/>
          </p:cNvSpPr>
          <p:nvPr>
            <p:ph type="title"/>
          </p:nvPr>
        </p:nvSpPr>
        <p:spPr>
          <a:xfrm>
            <a:off x="2437398" y="202332"/>
            <a:ext cx="5220702" cy="371196"/>
          </a:xfrm>
        </p:spPr>
        <p:txBody>
          <a:bodyPr>
            <a:noAutofit/>
          </a:bodyPr>
          <a:lstStyle/>
          <a:p>
            <a:r>
              <a:rPr lang="en-US" sz="2550" dirty="0"/>
              <a:t>Last but not least…</a:t>
            </a:r>
          </a:p>
        </p:txBody>
      </p:sp>
      <p:sp>
        <p:nvSpPr>
          <p:cNvPr id="4" name="Slide Number Placeholder 3"/>
          <p:cNvSpPr>
            <a:spLocks noGrp="1"/>
          </p:cNvSpPr>
          <p:nvPr>
            <p:ph type="sldNum" sz="quarter" idx="12"/>
          </p:nvPr>
        </p:nvSpPr>
        <p:spPr/>
        <p:txBody>
          <a:bodyPr/>
          <a:lstStyle/>
          <a:p>
            <a:pPr>
              <a:defRPr/>
            </a:pPr>
            <a:fld id="{143F5C80-4ED5-4C7B-9E1A-5093DBFB213F}" type="slidenum">
              <a:rPr lang="sv-SE" smtClean="0"/>
              <a:pPr>
                <a:defRPr/>
              </a:pPr>
              <a:t>144</a:t>
            </a:fld>
            <a:endParaRPr lang="sv-SE"/>
          </a:p>
        </p:txBody>
      </p:sp>
      <p:grpSp>
        <p:nvGrpSpPr>
          <p:cNvPr id="113" name="Group 112"/>
          <p:cNvGrpSpPr/>
          <p:nvPr/>
        </p:nvGrpSpPr>
        <p:grpSpPr>
          <a:xfrm>
            <a:off x="1877722" y="1653648"/>
            <a:ext cx="5458800" cy="2917617"/>
            <a:chOff x="979629" y="1177679"/>
            <a:chExt cx="7278400" cy="3890156"/>
          </a:xfrm>
        </p:grpSpPr>
        <p:grpSp>
          <p:nvGrpSpPr>
            <p:cNvPr id="105" name="Group 104"/>
            <p:cNvGrpSpPr/>
            <p:nvPr/>
          </p:nvGrpSpPr>
          <p:grpSpPr>
            <a:xfrm>
              <a:off x="979629" y="1177679"/>
              <a:ext cx="2944299" cy="2933023"/>
              <a:chOff x="854779" y="2242976"/>
              <a:chExt cx="2944299" cy="2933023"/>
            </a:xfrm>
          </p:grpSpPr>
          <p:grpSp>
            <p:nvGrpSpPr>
              <p:cNvPr id="33" name="Group 32"/>
              <p:cNvGrpSpPr/>
              <p:nvPr/>
            </p:nvGrpSpPr>
            <p:grpSpPr>
              <a:xfrm>
                <a:off x="979970" y="2684987"/>
                <a:ext cx="2732586" cy="2241358"/>
                <a:chOff x="899592" y="1907722"/>
                <a:chExt cx="2732586" cy="2241358"/>
              </a:xfrm>
            </p:grpSpPr>
            <p:grpSp>
              <p:nvGrpSpPr>
                <p:cNvPr id="7" name="Group 6"/>
                <p:cNvGrpSpPr/>
                <p:nvPr/>
              </p:nvGrpSpPr>
              <p:grpSpPr>
                <a:xfrm>
                  <a:off x="899592" y="2114627"/>
                  <a:ext cx="2116148" cy="2034453"/>
                  <a:chOff x="971600" y="1890513"/>
                  <a:chExt cx="2116148" cy="2034453"/>
                </a:xfrm>
              </p:grpSpPr>
              <p:pic>
                <p:nvPicPr>
                  <p:cNvPr id="19"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307164">
                    <a:off x="1889590" y="2699173"/>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2369" y="2163019"/>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60776" y="2633955"/>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4382" y="2262234"/>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4024" y="2485476"/>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60320" y="1890513"/>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2720" y="2042913"/>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44879" y="2415205"/>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5225" y="2857197"/>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3153" y="2982717"/>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70521" y="2735664"/>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1600" y="2561068"/>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8175" y="3087872"/>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4933" y="2757000"/>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5024" y="2902011"/>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708" y="2420570"/>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4375" y="3181524"/>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42040" y="3414245"/>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30472">
                    <a:off x="2224933" y="3553245"/>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5765" y="3273732"/>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403" y="3333924"/>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320996">
                    <a:off x="2682197" y="3058735"/>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92644" y="3184756"/>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54697" y="2076373"/>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30484" y="2277366"/>
                    <a:ext cx="405551" cy="3717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6" name="Group 75"/>
                <p:cNvGrpSpPr/>
                <p:nvPr/>
              </p:nvGrpSpPr>
              <p:grpSpPr>
                <a:xfrm>
                  <a:off x="2020357" y="1907722"/>
                  <a:ext cx="1611821" cy="1314980"/>
                  <a:chOff x="4845279" y="2263572"/>
                  <a:chExt cx="1611821" cy="1314980"/>
                </a:xfrm>
              </p:grpSpPr>
              <p:pic>
                <p:nvPicPr>
                  <p:cNvPr id="78"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24782" y="2523299"/>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54424" y="2746541"/>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333713">
                    <a:off x="5578773" y="2263572"/>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5279" y="2676270"/>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60633" y="3131480"/>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28108" y="2681635"/>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8676" y="3206831"/>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1549" y="2364537"/>
                    <a:ext cx="405551" cy="371721"/>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4" name="TextBox 33"/>
              <p:cNvSpPr txBox="1"/>
              <p:nvPr/>
            </p:nvSpPr>
            <p:spPr>
              <a:xfrm>
                <a:off x="854779" y="4560446"/>
                <a:ext cx="1114165" cy="615553"/>
              </a:xfrm>
              <a:prstGeom prst="rect">
                <a:avLst/>
              </a:prstGeom>
              <a:noFill/>
            </p:spPr>
            <p:txBody>
              <a:bodyPr wrap="square" rtlCol="0">
                <a:spAutoFit/>
              </a:bodyPr>
              <a:lstStyle/>
              <a:p>
                <a:r>
                  <a:rPr lang="en-US" sz="1200" b="1" dirty="0">
                    <a:latin typeface="+mn-lt"/>
                  </a:rPr>
                  <a:t>Population</a:t>
                </a:r>
              </a:p>
            </p:txBody>
          </p:sp>
          <p:sp>
            <p:nvSpPr>
              <p:cNvPr id="92" name="TextBox 91"/>
              <p:cNvSpPr txBox="1"/>
              <p:nvPr/>
            </p:nvSpPr>
            <p:spPr>
              <a:xfrm>
                <a:off x="1115616" y="2242976"/>
                <a:ext cx="2683462" cy="615553"/>
              </a:xfrm>
              <a:prstGeom prst="rect">
                <a:avLst/>
              </a:prstGeom>
              <a:noFill/>
            </p:spPr>
            <p:txBody>
              <a:bodyPr wrap="square" rtlCol="0">
                <a:spAutoFit/>
              </a:bodyPr>
              <a:lstStyle/>
              <a:p>
                <a:r>
                  <a:rPr lang="en-US" sz="1200" dirty="0">
                    <a:latin typeface="+mn-lt"/>
                  </a:rPr>
                  <a:t>We want to know about these</a:t>
                </a:r>
              </a:p>
            </p:txBody>
          </p:sp>
        </p:grpSp>
        <p:grpSp>
          <p:nvGrpSpPr>
            <p:cNvPr id="106" name="Group 105"/>
            <p:cNvGrpSpPr/>
            <p:nvPr/>
          </p:nvGrpSpPr>
          <p:grpSpPr>
            <a:xfrm>
              <a:off x="6084168" y="1196752"/>
              <a:ext cx="2173861" cy="1938967"/>
              <a:chOff x="6400227" y="2262049"/>
              <a:chExt cx="2173861" cy="1938967"/>
            </a:xfrm>
          </p:grpSpPr>
          <p:grpSp>
            <p:nvGrpSpPr>
              <p:cNvPr id="8" name="Group 7"/>
              <p:cNvGrpSpPr/>
              <p:nvPr/>
            </p:nvGrpSpPr>
            <p:grpSpPr>
              <a:xfrm>
                <a:off x="6400227" y="2774042"/>
                <a:ext cx="1611821" cy="1426974"/>
                <a:chOff x="4845279" y="2151578"/>
                <a:chExt cx="1611821" cy="1426974"/>
              </a:xfrm>
            </p:grpSpPr>
            <p:pic>
              <p:nvPicPr>
                <p:cNvPr id="37"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22006" y="2300486"/>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24782" y="2523299"/>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54424" y="2746541"/>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60720" y="2151578"/>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3120" y="2303978"/>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5279" y="2676270"/>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61176" y="2873201"/>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07497" y="3037149"/>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60633" y="3131480"/>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12302" y="2932401"/>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28108" y="2681635"/>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8676" y="3206831"/>
                  <a:ext cx="405551" cy="37172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3" descr="C:\Program Files (x86)\Microsoft Office\MEDIA\CAGCAT10\j0304933.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1549" y="2364537"/>
                  <a:ext cx="405551" cy="371721"/>
                </a:xfrm>
                <a:prstGeom prst="rect">
                  <a:avLst/>
                </a:prstGeom>
                <a:noFill/>
                <a:extLst>
                  <a:ext uri="{909E8E84-426E-40DD-AFC4-6F175D3DCCD1}">
                    <a14:hiddenFill xmlns:a14="http://schemas.microsoft.com/office/drawing/2010/main">
                      <a:solidFill>
                        <a:srgbClr val="FFFFFF"/>
                      </a:solidFill>
                    </a14:hiddenFill>
                  </a:ext>
                </a:extLst>
              </p:spPr>
            </p:pic>
          </p:grpSp>
          <p:sp>
            <p:nvSpPr>
              <p:cNvPr id="93" name="TextBox 92"/>
              <p:cNvSpPr txBox="1"/>
              <p:nvPr/>
            </p:nvSpPr>
            <p:spPr>
              <a:xfrm>
                <a:off x="6552902" y="2262049"/>
                <a:ext cx="1835522" cy="615553"/>
              </a:xfrm>
              <a:prstGeom prst="rect">
                <a:avLst/>
              </a:prstGeom>
              <a:noFill/>
            </p:spPr>
            <p:txBody>
              <a:bodyPr wrap="square" rtlCol="0">
                <a:spAutoFit/>
              </a:bodyPr>
              <a:lstStyle/>
              <a:p>
                <a:r>
                  <a:rPr lang="en-US" sz="1200" dirty="0">
                    <a:latin typeface="+mn-lt"/>
                  </a:rPr>
                  <a:t>We have only these</a:t>
                </a:r>
              </a:p>
            </p:txBody>
          </p:sp>
          <p:sp>
            <p:nvSpPr>
              <p:cNvPr id="94" name="TextBox 93"/>
              <p:cNvSpPr txBox="1"/>
              <p:nvPr/>
            </p:nvSpPr>
            <p:spPr>
              <a:xfrm>
                <a:off x="7714923" y="3249683"/>
                <a:ext cx="859165" cy="615553"/>
              </a:xfrm>
              <a:prstGeom prst="rect">
                <a:avLst/>
              </a:prstGeom>
              <a:noFill/>
            </p:spPr>
            <p:txBody>
              <a:bodyPr wrap="square" rtlCol="0">
                <a:spAutoFit/>
              </a:bodyPr>
              <a:lstStyle/>
              <a:p>
                <a:r>
                  <a:rPr lang="en-US" sz="1200" b="1" dirty="0">
                    <a:latin typeface="+mn-lt"/>
                  </a:rPr>
                  <a:t>Sample</a:t>
                </a:r>
              </a:p>
            </p:txBody>
          </p:sp>
        </p:grpSp>
        <p:grpSp>
          <p:nvGrpSpPr>
            <p:cNvPr id="90" name="Group 89"/>
            <p:cNvGrpSpPr/>
            <p:nvPr/>
          </p:nvGrpSpPr>
          <p:grpSpPr>
            <a:xfrm>
              <a:off x="4499992" y="1768887"/>
              <a:ext cx="1224136" cy="861775"/>
              <a:chOff x="4211960" y="3053907"/>
              <a:chExt cx="1224136" cy="861775"/>
            </a:xfrm>
          </p:grpSpPr>
          <p:sp>
            <p:nvSpPr>
              <p:cNvPr id="61" name="Right Arrow 60"/>
              <p:cNvSpPr/>
              <p:nvPr/>
            </p:nvSpPr>
            <p:spPr>
              <a:xfrm>
                <a:off x="4355976" y="3328533"/>
                <a:ext cx="1080120" cy="2792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p:cNvSpPr txBox="1"/>
              <p:nvPr/>
            </p:nvSpPr>
            <p:spPr>
              <a:xfrm>
                <a:off x="4211960" y="3053907"/>
                <a:ext cx="1114167" cy="861775"/>
              </a:xfrm>
              <a:prstGeom prst="rect">
                <a:avLst/>
              </a:prstGeom>
              <a:noFill/>
            </p:spPr>
            <p:txBody>
              <a:bodyPr wrap="square" rtlCol="0">
                <a:spAutoFit/>
              </a:bodyPr>
              <a:lstStyle/>
              <a:p>
                <a:pPr algn="ctr"/>
                <a:r>
                  <a:rPr lang="en-US" sz="1200" dirty="0">
                    <a:latin typeface="+mn-lt"/>
                  </a:rPr>
                  <a:t>Random</a:t>
                </a:r>
              </a:p>
              <a:p>
                <a:pPr algn="ctr"/>
                <a:endParaRPr lang="en-US" sz="1200" dirty="0">
                  <a:latin typeface="+mn-lt"/>
                </a:endParaRPr>
              </a:p>
              <a:p>
                <a:pPr algn="ctr"/>
                <a:r>
                  <a:rPr lang="en-US" sz="1200" dirty="0">
                    <a:latin typeface="+mn-lt"/>
                  </a:rPr>
                  <a:t>sample</a:t>
                </a:r>
              </a:p>
            </p:txBody>
          </p:sp>
        </p:grpSp>
        <p:grpSp>
          <p:nvGrpSpPr>
            <p:cNvPr id="95" name="Group 94"/>
            <p:cNvGrpSpPr/>
            <p:nvPr/>
          </p:nvGrpSpPr>
          <p:grpSpPr>
            <a:xfrm>
              <a:off x="4597407" y="3789040"/>
              <a:ext cx="1126721" cy="861775"/>
              <a:chOff x="4309374" y="4232888"/>
              <a:chExt cx="1126721" cy="861775"/>
            </a:xfrm>
          </p:grpSpPr>
          <p:sp>
            <p:nvSpPr>
              <p:cNvPr id="100" name="TextBox 99"/>
              <p:cNvSpPr txBox="1"/>
              <p:nvPr/>
            </p:nvSpPr>
            <p:spPr>
              <a:xfrm>
                <a:off x="4309374" y="4232888"/>
                <a:ext cx="1126721" cy="861775"/>
              </a:xfrm>
              <a:prstGeom prst="rect">
                <a:avLst/>
              </a:prstGeom>
              <a:noFill/>
            </p:spPr>
            <p:txBody>
              <a:bodyPr wrap="square" rtlCol="0">
                <a:spAutoFit/>
              </a:bodyPr>
              <a:lstStyle/>
              <a:p>
                <a:pPr algn="ctr"/>
                <a:r>
                  <a:rPr lang="en-US" sz="1200" dirty="0">
                    <a:latin typeface="+mn-lt"/>
                  </a:rPr>
                  <a:t>Inference</a:t>
                </a:r>
              </a:p>
              <a:p>
                <a:pPr algn="ctr"/>
                <a:endParaRPr lang="en-US" sz="1200" dirty="0">
                  <a:latin typeface="+mn-lt"/>
                </a:endParaRPr>
              </a:p>
              <a:p>
                <a:pPr algn="ctr"/>
                <a:r>
                  <a:rPr lang="en-US" sz="1200" dirty="0">
                    <a:latin typeface="+mn-lt"/>
                  </a:rPr>
                  <a:t>(guess!)</a:t>
                </a:r>
              </a:p>
            </p:txBody>
          </p:sp>
          <p:sp>
            <p:nvSpPr>
              <p:cNvPr id="91" name="Left Arrow 90"/>
              <p:cNvSpPr/>
              <p:nvPr/>
            </p:nvSpPr>
            <p:spPr>
              <a:xfrm>
                <a:off x="4381382" y="4506097"/>
                <a:ext cx="982705" cy="30285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101"/>
            <p:cNvGrpSpPr/>
            <p:nvPr/>
          </p:nvGrpSpPr>
          <p:grpSpPr>
            <a:xfrm>
              <a:off x="6563671" y="3933056"/>
              <a:ext cx="1152415" cy="1134779"/>
              <a:chOff x="6841897" y="4335303"/>
              <a:chExt cx="1152415" cy="1134779"/>
            </a:xfrm>
          </p:grpSpPr>
          <p:sp>
            <p:nvSpPr>
              <p:cNvPr id="97" name="Down Arrow 96"/>
              <p:cNvSpPr/>
              <p:nvPr/>
            </p:nvSpPr>
            <p:spPr>
              <a:xfrm>
                <a:off x="7270025" y="4335303"/>
                <a:ext cx="242122" cy="4285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4" name="TextBox 103"/>
                  <p:cNvSpPr txBox="1"/>
                  <p:nvPr/>
                </p:nvSpPr>
                <p:spPr>
                  <a:xfrm>
                    <a:off x="6861886" y="4792974"/>
                    <a:ext cx="1126722"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bar>
                            <m:barPr>
                              <m:pos m:val="top"/>
                              <m:ctrlPr>
                                <a:rPr lang="en-US" sz="1200" i="1" dirty="0">
                                  <a:latin typeface="Cambria Math" panose="02040503050406030204" pitchFamily="18" charset="0"/>
                                </a:rPr>
                              </m:ctrlPr>
                            </m:barPr>
                            <m:e>
                              <m:r>
                                <a:rPr lang="sv-SE" sz="1200" i="1" dirty="0">
                                  <a:latin typeface="Cambria Math"/>
                                </a:rPr>
                                <m:t>𝑥</m:t>
                              </m:r>
                            </m:e>
                          </m:bar>
                        </m:oMath>
                      </m:oMathPara>
                    </a14:m>
                    <a:endParaRPr lang="en-US" sz="1200" dirty="0">
                      <a:latin typeface="+mn-lt"/>
                    </a:endParaRPr>
                  </a:p>
                </p:txBody>
              </p:sp>
            </mc:Choice>
            <mc:Fallback xmlns="">
              <p:sp>
                <p:nvSpPr>
                  <p:cNvPr id="104" name="TextBox 103"/>
                  <p:cNvSpPr txBox="1">
                    <a:spLocks noRot="1" noChangeAspect="1" noMove="1" noResize="1" noEditPoints="1" noAdjustHandles="1" noChangeArrowheads="1" noChangeShapeType="1" noTextEdit="1"/>
                  </p:cNvSpPr>
                  <p:nvPr/>
                </p:nvSpPr>
                <p:spPr>
                  <a:xfrm>
                    <a:off x="6861886" y="4792974"/>
                    <a:ext cx="1126722" cy="369332"/>
                  </a:xfrm>
                  <a:prstGeom prst="rect">
                    <a:avLst/>
                  </a:prstGeom>
                  <a:blipFill>
                    <a:blip r:embed="rId4"/>
                    <a:stretch>
                      <a:fillRect/>
                    </a:stretch>
                  </a:blipFill>
                </p:spPr>
                <p:txBody>
                  <a:bodyPr/>
                  <a:lstStyle/>
                  <a:p>
                    <a:r>
                      <a:rPr lang="sv-SE">
                        <a:noFill/>
                      </a:rPr>
                      <a:t> </a:t>
                    </a:r>
                  </a:p>
                </p:txBody>
              </p:sp>
            </mc:Fallback>
          </mc:AlternateContent>
          <p:sp>
            <p:nvSpPr>
              <p:cNvPr id="101" name="TextBox 100"/>
              <p:cNvSpPr txBox="1"/>
              <p:nvPr/>
            </p:nvSpPr>
            <p:spPr>
              <a:xfrm>
                <a:off x="6841897" y="5131527"/>
                <a:ext cx="1152415" cy="338555"/>
              </a:xfrm>
              <a:prstGeom prst="rect">
                <a:avLst/>
              </a:prstGeom>
              <a:noFill/>
            </p:spPr>
            <p:txBody>
              <a:bodyPr wrap="square" lIns="0" rIns="0" rtlCol="0">
                <a:spAutoFit/>
              </a:bodyPr>
              <a:lstStyle/>
              <a:p>
                <a:pPr algn="ctr"/>
                <a:r>
                  <a:rPr lang="en-US" sz="1050" dirty="0">
                    <a:latin typeface="+mj-lt"/>
                  </a:rPr>
                  <a:t>Sample mean</a:t>
                </a:r>
              </a:p>
            </p:txBody>
          </p:sp>
        </p:grpSp>
        <p:grpSp>
          <p:nvGrpSpPr>
            <p:cNvPr id="107" name="Group 106"/>
            <p:cNvGrpSpPr/>
            <p:nvPr/>
          </p:nvGrpSpPr>
          <p:grpSpPr>
            <a:xfrm>
              <a:off x="1675762" y="3933056"/>
              <a:ext cx="1486092" cy="1046844"/>
              <a:chOff x="6732835" y="4335303"/>
              <a:chExt cx="1486092" cy="1046844"/>
            </a:xfrm>
          </p:grpSpPr>
          <p:sp>
            <p:nvSpPr>
              <p:cNvPr id="108" name="Down Arrow 107"/>
              <p:cNvSpPr/>
              <p:nvPr/>
            </p:nvSpPr>
            <p:spPr>
              <a:xfrm>
                <a:off x="7270025" y="4335303"/>
                <a:ext cx="242122" cy="4285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p:cNvSpPr txBox="1"/>
              <p:nvPr/>
            </p:nvSpPr>
            <p:spPr>
              <a:xfrm>
                <a:off x="6732835" y="4843538"/>
                <a:ext cx="1486092" cy="538609"/>
              </a:xfrm>
              <a:prstGeom prst="rect">
                <a:avLst/>
              </a:prstGeom>
              <a:noFill/>
            </p:spPr>
            <p:txBody>
              <a:bodyPr wrap="square" lIns="0" rIns="0" rtlCol="0">
                <a:spAutoFit/>
              </a:bodyPr>
              <a:lstStyle/>
              <a:p>
                <a:pPr algn="ctr"/>
                <a:r>
                  <a:rPr lang="en-US" sz="1050" dirty="0">
                    <a:latin typeface="+mj-lt"/>
                  </a:rPr>
                  <a:t>Population mean</a:t>
                </a:r>
              </a:p>
              <a:p>
                <a:pPr algn="ctr"/>
                <a:r>
                  <a:rPr lang="en-US" sz="975" dirty="0">
                    <a:latin typeface="+mj-lt"/>
                  </a:rPr>
                  <a:t>(average survival, ex)</a:t>
                </a:r>
              </a:p>
            </p:txBody>
          </p:sp>
        </p:grpSp>
      </p:grpSp>
      <p:sp>
        <p:nvSpPr>
          <p:cNvPr id="74" name="TextBox 73"/>
          <p:cNvSpPr txBox="1"/>
          <p:nvPr/>
        </p:nvSpPr>
        <p:spPr>
          <a:xfrm>
            <a:off x="1385646" y="681540"/>
            <a:ext cx="6318702" cy="854080"/>
          </a:xfrm>
          <a:prstGeom prst="rect">
            <a:avLst/>
          </a:prstGeom>
          <a:noFill/>
        </p:spPr>
        <p:txBody>
          <a:bodyPr wrap="square" rtlCol="0">
            <a:spAutoFit/>
          </a:bodyPr>
          <a:lstStyle/>
          <a:p>
            <a:pPr>
              <a:lnSpc>
                <a:spcPct val="150000"/>
              </a:lnSpc>
              <a:spcAft>
                <a:spcPts val="450"/>
              </a:spcAft>
            </a:pPr>
            <a:r>
              <a:rPr lang="en-US" sz="1650" b="1" dirty="0">
                <a:latin typeface="+mj-lt"/>
              </a:rPr>
              <a:t>Whatever study design</a:t>
            </a:r>
            <a:r>
              <a:rPr lang="en-US" sz="1650" dirty="0">
                <a:latin typeface="+mj-lt"/>
              </a:rPr>
              <a:t> is chosen, the conclusions will be valid if you picked the “right” bunnies to look at!</a:t>
            </a:r>
          </a:p>
        </p:txBody>
      </p:sp>
    </p:spTree>
    <p:extLst>
      <p:ext uri="{BB962C8B-B14F-4D97-AF65-F5344CB8AC3E}">
        <p14:creationId xmlns:p14="http://schemas.microsoft.com/office/powerpoint/2010/main" val="175991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circle(in)">
                                      <p:cBhvr>
                                        <p:cTn id="7" dur="20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nummer 1"/>
          <p:cNvSpPr>
            <a:spLocks noGrp="1"/>
          </p:cNvSpPr>
          <p:nvPr>
            <p:ph type="sldNum" sz="quarter" idx="12"/>
          </p:nvPr>
        </p:nvSpPr>
        <p:spPr/>
        <p:txBody>
          <a:bodyPr/>
          <a:lstStyle/>
          <a:p>
            <a:pPr>
              <a:defRPr/>
            </a:pPr>
            <a:fld id="{A4261E0D-31A1-4E7D-B429-45B983D058AA}" type="slidenum">
              <a:rPr lang="sv-SE" smtClean="0">
                <a:solidFill>
                  <a:srgbClr val="000000">
                    <a:tint val="75000"/>
                  </a:srgbClr>
                </a:solidFill>
              </a:rPr>
              <a:pPr>
                <a:defRPr/>
              </a:pPr>
              <a:t>145</a:t>
            </a:fld>
            <a:endParaRPr lang="sv-SE">
              <a:solidFill>
                <a:srgbClr val="000000">
                  <a:tint val="75000"/>
                </a:srgbClr>
              </a:solidFill>
            </a:endParaRPr>
          </a:p>
        </p:txBody>
      </p:sp>
      <p:sp>
        <p:nvSpPr>
          <p:cNvPr id="7" name="Rubrik 3"/>
          <p:cNvSpPr>
            <a:spLocks noGrp="1"/>
          </p:cNvSpPr>
          <p:nvPr>
            <p:ph type="title"/>
          </p:nvPr>
        </p:nvSpPr>
        <p:spPr>
          <a:xfrm>
            <a:off x="1331640" y="924567"/>
            <a:ext cx="6480720" cy="1377153"/>
          </a:xfrm>
        </p:spPr>
        <p:txBody>
          <a:bodyPr rtlCol="0">
            <a:noAutofit/>
          </a:bodyPr>
          <a:lstStyle/>
          <a:p>
            <a:pPr algn="ctr" fontAlgn="auto">
              <a:lnSpc>
                <a:spcPct val="100000"/>
              </a:lnSpc>
              <a:spcAft>
                <a:spcPts val="0"/>
              </a:spcAft>
              <a:defRPr/>
            </a:pPr>
            <a:r>
              <a:rPr lang="en-US" sz="4500" cap="small" dirty="0"/>
              <a:t>Repetition – </a:t>
            </a:r>
            <a:br>
              <a:rPr lang="en-US" sz="4500" cap="small" dirty="0"/>
            </a:br>
            <a:r>
              <a:rPr lang="en-US" sz="4500" cap="small" dirty="0"/>
              <a:t>in case we have time</a:t>
            </a:r>
            <a:endParaRPr lang="en-US" sz="4500" dirty="0"/>
          </a:p>
        </p:txBody>
      </p:sp>
      <p:sp>
        <p:nvSpPr>
          <p:cNvPr id="8" name="Rektangel 7"/>
          <p:cNvSpPr/>
          <p:nvPr/>
        </p:nvSpPr>
        <p:spPr>
          <a:xfrm>
            <a:off x="5317984" y="4357446"/>
            <a:ext cx="2673000" cy="553998"/>
          </a:xfrm>
          <a:prstGeom prst="rect">
            <a:avLst/>
          </a:prstGeom>
        </p:spPr>
        <p:txBody>
          <a:bodyPr wrap="square">
            <a:spAutoFit/>
          </a:bodyPr>
          <a:lstStyle/>
          <a:p>
            <a:r>
              <a:rPr lang="en-US" sz="1200" dirty="0">
                <a:solidFill>
                  <a:schemeClr val="bg1"/>
                </a:solidFill>
              </a:rPr>
              <a:t>*</a:t>
            </a:r>
            <a:r>
              <a:rPr lang="en-US" sz="900" dirty="0">
                <a:solidFill>
                  <a:schemeClr val="bg1"/>
                </a:solidFill>
              </a:rPr>
              <a:t> “</a:t>
            </a:r>
            <a:r>
              <a:rPr lang="en-US" sz="900" b="1" dirty="0">
                <a:solidFill>
                  <a:schemeClr val="bg1"/>
                </a:solidFill>
              </a:rPr>
              <a:t>PRAKTISK STATISTIK FÖR MEDICIN OCH HÄLSA</a:t>
            </a:r>
            <a:r>
              <a:rPr lang="en-US" sz="900" dirty="0">
                <a:solidFill>
                  <a:schemeClr val="bg1"/>
                </a:solidFill>
              </a:rPr>
              <a:t>” </a:t>
            </a:r>
          </a:p>
          <a:p>
            <a:r>
              <a:rPr lang="en-US" sz="900" dirty="0">
                <a:solidFill>
                  <a:schemeClr val="bg1"/>
                </a:solidFill>
              </a:rPr>
              <a:t>    by Jonas Björk</a:t>
            </a:r>
            <a:endParaRPr lang="sv-SE" sz="900" dirty="0"/>
          </a:p>
        </p:txBody>
      </p:sp>
    </p:spTree>
    <p:extLst>
      <p:ext uri="{BB962C8B-B14F-4D97-AF65-F5344CB8AC3E}">
        <p14:creationId xmlns:p14="http://schemas.microsoft.com/office/powerpoint/2010/main" val="238873843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SaraG\Documents\Kurs\Handledning\VT13\Medicinsk statistik_eng\population_sample\population_sampl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5826" y="3056421"/>
            <a:ext cx="3496674" cy="1621563"/>
          </a:xfrm>
          <a:prstGeom prst="rect">
            <a:avLst/>
          </a:prstGeom>
          <a:noFill/>
          <a:extLst>
            <a:ext uri="{909E8E84-426E-40DD-AFC4-6F175D3DCCD1}">
              <a14:hiddenFill xmlns:a14="http://schemas.microsoft.com/office/drawing/2010/main">
                <a:solidFill>
                  <a:srgbClr val="FFFFFF"/>
                </a:solidFill>
              </a14:hiddenFill>
            </a:ext>
          </a:extLst>
        </p:spPr>
      </p:pic>
      <p:sp>
        <p:nvSpPr>
          <p:cNvPr id="9218" name="Rubrik 1"/>
          <p:cNvSpPr>
            <a:spLocks noGrp="1"/>
          </p:cNvSpPr>
          <p:nvPr>
            <p:ph type="title"/>
          </p:nvPr>
        </p:nvSpPr>
        <p:spPr>
          <a:xfrm>
            <a:off x="2411760" y="168483"/>
            <a:ext cx="5278660" cy="459051"/>
          </a:xfrm>
        </p:spPr>
        <p:txBody>
          <a:bodyPr>
            <a:noAutofit/>
          </a:bodyPr>
          <a:lstStyle/>
          <a:p>
            <a:r>
              <a:rPr lang="en-US" sz="2550" dirty="0"/>
              <a:t>Introduction: Why use statistics?</a:t>
            </a:r>
          </a:p>
        </p:txBody>
      </p:sp>
      <p:sp>
        <p:nvSpPr>
          <p:cNvPr id="9219" name="Platshållare för innehåll 2"/>
          <p:cNvSpPr>
            <a:spLocks noGrp="1"/>
          </p:cNvSpPr>
          <p:nvPr>
            <p:ph idx="1"/>
          </p:nvPr>
        </p:nvSpPr>
        <p:spPr>
          <a:xfrm>
            <a:off x="1439652" y="924567"/>
            <a:ext cx="6264696" cy="2004475"/>
          </a:xfrm>
        </p:spPr>
        <p:txBody>
          <a:bodyPr>
            <a:noAutofit/>
          </a:bodyPr>
          <a:lstStyle/>
          <a:p>
            <a:r>
              <a:rPr lang="en-US" dirty="0"/>
              <a:t>There is a </a:t>
            </a:r>
            <a:r>
              <a:rPr lang="en-US" b="1" dirty="0"/>
              <a:t>variation</a:t>
            </a:r>
            <a:r>
              <a:rPr lang="en-US" dirty="0"/>
              <a:t> in the results</a:t>
            </a:r>
          </a:p>
          <a:p>
            <a:r>
              <a:rPr lang="en-US" dirty="0"/>
              <a:t>Practically (and/or ethically) impossible to collect data from the whole </a:t>
            </a:r>
            <a:r>
              <a:rPr lang="en-US" b="1" dirty="0"/>
              <a:t>population</a:t>
            </a:r>
          </a:p>
          <a:p>
            <a:r>
              <a:rPr lang="en-US" dirty="0"/>
              <a:t>How to deal with </a:t>
            </a:r>
            <a:r>
              <a:rPr lang="en-US" b="1" dirty="0"/>
              <a:t>uncertainty</a:t>
            </a:r>
            <a:r>
              <a:rPr lang="en-US" dirty="0"/>
              <a:t> in a sample?</a:t>
            </a:r>
          </a:p>
          <a:p>
            <a:r>
              <a:rPr lang="en-US" dirty="0"/>
              <a:t>How to use what we observe in a </a:t>
            </a:r>
            <a:r>
              <a:rPr lang="en-US" b="1" dirty="0"/>
              <a:t>sample</a:t>
            </a:r>
            <a:r>
              <a:rPr lang="en-US" dirty="0"/>
              <a:t> to make </a:t>
            </a:r>
            <a:r>
              <a:rPr lang="en-US" b="1" dirty="0"/>
              <a:t>inferences</a:t>
            </a:r>
            <a:r>
              <a:rPr lang="en-US" dirty="0"/>
              <a:t> about the population?</a:t>
            </a:r>
            <a:endParaRPr lang="sv-SE" dirty="0"/>
          </a:p>
        </p:txBody>
      </p:sp>
      <p:sp>
        <p:nvSpPr>
          <p:cNvPr id="2" name="Platshållare för bildnummer 1"/>
          <p:cNvSpPr>
            <a:spLocks noGrp="1"/>
          </p:cNvSpPr>
          <p:nvPr>
            <p:ph type="sldNum" sz="quarter" idx="12"/>
          </p:nvPr>
        </p:nvSpPr>
        <p:spPr/>
        <p:txBody>
          <a:bodyPr/>
          <a:lstStyle/>
          <a:p>
            <a:pPr>
              <a:defRPr/>
            </a:pPr>
            <a:fld id="{EAAE22FB-2A38-4370-9A01-91FA75569313}" type="slidenum">
              <a:rPr lang="sv-SE" smtClean="0"/>
              <a:pPr>
                <a:defRPr/>
              </a:pPr>
              <a:t>146</a:t>
            </a:fld>
            <a:endParaRPr lang="sv-SE"/>
          </a:p>
        </p:txBody>
      </p:sp>
      <p:sp>
        <p:nvSpPr>
          <p:cNvPr id="6" name="textruta 5"/>
          <p:cNvSpPr txBox="1"/>
          <p:nvPr/>
        </p:nvSpPr>
        <p:spPr>
          <a:xfrm>
            <a:off x="5868144" y="4501157"/>
            <a:ext cx="2132856" cy="253916"/>
          </a:xfrm>
          <a:prstGeom prst="rect">
            <a:avLst/>
          </a:prstGeom>
          <a:noFill/>
        </p:spPr>
        <p:txBody>
          <a:bodyPr wrap="square" rtlCol="0">
            <a:spAutoFit/>
          </a:bodyPr>
          <a:lstStyle/>
          <a:p>
            <a:r>
              <a:rPr lang="en-US" sz="1050" dirty="0"/>
              <a:t>(Based on figure 1.2 in the JB)</a:t>
            </a:r>
          </a:p>
        </p:txBody>
      </p:sp>
    </p:spTree>
    <p:extLst>
      <p:ext uri="{BB962C8B-B14F-4D97-AF65-F5344CB8AC3E}">
        <p14:creationId xmlns:p14="http://schemas.microsoft.com/office/powerpoint/2010/main" val="251384654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147</a:t>
            </a:fld>
            <a:endParaRPr lang="sv-SE" dirty="0">
              <a:solidFill>
                <a:srgbClr val="000000">
                  <a:tint val="75000"/>
                </a:srgbClr>
              </a:solidFill>
            </a:endParaRPr>
          </a:p>
        </p:txBody>
      </p:sp>
      <p:sp>
        <p:nvSpPr>
          <p:cNvPr id="114" name="Rubrik 1"/>
          <p:cNvSpPr>
            <a:spLocks noGrp="1"/>
          </p:cNvSpPr>
          <p:nvPr>
            <p:ph type="title" idx="4294967295"/>
          </p:nvPr>
        </p:nvSpPr>
        <p:spPr>
          <a:xfrm>
            <a:off x="2411034" y="141480"/>
            <a:ext cx="5185302" cy="414062"/>
          </a:xfrm>
        </p:spPr>
        <p:txBody>
          <a:bodyPr>
            <a:noAutofit/>
          </a:bodyPr>
          <a:lstStyle/>
          <a:p>
            <a:r>
              <a:rPr lang="en-US" sz="3300" dirty="0"/>
              <a:t>Population and sample</a:t>
            </a:r>
          </a:p>
        </p:txBody>
      </p:sp>
      <p:sp>
        <p:nvSpPr>
          <p:cNvPr id="74" name="Rektangel 73"/>
          <p:cNvSpPr/>
          <p:nvPr/>
        </p:nvSpPr>
        <p:spPr>
          <a:xfrm>
            <a:off x="1472348" y="1057517"/>
            <a:ext cx="2060829" cy="6858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nvGrpSpPr>
          <p:cNvPr id="75" name="Grupp 74"/>
          <p:cNvGrpSpPr/>
          <p:nvPr/>
        </p:nvGrpSpPr>
        <p:grpSpPr>
          <a:xfrm>
            <a:off x="1601670" y="1029788"/>
            <a:ext cx="2186862" cy="1683812"/>
            <a:chOff x="107504" y="1628800"/>
            <a:chExt cx="3131840" cy="2389944"/>
          </a:xfrm>
        </p:grpSpPr>
        <p:pic>
          <p:nvPicPr>
            <p:cNvPr id="7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930" y="1702966"/>
              <a:ext cx="3024336" cy="1833786"/>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81" name="Rektangel med rundade hörn 80"/>
            <p:cNvSpPr/>
            <p:nvPr/>
          </p:nvSpPr>
          <p:spPr>
            <a:xfrm>
              <a:off x="107504" y="1628800"/>
              <a:ext cx="3131840" cy="2376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83" name="textruta 82"/>
            <p:cNvSpPr txBox="1"/>
            <p:nvPr/>
          </p:nvSpPr>
          <p:spPr>
            <a:xfrm>
              <a:off x="251520" y="3429001"/>
              <a:ext cx="2664296" cy="589743"/>
            </a:xfrm>
            <a:prstGeom prst="rect">
              <a:avLst/>
            </a:prstGeom>
            <a:noFill/>
            <a:ln>
              <a:noFill/>
            </a:ln>
          </p:spPr>
          <p:txBody>
            <a:bodyPr wrap="square" rtlCol="0">
              <a:spAutoFit/>
            </a:bodyPr>
            <a:lstStyle/>
            <a:p>
              <a:pPr algn="ctr"/>
              <a:r>
                <a:rPr lang="sv-SE" sz="2100" b="1" dirty="0">
                  <a:solidFill>
                    <a:srgbClr val="000000"/>
                  </a:solidFill>
                  <a:latin typeface="Candara" panose="020E0502030303020204" pitchFamily="34" charset="0"/>
                </a:rPr>
                <a:t>Population</a:t>
              </a:r>
            </a:p>
          </p:txBody>
        </p:sp>
      </p:grpSp>
      <p:grpSp>
        <p:nvGrpSpPr>
          <p:cNvPr id="84" name="Grupp 83"/>
          <p:cNvGrpSpPr/>
          <p:nvPr/>
        </p:nvGrpSpPr>
        <p:grpSpPr>
          <a:xfrm>
            <a:off x="1724281" y="3516972"/>
            <a:ext cx="1929617" cy="1053770"/>
            <a:chOff x="2699792" y="4727302"/>
            <a:chExt cx="2572822" cy="1583175"/>
          </a:xfrm>
        </p:grpSpPr>
        <p:pic>
          <p:nvPicPr>
            <p:cNvPr id="86" name="Picture 12" descr="C:\Users\SaraG\AppData\Local\Microsoft\Windows\Temporary Internet Files\Content.IE5\NZH94TD7\6-long-hair-mom-dad-daughter-son-son-baby-1024x731[1].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22889" y="4954676"/>
              <a:ext cx="1008591" cy="72000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8" name="Picture 13" descr="C:\Users\SaraG\AppData\Local\Microsoft\Windows\Temporary Internet Files\Content.IE5\1SVIO5V2\family_people_silhouettes_by_Scorp1_at_vecteezy.com[1].jpg"/>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14977" y="4882668"/>
              <a:ext cx="1116000" cy="83700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9" name="Picture 14" descr="C:\Users\SaraG\AppData\Local\Microsoft\Windows\Temporary Internet Files\Content.IE5\1SVIO5V2\silhouette-man-standing[1].jpg"/>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19258" y="4999668"/>
              <a:ext cx="720000" cy="7200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3" name="Rektangel med rundade hörn 102"/>
            <p:cNvSpPr/>
            <p:nvPr/>
          </p:nvSpPr>
          <p:spPr>
            <a:xfrm>
              <a:off x="2699792" y="4727302"/>
              <a:ext cx="2572822" cy="158201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109" name="textruta 108"/>
            <p:cNvSpPr txBox="1"/>
            <p:nvPr/>
          </p:nvSpPr>
          <p:spPr>
            <a:xfrm>
              <a:off x="2801528" y="5686236"/>
              <a:ext cx="2304255" cy="624241"/>
            </a:xfrm>
            <a:prstGeom prst="rect">
              <a:avLst/>
            </a:prstGeom>
            <a:noFill/>
            <a:ln>
              <a:noFill/>
            </a:ln>
          </p:spPr>
          <p:txBody>
            <a:bodyPr wrap="square" rtlCol="0">
              <a:spAutoFit/>
            </a:bodyPr>
            <a:lstStyle/>
            <a:p>
              <a:pPr algn="ctr"/>
              <a:r>
                <a:rPr lang="en-US" sz="2100" b="1" dirty="0">
                  <a:solidFill>
                    <a:srgbClr val="000000"/>
                  </a:solidFill>
                  <a:latin typeface="Candara" panose="020E0502030303020204" pitchFamily="34" charset="0"/>
                </a:rPr>
                <a:t>Sample</a:t>
              </a:r>
            </a:p>
          </p:txBody>
        </p:sp>
      </p:grpSp>
      <p:sp>
        <p:nvSpPr>
          <p:cNvPr id="116" name="textruta 115"/>
          <p:cNvSpPr txBox="1"/>
          <p:nvPr/>
        </p:nvSpPr>
        <p:spPr>
          <a:xfrm>
            <a:off x="3727030" y="2409732"/>
            <a:ext cx="4099866" cy="1495281"/>
          </a:xfrm>
          <a:prstGeom prst="rect">
            <a:avLst/>
          </a:prstGeom>
          <a:noFill/>
        </p:spPr>
        <p:txBody>
          <a:bodyPr wrap="square" rtlCol="0">
            <a:spAutoFit/>
          </a:bodyPr>
          <a:lstStyle/>
          <a:p>
            <a:pPr algn="ctr"/>
            <a:r>
              <a:rPr lang="en-US" sz="1500" b="1" dirty="0">
                <a:solidFill>
                  <a:srgbClr val="000000"/>
                </a:solidFill>
                <a:latin typeface="+mn-lt"/>
              </a:rPr>
              <a:t>Inference (“an educated guess”)</a:t>
            </a:r>
          </a:p>
          <a:p>
            <a:pPr algn="ctr">
              <a:spcAft>
                <a:spcPts val="450"/>
              </a:spcAft>
            </a:pPr>
            <a:r>
              <a:rPr lang="en-US" dirty="0">
                <a:solidFill>
                  <a:srgbClr val="000000"/>
                </a:solidFill>
                <a:latin typeface="+mn-lt"/>
              </a:rPr>
              <a:t>Sample data is used to draw conclusions about the population</a:t>
            </a:r>
          </a:p>
          <a:p>
            <a:pPr algn="ctr"/>
            <a:r>
              <a:rPr lang="en-US" dirty="0">
                <a:solidFill>
                  <a:srgbClr val="000000"/>
                </a:solidFill>
                <a:latin typeface="+mn-lt"/>
              </a:rPr>
              <a:t>i.e. the </a:t>
            </a:r>
            <a:r>
              <a:rPr lang="en-US" i="1" dirty="0">
                <a:solidFill>
                  <a:srgbClr val="000000"/>
                </a:solidFill>
                <a:latin typeface="+mn-lt"/>
              </a:rPr>
              <a:t>sample statistics </a:t>
            </a:r>
            <a:r>
              <a:rPr lang="en-US" dirty="0">
                <a:solidFill>
                  <a:srgbClr val="000000"/>
                </a:solidFill>
                <a:latin typeface="+mn-lt"/>
              </a:rPr>
              <a:t>is </a:t>
            </a:r>
            <a:r>
              <a:rPr lang="en-US" i="1" dirty="0">
                <a:solidFill>
                  <a:srgbClr val="000000"/>
                </a:solidFill>
                <a:latin typeface="+mn-lt"/>
              </a:rPr>
              <a:t>estimates</a:t>
            </a:r>
            <a:r>
              <a:rPr lang="en-US" dirty="0">
                <a:solidFill>
                  <a:srgbClr val="000000"/>
                </a:solidFill>
                <a:latin typeface="+mn-lt"/>
              </a:rPr>
              <a:t> of the </a:t>
            </a:r>
            <a:r>
              <a:rPr lang="en-US" i="1" dirty="0">
                <a:solidFill>
                  <a:srgbClr val="000000"/>
                </a:solidFill>
                <a:latin typeface="+mn-lt"/>
              </a:rPr>
              <a:t>population parameters</a:t>
            </a:r>
          </a:p>
        </p:txBody>
      </p:sp>
      <mc:AlternateContent xmlns:mc="http://schemas.openxmlformats.org/markup-compatibility/2006" xmlns:a14="http://schemas.microsoft.com/office/drawing/2010/main">
        <mc:Choice Requires="a14">
          <p:sp>
            <p:nvSpPr>
              <p:cNvPr id="118" name="Rektangel med rundade hörn 117"/>
              <p:cNvSpPr/>
              <p:nvPr/>
            </p:nvSpPr>
            <p:spPr>
              <a:xfrm>
                <a:off x="5039587" y="3782403"/>
                <a:ext cx="1929617" cy="78300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sv-SE" sz="1500" b="1" dirty="0" err="1">
                    <a:solidFill>
                      <a:srgbClr val="000000"/>
                    </a:solidFill>
                    <a:latin typeface="Candara" panose="020E0502030303020204" pitchFamily="34" charset="0"/>
                  </a:rPr>
                  <a:t>Sample</a:t>
                </a:r>
                <a:r>
                  <a:rPr lang="sv-SE" sz="1500" b="1" dirty="0">
                    <a:solidFill>
                      <a:srgbClr val="000000"/>
                    </a:solidFill>
                    <a:latin typeface="Candara" panose="020E0502030303020204" pitchFamily="34" charset="0"/>
                  </a:rPr>
                  <a:t> </a:t>
                </a:r>
                <a:r>
                  <a:rPr lang="sv-SE" sz="1500" b="1" dirty="0" err="1">
                    <a:solidFill>
                      <a:srgbClr val="000000"/>
                    </a:solidFill>
                    <a:latin typeface="Candara" panose="020E0502030303020204" pitchFamily="34" charset="0"/>
                  </a:rPr>
                  <a:t>Statistics</a:t>
                </a:r>
                <a:endParaRPr lang="sv-SE" sz="1500" b="1" dirty="0">
                  <a:solidFill>
                    <a:srgbClr val="000000"/>
                  </a:solidFill>
                  <a:latin typeface="Candara" panose="020E0502030303020204" pitchFamily="34" charset="0"/>
                </a:endParaRPr>
              </a:p>
              <a:p>
                <a:pPr algn="ctr"/>
                <a:r>
                  <a:rPr lang="en-US" dirty="0">
                    <a:solidFill>
                      <a:srgbClr val="000000"/>
                    </a:solidFill>
                    <a:latin typeface="Candara" panose="020E0502030303020204" pitchFamily="34" charset="0"/>
                  </a:rPr>
                  <a:t>Mean value: </a:t>
                </a:r>
                <a14:m>
                  <m:oMath xmlns:m="http://schemas.openxmlformats.org/officeDocument/2006/math">
                    <m:acc>
                      <m:accPr>
                        <m:chr m:val="̅"/>
                        <m:ctrlPr>
                          <a:rPr lang="en-US" i="1" smtClean="0">
                            <a:solidFill>
                              <a:srgbClr val="000000"/>
                            </a:solidFill>
                            <a:latin typeface="Cambria Math" panose="02040503050406030204" pitchFamily="18" charset="0"/>
                            <a:ea typeface="Cambria Math"/>
                          </a:rPr>
                        </m:ctrlPr>
                      </m:accPr>
                      <m:e>
                        <m:r>
                          <a:rPr lang="en-US" i="1" smtClean="0">
                            <a:solidFill>
                              <a:srgbClr val="000000"/>
                            </a:solidFill>
                            <a:latin typeface="Cambria Math"/>
                            <a:ea typeface="Cambria Math"/>
                          </a:rPr>
                          <m:t>𝑥</m:t>
                        </m:r>
                      </m:e>
                    </m:acc>
                  </m:oMath>
                </a14:m>
                <a:endParaRPr lang="en-US" dirty="0">
                  <a:solidFill>
                    <a:srgbClr val="000000"/>
                  </a:solidFill>
                  <a:latin typeface="Candara" panose="020E0502030303020204" pitchFamily="34" charset="0"/>
                  <a:ea typeface="Cambria Math"/>
                </a:endParaRPr>
              </a:p>
              <a:p>
                <a:pPr algn="ctr"/>
                <a:r>
                  <a:rPr lang="en-US" dirty="0">
                    <a:solidFill>
                      <a:srgbClr val="000000"/>
                    </a:solidFill>
                    <a:latin typeface="Candara" panose="020E0502030303020204" pitchFamily="34" charset="0"/>
                    <a:ea typeface="Cambria Math"/>
                  </a:rPr>
                  <a:t>Variance: </a:t>
                </a:r>
                <a14:m>
                  <m:oMath xmlns:m="http://schemas.openxmlformats.org/officeDocument/2006/math">
                    <m:sSup>
                      <m:sSupPr>
                        <m:ctrlPr>
                          <a:rPr lang="sv-SE" i="1" smtClean="0">
                            <a:solidFill>
                              <a:srgbClr val="000000"/>
                            </a:solidFill>
                            <a:latin typeface="Cambria Math" panose="02040503050406030204" pitchFamily="18" charset="0"/>
                            <a:ea typeface="Cambria Math"/>
                          </a:rPr>
                        </m:ctrlPr>
                      </m:sSupPr>
                      <m:e>
                        <m:r>
                          <a:rPr lang="sv-SE" i="1" smtClean="0">
                            <a:solidFill>
                              <a:srgbClr val="000000"/>
                            </a:solidFill>
                            <a:latin typeface="Cambria Math"/>
                            <a:ea typeface="Cambria Math"/>
                          </a:rPr>
                          <m:t>𝑠</m:t>
                        </m:r>
                      </m:e>
                      <m:sup>
                        <m:r>
                          <a:rPr lang="sv-SE" i="1" smtClean="0">
                            <a:solidFill>
                              <a:srgbClr val="000000"/>
                            </a:solidFill>
                            <a:latin typeface="Cambria Math"/>
                            <a:ea typeface="Cambria Math"/>
                          </a:rPr>
                          <m:t>2</m:t>
                        </m:r>
                      </m:sup>
                    </m:sSup>
                  </m:oMath>
                </a14:m>
                <a:endParaRPr lang="sv-SE" dirty="0">
                  <a:solidFill>
                    <a:srgbClr val="000000"/>
                  </a:solidFill>
                  <a:latin typeface="Candara" panose="020E0502030303020204" pitchFamily="34" charset="0"/>
                </a:endParaRPr>
              </a:p>
            </p:txBody>
          </p:sp>
        </mc:Choice>
        <mc:Fallback xmlns="">
          <p:sp>
            <p:nvSpPr>
              <p:cNvPr id="118" name="Rektangel med rundade hörn 117"/>
              <p:cNvSpPr>
                <a:spLocks noRot="1" noChangeAspect="1" noMove="1" noResize="1" noEditPoints="1" noAdjustHandles="1" noChangeArrowheads="1" noChangeShapeType="1" noTextEdit="1"/>
              </p:cNvSpPr>
              <p:nvPr/>
            </p:nvSpPr>
            <p:spPr>
              <a:xfrm>
                <a:off x="5039587" y="3782403"/>
                <a:ext cx="1929617" cy="783001"/>
              </a:xfrm>
              <a:prstGeom prst="roundRect">
                <a:avLst/>
              </a:prstGeom>
              <a:blipFill>
                <a:blip r:embed="rId7"/>
                <a:stretch>
                  <a:fillRect t="-5263" r="-2500" b="-15789"/>
                </a:stretch>
              </a:blipFill>
            </p:spPr>
            <p:txBody>
              <a:bodyPr/>
              <a:lstStyle/>
              <a:p>
                <a:r>
                  <a:rPr lang="sv-SE">
                    <a:noFill/>
                  </a:rPr>
                  <a:t> </a:t>
                </a:r>
              </a:p>
            </p:txBody>
          </p:sp>
        </mc:Fallback>
      </mc:AlternateContent>
      <p:cxnSp>
        <p:nvCxnSpPr>
          <p:cNvPr id="123" name="Kurva 122"/>
          <p:cNvCxnSpPr>
            <a:stCxn id="116" idx="0"/>
          </p:cNvCxnSpPr>
          <p:nvPr/>
        </p:nvCxnSpPr>
        <p:spPr>
          <a:xfrm rot="5400000" flipH="1" flipV="1">
            <a:off x="5636682" y="2269449"/>
            <a:ext cx="280565" cy="2"/>
          </a:xfrm>
          <a:prstGeom prst="curvedConnector3">
            <a:avLst>
              <a:gd name="adj1" fmla="val 50000"/>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24" name="Kurva 123"/>
          <p:cNvCxnSpPr>
            <a:stCxn id="118" idx="0"/>
          </p:cNvCxnSpPr>
          <p:nvPr/>
        </p:nvCxnSpPr>
        <p:spPr>
          <a:xfrm rot="5400000" flipH="1" flipV="1">
            <a:off x="5871680" y="3649688"/>
            <a:ext cx="265431" cy="1"/>
          </a:xfrm>
          <a:prstGeom prst="curvedConnector3">
            <a:avLst>
              <a:gd name="adj1" fmla="val 50000"/>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25" name="Kurva 124"/>
          <p:cNvCxnSpPr>
            <a:stCxn id="81" idx="2"/>
            <a:endCxn id="103" idx="0"/>
          </p:cNvCxnSpPr>
          <p:nvPr/>
        </p:nvCxnSpPr>
        <p:spPr>
          <a:xfrm rot="5400000">
            <a:off x="2285499" y="3107369"/>
            <a:ext cx="813196" cy="6011"/>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6" name="Kurva 125"/>
          <p:cNvCxnSpPr>
            <a:stCxn id="103" idx="3"/>
            <a:endCxn id="118" idx="1"/>
          </p:cNvCxnSpPr>
          <p:nvPr/>
        </p:nvCxnSpPr>
        <p:spPr>
          <a:xfrm>
            <a:off x="3653898" y="4043472"/>
            <a:ext cx="1385690" cy="0"/>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grpSp>
        <p:nvGrpSpPr>
          <p:cNvPr id="128" name="Grupp 127"/>
          <p:cNvGrpSpPr/>
          <p:nvPr/>
        </p:nvGrpSpPr>
        <p:grpSpPr>
          <a:xfrm>
            <a:off x="4680012" y="1135158"/>
            <a:ext cx="2727000" cy="994009"/>
            <a:chOff x="5717480" y="4911967"/>
            <a:chExt cx="2643500" cy="1325345"/>
          </a:xfrm>
        </p:grpSpPr>
        <p:sp>
          <p:nvSpPr>
            <p:cNvPr id="129" name="Rektangel med rundade hörn 128"/>
            <p:cNvSpPr/>
            <p:nvPr/>
          </p:nvSpPr>
          <p:spPr>
            <a:xfrm>
              <a:off x="5717480" y="4911967"/>
              <a:ext cx="2572822" cy="132534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500" dirty="0">
                <a:solidFill>
                  <a:srgbClr val="000000"/>
                </a:solidFill>
              </a:endParaRPr>
            </a:p>
            <a:p>
              <a:pPr algn="ctr"/>
              <a:r>
                <a:rPr lang="en-US" sz="1500" dirty="0">
                  <a:solidFill>
                    <a:srgbClr val="000000"/>
                  </a:solidFill>
                </a:rPr>
                <a:t>Mean value:  </a:t>
              </a:r>
              <a:r>
                <a:rPr lang="en-US" sz="1500" dirty="0">
                  <a:solidFill>
                    <a:srgbClr val="000000"/>
                  </a:solidFill>
                  <a:latin typeface="Cambria Math"/>
                  <a:ea typeface="Cambria Math"/>
                </a:rPr>
                <a:t>μ </a:t>
              </a:r>
            </a:p>
            <a:p>
              <a:pPr algn="ctr"/>
              <a:r>
                <a:rPr lang="en-US" sz="1500" dirty="0">
                  <a:solidFill>
                    <a:srgbClr val="000000"/>
                  </a:solidFill>
                  <a:latin typeface="Cambria Math"/>
                  <a:ea typeface="Cambria Math"/>
                </a:rPr>
                <a:t>(e.g. average survival time)</a:t>
              </a:r>
            </a:p>
            <a:p>
              <a:pPr algn="ctr"/>
              <a:r>
                <a:rPr lang="en-US" sz="1500" dirty="0">
                  <a:solidFill>
                    <a:srgbClr val="000000"/>
                  </a:solidFill>
                  <a:latin typeface="Cambria Math"/>
                  <a:ea typeface="Cambria Math"/>
                </a:rPr>
                <a:t>Variance:  σ</a:t>
              </a:r>
              <a:r>
                <a:rPr lang="sv-SE" sz="1500" baseline="30000" dirty="0">
                  <a:solidFill>
                    <a:srgbClr val="000000"/>
                  </a:solidFill>
                  <a:latin typeface="Cambria Math"/>
                  <a:ea typeface="Cambria Math"/>
                </a:rPr>
                <a:t>2</a:t>
              </a:r>
              <a:endParaRPr lang="sv-SE" sz="1500" dirty="0">
                <a:solidFill>
                  <a:srgbClr val="000000"/>
                </a:solidFill>
              </a:endParaRPr>
            </a:p>
          </p:txBody>
        </p:sp>
        <p:sp>
          <p:nvSpPr>
            <p:cNvPr id="130" name="textruta 129"/>
            <p:cNvSpPr txBox="1"/>
            <p:nvPr/>
          </p:nvSpPr>
          <p:spPr>
            <a:xfrm>
              <a:off x="5717480" y="4911968"/>
              <a:ext cx="2643500" cy="430887"/>
            </a:xfrm>
            <a:prstGeom prst="rect">
              <a:avLst/>
            </a:prstGeom>
            <a:noFill/>
          </p:spPr>
          <p:txBody>
            <a:bodyPr wrap="square" rtlCol="0">
              <a:spAutoFit/>
            </a:bodyPr>
            <a:lstStyle/>
            <a:p>
              <a:pPr algn="ctr"/>
              <a:r>
                <a:rPr lang="en-US" sz="1500" b="1" dirty="0">
                  <a:solidFill>
                    <a:srgbClr val="000000"/>
                  </a:solidFill>
                  <a:latin typeface="Candara" panose="020E0502030303020204" pitchFamily="34" charset="0"/>
                </a:rPr>
                <a:t>Population Parameters</a:t>
              </a:r>
            </a:p>
          </p:txBody>
        </p:sp>
      </p:grpSp>
      <p:cxnSp>
        <p:nvCxnSpPr>
          <p:cNvPr id="134" name="Kurva 133"/>
          <p:cNvCxnSpPr>
            <a:stCxn id="81" idx="3"/>
            <a:endCxn id="129" idx="1"/>
          </p:cNvCxnSpPr>
          <p:nvPr/>
        </p:nvCxnSpPr>
        <p:spPr>
          <a:xfrm flipV="1">
            <a:off x="3788532" y="1632163"/>
            <a:ext cx="891480" cy="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00133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ubrik 1"/>
          <p:cNvSpPr>
            <a:spLocks noGrp="1"/>
          </p:cNvSpPr>
          <p:nvPr>
            <p:ph type="title"/>
          </p:nvPr>
        </p:nvSpPr>
        <p:spPr>
          <a:xfrm>
            <a:off x="2459720" y="249492"/>
            <a:ext cx="3410136" cy="540060"/>
          </a:xfrm>
        </p:spPr>
        <p:txBody>
          <a:bodyPr>
            <a:normAutofit/>
          </a:bodyPr>
          <a:lstStyle/>
          <a:p>
            <a:r>
              <a:rPr lang="en-US" sz="2700" dirty="0"/>
              <a:t>Types of variables</a:t>
            </a:r>
          </a:p>
        </p:txBody>
      </p:sp>
      <p:sp>
        <p:nvSpPr>
          <p:cNvPr id="4" name="Platshållare för bildnummer 3"/>
          <p:cNvSpPr>
            <a:spLocks noGrp="1"/>
          </p:cNvSpPr>
          <p:nvPr>
            <p:ph type="sldNum" sz="quarter" idx="12"/>
          </p:nvPr>
        </p:nvSpPr>
        <p:spPr/>
        <p:txBody>
          <a:bodyPr/>
          <a:lstStyle/>
          <a:p>
            <a:pPr>
              <a:defRPr/>
            </a:pPr>
            <a:fld id="{E5496AA5-12E0-44CF-B508-2AC3C50218AF}" type="slidenum">
              <a:rPr lang="sv-SE" smtClean="0">
                <a:solidFill>
                  <a:srgbClr val="000000">
                    <a:tint val="75000"/>
                  </a:srgbClr>
                </a:solidFill>
              </a:rPr>
              <a:pPr>
                <a:defRPr/>
              </a:pPr>
              <a:t>148</a:t>
            </a:fld>
            <a:endParaRPr lang="sv-SE">
              <a:solidFill>
                <a:srgbClr val="000000">
                  <a:tint val="75000"/>
                </a:srgbClr>
              </a:solidFill>
            </a:endParaRPr>
          </a:p>
        </p:txBody>
      </p:sp>
      <p:pic>
        <p:nvPicPr>
          <p:cNvPr id="3074" name="Picture 2" descr="C:\Users\SaraG\Documents\Kurs\Handledning\VT13\Medicinsk statistik_eng\population_sample\Schematic classification of variabl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5695" y="1005577"/>
            <a:ext cx="4844805" cy="3495581"/>
          </a:xfrm>
          <a:prstGeom prst="rect">
            <a:avLst/>
          </a:prstGeom>
          <a:noFill/>
          <a:extLst>
            <a:ext uri="{909E8E84-426E-40DD-AFC4-6F175D3DCCD1}">
              <a14:hiddenFill xmlns:a14="http://schemas.microsoft.com/office/drawing/2010/main">
                <a:solidFill>
                  <a:srgbClr val="FFFFFF"/>
                </a:solidFill>
              </a14:hiddenFill>
            </a:ext>
          </a:extLst>
        </p:spPr>
      </p:pic>
      <p:sp>
        <p:nvSpPr>
          <p:cNvPr id="6" name="Star: 5 Points 5">
            <a:extLst>
              <a:ext uri="{FF2B5EF4-FFF2-40B4-BE49-F238E27FC236}">
                <a16:creationId xmlns:a16="http://schemas.microsoft.com/office/drawing/2014/main" id="{DF50F9F1-E85A-4973-87F8-AB53AFD56298}"/>
              </a:ext>
            </a:extLst>
          </p:cNvPr>
          <p:cNvSpPr/>
          <p:nvPr/>
        </p:nvSpPr>
        <p:spPr>
          <a:xfrm>
            <a:off x="6948264" y="114477"/>
            <a:ext cx="351039" cy="378042"/>
          </a:xfrm>
          <a:prstGeom prst="star5">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43092094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ubrik 1"/>
          <p:cNvSpPr>
            <a:spLocks noGrp="1"/>
          </p:cNvSpPr>
          <p:nvPr>
            <p:ph type="title"/>
          </p:nvPr>
        </p:nvSpPr>
        <p:spPr>
          <a:xfrm>
            <a:off x="2458389" y="248289"/>
            <a:ext cx="4597887" cy="487257"/>
          </a:xfrm>
        </p:spPr>
        <p:txBody>
          <a:bodyPr>
            <a:normAutofit/>
          </a:bodyPr>
          <a:lstStyle/>
          <a:p>
            <a:r>
              <a:rPr lang="en-US" sz="2700" dirty="0"/>
              <a:t>Levels of measurement</a:t>
            </a:r>
            <a:endParaRPr lang="sv-SE" sz="2700" dirty="0"/>
          </a:p>
        </p:txBody>
      </p:sp>
      <p:sp>
        <p:nvSpPr>
          <p:cNvPr id="4" name="Platshållare för bildnummer 3"/>
          <p:cNvSpPr>
            <a:spLocks noGrp="1"/>
          </p:cNvSpPr>
          <p:nvPr>
            <p:ph type="sldNum" sz="quarter" idx="12"/>
          </p:nvPr>
        </p:nvSpPr>
        <p:spPr/>
        <p:txBody>
          <a:bodyPr/>
          <a:lstStyle/>
          <a:p>
            <a:pPr>
              <a:defRPr/>
            </a:pPr>
            <a:fld id="{AB3B9699-4152-454D-B933-2BE2B3F560F4}" type="slidenum">
              <a:rPr lang="sv-SE" smtClean="0">
                <a:solidFill>
                  <a:srgbClr val="000000">
                    <a:tint val="75000"/>
                  </a:srgbClr>
                </a:solidFill>
              </a:rPr>
              <a:pPr>
                <a:defRPr/>
              </a:pPr>
              <a:t>149</a:t>
            </a:fld>
            <a:endParaRPr lang="sv-SE">
              <a:solidFill>
                <a:srgbClr val="000000">
                  <a:tint val="75000"/>
                </a:srgbClr>
              </a:solidFill>
            </a:endParaRPr>
          </a:p>
        </p:txBody>
      </p:sp>
      <p:pic>
        <p:nvPicPr>
          <p:cNvPr id="4099" name="Picture 3" descr="C:\Users\SaraG\Documents\Kurs\Handledning\VT13\Medicinsk statistik_eng\population_sample\scale typ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3748" y="736068"/>
            <a:ext cx="4374486" cy="3185833"/>
          </a:xfrm>
          <a:prstGeom prst="rect">
            <a:avLst/>
          </a:prstGeom>
          <a:noFill/>
          <a:extLst>
            <a:ext uri="{909E8E84-426E-40DD-AFC4-6F175D3DCCD1}">
              <a14:hiddenFill xmlns:a14="http://schemas.microsoft.com/office/drawing/2010/main">
                <a:solidFill>
                  <a:srgbClr val="FFFFFF"/>
                </a:solidFill>
              </a14:hiddenFill>
            </a:ext>
          </a:extLst>
        </p:spPr>
      </p:pic>
      <p:sp>
        <p:nvSpPr>
          <p:cNvPr id="6" name="Rubrik 1"/>
          <p:cNvSpPr txBox="1">
            <a:spLocks/>
          </p:cNvSpPr>
          <p:nvPr/>
        </p:nvSpPr>
        <p:spPr>
          <a:xfrm>
            <a:off x="1405272" y="3894897"/>
            <a:ext cx="6515100" cy="691586"/>
          </a:xfrm>
          <a:prstGeom prst="rect">
            <a:avLst/>
          </a:prstGeom>
        </p:spPr>
        <p:txBody>
          <a:bodyPr vert="horz" lIns="27000" tIns="0" rIns="2700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lnSpc>
                <a:spcPct val="120000"/>
              </a:lnSpc>
              <a:spcAft>
                <a:spcPts val="0"/>
              </a:spcAft>
            </a:pPr>
            <a:r>
              <a:rPr lang="en-US" sz="1500" dirty="0">
                <a:solidFill>
                  <a:srgbClr val="000000"/>
                </a:solidFill>
                <a:latin typeface="Verdana" panose="020B0604030504040204" pitchFamily="34" charset="0"/>
                <a:ea typeface="Verdana" panose="020B0604030504040204" pitchFamily="34" charset="0"/>
              </a:rPr>
              <a:t>The </a:t>
            </a:r>
            <a:r>
              <a:rPr lang="en-US" sz="1500" b="1" dirty="0">
                <a:solidFill>
                  <a:srgbClr val="000000"/>
                </a:solidFill>
                <a:latin typeface="Verdana" panose="020B0604030504040204" pitchFamily="34" charset="0"/>
                <a:ea typeface="Verdana" panose="020B0604030504040204" pitchFamily="34" charset="0"/>
              </a:rPr>
              <a:t>type of scale </a:t>
            </a:r>
            <a:r>
              <a:rPr lang="en-US" sz="1500" dirty="0">
                <a:solidFill>
                  <a:srgbClr val="000000"/>
                </a:solidFill>
                <a:latin typeface="Verdana" panose="020B0604030504040204" pitchFamily="34" charset="0"/>
                <a:ea typeface="Verdana" panose="020B0604030504040204" pitchFamily="34" charset="0"/>
              </a:rPr>
              <a:t>the variables are measured on influences the choice of </a:t>
            </a:r>
            <a:r>
              <a:rPr lang="en-US" sz="1500" b="1" dirty="0">
                <a:solidFill>
                  <a:srgbClr val="000000"/>
                </a:solidFill>
                <a:latin typeface="Verdana" panose="020B0604030504040204" pitchFamily="34" charset="0"/>
                <a:ea typeface="Verdana" panose="020B0604030504040204" pitchFamily="34" charset="0"/>
              </a:rPr>
              <a:t>statistical methods </a:t>
            </a:r>
            <a:r>
              <a:rPr lang="en-US" sz="1500" dirty="0">
                <a:solidFill>
                  <a:srgbClr val="000000"/>
                </a:solidFill>
                <a:latin typeface="Verdana" panose="020B0604030504040204" pitchFamily="34" charset="0"/>
                <a:ea typeface="Verdana" panose="020B0604030504040204" pitchFamily="34" charset="0"/>
              </a:rPr>
              <a:t>for analyzing the data. </a:t>
            </a:r>
            <a:endParaRPr lang="sv-SE" sz="1500" dirty="0">
              <a:solidFill>
                <a:srgbClr val="000000"/>
              </a:solidFill>
              <a:latin typeface="Verdana" panose="020B0604030504040204" pitchFamily="34" charset="0"/>
              <a:ea typeface="Verdana" panose="020B0604030504040204" pitchFamily="34" charset="0"/>
            </a:endParaRPr>
          </a:p>
        </p:txBody>
      </p:sp>
      <p:sp>
        <p:nvSpPr>
          <p:cNvPr id="8" name="Star: 5 Points 7">
            <a:extLst>
              <a:ext uri="{FF2B5EF4-FFF2-40B4-BE49-F238E27FC236}">
                <a16:creationId xmlns:a16="http://schemas.microsoft.com/office/drawing/2014/main" id="{1D754899-0F09-4F91-AC65-8227E82A70E1}"/>
              </a:ext>
            </a:extLst>
          </p:cNvPr>
          <p:cNvSpPr/>
          <p:nvPr/>
        </p:nvSpPr>
        <p:spPr>
          <a:xfrm>
            <a:off x="6948264" y="114477"/>
            <a:ext cx="351039" cy="378042"/>
          </a:xfrm>
          <a:prstGeom prst="star5">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413340264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SaraG\Documents\Kurs\Handledning\VT13\Medicinsk statistik_eng\population_sample\scale type.png"/>
          <p:cNvPicPr>
            <a:picLocks noChangeAspect="1" noChangeArrowheads="1"/>
          </p:cNvPicPr>
          <p:nvPr/>
        </p:nvPicPr>
        <p:blipFill rotWithShape="1">
          <a:blip r:embed="rId3">
            <a:extLst>
              <a:ext uri="{28A0092B-C50C-407E-A947-70E740481C1C}">
                <a14:useLocalDpi xmlns:a14="http://schemas.microsoft.com/office/drawing/2010/main" val="0"/>
              </a:ext>
            </a:extLst>
          </a:blip>
          <a:srcRect t="5040" b="13374"/>
          <a:stretch/>
        </p:blipFill>
        <p:spPr bwMode="auto">
          <a:xfrm>
            <a:off x="5732497" y="60471"/>
            <a:ext cx="2207009" cy="1311342"/>
          </a:xfrm>
          <a:prstGeom prst="rect">
            <a:avLst/>
          </a:prstGeom>
          <a:noFill/>
          <a:extLst>
            <a:ext uri="{909E8E84-426E-40DD-AFC4-6F175D3DCCD1}">
              <a14:hiddenFill xmlns:a14="http://schemas.microsoft.com/office/drawing/2010/main">
                <a:solidFill>
                  <a:srgbClr val="FFFFFF"/>
                </a:solidFill>
              </a14:hiddenFill>
            </a:ext>
          </a:extLst>
        </p:spPr>
      </p:pic>
      <p:sp>
        <p:nvSpPr>
          <p:cNvPr id="23554" name="Rubrik 1"/>
          <p:cNvSpPr>
            <a:spLocks noGrp="1"/>
          </p:cNvSpPr>
          <p:nvPr>
            <p:ph type="title"/>
          </p:nvPr>
        </p:nvSpPr>
        <p:spPr>
          <a:xfrm>
            <a:off x="2573778" y="249492"/>
            <a:ext cx="3807423" cy="594066"/>
          </a:xfrm>
        </p:spPr>
        <p:txBody>
          <a:bodyPr>
            <a:normAutofit/>
          </a:bodyPr>
          <a:lstStyle/>
          <a:p>
            <a:r>
              <a:rPr lang="en-US" sz="2700" dirty="0"/>
              <a:t>Types of scales </a:t>
            </a:r>
            <a:endParaRPr lang="sv-SE" sz="2700" dirty="0"/>
          </a:p>
        </p:txBody>
      </p:sp>
      <p:sp>
        <p:nvSpPr>
          <p:cNvPr id="23555" name="Platshållare för innehåll 2"/>
          <p:cNvSpPr>
            <a:spLocks noGrp="1"/>
          </p:cNvSpPr>
          <p:nvPr>
            <p:ph idx="1"/>
          </p:nvPr>
        </p:nvSpPr>
        <p:spPr>
          <a:xfrm>
            <a:off x="1358643" y="1337518"/>
            <a:ext cx="6172200" cy="3394472"/>
          </a:xfrm>
        </p:spPr>
        <p:txBody>
          <a:bodyPr>
            <a:normAutofit fontScale="92500" lnSpcReduction="20000"/>
          </a:bodyPr>
          <a:lstStyle/>
          <a:p>
            <a:r>
              <a:rPr lang="en-US" sz="2100" b="1" dirty="0"/>
              <a:t>Nominal scale</a:t>
            </a:r>
            <a:r>
              <a:rPr lang="en-US" sz="2100" dirty="0"/>
              <a:t>: Name, Gender, color, brand</a:t>
            </a:r>
          </a:p>
          <a:p>
            <a:pPr marL="300038" lvl="1" indent="0">
              <a:spcBef>
                <a:spcPts val="450"/>
              </a:spcBef>
              <a:spcAft>
                <a:spcPts val="1350"/>
              </a:spcAft>
              <a:buNone/>
            </a:pPr>
            <a:r>
              <a:rPr lang="en-US" sz="1800" dirty="0"/>
              <a:t>	Is the ”lowest” level. </a:t>
            </a:r>
            <a:r>
              <a:rPr lang="en-US" sz="1800" u="sng" dirty="0"/>
              <a:t>No particular order</a:t>
            </a:r>
            <a:endParaRPr lang="en-US" sz="2100" u="sng" dirty="0"/>
          </a:p>
          <a:p>
            <a:r>
              <a:rPr lang="en-US" sz="2100" b="1" dirty="0"/>
              <a:t>Ordinal scale:</a:t>
            </a:r>
            <a:r>
              <a:rPr lang="en-US" sz="2100" dirty="0"/>
              <a:t> Good-Better-Best, Age category</a:t>
            </a:r>
          </a:p>
          <a:p>
            <a:pPr marL="0" lvl="1" indent="0">
              <a:spcBef>
                <a:spcPts val="450"/>
              </a:spcBef>
              <a:spcAft>
                <a:spcPts val="1350"/>
              </a:spcAft>
              <a:buNone/>
            </a:pPr>
            <a:r>
              <a:rPr lang="en-US" sz="2100" dirty="0"/>
              <a:t> </a:t>
            </a:r>
            <a:r>
              <a:rPr lang="en-US" dirty="0"/>
              <a:t>    	</a:t>
            </a:r>
            <a:r>
              <a:rPr lang="en-US" sz="1800" u="sng" dirty="0"/>
              <a:t>Has a natural order</a:t>
            </a:r>
            <a:endParaRPr lang="en-US" sz="2100" u="sng" dirty="0"/>
          </a:p>
          <a:p>
            <a:r>
              <a:rPr lang="en-US" sz="2100" b="1" dirty="0"/>
              <a:t>Interval scale:</a:t>
            </a:r>
            <a:r>
              <a:rPr lang="en-US" sz="2100" dirty="0"/>
              <a:t> Temperature </a:t>
            </a:r>
          </a:p>
          <a:p>
            <a:pPr marL="0" indent="0">
              <a:spcBef>
                <a:spcPts val="450"/>
              </a:spcBef>
              <a:spcAft>
                <a:spcPts val="1350"/>
              </a:spcAft>
              <a:buNone/>
            </a:pPr>
            <a:r>
              <a:rPr lang="en-US" sz="2100" dirty="0"/>
              <a:t>	</a:t>
            </a:r>
            <a:r>
              <a:rPr lang="en-US" u="sng" dirty="0"/>
              <a:t>Has an natural order </a:t>
            </a:r>
            <a:r>
              <a:rPr lang="en-US" dirty="0"/>
              <a:t>and a defined “distance” (negative, 0, positive)</a:t>
            </a:r>
          </a:p>
          <a:p>
            <a:r>
              <a:rPr lang="en-US" sz="2100" b="1" dirty="0"/>
              <a:t>Ratio scale:</a:t>
            </a:r>
            <a:r>
              <a:rPr lang="en-US" sz="2100" dirty="0"/>
              <a:t> Weights </a:t>
            </a:r>
          </a:p>
          <a:p>
            <a:pPr marL="0" indent="0">
              <a:buNone/>
            </a:pPr>
            <a:r>
              <a:rPr lang="sv-SE" dirty="0"/>
              <a:t>	</a:t>
            </a:r>
            <a:r>
              <a:rPr lang="en-US" u="sng" dirty="0"/>
              <a:t>Has an natural order</a:t>
            </a:r>
            <a:r>
              <a:rPr lang="en-US" dirty="0"/>
              <a:t>, “distance” and a “Zero-value”</a:t>
            </a:r>
          </a:p>
          <a:p>
            <a:pPr marL="0" indent="0">
              <a:buNone/>
            </a:pPr>
            <a:endParaRPr lang="sv-SE" dirty="0"/>
          </a:p>
        </p:txBody>
      </p:sp>
      <p:sp>
        <p:nvSpPr>
          <p:cNvPr id="4" name="Platshållare för bildnummer 3"/>
          <p:cNvSpPr>
            <a:spLocks noGrp="1"/>
          </p:cNvSpPr>
          <p:nvPr>
            <p:ph type="sldNum" sz="quarter" idx="12"/>
          </p:nvPr>
        </p:nvSpPr>
        <p:spPr/>
        <p:txBody>
          <a:bodyPr/>
          <a:lstStyle/>
          <a:p>
            <a:pPr>
              <a:defRPr/>
            </a:pPr>
            <a:fld id="{16DFEED4-8269-4E9E-94F4-7AD1E9C38893}" type="slidenum">
              <a:rPr lang="sv-SE" smtClean="0">
                <a:solidFill>
                  <a:srgbClr val="000000">
                    <a:tint val="75000"/>
                  </a:srgbClr>
                </a:solidFill>
              </a:rPr>
              <a:pPr>
                <a:defRPr/>
              </a:pPr>
              <a:t>150</a:t>
            </a:fld>
            <a:endParaRPr lang="sv-SE">
              <a:solidFill>
                <a:srgbClr val="000000">
                  <a:tint val="75000"/>
                </a:srgbClr>
              </a:solidFill>
            </a:endParaRPr>
          </a:p>
        </p:txBody>
      </p:sp>
      <p:sp>
        <p:nvSpPr>
          <p:cNvPr id="3" name="Rectangle: Rounded Corners 2">
            <a:extLst>
              <a:ext uri="{FF2B5EF4-FFF2-40B4-BE49-F238E27FC236}">
                <a16:creationId xmlns:a16="http://schemas.microsoft.com/office/drawing/2014/main" id="{663051A1-CEA6-4280-A354-F185866EF35B}"/>
              </a:ext>
            </a:extLst>
          </p:cNvPr>
          <p:cNvSpPr/>
          <p:nvPr/>
        </p:nvSpPr>
        <p:spPr>
          <a:xfrm>
            <a:off x="1250631" y="708544"/>
            <a:ext cx="6345705" cy="2152334"/>
          </a:xfrm>
          <a:prstGeom prst="roundRect">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solidFill>
                <a:schemeClr val="tx1"/>
              </a:solidFill>
            </a:endParaRPr>
          </a:p>
        </p:txBody>
      </p:sp>
      <p:sp>
        <p:nvSpPr>
          <p:cNvPr id="6" name="TextBox 5">
            <a:extLst>
              <a:ext uri="{FF2B5EF4-FFF2-40B4-BE49-F238E27FC236}">
                <a16:creationId xmlns:a16="http://schemas.microsoft.com/office/drawing/2014/main" id="{23181883-DB47-49B7-B695-13A46FBF5C90}"/>
              </a:ext>
            </a:extLst>
          </p:cNvPr>
          <p:cNvSpPr txBox="1"/>
          <p:nvPr/>
        </p:nvSpPr>
        <p:spPr>
          <a:xfrm>
            <a:off x="1817694" y="789552"/>
            <a:ext cx="2754306" cy="415498"/>
          </a:xfrm>
          <a:prstGeom prst="rect">
            <a:avLst/>
          </a:prstGeom>
          <a:noFill/>
        </p:spPr>
        <p:txBody>
          <a:bodyPr wrap="square" rtlCol="0">
            <a:spAutoFit/>
          </a:bodyPr>
          <a:lstStyle/>
          <a:p>
            <a:r>
              <a:rPr lang="sv-SE" sz="2100" dirty="0" err="1">
                <a:ln>
                  <a:solidFill>
                    <a:srgbClr val="0070C0"/>
                  </a:solidFill>
                </a:ln>
                <a:solidFill>
                  <a:srgbClr val="0070C0"/>
                </a:solidFill>
              </a:rPr>
              <a:t>Categorical</a:t>
            </a:r>
            <a:r>
              <a:rPr lang="sv-SE" sz="2100" dirty="0">
                <a:ln>
                  <a:solidFill>
                    <a:srgbClr val="0070C0"/>
                  </a:solidFill>
                </a:ln>
                <a:solidFill>
                  <a:srgbClr val="0070C0"/>
                </a:solidFill>
              </a:rPr>
              <a:t> data </a:t>
            </a:r>
          </a:p>
        </p:txBody>
      </p:sp>
      <p:sp>
        <p:nvSpPr>
          <p:cNvPr id="9" name="Rectangle: Rounded Corners 8">
            <a:extLst>
              <a:ext uri="{FF2B5EF4-FFF2-40B4-BE49-F238E27FC236}">
                <a16:creationId xmlns:a16="http://schemas.microsoft.com/office/drawing/2014/main" id="{18BB71EC-26D6-4B7A-B08E-3175A3BE843C}"/>
              </a:ext>
            </a:extLst>
          </p:cNvPr>
          <p:cNvSpPr/>
          <p:nvPr/>
        </p:nvSpPr>
        <p:spPr>
          <a:xfrm>
            <a:off x="1238110" y="2914884"/>
            <a:ext cx="6345705" cy="2017319"/>
          </a:xfrm>
          <a:prstGeom prst="roundRect">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solidFill>
                <a:schemeClr val="tx1"/>
              </a:solidFill>
            </a:endParaRPr>
          </a:p>
        </p:txBody>
      </p:sp>
      <p:sp>
        <p:nvSpPr>
          <p:cNvPr id="10" name="TextBox 9">
            <a:extLst>
              <a:ext uri="{FF2B5EF4-FFF2-40B4-BE49-F238E27FC236}">
                <a16:creationId xmlns:a16="http://schemas.microsoft.com/office/drawing/2014/main" id="{E4221999-9B3A-4AFB-9083-E29FC909DBBC}"/>
              </a:ext>
            </a:extLst>
          </p:cNvPr>
          <p:cNvSpPr txBox="1"/>
          <p:nvPr/>
        </p:nvSpPr>
        <p:spPr>
          <a:xfrm>
            <a:off x="5004048" y="3557359"/>
            <a:ext cx="1971219" cy="1061829"/>
          </a:xfrm>
          <a:prstGeom prst="rect">
            <a:avLst/>
          </a:prstGeom>
          <a:noFill/>
        </p:spPr>
        <p:txBody>
          <a:bodyPr wrap="square" rtlCol="0">
            <a:spAutoFit/>
          </a:bodyPr>
          <a:lstStyle/>
          <a:p>
            <a:r>
              <a:rPr lang="sv-SE" sz="2100" dirty="0" err="1">
                <a:ln>
                  <a:solidFill>
                    <a:srgbClr val="0070C0"/>
                  </a:solidFill>
                </a:ln>
                <a:solidFill>
                  <a:srgbClr val="0070C0"/>
                </a:solidFill>
              </a:rPr>
              <a:t>Quantitative</a:t>
            </a:r>
            <a:r>
              <a:rPr lang="sv-SE" sz="2100" dirty="0">
                <a:ln>
                  <a:solidFill>
                    <a:srgbClr val="0070C0"/>
                  </a:solidFill>
                </a:ln>
                <a:solidFill>
                  <a:srgbClr val="0070C0"/>
                </a:solidFill>
              </a:rPr>
              <a:t> / </a:t>
            </a:r>
            <a:r>
              <a:rPr lang="sv-SE" sz="2100" dirty="0" err="1">
                <a:ln>
                  <a:solidFill>
                    <a:srgbClr val="0070C0"/>
                  </a:solidFill>
                </a:ln>
                <a:solidFill>
                  <a:srgbClr val="0070C0"/>
                </a:solidFill>
              </a:rPr>
              <a:t>Numerical</a:t>
            </a:r>
            <a:r>
              <a:rPr lang="sv-SE" sz="2100" dirty="0">
                <a:ln>
                  <a:solidFill>
                    <a:srgbClr val="0070C0"/>
                  </a:solidFill>
                </a:ln>
                <a:solidFill>
                  <a:srgbClr val="0070C0"/>
                </a:solidFill>
              </a:rPr>
              <a:t> data </a:t>
            </a:r>
          </a:p>
        </p:txBody>
      </p:sp>
    </p:spTree>
    <p:extLst>
      <p:ext uri="{BB962C8B-B14F-4D97-AF65-F5344CB8AC3E}">
        <p14:creationId xmlns:p14="http://schemas.microsoft.com/office/powerpoint/2010/main" val="253232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fade">
                                      <p:cBhvr>
                                        <p:cTn id="7" dur="500"/>
                                        <p:tgtEl>
                                          <p:spTgt spid="2355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555">
                                            <p:txEl>
                                              <p:pRg st="1" end="1"/>
                                            </p:txEl>
                                          </p:spTgt>
                                        </p:tgtEl>
                                        <p:attrNameLst>
                                          <p:attrName>style.visibility</p:attrName>
                                        </p:attrNameLst>
                                      </p:cBhvr>
                                      <p:to>
                                        <p:strVal val="visible"/>
                                      </p:to>
                                    </p:set>
                                    <p:animEffect transition="in" filter="fade">
                                      <p:cBhvr>
                                        <p:cTn id="10" dur="500"/>
                                        <p:tgtEl>
                                          <p:spTgt spid="2355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animEffect transition="in" filter="fade">
                                      <p:cBhvr>
                                        <p:cTn id="15" dur="500"/>
                                        <p:tgtEl>
                                          <p:spTgt spid="2355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3555">
                                            <p:txEl>
                                              <p:pRg st="3" end="3"/>
                                            </p:txEl>
                                          </p:spTgt>
                                        </p:tgtEl>
                                        <p:attrNameLst>
                                          <p:attrName>style.visibility</p:attrName>
                                        </p:attrNameLst>
                                      </p:cBhvr>
                                      <p:to>
                                        <p:strVal val="visible"/>
                                      </p:to>
                                    </p:set>
                                    <p:animEffect transition="in" filter="fade">
                                      <p:cBhvr>
                                        <p:cTn id="18" dur="500"/>
                                        <p:tgtEl>
                                          <p:spTgt spid="2355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3555">
                                            <p:txEl>
                                              <p:pRg st="4" end="4"/>
                                            </p:txEl>
                                          </p:spTgt>
                                        </p:tgtEl>
                                        <p:attrNameLst>
                                          <p:attrName>style.visibility</p:attrName>
                                        </p:attrNameLst>
                                      </p:cBhvr>
                                      <p:to>
                                        <p:strVal val="visible"/>
                                      </p:to>
                                    </p:set>
                                    <p:animEffect transition="in" filter="fade">
                                      <p:cBhvr>
                                        <p:cTn id="29" dur="500"/>
                                        <p:tgtEl>
                                          <p:spTgt spid="23555">
                                            <p:txEl>
                                              <p:pRg st="4" end="4"/>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3555">
                                            <p:txEl>
                                              <p:pRg st="5" end="5"/>
                                            </p:txEl>
                                          </p:spTgt>
                                        </p:tgtEl>
                                        <p:attrNameLst>
                                          <p:attrName>style.visibility</p:attrName>
                                        </p:attrNameLst>
                                      </p:cBhvr>
                                      <p:to>
                                        <p:strVal val="visible"/>
                                      </p:to>
                                    </p:set>
                                    <p:animEffect transition="in" filter="fade">
                                      <p:cBhvr>
                                        <p:cTn id="32" dur="500"/>
                                        <p:tgtEl>
                                          <p:spTgt spid="2355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555">
                                            <p:txEl>
                                              <p:pRg st="6" end="6"/>
                                            </p:txEl>
                                          </p:spTgt>
                                        </p:tgtEl>
                                        <p:attrNameLst>
                                          <p:attrName>style.visibility</p:attrName>
                                        </p:attrNameLst>
                                      </p:cBhvr>
                                      <p:to>
                                        <p:strVal val="visible"/>
                                      </p:to>
                                    </p:set>
                                    <p:animEffect transition="in" filter="fade">
                                      <p:cBhvr>
                                        <p:cTn id="37" dur="500"/>
                                        <p:tgtEl>
                                          <p:spTgt spid="23555">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23555">
                                            <p:txEl>
                                              <p:pRg st="7" end="7"/>
                                            </p:txEl>
                                          </p:spTgt>
                                        </p:tgtEl>
                                        <p:attrNameLst>
                                          <p:attrName>style.visibility</p:attrName>
                                        </p:attrNameLst>
                                      </p:cBhvr>
                                      <p:to>
                                        <p:strVal val="visible"/>
                                      </p:to>
                                    </p:set>
                                    <p:animEffect transition="in" filter="fade">
                                      <p:cBhvr>
                                        <p:cTn id="40" dur="500"/>
                                        <p:tgtEl>
                                          <p:spTgt spid="23555">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randombar(horizontal)">
                                      <p:cBhvr>
                                        <p:cTn id="5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9" grpId="0" animBg="1"/>
      <p:bldP spid="10"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Platshållare för innehåll 1"/>
          <p:cNvSpPr>
            <a:spLocks noGrp="1"/>
          </p:cNvSpPr>
          <p:nvPr>
            <p:ph idx="1"/>
          </p:nvPr>
        </p:nvSpPr>
        <p:spPr>
          <a:xfrm>
            <a:off x="251520" y="1059583"/>
            <a:ext cx="8640960" cy="3589046"/>
          </a:xfrm>
        </p:spPr>
        <p:txBody>
          <a:bodyPr/>
          <a:lstStyle/>
          <a:p>
            <a:pPr marL="0" indent="0">
              <a:buNone/>
            </a:pPr>
            <a:r>
              <a:rPr lang="en-US" sz="2100" u="sng" dirty="0"/>
              <a:t>1. Descriptive statistics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2100" u="sng" dirty="0"/>
              <a:t>2. Analytical statistics</a:t>
            </a:r>
          </a:p>
          <a:p>
            <a:pPr marL="0" indent="0">
              <a:buNone/>
            </a:pPr>
            <a:r>
              <a:rPr lang="en-US" sz="2100" dirty="0"/>
              <a:t>Tests: “There is a statistically significant difference.”</a:t>
            </a:r>
          </a:p>
        </p:txBody>
      </p:sp>
      <p:sp>
        <p:nvSpPr>
          <p:cNvPr id="8194" name="Rubrik 3"/>
          <p:cNvSpPr>
            <a:spLocks noGrp="1"/>
          </p:cNvSpPr>
          <p:nvPr>
            <p:ph type="title"/>
          </p:nvPr>
        </p:nvSpPr>
        <p:spPr>
          <a:xfrm>
            <a:off x="2546775" y="205978"/>
            <a:ext cx="5111325" cy="583574"/>
          </a:xfrm>
        </p:spPr>
        <p:txBody>
          <a:bodyPr>
            <a:normAutofit/>
          </a:bodyPr>
          <a:lstStyle/>
          <a:p>
            <a:pPr eaLnBrk="1" hangingPunct="1"/>
            <a:r>
              <a:rPr lang="en-US" sz="2550" dirty="0"/>
              <a:t>Two types of statistics</a:t>
            </a:r>
          </a:p>
        </p:txBody>
      </p:sp>
      <p:sp>
        <p:nvSpPr>
          <p:cNvPr id="2" name="Platshållare för bildnummer 1"/>
          <p:cNvSpPr>
            <a:spLocks noGrp="1"/>
          </p:cNvSpPr>
          <p:nvPr>
            <p:ph type="sldNum" sz="quarter" idx="12"/>
          </p:nvPr>
        </p:nvSpPr>
        <p:spPr/>
        <p:txBody>
          <a:bodyPr/>
          <a:lstStyle/>
          <a:p>
            <a:pPr>
              <a:defRPr/>
            </a:pPr>
            <a:fld id="{DD40F9BE-3587-45BF-947D-D99B1A8832AC}" type="slidenum">
              <a:rPr lang="sv-SE" smtClean="0"/>
              <a:pPr>
                <a:defRPr/>
              </a:pPr>
              <a:t>151</a:t>
            </a:fld>
            <a:endParaRPr lang="sv-SE" dirty="0"/>
          </a:p>
        </p:txBody>
      </p:sp>
      <p:sp>
        <p:nvSpPr>
          <p:cNvPr id="5" name="textruta 4"/>
          <p:cNvSpPr txBox="1"/>
          <p:nvPr/>
        </p:nvSpPr>
        <p:spPr>
          <a:xfrm>
            <a:off x="1545804" y="1554346"/>
            <a:ext cx="3078342" cy="369332"/>
          </a:xfrm>
          <a:prstGeom prst="rect">
            <a:avLst/>
          </a:prstGeom>
          <a:noFill/>
        </p:spPr>
        <p:txBody>
          <a:bodyPr wrap="square" rtlCol="0">
            <a:spAutoFit/>
          </a:bodyPr>
          <a:lstStyle/>
          <a:p>
            <a:r>
              <a:rPr lang="en-US" dirty="0"/>
              <a:t>Numerical                 Tables</a:t>
            </a:r>
          </a:p>
        </p:txBody>
      </p:sp>
      <p:grpSp>
        <p:nvGrpSpPr>
          <p:cNvPr id="3" name="Group 2"/>
          <p:cNvGrpSpPr/>
          <p:nvPr/>
        </p:nvGrpSpPr>
        <p:grpSpPr>
          <a:xfrm>
            <a:off x="4599738" y="1059582"/>
            <a:ext cx="4004710" cy="2538282"/>
            <a:chOff x="4104928" y="1340768"/>
            <a:chExt cx="5339613" cy="3384376"/>
          </a:xfrm>
        </p:grpSpPr>
        <p:pic>
          <p:nvPicPr>
            <p:cNvPr id="9"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l="54779"/>
            <a:stretch/>
          </p:blipFill>
          <p:spPr bwMode="auto">
            <a:xfrm>
              <a:off x="4932040" y="1832719"/>
              <a:ext cx="2260600" cy="289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ruta 10"/>
            <p:cNvSpPr txBox="1"/>
            <p:nvPr/>
          </p:nvSpPr>
          <p:spPr>
            <a:xfrm>
              <a:off x="4104928" y="1340768"/>
              <a:ext cx="5339613" cy="492443"/>
            </a:xfrm>
            <a:prstGeom prst="rect">
              <a:avLst/>
            </a:prstGeom>
            <a:noFill/>
          </p:spPr>
          <p:txBody>
            <a:bodyPr wrap="square" rtlCol="0">
              <a:spAutoFit/>
            </a:bodyPr>
            <a:lstStyle/>
            <a:p>
              <a:r>
                <a:rPr lang="sv-SE" dirty="0" err="1"/>
                <a:t>Graphical</a:t>
              </a:r>
              <a:r>
                <a:rPr lang="sv-SE" dirty="0"/>
                <a:t>           Histogram, </a:t>
              </a:r>
              <a:r>
                <a:rPr lang="sv-SE" dirty="0" err="1"/>
                <a:t>boxplots</a:t>
              </a:r>
              <a:r>
                <a:rPr lang="sv-SE" dirty="0"/>
                <a:t> </a:t>
              </a:r>
            </a:p>
          </p:txBody>
        </p:sp>
      </p:grpSp>
      <p:sp>
        <p:nvSpPr>
          <p:cNvPr id="10" name="textruta 9"/>
          <p:cNvSpPr txBox="1"/>
          <p:nvPr/>
        </p:nvSpPr>
        <p:spPr>
          <a:xfrm>
            <a:off x="5922150" y="3597864"/>
            <a:ext cx="1566174" cy="253916"/>
          </a:xfrm>
          <a:prstGeom prst="rect">
            <a:avLst/>
          </a:prstGeom>
          <a:noFill/>
        </p:spPr>
        <p:txBody>
          <a:bodyPr wrap="square" rtlCol="0">
            <a:spAutoFit/>
          </a:bodyPr>
          <a:lstStyle/>
          <a:p>
            <a:r>
              <a:rPr lang="en-US" sz="1050" dirty="0"/>
              <a:t>(Figure 1.1 in the book)</a:t>
            </a:r>
          </a:p>
        </p:txBody>
      </p:sp>
      <p:graphicFrame>
        <p:nvGraphicFramePr>
          <p:cNvPr id="12" name="Content Placeholder 3"/>
          <p:cNvGraphicFramePr>
            <a:graphicFrameLocks/>
          </p:cNvGraphicFramePr>
          <p:nvPr/>
        </p:nvGraphicFramePr>
        <p:xfrm>
          <a:off x="1979712" y="1923678"/>
          <a:ext cx="2762064" cy="1263590"/>
        </p:xfrm>
        <a:graphic>
          <a:graphicData uri="http://schemas.openxmlformats.org/drawingml/2006/table">
            <a:tbl>
              <a:tblPr firstRow="1" bandRow="1">
                <a:tableStyleId>{7DF18680-E054-41AD-8BC1-D1AEF772440D}</a:tableStyleId>
              </a:tblPr>
              <a:tblGrid>
                <a:gridCol w="1381032">
                  <a:extLst>
                    <a:ext uri="{9D8B030D-6E8A-4147-A177-3AD203B41FA5}">
                      <a16:colId xmlns:a16="http://schemas.microsoft.com/office/drawing/2014/main" val="20000"/>
                    </a:ext>
                  </a:extLst>
                </a:gridCol>
                <a:gridCol w="1381032">
                  <a:extLst>
                    <a:ext uri="{9D8B030D-6E8A-4147-A177-3AD203B41FA5}">
                      <a16:colId xmlns:a16="http://schemas.microsoft.com/office/drawing/2014/main" val="20001"/>
                    </a:ext>
                  </a:extLst>
                </a:gridCol>
              </a:tblGrid>
              <a:tr h="252718">
                <a:tc gridSpan="2">
                  <a:txBody>
                    <a:bodyPr/>
                    <a:lstStyle/>
                    <a:p>
                      <a:r>
                        <a:rPr lang="en-US" sz="1100" dirty="0">
                          <a:solidFill>
                            <a:schemeClr val="tx1"/>
                          </a:solidFill>
                        </a:rPr>
                        <a:t>“Do you feel stressed in your everyday life?”</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58959B"/>
                      </a:solidFill>
                      <a:prstDash val="solid"/>
                      <a:round/>
                      <a:headEnd type="none" w="med" len="med"/>
                      <a:tailEnd type="none" w="med" len="med"/>
                    </a:lnB>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2718">
                <a:tc gridSpan="2">
                  <a:txBody>
                    <a:bodyPr/>
                    <a:lstStyle/>
                    <a:p>
                      <a:pPr algn="r"/>
                      <a:r>
                        <a:rPr lang="en-US" sz="1100" b="1" dirty="0">
                          <a:solidFill>
                            <a:schemeClr val="bg1"/>
                          </a:solidFill>
                        </a:rPr>
                        <a:t>Number of persons, n (%)</a:t>
                      </a:r>
                    </a:p>
                  </a:txBody>
                  <a:tcPr marL="68580" marR="68580" marT="34290" marB="34290">
                    <a:lnL w="12700" cap="flat" cmpd="sng" algn="ctr">
                      <a:solidFill>
                        <a:srgbClr val="58959B"/>
                      </a:solidFill>
                      <a:prstDash val="solid"/>
                      <a:round/>
                      <a:headEnd type="none" w="med" len="med"/>
                      <a:tailEnd type="none" w="med" len="med"/>
                    </a:lnL>
                    <a:lnR w="12700" cap="flat" cmpd="sng" algn="ctr">
                      <a:solidFill>
                        <a:srgbClr val="58959B"/>
                      </a:solidFill>
                      <a:prstDash val="solid"/>
                      <a:round/>
                      <a:headEnd type="none" w="med" len="med"/>
                      <a:tailEnd type="none" w="med" len="med"/>
                    </a:lnR>
                    <a:lnT w="12700" cap="flat" cmpd="sng" algn="ctr">
                      <a:solidFill>
                        <a:srgbClr val="58959B"/>
                      </a:solidFill>
                      <a:prstDash val="solid"/>
                      <a:round/>
                      <a:headEnd type="none" w="med" len="med"/>
                      <a:tailEnd type="none" w="med" len="med"/>
                    </a:lnT>
                    <a:lnB w="12700" cap="flat" cmpd="sng" algn="ctr">
                      <a:solidFill>
                        <a:srgbClr val="58959B"/>
                      </a:solidFill>
                      <a:prstDash val="solid"/>
                      <a:round/>
                      <a:headEnd type="none" w="med" len="med"/>
                      <a:tailEnd type="none" w="med" len="med"/>
                    </a:lnB>
                    <a:solidFill>
                      <a:srgbClr val="589596"/>
                    </a:solidFill>
                  </a:tcPr>
                </a:tc>
                <a:tc hMerge="1">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89596"/>
                    </a:solidFill>
                  </a:tcPr>
                </a:tc>
                <a:extLst>
                  <a:ext uri="{0D108BD9-81ED-4DB2-BD59-A6C34878D82A}">
                    <a16:rowId xmlns:a16="http://schemas.microsoft.com/office/drawing/2014/main" val="10001"/>
                  </a:ext>
                </a:extLst>
              </a:tr>
              <a:tr h="252718">
                <a:tc>
                  <a:txBody>
                    <a:bodyPr/>
                    <a:lstStyle/>
                    <a:p>
                      <a:r>
                        <a:rPr lang="en-US" sz="1100" dirty="0">
                          <a:solidFill>
                            <a:schemeClr val="tx1"/>
                          </a:solidFill>
                        </a:rPr>
                        <a:t>Yes,</a:t>
                      </a:r>
                      <a:r>
                        <a:rPr lang="en-US" sz="1100" baseline="0" dirty="0">
                          <a:solidFill>
                            <a:schemeClr val="tx1"/>
                          </a:solidFill>
                        </a:rPr>
                        <a:t> often</a:t>
                      </a:r>
                      <a:endParaRPr lang="en-US" sz="1100" dirty="0">
                        <a:solidFill>
                          <a:schemeClr val="tx1"/>
                        </a:solidFill>
                      </a:endParaRPr>
                    </a:p>
                  </a:txBody>
                  <a:tcPr marL="68580" marR="68580" marT="34290" marB="34290">
                    <a:lnL w="12700" cap="flat" cmpd="sng" algn="ctr">
                      <a:solidFill>
                        <a:srgbClr val="58959B"/>
                      </a:solidFill>
                      <a:prstDash val="solid"/>
                      <a:round/>
                      <a:headEnd type="none" w="med" len="med"/>
                      <a:tailEnd type="none" w="med" len="med"/>
                    </a:lnL>
                    <a:lnR w="12700" cap="flat" cmpd="sng" algn="ctr">
                      <a:solidFill>
                        <a:srgbClr val="58959B"/>
                      </a:solidFill>
                      <a:prstDash val="solid"/>
                      <a:round/>
                      <a:headEnd type="none" w="med" len="med"/>
                      <a:tailEnd type="none" w="med" len="med"/>
                    </a:lnR>
                    <a:lnT w="12700" cap="flat" cmpd="sng" algn="ctr">
                      <a:solidFill>
                        <a:srgbClr val="58959B"/>
                      </a:solidFill>
                      <a:prstDash val="solid"/>
                      <a:round/>
                      <a:headEnd type="none" w="med" len="med"/>
                      <a:tailEnd type="none" w="med" len="med"/>
                    </a:lnT>
                    <a:lnB w="12700" cap="flat" cmpd="sng" algn="ctr">
                      <a:solidFill>
                        <a:srgbClr val="58959B"/>
                      </a:solidFill>
                      <a:prstDash val="solid"/>
                      <a:round/>
                      <a:headEnd type="none" w="med" len="med"/>
                      <a:tailEnd type="none" w="med" len="med"/>
                    </a:lnB>
                    <a:solidFill>
                      <a:srgbClr val="DAE9EA"/>
                    </a:solidFill>
                  </a:tcPr>
                </a:tc>
                <a:tc>
                  <a:txBody>
                    <a:bodyPr/>
                    <a:lstStyle/>
                    <a:p>
                      <a:pPr algn="ctr"/>
                      <a:r>
                        <a:rPr lang="en-US" sz="1100" dirty="0">
                          <a:solidFill>
                            <a:schemeClr val="tx1"/>
                          </a:solidFill>
                        </a:rPr>
                        <a:t>4128 (15)</a:t>
                      </a:r>
                    </a:p>
                  </a:txBody>
                  <a:tcPr marL="68580" marR="68580" marT="34290" marB="34290">
                    <a:lnL w="12700" cap="flat" cmpd="sng" algn="ctr">
                      <a:solidFill>
                        <a:srgbClr val="58959B"/>
                      </a:solidFill>
                      <a:prstDash val="solid"/>
                      <a:round/>
                      <a:headEnd type="none" w="med" len="med"/>
                      <a:tailEnd type="none" w="med" len="med"/>
                    </a:lnL>
                    <a:lnR w="12700" cap="flat" cmpd="sng" algn="ctr">
                      <a:solidFill>
                        <a:srgbClr val="58959B"/>
                      </a:solidFill>
                      <a:prstDash val="solid"/>
                      <a:round/>
                      <a:headEnd type="none" w="med" len="med"/>
                      <a:tailEnd type="none" w="med" len="med"/>
                    </a:lnR>
                    <a:lnT w="12700" cap="flat" cmpd="sng" algn="ctr">
                      <a:solidFill>
                        <a:srgbClr val="58959B"/>
                      </a:solidFill>
                      <a:prstDash val="solid"/>
                      <a:round/>
                      <a:headEnd type="none" w="med" len="med"/>
                      <a:tailEnd type="none" w="med" len="med"/>
                    </a:lnT>
                    <a:lnB w="12700" cap="flat" cmpd="sng" algn="ctr">
                      <a:solidFill>
                        <a:srgbClr val="58959B"/>
                      </a:solidFill>
                      <a:prstDash val="solid"/>
                      <a:round/>
                      <a:headEnd type="none" w="med" len="med"/>
                      <a:tailEnd type="none" w="med" len="med"/>
                    </a:lnB>
                    <a:solidFill>
                      <a:srgbClr val="DAE9EA"/>
                    </a:solidFill>
                  </a:tcPr>
                </a:tc>
                <a:extLst>
                  <a:ext uri="{0D108BD9-81ED-4DB2-BD59-A6C34878D82A}">
                    <a16:rowId xmlns:a16="http://schemas.microsoft.com/office/drawing/2014/main" val="10002"/>
                  </a:ext>
                </a:extLst>
              </a:tr>
              <a:tr h="252718">
                <a:tc>
                  <a:txBody>
                    <a:bodyPr/>
                    <a:lstStyle/>
                    <a:p>
                      <a:r>
                        <a:rPr lang="en-US" sz="1100" dirty="0">
                          <a:solidFill>
                            <a:schemeClr val="tx1"/>
                          </a:solidFill>
                        </a:rPr>
                        <a:t>Yes, sometimes</a:t>
                      </a:r>
                    </a:p>
                  </a:txBody>
                  <a:tcPr marL="68580" marR="68580" marT="34290" marB="34290">
                    <a:lnL w="12700" cap="flat" cmpd="sng" algn="ctr">
                      <a:solidFill>
                        <a:srgbClr val="58959B"/>
                      </a:solidFill>
                      <a:prstDash val="solid"/>
                      <a:round/>
                      <a:headEnd type="none" w="med" len="med"/>
                      <a:tailEnd type="none" w="med" len="med"/>
                    </a:lnL>
                    <a:lnR w="12700" cap="flat" cmpd="sng" algn="ctr">
                      <a:solidFill>
                        <a:srgbClr val="58959B"/>
                      </a:solidFill>
                      <a:prstDash val="solid"/>
                      <a:round/>
                      <a:headEnd type="none" w="med" len="med"/>
                      <a:tailEnd type="none" w="med" len="med"/>
                    </a:lnR>
                    <a:lnT w="12700" cap="flat" cmpd="sng" algn="ctr">
                      <a:solidFill>
                        <a:srgbClr val="58959B"/>
                      </a:solidFill>
                      <a:prstDash val="solid"/>
                      <a:round/>
                      <a:headEnd type="none" w="med" len="med"/>
                      <a:tailEnd type="none" w="med" len="med"/>
                    </a:lnT>
                    <a:lnB w="12700" cap="flat" cmpd="sng" algn="ctr">
                      <a:solidFill>
                        <a:srgbClr val="58959B"/>
                      </a:solidFill>
                      <a:prstDash val="solid"/>
                      <a:round/>
                      <a:headEnd type="none" w="med" len="med"/>
                      <a:tailEnd type="none" w="med" len="med"/>
                    </a:lnB>
                    <a:solidFill>
                      <a:srgbClr val="DAE9EA"/>
                    </a:solidFill>
                  </a:tcPr>
                </a:tc>
                <a:tc>
                  <a:txBody>
                    <a:bodyPr/>
                    <a:lstStyle/>
                    <a:p>
                      <a:pPr algn="ctr"/>
                      <a:r>
                        <a:rPr lang="en-US" sz="1100" dirty="0">
                          <a:solidFill>
                            <a:schemeClr val="tx1"/>
                          </a:solidFill>
                        </a:rPr>
                        <a:t>12 917 (48)</a:t>
                      </a:r>
                    </a:p>
                  </a:txBody>
                  <a:tcPr marL="68580" marR="68580" marT="34290" marB="34290">
                    <a:lnL w="12700" cap="flat" cmpd="sng" algn="ctr">
                      <a:solidFill>
                        <a:srgbClr val="58959B"/>
                      </a:solidFill>
                      <a:prstDash val="solid"/>
                      <a:round/>
                      <a:headEnd type="none" w="med" len="med"/>
                      <a:tailEnd type="none" w="med" len="med"/>
                    </a:lnL>
                    <a:lnR w="12700" cap="flat" cmpd="sng" algn="ctr">
                      <a:solidFill>
                        <a:srgbClr val="58959B"/>
                      </a:solidFill>
                      <a:prstDash val="solid"/>
                      <a:round/>
                      <a:headEnd type="none" w="med" len="med"/>
                      <a:tailEnd type="none" w="med" len="med"/>
                    </a:lnR>
                    <a:lnT w="12700" cap="flat" cmpd="sng" algn="ctr">
                      <a:solidFill>
                        <a:srgbClr val="58959B"/>
                      </a:solidFill>
                      <a:prstDash val="solid"/>
                      <a:round/>
                      <a:headEnd type="none" w="med" len="med"/>
                      <a:tailEnd type="none" w="med" len="med"/>
                    </a:lnT>
                    <a:lnB w="12700" cap="flat" cmpd="sng" algn="ctr">
                      <a:solidFill>
                        <a:srgbClr val="58959B"/>
                      </a:solidFill>
                      <a:prstDash val="solid"/>
                      <a:round/>
                      <a:headEnd type="none" w="med" len="med"/>
                      <a:tailEnd type="none" w="med" len="med"/>
                    </a:lnB>
                    <a:solidFill>
                      <a:srgbClr val="DAE9EA"/>
                    </a:solidFill>
                  </a:tcPr>
                </a:tc>
                <a:extLst>
                  <a:ext uri="{0D108BD9-81ED-4DB2-BD59-A6C34878D82A}">
                    <a16:rowId xmlns:a16="http://schemas.microsoft.com/office/drawing/2014/main" val="10003"/>
                  </a:ext>
                </a:extLst>
              </a:tr>
              <a:tr h="252718">
                <a:tc>
                  <a:txBody>
                    <a:bodyPr/>
                    <a:lstStyle/>
                    <a:p>
                      <a:r>
                        <a:rPr lang="en-US" sz="1100" dirty="0">
                          <a:solidFill>
                            <a:schemeClr val="tx1"/>
                          </a:solidFill>
                        </a:rPr>
                        <a:t>No, (almost never)</a:t>
                      </a:r>
                    </a:p>
                  </a:txBody>
                  <a:tcPr marL="68580" marR="68580" marT="34290" marB="34290">
                    <a:lnL w="12700" cap="flat" cmpd="sng" algn="ctr">
                      <a:solidFill>
                        <a:srgbClr val="58959B"/>
                      </a:solidFill>
                      <a:prstDash val="solid"/>
                      <a:round/>
                      <a:headEnd type="none" w="med" len="med"/>
                      <a:tailEnd type="none" w="med" len="med"/>
                    </a:lnL>
                    <a:lnR w="12700" cap="flat" cmpd="sng" algn="ctr">
                      <a:solidFill>
                        <a:srgbClr val="58959B"/>
                      </a:solidFill>
                      <a:prstDash val="solid"/>
                      <a:round/>
                      <a:headEnd type="none" w="med" len="med"/>
                      <a:tailEnd type="none" w="med" len="med"/>
                    </a:lnR>
                    <a:lnT w="12700" cap="flat" cmpd="sng" algn="ctr">
                      <a:solidFill>
                        <a:srgbClr val="58959B"/>
                      </a:solidFill>
                      <a:prstDash val="solid"/>
                      <a:round/>
                      <a:headEnd type="none" w="med" len="med"/>
                      <a:tailEnd type="none" w="med" len="med"/>
                    </a:lnT>
                    <a:lnB w="12700" cap="flat" cmpd="sng" algn="ctr">
                      <a:solidFill>
                        <a:srgbClr val="58959B"/>
                      </a:solidFill>
                      <a:prstDash val="solid"/>
                      <a:round/>
                      <a:headEnd type="none" w="med" len="med"/>
                      <a:tailEnd type="none" w="med" len="med"/>
                    </a:lnB>
                    <a:solidFill>
                      <a:srgbClr val="DAE9EA"/>
                    </a:solidFill>
                  </a:tcPr>
                </a:tc>
                <a:tc>
                  <a:txBody>
                    <a:bodyPr/>
                    <a:lstStyle/>
                    <a:p>
                      <a:pPr algn="ctr"/>
                      <a:r>
                        <a:rPr lang="en-US" sz="1100" dirty="0">
                          <a:solidFill>
                            <a:schemeClr val="tx1"/>
                          </a:solidFill>
                        </a:rPr>
                        <a:t>10 065 (37)</a:t>
                      </a:r>
                    </a:p>
                  </a:txBody>
                  <a:tcPr marL="68580" marR="68580" marT="34290" marB="34290">
                    <a:lnL w="12700" cap="flat" cmpd="sng" algn="ctr">
                      <a:solidFill>
                        <a:srgbClr val="58959B"/>
                      </a:solidFill>
                      <a:prstDash val="solid"/>
                      <a:round/>
                      <a:headEnd type="none" w="med" len="med"/>
                      <a:tailEnd type="none" w="med" len="med"/>
                    </a:lnL>
                    <a:lnR w="12700" cap="flat" cmpd="sng" algn="ctr">
                      <a:solidFill>
                        <a:srgbClr val="58959B"/>
                      </a:solidFill>
                      <a:prstDash val="solid"/>
                      <a:round/>
                      <a:headEnd type="none" w="med" len="med"/>
                      <a:tailEnd type="none" w="med" len="med"/>
                    </a:lnR>
                    <a:lnT w="12700" cap="flat" cmpd="sng" algn="ctr">
                      <a:solidFill>
                        <a:srgbClr val="58959B"/>
                      </a:solidFill>
                      <a:prstDash val="solid"/>
                      <a:round/>
                      <a:headEnd type="none" w="med" len="med"/>
                      <a:tailEnd type="none" w="med" len="med"/>
                    </a:lnT>
                    <a:lnB w="12700" cap="flat" cmpd="sng" algn="ctr">
                      <a:solidFill>
                        <a:srgbClr val="58959B"/>
                      </a:solidFill>
                      <a:prstDash val="solid"/>
                      <a:round/>
                      <a:headEnd type="none" w="med" len="med"/>
                      <a:tailEnd type="none" w="med" len="med"/>
                    </a:lnB>
                    <a:solidFill>
                      <a:srgbClr val="DAE9EA"/>
                    </a:solidFill>
                  </a:tcPr>
                </a:tc>
                <a:extLst>
                  <a:ext uri="{0D108BD9-81ED-4DB2-BD59-A6C34878D82A}">
                    <a16:rowId xmlns:a16="http://schemas.microsoft.com/office/drawing/2014/main" val="10004"/>
                  </a:ext>
                </a:extLst>
              </a:tr>
            </a:tbl>
          </a:graphicData>
        </a:graphic>
      </p:graphicFrame>
      <p:cxnSp>
        <p:nvCxnSpPr>
          <p:cNvPr id="6" name="Rak pilkoppling 5"/>
          <p:cNvCxnSpPr/>
          <p:nvPr/>
        </p:nvCxnSpPr>
        <p:spPr>
          <a:xfrm>
            <a:off x="2843808" y="1707654"/>
            <a:ext cx="594066" cy="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4" name="Rak pilkoppling 13"/>
          <p:cNvCxnSpPr/>
          <p:nvPr/>
        </p:nvCxnSpPr>
        <p:spPr>
          <a:xfrm>
            <a:off x="5706126" y="1275606"/>
            <a:ext cx="540060" cy="0"/>
          </a:xfrm>
          <a:prstGeom prst="straightConnector1">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29901450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tshållare för bildnummer 3"/>
          <p:cNvSpPr>
            <a:spLocks noGrp="1"/>
          </p:cNvSpPr>
          <p:nvPr>
            <p:ph type="sldNum" sz="quarter" idx="12"/>
          </p:nvPr>
        </p:nvSpPr>
        <p:spPr/>
        <p:txBody>
          <a:bodyPr/>
          <a:lstStyle/>
          <a:p>
            <a:pPr>
              <a:defRPr/>
            </a:pPr>
            <a:fld id="{143F5C80-4ED5-4C7B-9E1A-5093DBFB213F}" type="slidenum">
              <a:rPr lang="sv-SE" smtClean="0"/>
              <a:pPr>
                <a:defRPr/>
              </a:pPr>
              <a:t>152</a:t>
            </a:fld>
            <a:endParaRPr lang="sv-SE"/>
          </a:p>
        </p:txBody>
      </p:sp>
      <p:sp>
        <p:nvSpPr>
          <p:cNvPr id="7" name="Content Placeholder 2"/>
          <p:cNvSpPr>
            <a:spLocks noGrp="1"/>
          </p:cNvSpPr>
          <p:nvPr>
            <p:ph idx="1"/>
          </p:nvPr>
        </p:nvSpPr>
        <p:spPr>
          <a:xfrm>
            <a:off x="1493658" y="843558"/>
            <a:ext cx="6372708" cy="3923705"/>
          </a:xfrm>
        </p:spPr>
        <p:txBody>
          <a:bodyPr vert="horz" lIns="0" tIns="0" rIns="0" bIns="0" rtlCol="0">
            <a:normAutofit fontScale="92500" lnSpcReduction="20000"/>
          </a:bodyPr>
          <a:lstStyle/>
          <a:p>
            <a:pPr marL="0" indent="0">
              <a:lnSpc>
                <a:spcPct val="150000"/>
              </a:lnSpc>
              <a:spcBef>
                <a:spcPts val="488"/>
              </a:spcBef>
              <a:buNone/>
            </a:pPr>
            <a:r>
              <a:rPr lang="en-US" sz="1950" dirty="0"/>
              <a:t>A statistical distribution (ex: blood pressure values in the population) can be described by </a:t>
            </a:r>
          </a:p>
          <a:p>
            <a:pPr marL="0" indent="0">
              <a:lnSpc>
                <a:spcPct val="150000"/>
              </a:lnSpc>
              <a:spcBef>
                <a:spcPts val="488"/>
              </a:spcBef>
              <a:buNone/>
            </a:pPr>
            <a:r>
              <a:rPr lang="en-US" sz="1950" b="1" dirty="0"/>
              <a:t>Central tendency</a:t>
            </a:r>
            <a:r>
              <a:rPr lang="en-US" sz="1950" b="1" dirty="0">
                <a:solidFill>
                  <a:srgbClr val="0070C0"/>
                </a:solidFill>
              </a:rPr>
              <a:t> (</a:t>
            </a:r>
            <a:r>
              <a:rPr lang="en-US" sz="1950" b="1" dirty="0" err="1">
                <a:solidFill>
                  <a:srgbClr val="0070C0"/>
                </a:solidFill>
              </a:rPr>
              <a:t>läge</a:t>
            </a:r>
            <a:r>
              <a:rPr lang="en-US" sz="1950" b="1" dirty="0">
                <a:solidFill>
                  <a:srgbClr val="0070C0"/>
                </a:solidFill>
              </a:rPr>
              <a:t>)</a:t>
            </a:r>
          </a:p>
          <a:p>
            <a:pPr lvl="1">
              <a:lnSpc>
                <a:spcPct val="150000"/>
              </a:lnSpc>
              <a:spcBef>
                <a:spcPts val="488"/>
              </a:spcBef>
            </a:pPr>
            <a:r>
              <a:rPr lang="en-US" sz="1800" dirty="0"/>
              <a:t>Mean (the arithmetic average)  </a:t>
            </a:r>
          </a:p>
          <a:p>
            <a:pPr lvl="1">
              <a:lnSpc>
                <a:spcPct val="150000"/>
              </a:lnSpc>
              <a:spcBef>
                <a:spcPts val="488"/>
              </a:spcBef>
            </a:pPr>
            <a:r>
              <a:rPr lang="en-US" sz="1800" dirty="0"/>
              <a:t>Median</a:t>
            </a:r>
          </a:p>
          <a:p>
            <a:pPr marL="0" indent="0">
              <a:lnSpc>
                <a:spcPct val="150000"/>
              </a:lnSpc>
              <a:spcBef>
                <a:spcPts val="488"/>
              </a:spcBef>
              <a:buNone/>
            </a:pPr>
            <a:r>
              <a:rPr lang="en-US" sz="1950" b="1" dirty="0"/>
              <a:t>Dispersion</a:t>
            </a:r>
            <a:r>
              <a:rPr lang="en-US" sz="1950" dirty="0"/>
              <a:t>:</a:t>
            </a:r>
            <a:r>
              <a:rPr lang="en-US" sz="1950" b="1" dirty="0">
                <a:solidFill>
                  <a:srgbClr val="0070C0"/>
                </a:solidFill>
              </a:rPr>
              <a:t> (</a:t>
            </a:r>
            <a:r>
              <a:rPr lang="en-US" sz="1950" b="1" dirty="0" err="1">
                <a:solidFill>
                  <a:srgbClr val="0070C0"/>
                </a:solidFill>
              </a:rPr>
              <a:t>spridning</a:t>
            </a:r>
            <a:r>
              <a:rPr lang="en-US" sz="1950" b="1" dirty="0">
                <a:solidFill>
                  <a:srgbClr val="0070C0"/>
                </a:solidFill>
              </a:rPr>
              <a:t>)</a:t>
            </a:r>
            <a:endParaRPr lang="en-US" sz="1950" dirty="0"/>
          </a:p>
          <a:p>
            <a:pPr>
              <a:lnSpc>
                <a:spcPct val="150000"/>
              </a:lnSpc>
              <a:spcBef>
                <a:spcPts val="488"/>
              </a:spcBef>
            </a:pPr>
            <a:r>
              <a:rPr lang="en-US" sz="1950" dirty="0"/>
              <a:t> how spread the values are from the “center”</a:t>
            </a:r>
          </a:p>
          <a:p>
            <a:pPr>
              <a:lnSpc>
                <a:spcPct val="150000"/>
              </a:lnSpc>
              <a:spcBef>
                <a:spcPts val="488"/>
              </a:spcBef>
            </a:pPr>
            <a:r>
              <a:rPr lang="en-US" sz="1950" dirty="0"/>
              <a:t>Standard deviation / variance</a:t>
            </a:r>
          </a:p>
          <a:p>
            <a:pPr>
              <a:lnSpc>
                <a:spcPct val="150000"/>
              </a:lnSpc>
              <a:spcBef>
                <a:spcPts val="488"/>
              </a:spcBef>
            </a:pPr>
            <a:r>
              <a:rPr lang="en-US" sz="1950" dirty="0"/>
              <a:t>Range</a:t>
            </a:r>
          </a:p>
          <a:p>
            <a:pPr>
              <a:lnSpc>
                <a:spcPct val="150000"/>
              </a:lnSpc>
              <a:spcBef>
                <a:spcPts val="488"/>
              </a:spcBef>
            </a:pPr>
            <a:endParaRPr lang="en-US" sz="1950" dirty="0"/>
          </a:p>
        </p:txBody>
      </p:sp>
      <p:sp>
        <p:nvSpPr>
          <p:cNvPr id="3" name="Title 2"/>
          <p:cNvSpPr>
            <a:spLocks noGrp="1"/>
          </p:cNvSpPr>
          <p:nvPr>
            <p:ph type="title"/>
          </p:nvPr>
        </p:nvSpPr>
        <p:spPr>
          <a:xfrm>
            <a:off x="2573778" y="205978"/>
            <a:ext cx="5084322" cy="475562"/>
          </a:xfrm>
        </p:spPr>
        <p:txBody>
          <a:bodyPr>
            <a:normAutofit/>
          </a:bodyPr>
          <a:lstStyle/>
          <a:p>
            <a:r>
              <a:rPr lang="en-US" sz="2550" dirty="0"/>
              <a:t>Descriptive statistics</a:t>
            </a:r>
          </a:p>
        </p:txBody>
      </p:sp>
    </p:spTree>
    <p:extLst>
      <p:ext uri="{BB962C8B-B14F-4D97-AF65-F5344CB8AC3E}">
        <p14:creationId xmlns:p14="http://schemas.microsoft.com/office/powerpoint/2010/main" val="57815061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65766" y="292234"/>
            <a:ext cx="5092080" cy="475562"/>
          </a:xfrm>
        </p:spPr>
        <p:txBody>
          <a:bodyPr>
            <a:noAutofit/>
          </a:bodyPr>
          <a:lstStyle/>
          <a:p>
            <a:r>
              <a:rPr lang="en-US" sz="3000" dirty="0"/>
              <a:t>Hypothesis testing</a:t>
            </a:r>
          </a:p>
        </p:txBody>
      </p:sp>
      <p:sp>
        <p:nvSpPr>
          <p:cNvPr id="2" name="Platshållare för innehåll 1"/>
          <p:cNvSpPr>
            <a:spLocks noGrp="1"/>
          </p:cNvSpPr>
          <p:nvPr>
            <p:ph idx="1"/>
          </p:nvPr>
        </p:nvSpPr>
        <p:spPr>
          <a:xfrm>
            <a:off x="1465117" y="1005576"/>
            <a:ext cx="6401249" cy="2905566"/>
          </a:xfrm>
        </p:spPr>
        <p:txBody>
          <a:bodyPr>
            <a:noAutofit/>
          </a:bodyPr>
          <a:lstStyle/>
          <a:p>
            <a:pPr marL="0" indent="0">
              <a:buNone/>
            </a:pPr>
            <a:r>
              <a:rPr lang="en-US" dirty="0"/>
              <a:t>We have a question about the population we want to try to answer </a:t>
            </a:r>
          </a:p>
          <a:p>
            <a:pPr marL="0" indent="0">
              <a:buNone/>
            </a:pPr>
            <a:r>
              <a:rPr lang="en-US" dirty="0">
                <a:solidFill>
                  <a:srgbClr val="000000"/>
                </a:solidFill>
              </a:rPr>
              <a:t>Steps involved:</a:t>
            </a:r>
          </a:p>
          <a:p>
            <a:pPr marL="385763" indent="-385763">
              <a:buFont typeface="+mj-lt"/>
              <a:buAutoNum type="arabicPeriod"/>
            </a:pPr>
            <a:r>
              <a:rPr lang="en-US" dirty="0">
                <a:solidFill>
                  <a:srgbClr val="000000"/>
                </a:solidFill>
              </a:rPr>
              <a:t>formulate </a:t>
            </a:r>
            <a:r>
              <a:rPr lang="en-US" b="1" dirty="0">
                <a:solidFill>
                  <a:srgbClr val="000000"/>
                </a:solidFill>
              </a:rPr>
              <a:t>null hypothesis </a:t>
            </a:r>
            <a:r>
              <a:rPr lang="en-US" dirty="0">
                <a:solidFill>
                  <a:srgbClr val="000000"/>
                </a:solidFill>
              </a:rPr>
              <a:t>(H</a:t>
            </a:r>
            <a:r>
              <a:rPr lang="en-US" baseline="-25000" dirty="0">
                <a:solidFill>
                  <a:srgbClr val="000000"/>
                </a:solidFill>
              </a:rPr>
              <a:t>0</a:t>
            </a:r>
            <a:r>
              <a:rPr lang="en-US" dirty="0">
                <a:solidFill>
                  <a:srgbClr val="000000"/>
                </a:solidFill>
              </a:rPr>
              <a:t>); an </a:t>
            </a:r>
            <a:r>
              <a:rPr lang="en-US" b="1" dirty="0">
                <a:solidFill>
                  <a:srgbClr val="000000"/>
                </a:solidFill>
              </a:rPr>
              <a:t>alternative hypothesis</a:t>
            </a:r>
            <a:r>
              <a:rPr lang="en-US" dirty="0">
                <a:solidFill>
                  <a:srgbClr val="000000"/>
                </a:solidFill>
              </a:rPr>
              <a:t> (H</a:t>
            </a:r>
            <a:r>
              <a:rPr lang="en-US" baseline="-25000" dirty="0">
                <a:solidFill>
                  <a:srgbClr val="000000"/>
                </a:solidFill>
              </a:rPr>
              <a:t>1</a:t>
            </a:r>
            <a:r>
              <a:rPr lang="en-US" dirty="0">
                <a:solidFill>
                  <a:srgbClr val="000000"/>
                </a:solidFill>
              </a:rPr>
              <a:t>)</a:t>
            </a:r>
          </a:p>
          <a:p>
            <a:pPr lvl="1">
              <a:lnSpc>
                <a:spcPct val="130000"/>
              </a:lnSpc>
            </a:pPr>
            <a:r>
              <a:rPr lang="en-US" sz="1800" dirty="0"/>
              <a:t>H</a:t>
            </a:r>
            <a:r>
              <a:rPr lang="en-US" sz="1800" baseline="-25000" dirty="0"/>
              <a:t>0</a:t>
            </a:r>
            <a:r>
              <a:rPr lang="en-US" sz="1800" dirty="0"/>
              <a:t>:Often cautiously formulated; can never be proven; considered true until disproved </a:t>
            </a:r>
          </a:p>
          <a:p>
            <a:pPr lvl="1">
              <a:lnSpc>
                <a:spcPct val="130000"/>
              </a:lnSpc>
            </a:pPr>
            <a:r>
              <a:rPr lang="en-US" sz="1800" dirty="0">
                <a:solidFill>
                  <a:srgbClr val="000000"/>
                </a:solidFill>
              </a:rPr>
              <a:t>H</a:t>
            </a:r>
            <a:r>
              <a:rPr lang="en-US" sz="1800" baseline="-25000" dirty="0">
                <a:solidFill>
                  <a:srgbClr val="000000"/>
                </a:solidFill>
              </a:rPr>
              <a:t>1</a:t>
            </a:r>
            <a:r>
              <a:rPr lang="en-US" sz="1800" dirty="0"/>
              <a:t>, includes </a:t>
            </a:r>
            <a:r>
              <a:rPr lang="en-US" sz="1800" u="sng" dirty="0"/>
              <a:t>everything </a:t>
            </a:r>
            <a:r>
              <a:rPr lang="en-US" sz="1800" dirty="0"/>
              <a:t>except the null hypothesis</a:t>
            </a:r>
            <a:endParaRPr lang="en-US" sz="1800" dirty="0">
              <a:solidFill>
                <a:srgbClr val="000000"/>
              </a:solidFill>
            </a:endParaRPr>
          </a:p>
          <a:p>
            <a:pPr marL="385763" indent="-385763">
              <a:buFont typeface="+mj-lt"/>
              <a:buAutoNum type="arabicPeriod"/>
            </a:pPr>
            <a:r>
              <a:rPr lang="en-US" dirty="0">
                <a:solidFill>
                  <a:srgbClr val="000000"/>
                </a:solidFill>
              </a:rPr>
              <a:t>test the hypothesis using a statistical test, </a:t>
            </a:r>
            <a:r>
              <a:rPr lang="en-US" dirty="0"/>
              <a:t>depending on the type of variable</a:t>
            </a:r>
          </a:p>
          <a:p>
            <a:pPr marL="385763" indent="-385763">
              <a:buFont typeface="+mj-lt"/>
              <a:buAutoNum type="arabicPeriod"/>
            </a:pPr>
            <a:r>
              <a:rPr lang="en-US" dirty="0">
                <a:solidFill>
                  <a:srgbClr val="000000"/>
                </a:solidFill>
              </a:rPr>
              <a:t>test results in a p- value, i</a:t>
            </a:r>
            <a:r>
              <a:rPr lang="en-US" dirty="0">
                <a:ea typeface="ＭＳ Ｐゴシック" pitchFamily="-109" charset="-128"/>
              </a:rPr>
              <a:t>nterpret</a:t>
            </a:r>
            <a:endParaRPr lang="en-US" dirty="0"/>
          </a:p>
        </p:txBody>
      </p:sp>
      <p:sp>
        <p:nvSpPr>
          <p:cNvPr id="4" name="Platshållare för bildnummer 3"/>
          <p:cNvSpPr>
            <a:spLocks noGrp="1"/>
          </p:cNvSpPr>
          <p:nvPr>
            <p:ph type="sldNum" sz="quarter" idx="12"/>
          </p:nvPr>
        </p:nvSpPr>
        <p:spPr/>
        <p:txBody>
          <a:bodyPr/>
          <a:lstStyle/>
          <a:p>
            <a:pPr>
              <a:defRPr/>
            </a:pPr>
            <a:fld id="{143F5C80-4ED5-4C7B-9E1A-5093DBFB213F}" type="slidenum">
              <a:rPr lang="sv-SE" smtClean="0">
                <a:solidFill>
                  <a:srgbClr val="000000">
                    <a:tint val="75000"/>
                  </a:srgbClr>
                </a:solidFill>
              </a:rPr>
              <a:pPr>
                <a:defRPr/>
              </a:pPr>
              <a:t>153</a:t>
            </a:fld>
            <a:endParaRPr lang="sv-SE">
              <a:solidFill>
                <a:srgbClr val="000000">
                  <a:tint val="75000"/>
                </a:srgbClr>
              </a:solidFill>
            </a:endParaRPr>
          </a:p>
        </p:txBody>
      </p:sp>
    </p:spTree>
    <p:extLst>
      <p:ext uri="{BB962C8B-B14F-4D97-AF65-F5344CB8AC3E}">
        <p14:creationId xmlns:p14="http://schemas.microsoft.com/office/powerpoint/2010/main" val="314842752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nummer 1"/>
          <p:cNvSpPr>
            <a:spLocks noGrp="1"/>
          </p:cNvSpPr>
          <p:nvPr>
            <p:ph type="sldNum" sz="quarter" idx="4294967295"/>
          </p:nvPr>
        </p:nvSpPr>
        <p:spPr>
          <a:xfrm>
            <a:off x="6400800" y="4767263"/>
            <a:ext cx="1600200" cy="273844"/>
          </a:xfrm>
        </p:spPr>
        <p:txBody>
          <a:bodyPr/>
          <a:lstStyle/>
          <a:p>
            <a:pPr>
              <a:defRPr/>
            </a:pPr>
            <a:fld id="{3853FCF3-0C97-47D6-B515-F9CFF444A1B7}" type="slidenum">
              <a:rPr lang="sv-SE" smtClean="0">
                <a:solidFill>
                  <a:srgbClr val="000000">
                    <a:tint val="75000"/>
                  </a:srgbClr>
                </a:solidFill>
              </a:rPr>
              <a:pPr>
                <a:defRPr/>
              </a:pPr>
              <a:t>154</a:t>
            </a:fld>
            <a:endParaRPr lang="sv-SE">
              <a:solidFill>
                <a:srgbClr val="000000">
                  <a:tint val="75000"/>
                </a:srgbClr>
              </a:solidFill>
            </a:endParaRPr>
          </a:p>
        </p:txBody>
      </p:sp>
      <p:pic>
        <p:nvPicPr>
          <p:cNvPr id="3" name="Bildobjekt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1013" y="141481"/>
            <a:ext cx="6669359" cy="4931210"/>
          </a:xfrm>
          <a:prstGeom prst="rect">
            <a:avLst/>
          </a:prstGeom>
        </p:spPr>
      </p:pic>
      <p:sp>
        <p:nvSpPr>
          <p:cNvPr id="5" name="textruta 4"/>
          <p:cNvSpPr txBox="1"/>
          <p:nvPr/>
        </p:nvSpPr>
        <p:spPr>
          <a:xfrm>
            <a:off x="1817694" y="33468"/>
            <a:ext cx="5724636" cy="415498"/>
          </a:xfrm>
          <a:prstGeom prst="rect">
            <a:avLst/>
          </a:prstGeom>
          <a:noFill/>
        </p:spPr>
        <p:txBody>
          <a:bodyPr wrap="square" rtlCol="0">
            <a:spAutoFit/>
          </a:bodyPr>
          <a:lstStyle/>
          <a:p>
            <a:r>
              <a:rPr lang="en-US" sz="1050" b="1" dirty="0">
                <a:latin typeface="+mj-lt"/>
              </a:rPr>
              <a:t>Discovering Statistics Using IBM SPSS Statistics by Andy Field 5</a:t>
            </a:r>
            <a:r>
              <a:rPr lang="en-US" sz="1050" b="1" baseline="30000" dirty="0">
                <a:latin typeface="+mj-lt"/>
              </a:rPr>
              <a:t>th</a:t>
            </a:r>
            <a:r>
              <a:rPr lang="en-US" sz="1050" b="1" dirty="0">
                <a:latin typeface="+mj-lt"/>
              </a:rPr>
              <a:t> Edition ISBN-13:978-1-5264-1952-1</a:t>
            </a:r>
          </a:p>
          <a:p>
            <a:endParaRPr lang="en-US" sz="1050" b="1" dirty="0">
              <a:latin typeface="+mj-lt"/>
            </a:endParaRPr>
          </a:p>
        </p:txBody>
      </p:sp>
    </p:spTree>
    <p:extLst>
      <p:ext uri="{BB962C8B-B14F-4D97-AF65-F5344CB8AC3E}">
        <p14:creationId xmlns:p14="http://schemas.microsoft.com/office/powerpoint/2010/main" val="261269093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1810988" y="1675922"/>
            <a:ext cx="5772150" cy="1327876"/>
          </a:xfrm>
        </p:spPr>
        <p:txBody>
          <a:bodyPr>
            <a:noAutofit/>
          </a:bodyPr>
          <a:lstStyle/>
          <a:p>
            <a:pPr algn="ctr">
              <a:defRPr/>
            </a:pPr>
            <a:r>
              <a:rPr lang="en-US" sz="3600" cap="small" dirty="0"/>
              <a:t>in case we have More time </a:t>
            </a:r>
            <a:r>
              <a:rPr lang="en-US" sz="3600" dirty="0"/>
              <a:t>Statistical inference </a:t>
            </a:r>
            <a:br>
              <a:rPr lang="en-US" sz="3600" dirty="0"/>
            </a:br>
            <a:r>
              <a:rPr lang="en-US" sz="3600" dirty="0"/>
              <a:t>Estimation</a:t>
            </a:r>
            <a:endParaRPr lang="sv-SE" sz="3600" dirty="0"/>
          </a:p>
        </p:txBody>
      </p:sp>
      <p:sp>
        <p:nvSpPr>
          <p:cNvPr id="4" name="Platshållare för bildnummer 3"/>
          <p:cNvSpPr>
            <a:spLocks noGrp="1"/>
          </p:cNvSpPr>
          <p:nvPr>
            <p:ph type="sldNum" sz="quarter" idx="12"/>
          </p:nvPr>
        </p:nvSpPr>
        <p:spPr/>
        <p:txBody>
          <a:bodyPr/>
          <a:lstStyle/>
          <a:p>
            <a:pPr>
              <a:defRPr/>
            </a:pPr>
            <a:fld id="{126A1D1A-036F-42AD-A286-4069FFF9A428}" type="slidenum">
              <a:rPr lang="sv-SE" smtClean="0">
                <a:solidFill>
                  <a:srgbClr val="000000">
                    <a:tint val="75000"/>
                  </a:srgbClr>
                </a:solidFill>
              </a:rPr>
              <a:pPr>
                <a:defRPr/>
              </a:pPr>
              <a:t>155</a:t>
            </a:fld>
            <a:endParaRPr lang="sv-SE">
              <a:solidFill>
                <a:srgbClr val="000000">
                  <a:tint val="75000"/>
                </a:srgbClr>
              </a:solidFill>
            </a:endParaRPr>
          </a:p>
        </p:txBody>
      </p:sp>
    </p:spTree>
    <p:extLst>
      <p:ext uri="{BB962C8B-B14F-4D97-AF65-F5344CB8AC3E}">
        <p14:creationId xmlns:p14="http://schemas.microsoft.com/office/powerpoint/2010/main" val="3294884538"/>
      </p:ext>
    </p:extLst>
  </p:cSld>
  <p:clrMapOvr>
    <a:masterClrMapping/>
  </p:clrMapOvr>
</p:sld>
</file>

<file path=ppt/theme/theme1.xml><?xml version="1.0" encoding="utf-8"?>
<a:theme xmlns:a="http://schemas.openxmlformats.org/drawingml/2006/main" name="GU_PPTMall_2.0_20181207">
  <a:themeElements>
    <a:clrScheme name="GU">
      <a:dk1>
        <a:sysClr val="windowText" lastClr="000000"/>
      </a:dk1>
      <a:lt1>
        <a:sysClr val="window" lastClr="FFFFFF"/>
      </a:lt1>
      <a:dk2>
        <a:srgbClr val="004B89"/>
      </a:dk2>
      <a:lt2>
        <a:srgbClr val="EEECE1"/>
      </a:lt2>
      <a:accent1>
        <a:srgbClr val="004B89"/>
      </a:accent1>
      <a:accent2>
        <a:srgbClr val="7A99AC"/>
      </a:accent2>
      <a:accent3>
        <a:srgbClr val="9B2743"/>
      </a:accent3>
      <a:accent4>
        <a:srgbClr val="FE5000"/>
      </a:accent4>
      <a:accent5>
        <a:srgbClr val="53682B"/>
      </a:accent5>
      <a:accent6>
        <a:srgbClr val="79CAB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1740239_gu-powerpoint-2019-eng (1).pptx" id="{0A029238-217E-49FD-9149-D09D08F42D74}" vid="{465F65C3-3506-4653-84A9-7BFFBC7284E0}"/>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16089</Words>
  <Application>Microsoft Macintosh PowerPoint</Application>
  <PresentationFormat>Bildspel på skärmen (16:9)</PresentationFormat>
  <Paragraphs>2263</Paragraphs>
  <Slides>155</Slides>
  <Notes>155</Notes>
  <HiddenSlides>0</HiddenSlides>
  <MMClips>0</MMClips>
  <ScaleCrop>false</ScaleCrop>
  <HeadingPairs>
    <vt:vector size="6" baseType="variant">
      <vt:variant>
        <vt:lpstr>Använt teckensnitt</vt:lpstr>
      </vt:variant>
      <vt:variant>
        <vt:i4>14</vt:i4>
      </vt:variant>
      <vt:variant>
        <vt:lpstr>Tema</vt:lpstr>
      </vt:variant>
      <vt:variant>
        <vt:i4>1</vt:i4>
      </vt:variant>
      <vt:variant>
        <vt:lpstr>Bildrubriker</vt:lpstr>
      </vt:variant>
      <vt:variant>
        <vt:i4>155</vt:i4>
      </vt:variant>
    </vt:vector>
  </HeadingPairs>
  <TitlesOfParts>
    <vt:vector size="170" baseType="lpstr">
      <vt:lpstr>Arial</vt:lpstr>
      <vt:lpstr>Arial Bold</vt:lpstr>
      <vt:lpstr>Arial Narrow</vt:lpstr>
      <vt:lpstr>Calibri</vt:lpstr>
      <vt:lpstr>Cambria</vt:lpstr>
      <vt:lpstr>Cambria Math</vt:lpstr>
      <vt:lpstr>Candara</vt:lpstr>
      <vt:lpstr>Helvetica</vt:lpstr>
      <vt:lpstr>Tahoma</vt:lpstr>
      <vt:lpstr>Times New Roman</vt:lpstr>
      <vt:lpstr>Trebuchet MS</vt:lpstr>
      <vt:lpstr>Verdana</vt:lpstr>
      <vt:lpstr>Wingdings</vt:lpstr>
      <vt:lpstr>xkcd</vt:lpstr>
      <vt:lpstr>GU_PPTMall_2.0_20181207</vt:lpstr>
      <vt:lpstr>INTRODUCTION TO MEDICAL STATISTICS</vt:lpstr>
      <vt:lpstr>Structure</vt:lpstr>
      <vt:lpstr>PowerPoint-presentation</vt:lpstr>
      <vt:lpstr>Why statistics in medical research?</vt:lpstr>
      <vt:lpstr>PowerPoint-presentation</vt:lpstr>
      <vt:lpstr>PowerPoint-presentation</vt:lpstr>
      <vt:lpstr>What is statistics?</vt:lpstr>
      <vt:lpstr>Introduction: Why use statistics?</vt:lpstr>
      <vt:lpstr>Population and sample</vt:lpstr>
      <vt:lpstr>Population and sample</vt:lpstr>
      <vt:lpstr>Statistical Population</vt:lpstr>
      <vt:lpstr>PowerPoint-presentation</vt:lpstr>
      <vt:lpstr>PowerPoint-presentation</vt:lpstr>
      <vt:lpstr>Sampling methods</vt:lpstr>
      <vt:lpstr>Drop outs</vt:lpstr>
      <vt:lpstr>PowerPoint-presentation</vt:lpstr>
      <vt:lpstr>PowerPoint-presentation</vt:lpstr>
      <vt:lpstr>PowerPoint-presentation</vt:lpstr>
      <vt:lpstr>Types of variables</vt:lpstr>
      <vt:lpstr>Levels of measurement</vt:lpstr>
      <vt:lpstr>Types of scales </vt:lpstr>
      <vt:lpstr>Relative &amp; Absolute measurements</vt:lpstr>
      <vt:lpstr>Descriptive statistics</vt:lpstr>
      <vt:lpstr>Descriptive statistics</vt:lpstr>
      <vt:lpstr>Descriptive statistics – categorical data</vt:lpstr>
      <vt:lpstr>PowerPoint-presentation</vt:lpstr>
      <vt:lpstr>Example 1: Descriptive Statistics</vt:lpstr>
      <vt:lpstr>PowerPoint-presentation</vt:lpstr>
      <vt:lpstr>Point estimate and uncertainty</vt:lpstr>
      <vt:lpstr>Confidence intervals (CI)</vt:lpstr>
      <vt:lpstr>Statistical Inference : Hypothesis testing </vt:lpstr>
      <vt:lpstr>Statistical inference</vt:lpstr>
      <vt:lpstr>Hypothesis testing</vt:lpstr>
      <vt:lpstr>PowerPoint-presentation</vt:lpstr>
      <vt:lpstr>PowerPoint-presentation</vt:lpstr>
      <vt:lpstr>PowerPoint-presentation</vt:lpstr>
      <vt:lpstr>PowerPoint-presentation</vt:lpstr>
      <vt:lpstr>The Central Limit Theorem (CLT)</vt:lpstr>
      <vt:lpstr>Paired-samples</vt:lpstr>
      <vt:lpstr>Two independent samples</vt:lpstr>
      <vt:lpstr>PowerPoint-presentation</vt:lpstr>
      <vt:lpstr>PowerPoint-presentation</vt:lpstr>
      <vt:lpstr>PowerPoint-presentation</vt:lpstr>
      <vt:lpstr>PowerPoint-presentation</vt:lpstr>
      <vt:lpstr>PowerPoint-presentation</vt:lpstr>
      <vt:lpstr>Things to consider when choosing statistical test</vt:lpstr>
      <vt:lpstr>Null hypothesis and the P-value </vt:lpstr>
      <vt:lpstr>PowerPoint-presentation</vt:lpstr>
      <vt:lpstr>PowerPoint-presentation</vt:lpstr>
      <vt:lpstr>Keep in mind…</vt:lpstr>
      <vt:lpstr>PowerPoint-presentation</vt:lpstr>
      <vt:lpstr>Group size problems</vt:lpstr>
      <vt:lpstr>Statistical power - the other way around</vt:lpstr>
      <vt:lpstr>PowerPoint-presentation</vt:lpstr>
      <vt:lpstr>What is the minimum sample size for testing subgroup differences then?</vt:lpstr>
      <vt:lpstr>PowerPoint-presentation</vt:lpstr>
      <vt:lpstr>PowerPoint-presentation</vt:lpstr>
      <vt:lpstr>Sample size calculation for proportions/prevalence</vt:lpstr>
      <vt:lpstr>PowerPoint-presentation</vt:lpstr>
      <vt:lpstr>Return to work among cancer survivors </vt:lpstr>
      <vt:lpstr>PowerPoint-presentation</vt:lpstr>
      <vt:lpstr>PowerPoint-presentation</vt:lpstr>
      <vt:lpstr>PowerPoint-presentation</vt:lpstr>
      <vt:lpstr>Multiple testing  - doing a set of simultaneous statistical testing</vt:lpstr>
      <vt:lpstr>PowerPoint-presentation</vt:lpstr>
      <vt:lpstr>PowerPoint-presentation</vt:lpstr>
      <vt:lpstr>Multiple testing</vt:lpstr>
      <vt:lpstr>Mean value - Group comparison </vt:lpstr>
      <vt:lpstr>EXAMPLE: Group comparison</vt:lpstr>
      <vt:lpstr>Comparing mean values between two groups</vt:lpstr>
      <vt:lpstr>Comparison of Group mean values: t-test</vt:lpstr>
      <vt:lpstr>Rule of thumb from Björk’s book</vt:lpstr>
      <vt:lpstr>Comparing mean of several independent samples</vt:lpstr>
      <vt:lpstr>ANalysis Of VAriance (ANOVA) </vt:lpstr>
      <vt:lpstr>Result : The ANOVA table</vt:lpstr>
      <vt:lpstr>PowerPoint-presentation</vt:lpstr>
      <vt:lpstr>PowerPoint-presentation</vt:lpstr>
      <vt:lpstr>PowerPoint-presentation</vt:lpstr>
      <vt:lpstr>PowerPoint-presentation</vt:lpstr>
      <vt:lpstr>PowerPoint-presentation</vt:lpstr>
      <vt:lpstr>PowerPoint-presentation</vt:lpstr>
      <vt:lpstr>Linear relationships</vt:lpstr>
      <vt:lpstr>PowerPoint-presentation</vt:lpstr>
      <vt:lpstr>PowerPoint-presentation</vt:lpstr>
      <vt:lpstr>(Linear) Correlation  (measured by Pearson’s correlation)</vt:lpstr>
      <vt:lpstr>PowerPoint-presentation</vt:lpstr>
      <vt:lpstr>Linear Regression</vt:lpstr>
      <vt:lpstr>Linear regression – the ‘best’ fitted straight line</vt:lpstr>
      <vt:lpstr>Do not confuse regression and correlation!</vt:lpstr>
      <vt:lpstr>Linear regression output SPSS</vt:lpstr>
      <vt:lpstr>Linear regression</vt:lpstr>
      <vt:lpstr>PowerPoint-presentation</vt:lpstr>
      <vt:lpstr>”Adjusting for other variables”</vt:lpstr>
      <vt:lpstr>PowerPoint-presentation</vt:lpstr>
      <vt:lpstr>Multiple Linear regression</vt:lpstr>
      <vt:lpstr>PowerPoint-presentation</vt:lpstr>
      <vt:lpstr>What if the relations isn’t linear? Rank correlation</vt:lpstr>
      <vt:lpstr>Qualitative (Categorical) outcome variables</vt:lpstr>
      <vt:lpstr>Qualitative (Categorical) outcome variables</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Adding  more explanatory variables</vt:lpstr>
      <vt:lpstr>PowerPoint-presentation</vt:lpstr>
      <vt:lpstr>Effect measures for Binary outcome*</vt:lpstr>
      <vt:lpstr>effect measures – Logistic regression*</vt:lpstr>
      <vt:lpstr>Longitudinal data</vt:lpstr>
      <vt:lpstr>Before analysis: Organizing data</vt:lpstr>
      <vt:lpstr>Organizing data – Incorrect </vt:lpstr>
      <vt:lpstr>Organizing data – Correct </vt:lpstr>
      <vt:lpstr>Remember</vt:lpstr>
      <vt:lpstr>The research question</vt:lpstr>
      <vt:lpstr>What is a research question?</vt:lpstr>
      <vt:lpstr>What makes a poor research question?</vt:lpstr>
      <vt:lpstr>What makes a good question?</vt:lpstr>
      <vt:lpstr>Example: Research questions</vt:lpstr>
      <vt:lpstr>Framing your research question </vt:lpstr>
      <vt:lpstr>Some online guidelines</vt:lpstr>
      <vt:lpstr>Study designs</vt:lpstr>
      <vt:lpstr>Overview of study designs</vt:lpstr>
      <vt:lpstr>PowerPoint-presentation</vt:lpstr>
      <vt:lpstr>PowerPoint-presentation</vt:lpstr>
      <vt:lpstr>Randomized Controlled Trials</vt:lpstr>
      <vt:lpstr>PowerPoint-presentation</vt:lpstr>
      <vt:lpstr>Crossover trials</vt:lpstr>
      <vt:lpstr>PowerPoint-presentation</vt:lpstr>
      <vt:lpstr>Observational studies </vt:lpstr>
      <vt:lpstr>Observational Study – Points to Consider</vt:lpstr>
      <vt:lpstr>Cross-sectional Studies</vt:lpstr>
      <vt:lpstr>PowerPoint-presentation</vt:lpstr>
      <vt:lpstr>Cohort studies </vt:lpstr>
      <vt:lpstr>PowerPoint-presentation</vt:lpstr>
      <vt:lpstr>Cohort studies </vt:lpstr>
      <vt:lpstr>PowerPoint-presentation</vt:lpstr>
      <vt:lpstr>Case-control studies </vt:lpstr>
      <vt:lpstr>PowerPoint-presentation</vt:lpstr>
      <vt:lpstr>Last but not least…</vt:lpstr>
      <vt:lpstr>Repetition –  in case we have time</vt:lpstr>
      <vt:lpstr>Introduction: Why use statistics?</vt:lpstr>
      <vt:lpstr>Population and sample</vt:lpstr>
      <vt:lpstr>Types of variables</vt:lpstr>
      <vt:lpstr>Levels of measurement</vt:lpstr>
      <vt:lpstr>Types of scales </vt:lpstr>
      <vt:lpstr>Two types of statistics</vt:lpstr>
      <vt:lpstr>Descriptive statistics</vt:lpstr>
      <vt:lpstr>Hypothesis testing</vt:lpstr>
      <vt:lpstr>PowerPoint-presentation</vt:lpstr>
      <vt:lpstr>in case we have More time Statistical inference  Estimation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2018-05-11T07:47:13Z</dcterms:created>
  <dcterms:modified xsi:type="dcterms:W3CDTF">2023-10-30T08:03:23Z</dcterms:modified>
</cp:coreProperties>
</file>